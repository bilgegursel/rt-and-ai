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95" r:id="rId4"/>
    <p:sldId id="304" r:id="rId5"/>
    <p:sldId id="308" r:id="rId6"/>
    <p:sldId id="309" r:id="rId7"/>
    <p:sldId id="306" r:id="rId8"/>
    <p:sldId id="305" r:id="rId9"/>
    <p:sldId id="292" r:id="rId10"/>
    <p:sldId id="298" r:id="rId11"/>
    <p:sldId id="303" r:id="rId12"/>
    <p:sldId id="299" r:id="rId13"/>
    <p:sldId id="300" r:id="rId14"/>
    <p:sldId id="301" r:id="rId15"/>
    <p:sldId id="302" r:id="rId16"/>
    <p:sldId id="293" r:id="rId17"/>
    <p:sldId id="307" r:id="rId18"/>
    <p:sldId id="294" r:id="rId19"/>
    <p:sldId id="259" r:id="rId20"/>
    <p:sldId id="296" r:id="rId21"/>
    <p:sldId id="297" r:id="rId22"/>
    <p:sldId id="260" r:id="rId23"/>
    <p:sldId id="264" r:id="rId24"/>
    <p:sldId id="261" r:id="rId25"/>
    <p:sldId id="291" r:id="rId26"/>
    <p:sldId id="262" r:id="rId27"/>
    <p:sldId id="265" r:id="rId28"/>
    <p:sldId id="266" r:id="rId29"/>
    <p:sldId id="277" r:id="rId30"/>
    <p:sldId id="276" r:id="rId31"/>
    <p:sldId id="274" r:id="rId32"/>
    <p:sldId id="275" r:id="rId33"/>
    <p:sldId id="273" r:id="rId34"/>
    <p:sldId id="272" r:id="rId35"/>
    <p:sldId id="271" r:id="rId36"/>
    <p:sldId id="270" r:id="rId37"/>
    <p:sldId id="269" r:id="rId38"/>
    <p:sldId id="268" r:id="rId39"/>
    <p:sldId id="267" r:id="rId40"/>
    <p:sldId id="278" r:id="rId41"/>
    <p:sldId id="290" r:id="rId42"/>
    <p:sldId id="289" r:id="rId43"/>
    <p:sldId id="288" r:id="rId44"/>
    <p:sldId id="287" r:id="rId45"/>
    <p:sldId id="286" r:id="rId46"/>
    <p:sldId id="285" r:id="rId47"/>
    <p:sldId id="284" r:id="rId48"/>
    <p:sldId id="283" r:id="rId49"/>
    <p:sldId id="282" r:id="rId50"/>
    <p:sldId id="281" r:id="rId51"/>
    <p:sldId id="280" r:id="rId52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F15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1" autoAdjust="0"/>
    <p:restoredTop sz="98169" autoAdjust="0"/>
  </p:normalViewPr>
  <p:slideViewPr>
    <p:cSldViewPr>
      <p:cViewPr varScale="1">
        <p:scale>
          <a:sx n="95" d="100"/>
          <a:sy n="95" d="100"/>
        </p:scale>
        <p:origin x="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94ADD-D9E5-4410-9DC2-71A7FC3DB595}" type="datetimeFigureOut">
              <a:rPr lang="tr-TR" smtClean="0"/>
              <a:pPr/>
              <a:t>30.09.2024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C9B53-C426-4E62-A53F-DB34EDD6F684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482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AC9B53-C426-4E62-A53F-DB34EDD6F684}" type="slidenum">
              <a:rPr lang="tr-TR" smtClean="0"/>
              <a:pPr/>
              <a:t>1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283697-6854-4D21-90BF-89B8F7696D06}" type="slidenum">
              <a:rPr lang="tr-TR" smtClean="0"/>
              <a:pPr/>
              <a:t>18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283697-6854-4D21-90BF-89B8F7696D06}" type="slidenum">
              <a:rPr lang="tr-TR" smtClean="0"/>
              <a:pPr/>
              <a:t>21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6" name="Group 18"/>
          <p:cNvGrpSpPr>
            <a:grpSpLocks/>
          </p:cNvGrpSpPr>
          <p:nvPr/>
        </p:nvGrpSpPr>
        <p:grpSpPr bwMode="auto">
          <a:xfrm>
            <a:off x="2166938" y="563563"/>
            <a:ext cx="4800600" cy="6151562"/>
            <a:chOff x="1365" y="355"/>
            <a:chExt cx="3024" cy="3875"/>
          </a:xfrm>
        </p:grpSpPr>
        <p:sp>
          <p:nvSpPr>
            <p:cNvPr id="2050" name="Freeform 2"/>
            <p:cNvSpPr>
              <a:spLocks/>
            </p:cNvSpPr>
            <p:nvPr/>
          </p:nvSpPr>
          <p:spPr bwMode="auto">
            <a:xfrm>
              <a:off x="2835" y="586"/>
              <a:ext cx="88" cy="1121"/>
            </a:xfrm>
            <a:custGeom>
              <a:avLst/>
              <a:gdLst/>
              <a:ahLst/>
              <a:cxnLst>
                <a:cxn ang="0">
                  <a:pos x="0" y="1120"/>
                </a:cxn>
                <a:cxn ang="0">
                  <a:pos x="0" y="0"/>
                </a:cxn>
                <a:cxn ang="0">
                  <a:pos x="87" y="0"/>
                </a:cxn>
                <a:cxn ang="0">
                  <a:pos x="87" y="1085"/>
                </a:cxn>
                <a:cxn ang="0">
                  <a:pos x="0" y="1120"/>
                </a:cxn>
              </a:cxnLst>
              <a:rect l="0" t="0" r="r" b="b"/>
              <a:pathLst>
                <a:path w="88" h="1121">
                  <a:moveTo>
                    <a:pt x="0" y="1120"/>
                  </a:moveTo>
                  <a:lnTo>
                    <a:pt x="0" y="0"/>
                  </a:lnTo>
                  <a:lnTo>
                    <a:pt x="87" y="0"/>
                  </a:lnTo>
                  <a:lnTo>
                    <a:pt x="87" y="1085"/>
                  </a:lnTo>
                  <a:lnTo>
                    <a:pt x="0" y="1120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1" name="Freeform 3"/>
            <p:cNvSpPr>
              <a:spLocks/>
            </p:cNvSpPr>
            <p:nvPr/>
          </p:nvSpPr>
          <p:spPr bwMode="auto">
            <a:xfrm>
              <a:off x="2834" y="1900"/>
              <a:ext cx="84" cy="363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83" y="0"/>
                </a:cxn>
                <a:cxn ang="0">
                  <a:pos x="74" y="329"/>
                </a:cxn>
                <a:cxn ang="0">
                  <a:pos x="0" y="362"/>
                </a:cxn>
                <a:cxn ang="0">
                  <a:pos x="0" y="29"/>
                </a:cxn>
              </a:cxnLst>
              <a:rect l="0" t="0" r="r" b="b"/>
              <a:pathLst>
                <a:path w="84" h="363">
                  <a:moveTo>
                    <a:pt x="0" y="29"/>
                  </a:moveTo>
                  <a:lnTo>
                    <a:pt x="83" y="0"/>
                  </a:lnTo>
                  <a:lnTo>
                    <a:pt x="74" y="329"/>
                  </a:lnTo>
                  <a:lnTo>
                    <a:pt x="0" y="362"/>
                  </a:lnTo>
                  <a:lnTo>
                    <a:pt x="0" y="29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2" name="Freeform 4"/>
            <p:cNvSpPr>
              <a:spLocks/>
            </p:cNvSpPr>
            <p:nvPr/>
          </p:nvSpPr>
          <p:spPr bwMode="auto">
            <a:xfrm>
              <a:off x="2825" y="2493"/>
              <a:ext cx="84" cy="249"/>
            </a:xfrm>
            <a:custGeom>
              <a:avLst/>
              <a:gdLst/>
              <a:ahLst/>
              <a:cxnLst>
                <a:cxn ang="0">
                  <a:pos x="2" y="213"/>
                </a:cxn>
                <a:cxn ang="0">
                  <a:pos x="0" y="28"/>
                </a:cxn>
                <a:cxn ang="0">
                  <a:pos x="83" y="0"/>
                </a:cxn>
                <a:cxn ang="0">
                  <a:pos x="72" y="248"/>
                </a:cxn>
                <a:cxn ang="0">
                  <a:pos x="2" y="213"/>
                </a:cxn>
              </a:cxnLst>
              <a:rect l="0" t="0" r="r" b="b"/>
              <a:pathLst>
                <a:path w="84" h="249">
                  <a:moveTo>
                    <a:pt x="2" y="213"/>
                  </a:moveTo>
                  <a:lnTo>
                    <a:pt x="0" y="28"/>
                  </a:lnTo>
                  <a:lnTo>
                    <a:pt x="83" y="0"/>
                  </a:lnTo>
                  <a:lnTo>
                    <a:pt x="72" y="248"/>
                  </a:lnTo>
                  <a:lnTo>
                    <a:pt x="2" y="213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3" name="Freeform 5"/>
            <p:cNvSpPr>
              <a:spLocks/>
            </p:cNvSpPr>
            <p:nvPr/>
          </p:nvSpPr>
          <p:spPr bwMode="auto">
            <a:xfrm>
              <a:off x="2831" y="2965"/>
              <a:ext cx="52" cy="232"/>
            </a:xfrm>
            <a:custGeom>
              <a:avLst/>
              <a:gdLst/>
              <a:ahLst/>
              <a:cxnLst>
                <a:cxn ang="0">
                  <a:pos x="13" y="204"/>
                </a:cxn>
                <a:cxn ang="0">
                  <a:pos x="0" y="0"/>
                </a:cxn>
                <a:cxn ang="0">
                  <a:pos x="51" y="26"/>
                </a:cxn>
                <a:cxn ang="0">
                  <a:pos x="47" y="231"/>
                </a:cxn>
                <a:cxn ang="0">
                  <a:pos x="13" y="204"/>
                </a:cxn>
              </a:cxnLst>
              <a:rect l="0" t="0" r="r" b="b"/>
              <a:pathLst>
                <a:path w="52" h="232">
                  <a:moveTo>
                    <a:pt x="13" y="204"/>
                  </a:moveTo>
                  <a:lnTo>
                    <a:pt x="0" y="0"/>
                  </a:lnTo>
                  <a:lnTo>
                    <a:pt x="51" y="26"/>
                  </a:lnTo>
                  <a:lnTo>
                    <a:pt x="47" y="231"/>
                  </a:lnTo>
                  <a:lnTo>
                    <a:pt x="13" y="204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4" name="Freeform 6"/>
            <p:cNvSpPr>
              <a:spLocks/>
            </p:cNvSpPr>
            <p:nvPr/>
          </p:nvSpPr>
          <p:spPr bwMode="auto">
            <a:xfrm>
              <a:off x="2851" y="3354"/>
              <a:ext cx="36" cy="133"/>
            </a:xfrm>
            <a:custGeom>
              <a:avLst/>
              <a:gdLst/>
              <a:ahLst/>
              <a:cxnLst>
                <a:cxn ang="0">
                  <a:pos x="4" y="101"/>
                </a:cxn>
                <a:cxn ang="0">
                  <a:pos x="0" y="0"/>
                </a:cxn>
                <a:cxn ang="0">
                  <a:pos x="35" y="20"/>
                </a:cxn>
                <a:cxn ang="0">
                  <a:pos x="28" y="132"/>
                </a:cxn>
                <a:cxn ang="0">
                  <a:pos x="4" y="101"/>
                </a:cxn>
              </a:cxnLst>
              <a:rect l="0" t="0" r="r" b="b"/>
              <a:pathLst>
                <a:path w="36" h="133">
                  <a:moveTo>
                    <a:pt x="4" y="101"/>
                  </a:moveTo>
                  <a:lnTo>
                    <a:pt x="0" y="0"/>
                  </a:lnTo>
                  <a:lnTo>
                    <a:pt x="35" y="20"/>
                  </a:lnTo>
                  <a:lnTo>
                    <a:pt x="28" y="132"/>
                  </a:lnTo>
                  <a:lnTo>
                    <a:pt x="4" y="101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5" name="Freeform 7"/>
            <p:cNvSpPr>
              <a:spLocks/>
            </p:cNvSpPr>
            <p:nvPr/>
          </p:nvSpPr>
          <p:spPr bwMode="auto">
            <a:xfrm>
              <a:off x="2851" y="3640"/>
              <a:ext cx="30" cy="590"/>
            </a:xfrm>
            <a:custGeom>
              <a:avLst/>
              <a:gdLst/>
              <a:ahLst/>
              <a:cxnLst>
                <a:cxn ang="0">
                  <a:pos x="15" y="589"/>
                </a:cxn>
                <a:cxn ang="0">
                  <a:pos x="0" y="0"/>
                </a:cxn>
                <a:cxn ang="0">
                  <a:pos x="29" y="37"/>
                </a:cxn>
                <a:cxn ang="0">
                  <a:pos x="15" y="589"/>
                </a:cxn>
              </a:cxnLst>
              <a:rect l="0" t="0" r="r" b="b"/>
              <a:pathLst>
                <a:path w="30" h="590">
                  <a:moveTo>
                    <a:pt x="15" y="589"/>
                  </a:moveTo>
                  <a:lnTo>
                    <a:pt x="0" y="0"/>
                  </a:lnTo>
                  <a:lnTo>
                    <a:pt x="29" y="37"/>
                  </a:lnTo>
                  <a:lnTo>
                    <a:pt x="15" y="589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6" name="Freeform 8"/>
            <p:cNvSpPr>
              <a:spLocks/>
            </p:cNvSpPr>
            <p:nvPr/>
          </p:nvSpPr>
          <p:spPr bwMode="auto">
            <a:xfrm>
              <a:off x="2600" y="3595"/>
              <a:ext cx="233" cy="130"/>
            </a:xfrm>
            <a:custGeom>
              <a:avLst/>
              <a:gdLst/>
              <a:ahLst/>
              <a:cxnLst>
                <a:cxn ang="0">
                  <a:pos x="0" y="117"/>
                </a:cxn>
                <a:cxn ang="0">
                  <a:pos x="48" y="101"/>
                </a:cxn>
                <a:cxn ang="0">
                  <a:pos x="93" y="79"/>
                </a:cxn>
                <a:cxn ang="0">
                  <a:pos x="146" y="39"/>
                </a:cxn>
                <a:cxn ang="0">
                  <a:pos x="182" y="0"/>
                </a:cxn>
                <a:cxn ang="0">
                  <a:pos x="232" y="42"/>
                </a:cxn>
                <a:cxn ang="0">
                  <a:pos x="188" y="74"/>
                </a:cxn>
                <a:cxn ang="0">
                  <a:pos x="134" y="110"/>
                </a:cxn>
                <a:cxn ang="0">
                  <a:pos x="61" y="129"/>
                </a:cxn>
                <a:cxn ang="0">
                  <a:pos x="0" y="117"/>
                </a:cxn>
              </a:cxnLst>
              <a:rect l="0" t="0" r="r" b="b"/>
              <a:pathLst>
                <a:path w="233" h="130">
                  <a:moveTo>
                    <a:pt x="0" y="117"/>
                  </a:moveTo>
                  <a:lnTo>
                    <a:pt x="48" y="101"/>
                  </a:lnTo>
                  <a:lnTo>
                    <a:pt x="93" y="79"/>
                  </a:lnTo>
                  <a:lnTo>
                    <a:pt x="146" y="39"/>
                  </a:lnTo>
                  <a:lnTo>
                    <a:pt x="182" y="0"/>
                  </a:lnTo>
                  <a:lnTo>
                    <a:pt x="232" y="42"/>
                  </a:lnTo>
                  <a:lnTo>
                    <a:pt x="188" y="74"/>
                  </a:lnTo>
                  <a:lnTo>
                    <a:pt x="134" y="110"/>
                  </a:lnTo>
                  <a:lnTo>
                    <a:pt x="61" y="129"/>
                  </a:lnTo>
                  <a:lnTo>
                    <a:pt x="0" y="117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7" name="Freeform 9"/>
            <p:cNvSpPr>
              <a:spLocks/>
            </p:cNvSpPr>
            <p:nvPr/>
          </p:nvSpPr>
          <p:spPr bwMode="auto">
            <a:xfrm>
              <a:off x="2583" y="2888"/>
              <a:ext cx="465" cy="646"/>
            </a:xfrm>
            <a:custGeom>
              <a:avLst/>
              <a:gdLst/>
              <a:ahLst/>
              <a:cxnLst>
                <a:cxn ang="0">
                  <a:pos x="359" y="645"/>
                </a:cxn>
                <a:cxn ang="0">
                  <a:pos x="405" y="616"/>
                </a:cxn>
                <a:cxn ang="0">
                  <a:pos x="447" y="580"/>
                </a:cxn>
                <a:cxn ang="0">
                  <a:pos x="460" y="552"/>
                </a:cxn>
                <a:cxn ang="0">
                  <a:pos x="464" y="515"/>
                </a:cxn>
                <a:cxn ang="0">
                  <a:pos x="451" y="468"/>
                </a:cxn>
                <a:cxn ang="0">
                  <a:pos x="424" y="424"/>
                </a:cxn>
                <a:cxn ang="0">
                  <a:pos x="380" y="385"/>
                </a:cxn>
                <a:cxn ang="0">
                  <a:pos x="168" y="259"/>
                </a:cxn>
                <a:cxn ang="0">
                  <a:pos x="133" y="235"/>
                </a:cxn>
                <a:cxn ang="0">
                  <a:pos x="111" y="208"/>
                </a:cxn>
                <a:cxn ang="0">
                  <a:pos x="104" y="166"/>
                </a:cxn>
                <a:cxn ang="0">
                  <a:pos x="117" y="124"/>
                </a:cxn>
                <a:cxn ang="0">
                  <a:pos x="155" y="95"/>
                </a:cxn>
                <a:cxn ang="0">
                  <a:pos x="222" y="52"/>
                </a:cxn>
                <a:cxn ang="0">
                  <a:pos x="124" y="0"/>
                </a:cxn>
                <a:cxn ang="0">
                  <a:pos x="55" y="41"/>
                </a:cxn>
                <a:cxn ang="0">
                  <a:pos x="27" y="70"/>
                </a:cxn>
                <a:cxn ang="0">
                  <a:pos x="2" y="123"/>
                </a:cxn>
                <a:cxn ang="0">
                  <a:pos x="0" y="189"/>
                </a:cxn>
                <a:cxn ang="0">
                  <a:pos x="29" y="257"/>
                </a:cxn>
                <a:cxn ang="0">
                  <a:pos x="78" y="300"/>
                </a:cxn>
                <a:cxn ang="0">
                  <a:pos x="311" y="442"/>
                </a:cxn>
                <a:cxn ang="0">
                  <a:pos x="358" y="474"/>
                </a:cxn>
                <a:cxn ang="0">
                  <a:pos x="375" y="516"/>
                </a:cxn>
                <a:cxn ang="0">
                  <a:pos x="375" y="550"/>
                </a:cxn>
                <a:cxn ang="0">
                  <a:pos x="308" y="608"/>
                </a:cxn>
                <a:cxn ang="0">
                  <a:pos x="359" y="645"/>
                </a:cxn>
              </a:cxnLst>
              <a:rect l="0" t="0" r="r" b="b"/>
              <a:pathLst>
                <a:path w="465" h="646">
                  <a:moveTo>
                    <a:pt x="359" y="645"/>
                  </a:moveTo>
                  <a:lnTo>
                    <a:pt x="405" y="616"/>
                  </a:lnTo>
                  <a:lnTo>
                    <a:pt x="447" y="580"/>
                  </a:lnTo>
                  <a:lnTo>
                    <a:pt x="460" y="552"/>
                  </a:lnTo>
                  <a:lnTo>
                    <a:pt x="464" y="515"/>
                  </a:lnTo>
                  <a:lnTo>
                    <a:pt x="451" y="468"/>
                  </a:lnTo>
                  <a:lnTo>
                    <a:pt x="424" y="424"/>
                  </a:lnTo>
                  <a:lnTo>
                    <a:pt x="380" y="385"/>
                  </a:lnTo>
                  <a:lnTo>
                    <a:pt x="168" y="259"/>
                  </a:lnTo>
                  <a:lnTo>
                    <a:pt x="133" y="235"/>
                  </a:lnTo>
                  <a:lnTo>
                    <a:pt x="111" y="208"/>
                  </a:lnTo>
                  <a:lnTo>
                    <a:pt x="104" y="166"/>
                  </a:lnTo>
                  <a:lnTo>
                    <a:pt x="117" y="124"/>
                  </a:lnTo>
                  <a:lnTo>
                    <a:pt x="155" y="95"/>
                  </a:lnTo>
                  <a:lnTo>
                    <a:pt x="222" y="52"/>
                  </a:lnTo>
                  <a:lnTo>
                    <a:pt x="124" y="0"/>
                  </a:lnTo>
                  <a:lnTo>
                    <a:pt x="55" y="41"/>
                  </a:lnTo>
                  <a:lnTo>
                    <a:pt x="27" y="70"/>
                  </a:lnTo>
                  <a:lnTo>
                    <a:pt x="2" y="123"/>
                  </a:lnTo>
                  <a:lnTo>
                    <a:pt x="0" y="189"/>
                  </a:lnTo>
                  <a:lnTo>
                    <a:pt x="29" y="257"/>
                  </a:lnTo>
                  <a:lnTo>
                    <a:pt x="78" y="300"/>
                  </a:lnTo>
                  <a:lnTo>
                    <a:pt x="311" y="442"/>
                  </a:lnTo>
                  <a:lnTo>
                    <a:pt x="358" y="474"/>
                  </a:lnTo>
                  <a:lnTo>
                    <a:pt x="375" y="516"/>
                  </a:lnTo>
                  <a:lnTo>
                    <a:pt x="375" y="550"/>
                  </a:lnTo>
                  <a:lnTo>
                    <a:pt x="308" y="608"/>
                  </a:lnTo>
                  <a:lnTo>
                    <a:pt x="359" y="645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8" name="Freeform 10"/>
            <p:cNvSpPr>
              <a:spLocks/>
            </p:cNvSpPr>
            <p:nvPr/>
          </p:nvSpPr>
          <p:spPr bwMode="auto">
            <a:xfrm>
              <a:off x="2966" y="2396"/>
              <a:ext cx="318" cy="422"/>
            </a:xfrm>
            <a:custGeom>
              <a:avLst/>
              <a:gdLst/>
              <a:ahLst/>
              <a:cxnLst>
                <a:cxn ang="0">
                  <a:pos x="92" y="421"/>
                </a:cxn>
                <a:cxn ang="0">
                  <a:pos x="163" y="399"/>
                </a:cxn>
                <a:cxn ang="0">
                  <a:pos x="218" y="357"/>
                </a:cxn>
                <a:cxn ang="0">
                  <a:pos x="263" y="316"/>
                </a:cxn>
                <a:cxn ang="0">
                  <a:pos x="300" y="265"/>
                </a:cxn>
                <a:cxn ang="0">
                  <a:pos x="317" y="203"/>
                </a:cxn>
                <a:cxn ang="0">
                  <a:pos x="316" y="139"/>
                </a:cxn>
                <a:cxn ang="0">
                  <a:pos x="299" y="95"/>
                </a:cxn>
                <a:cxn ang="0">
                  <a:pos x="276" y="64"/>
                </a:cxn>
                <a:cxn ang="0">
                  <a:pos x="241" y="36"/>
                </a:cxn>
                <a:cxn ang="0">
                  <a:pos x="218" y="14"/>
                </a:cxn>
                <a:cxn ang="0">
                  <a:pos x="180" y="0"/>
                </a:cxn>
                <a:cxn ang="0">
                  <a:pos x="61" y="52"/>
                </a:cxn>
                <a:cxn ang="0">
                  <a:pos x="106" y="93"/>
                </a:cxn>
                <a:cxn ang="0">
                  <a:pos x="137" y="130"/>
                </a:cxn>
                <a:cxn ang="0">
                  <a:pos x="159" y="159"/>
                </a:cxn>
                <a:cxn ang="0">
                  <a:pos x="176" y="196"/>
                </a:cxn>
                <a:cxn ang="0">
                  <a:pos x="176" y="246"/>
                </a:cxn>
                <a:cxn ang="0">
                  <a:pos x="145" y="279"/>
                </a:cxn>
                <a:cxn ang="0">
                  <a:pos x="105" y="309"/>
                </a:cxn>
                <a:cxn ang="0">
                  <a:pos x="50" y="342"/>
                </a:cxn>
                <a:cxn ang="0">
                  <a:pos x="0" y="369"/>
                </a:cxn>
                <a:cxn ang="0">
                  <a:pos x="92" y="421"/>
                </a:cxn>
              </a:cxnLst>
              <a:rect l="0" t="0" r="r" b="b"/>
              <a:pathLst>
                <a:path w="318" h="422">
                  <a:moveTo>
                    <a:pt x="92" y="421"/>
                  </a:moveTo>
                  <a:lnTo>
                    <a:pt x="163" y="399"/>
                  </a:lnTo>
                  <a:lnTo>
                    <a:pt x="218" y="357"/>
                  </a:lnTo>
                  <a:lnTo>
                    <a:pt x="263" y="316"/>
                  </a:lnTo>
                  <a:lnTo>
                    <a:pt x="300" y="265"/>
                  </a:lnTo>
                  <a:lnTo>
                    <a:pt x="317" y="203"/>
                  </a:lnTo>
                  <a:lnTo>
                    <a:pt x="316" y="139"/>
                  </a:lnTo>
                  <a:lnTo>
                    <a:pt x="299" y="95"/>
                  </a:lnTo>
                  <a:lnTo>
                    <a:pt x="276" y="64"/>
                  </a:lnTo>
                  <a:lnTo>
                    <a:pt x="241" y="36"/>
                  </a:lnTo>
                  <a:lnTo>
                    <a:pt x="218" y="14"/>
                  </a:lnTo>
                  <a:lnTo>
                    <a:pt x="180" y="0"/>
                  </a:lnTo>
                  <a:lnTo>
                    <a:pt x="61" y="52"/>
                  </a:lnTo>
                  <a:lnTo>
                    <a:pt x="106" y="93"/>
                  </a:lnTo>
                  <a:lnTo>
                    <a:pt x="137" y="130"/>
                  </a:lnTo>
                  <a:lnTo>
                    <a:pt x="159" y="159"/>
                  </a:lnTo>
                  <a:lnTo>
                    <a:pt x="176" y="196"/>
                  </a:lnTo>
                  <a:lnTo>
                    <a:pt x="176" y="246"/>
                  </a:lnTo>
                  <a:lnTo>
                    <a:pt x="145" y="279"/>
                  </a:lnTo>
                  <a:lnTo>
                    <a:pt x="105" y="309"/>
                  </a:lnTo>
                  <a:lnTo>
                    <a:pt x="50" y="342"/>
                  </a:lnTo>
                  <a:lnTo>
                    <a:pt x="0" y="369"/>
                  </a:lnTo>
                  <a:lnTo>
                    <a:pt x="92" y="421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59" name="Freeform 11"/>
            <p:cNvSpPr>
              <a:spLocks/>
            </p:cNvSpPr>
            <p:nvPr/>
          </p:nvSpPr>
          <p:spPr bwMode="auto">
            <a:xfrm>
              <a:off x="2308" y="1190"/>
              <a:ext cx="1404" cy="1153"/>
            </a:xfrm>
            <a:custGeom>
              <a:avLst/>
              <a:gdLst/>
              <a:ahLst/>
              <a:cxnLst>
                <a:cxn ang="0">
                  <a:pos x="466" y="1084"/>
                </a:cxn>
                <a:cxn ang="0">
                  <a:pos x="370" y="1066"/>
                </a:cxn>
                <a:cxn ang="0">
                  <a:pos x="299" y="1035"/>
                </a:cxn>
                <a:cxn ang="0">
                  <a:pos x="257" y="1002"/>
                </a:cxn>
                <a:cxn ang="0">
                  <a:pos x="220" y="956"/>
                </a:cxn>
                <a:cxn ang="0">
                  <a:pos x="209" y="914"/>
                </a:cxn>
                <a:cxn ang="0">
                  <a:pos x="215" y="873"/>
                </a:cxn>
                <a:cxn ang="0">
                  <a:pos x="231" y="836"/>
                </a:cxn>
                <a:cxn ang="0">
                  <a:pos x="273" y="798"/>
                </a:cxn>
                <a:cxn ang="0">
                  <a:pos x="330" y="774"/>
                </a:cxn>
                <a:cxn ang="0">
                  <a:pos x="400" y="748"/>
                </a:cxn>
                <a:cxn ang="0">
                  <a:pos x="1110" y="499"/>
                </a:cxn>
                <a:cxn ang="0">
                  <a:pos x="1207" y="451"/>
                </a:cxn>
                <a:cxn ang="0">
                  <a:pos x="1289" y="398"/>
                </a:cxn>
                <a:cxn ang="0">
                  <a:pos x="1344" y="356"/>
                </a:cxn>
                <a:cxn ang="0">
                  <a:pos x="1381" y="310"/>
                </a:cxn>
                <a:cxn ang="0">
                  <a:pos x="1403" y="249"/>
                </a:cxn>
                <a:cxn ang="0">
                  <a:pos x="1401" y="185"/>
                </a:cxn>
                <a:cxn ang="0">
                  <a:pos x="1386" y="136"/>
                </a:cxn>
                <a:cxn ang="0">
                  <a:pos x="1370" y="90"/>
                </a:cxn>
                <a:cxn ang="0">
                  <a:pos x="1335" y="55"/>
                </a:cxn>
                <a:cxn ang="0">
                  <a:pos x="1280" y="18"/>
                </a:cxn>
                <a:cxn ang="0">
                  <a:pos x="1214" y="0"/>
                </a:cxn>
                <a:cxn ang="0">
                  <a:pos x="1172" y="4"/>
                </a:cxn>
                <a:cxn ang="0">
                  <a:pos x="1111" y="7"/>
                </a:cxn>
                <a:cxn ang="0">
                  <a:pos x="1053" y="20"/>
                </a:cxn>
                <a:cxn ang="0">
                  <a:pos x="989" y="46"/>
                </a:cxn>
                <a:cxn ang="0">
                  <a:pos x="939" y="79"/>
                </a:cxn>
                <a:cxn ang="0">
                  <a:pos x="899" y="106"/>
                </a:cxn>
                <a:cxn ang="0">
                  <a:pos x="878" y="149"/>
                </a:cxn>
                <a:cxn ang="0">
                  <a:pos x="897" y="187"/>
                </a:cxn>
                <a:cxn ang="0">
                  <a:pos x="939" y="183"/>
                </a:cxn>
                <a:cxn ang="0">
                  <a:pos x="987" y="171"/>
                </a:cxn>
                <a:cxn ang="0">
                  <a:pos x="1033" y="158"/>
                </a:cxn>
                <a:cxn ang="0">
                  <a:pos x="1069" y="150"/>
                </a:cxn>
                <a:cxn ang="0">
                  <a:pos x="1111" y="150"/>
                </a:cxn>
                <a:cxn ang="0">
                  <a:pos x="1154" y="163"/>
                </a:cxn>
                <a:cxn ang="0">
                  <a:pos x="1183" y="204"/>
                </a:cxn>
                <a:cxn ang="0">
                  <a:pos x="1179" y="248"/>
                </a:cxn>
                <a:cxn ang="0">
                  <a:pos x="1157" y="286"/>
                </a:cxn>
                <a:cxn ang="0">
                  <a:pos x="1121" y="323"/>
                </a:cxn>
                <a:cxn ang="0">
                  <a:pos x="1047" y="361"/>
                </a:cxn>
                <a:cxn ang="0">
                  <a:pos x="908" y="415"/>
                </a:cxn>
                <a:cxn ang="0">
                  <a:pos x="194" y="675"/>
                </a:cxn>
                <a:cxn ang="0">
                  <a:pos x="123" y="715"/>
                </a:cxn>
                <a:cxn ang="0">
                  <a:pos x="68" y="763"/>
                </a:cxn>
                <a:cxn ang="0">
                  <a:pos x="29" y="809"/>
                </a:cxn>
                <a:cxn ang="0">
                  <a:pos x="6" y="858"/>
                </a:cxn>
                <a:cxn ang="0">
                  <a:pos x="0" y="912"/>
                </a:cxn>
                <a:cxn ang="0">
                  <a:pos x="8" y="952"/>
                </a:cxn>
                <a:cxn ang="0">
                  <a:pos x="22" y="992"/>
                </a:cxn>
                <a:cxn ang="0">
                  <a:pos x="59" y="1036"/>
                </a:cxn>
                <a:cxn ang="0">
                  <a:pos x="127" y="1095"/>
                </a:cxn>
                <a:cxn ang="0">
                  <a:pos x="198" y="1135"/>
                </a:cxn>
                <a:cxn ang="0">
                  <a:pos x="273" y="1152"/>
                </a:cxn>
                <a:cxn ang="0">
                  <a:pos x="466" y="1084"/>
                </a:cxn>
              </a:cxnLst>
              <a:rect l="0" t="0" r="r" b="b"/>
              <a:pathLst>
                <a:path w="1404" h="1153">
                  <a:moveTo>
                    <a:pt x="466" y="1084"/>
                  </a:moveTo>
                  <a:lnTo>
                    <a:pt x="370" y="1066"/>
                  </a:lnTo>
                  <a:lnTo>
                    <a:pt x="299" y="1035"/>
                  </a:lnTo>
                  <a:lnTo>
                    <a:pt x="257" y="1002"/>
                  </a:lnTo>
                  <a:lnTo>
                    <a:pt x="220" y="956"/>
                  </a:lnTo>
                  <a:lnTo>
                    <a:pt x="209" y="914"/>
                  </a:lnTo>
                  <a:lnTo>
                    <a:pt x="215" y="873"/>
                  </a:lnTo>
                  <a:lnTo>
                    <a:pt x="231" y="836"/>
                  </a:lnTo>
                  <a:lnTo>
                    <a:pt x="273" y="798"/>
                  </a:lnTo>
                  <a:lnTo>
                    <a:pt x="330" y="774"/>
                  </a:lnTo>
                  <a:lnTo>
                    <a:pt x="400" y="748"/>
                  </a:lnTo>
                  <a:lnTo>
                    <a:pt x="1110" y="499"/>
                  </a:lnTo>
                  <a:lnTo>
                    <a:pt x="1207" y="451"/>
                  </a:lnTo>
                  <a:lnTo>
                    <a:pt x="1289" y="398"/>
                  </a:lnTo>
                  <a:lnTo>
                    <a:pt x="1344" y="356"/>
                  </a:lnTo>
                  <a:lnTo>
                    <a:pt x="1381" y="310"/>
                  </a:lnTo>
                  <a:lnTo>
                    <a:pt x="1403" y="249"/>
                  </a:lnTo>
                  <a:lnTo>
                    <a:pt x="1401" y="185"/>
                  </a:lnTo>
                  <a:lnTo>
                    <a:pt x="1386" y="136"/>
                  </a:lnTo>
                  <a:lnTo>
                    <a:pt x="1370" y="90"/>
                  </a:lnTo>
                  <a:lnTo>
                    <a:pt x="1335" y="55"/>
                  </a:lnTo>
                  <a:lnTo>
                    <a:pt x="1280" y="18"/>
                  </a:lnTo>
                  <a:lnTo>
                    <a:pt x="1214" y="0"/>
                  </a:lnTo>
                  <a:lnTo>
                    <a:pt x="1172" y="4"/>
                  </a:lnTo>
                  <a:lnTo>
                    <a:pt x="1111" y="7"/>
                  </a:lnTo>
                  <a:lnTo>
                    <a:pt x="1053" y="20"/>
                  </a:lnTo>
                  <a:lnTo>
                    <a:pt x="989" y="46"/>
                  </a:lnTo>
                  <a:lnTo>
                    <a:pt x="939" y="79"/>
                  </a:lnTo>
                  <a:lnTo>
                    <a:pt x="899" y="106"/>
                  </a:lnTo>
                  <a:lnTo>
                    <a:pt x="878" y="149"/>
                  </a:lnTo>
                  <a:lnTo>
                    <a:pt x="897" y="187"/>
                  </a:lnTo>
                  <a:lnTo>
                    <a:pt x="939" y="183"/>
                  </a:lnTo>
                  <a:lnTo>
                    <a:pt x="987" y="171"/>
                  </a:lnTo>
                  <a:lnTo>
                    <a:pt x="1033" y="158"/>
                  </a:lnTo>
                  <a:lnTo>
                    <a:pt x="1069" y="150"/>
                  </a:lnTo>
                  <a:lnTo>
                    <a:pt x="1111" y="150"/>
                  </a:lnTo>
                  <a:lnTo>
                    <a:pt x="1154" y="163"/>
                  </a:lnTo>
                  <a:lnTo>
                    <a:pt x="1183" y="204"/>
                  </a:lnTo>
                  <a:lnTo>
                    <a:pt x="1179" y="248"/>
                  </a:lnTo>
                  <a:lnTo>
                    <a:pt x="1157" y="286"/>
                  </a:lnTo>
                  <a:lnTo>
                    <a:pt x="1121" y="323"/>
                  </a:lnTo>
                  <a:lnTo>
                    <a:pt x="1047" y="361"/>
                  </a:lnTo>
                  <a:lnTo>
                    <a:pt x="908" y="415"/>
                  </a:lnTo>
                  <a:lnTo>
                    <a:pt x="194" y="675"/>
                  </a:lnTo>
                  <a:lnTo>
                    <a:pt x="123" y="715"/>
                  </a:lnTo>
                  <a:lnTo>
                    <a:pt x="68" y="763"/>
                  </a:lnTo>
                  <a:lnTo>
                    <a:pt x="29" y="809"/>
                  </a:lnTo>
                  <a:lnTo>
                    <a:pt x="6" y="858"/>
                  </a:lnTo>
                  <a:lnTo>
                    <a:pt x="0" y="912"/>
                  </a:lnTo>
                  <a:lnTo>
                    <a:pt x="8" y="952"/>
                  </a:lnTo>
                  <a:lnTo>
                    <a:pt x="22" y="992"/>
                  </a:lnTo>
                  <a:lnTo>
                    <a:pt x="59" y="1036"/>
                  </a:lnTo>
                  <a:lnTo>
                    <a:pt x="127" y="1095"/>
                  </a:lnTo>
                  <a:lnTo>
                    <a:pt x="198" y="1135"/>
                  </a:lnTo>
                  <a:lnTo>
                    <a:pt x="273" y="1152"/>
                  </a:lnTo>
                  <a:lnTo>
                    <a:pt x="466" y="1084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60" name="Freeform 12"/>
            <p:cNvSpPr>
              <a:spLocks/>
            </p:cNvSpPr>
            <p:nvPr/>
          </p:nvSpPr>
          <p:spPr bwMode="auto">
            <a:xfrm>
              <a:off x="2711" y="3280"/>
              <a:ext cx="368" cy="422"/>
            </a:xfrm>
            <a:custGeom>
              <a:avLst/>
              <a:gdLst/>
              <a:ahLst/>
              <a:cxnLst>
                <a:cxn ang="0">
                  <a:pos x="367" y="421"/>
                </a:cxn>
                <a:cxn ang="0">
                  <a:pos x="171" y="340"/>
                </a:cxn>
                <a:cxn ang="0">
                  <a:pos x="117" y="304"/>
                </a:cxn>
                <a:cxn ang="0">
                  <a:pos x="73" y="265"/>
                </a:cxn>
                <a:cxn ang="0">
                  <a:pos x="31" y="219"/>
                </a:cxn>
                <a:cxn ang="0">
                  <a:pos x="9" y="179"/>
                </a:cxn>
                <a:cxn ang="0">
                  <a:pos x="0" y="137"/>
                </a:cxn>
                <a:cxn ang="0">
                  <a:pos x="2" y="95"/>
                </a:cxn>
                <a:cxn ang="0">
                  <a:pos x="19" y="51"/>
                </a:cxn>
                <a:cxn ang="0">
                  <a:pos x="44" y="0"/>
                </a:cxn>
                <a:cxn ang="0">
                  <a:pos x="120" y="52"/>
                </a:cxn>
                <a:cxn ang="0">
                  <a:pos x="95" y="98"/>
                </a:cxn>
                <a:cxn ang="0">
                  <a:pos x="95" y="143"/>
                </a:cxn>
                <a:cxn ang="0">
                  <a:pos x="122" y="191"/>
                </a:cxn>
                <a:cxn ang="0">
                  <a:pos x="162" y="235"/>
                </a:cxn>
                <a:cxn ang="0">
                  <a:pos x="223" y="284"/>
                </a:cxn>
                <a:cxn ang="0">
                  <a:pos x="290" y="317"/>
                </a:cxn>
                <a:cxn ang="0">
                  <a:pos x="332" y="351"/>
                </a:cxn>
                <a:cxn ang="0">
                  <a:pos x="351" y="378"/>
                </a:cxn>
                <a:cxn ang="0">
                  <a:pos x="367" y="421"/>
                </a:cxn>
              </a:cxnLst>
              <a:rect l="0" t="0" r="r" b="b"/>
              <a:pathLst>
                <a:path w="368" h="422">
                  <a:moveTo>
                    <a:pt x="367" y="421"/>
                  </a:moveTo>
                  <a:lnTo>
                    <a:pt x="171" y="340"/>
                  </a:lnTo>
                  <a:lnTo>
                    <a:pt x="117" y="304"/>
                  </a:lnTo>
                  <a:lnTo>
                    <a:pt x="73" y="265"/>
                  </a:lnTo>
                  <a:lnTo>
                    <a:pt x="31" y="219"/>
                  </a:lnTo>
                  <a:lnTo>
                    <a:pt x="9" y="179"/>
                  </a:lnTo>
                  <a:lnTo>
                    <a:pt x="0" y="137"/>
                  </a:lnTo>
                  <a:lnTo>
                    <a:pt x="2" y="95"/>
                  </a:lnTo>
                  <a:lnTo>
                    <a:pt x="19" y="51"/>
                  </a:lnTo>
                  <a:lnTo>
                    <a:pt x="44" y="0"/>
                  </a:lnTo>
                  <a:lnTo>
                    <a:pt x="120" y="52"/>
                  </a:lnTo>
                  <a:lnTo>
                    <a:pt x="95" y="98"/>
                  </a:lnTo>
                  <a:lnTo>
                    <a:pt x="95" y="143"/>
                  </a:lnTo>
                  <a:lnTo>
                    <a:pt x="122" y="191"/>
                  </a:lnTo>
                  <a:lnTo>
                    <a:pt x="162" y="235"/>
                  </a:lnTo>
                  <a:lnTo>
                    <a:pt x="223" y="284"/>
                  </a:lnTo>
                  <a:lnTo>
                    <a:pt x="290" y="317"/>
                  </a:lnTo>
                  <a:lnTo>
                    <a:pt x="332" y="351"/>
                  </a:lnTo>
                  <a:lnTo>
                    <a:pt x="351" y="378"/>
                  </a:lnTo>
                  <a:lnTo>
                    <a:pt x="367" y="421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61" name="Freeform 13"/>
            <p:cNvSpPr>
              <a:spLocks/>
            </p:cNvSpPr>
            <p:nvPr/>
          </p:nvSpPr>
          <p:spPr bwMode="auto">
            <a:xfrm>
              <a:off x="2432" y="1792"/>
              <a:ext cx="989" cy="1439"/>
            </a:xfrm>
            <a:custGeom>
              <a:avLst/>
              <a:gdLst/>
              <a:ahLst/>
              <a:cxnLst>
                <a:cxn ang="0">
                  <a:pos x="525" y="1438"/>
                </a:cxn>
                <a:cxn ang="0">
                  <a:pos x="582" y="1409"/>
                </a:cxn>
                <a:cxn ang="0">
                  <a:pos x="647" y="1355"/>
                </a:cxn>
                <a:cxn ang="0">
                  <a:pos x="670" y="1304"/>
                </a:cxn>
                <a:cxn ang="0">
                  <a:pos x="686" y="1255"/>
                </a:cxn>
                <a:cxn ang="0">
                  <a:pos x="677" y="1198"/>
                </a:cxn>
                <a:cxn ang="0">
                  <a:pos x="637" y="1125"/>
                </a:cxn>
                <a:cxn ang="0">
                  <a:pos x="609" y="1092"/>
                </a:cxn>
                <a:cxn ang="0">
                  <a:pos x="569" y="1063"/>
                </a:cxn>
                <a:cxn ang="0">
                  <a:pos x="259" y="905"/>
                </a:cxn>
                <a:cxn ang="0">
                  <a:pos x="201" y="863"/>
                </a:cxn>
                <a:cxn ang="0">
                  <a:pos x="177" y="843"/>
                </a:cxn>
                <a:cxn ang="0">
                  <a:pos x="160" y="800"/>
                </a:cxn>
                <a:cxn ang="0">
                  <a:pos x="171" y="766"/>
                </a:cxn>
                <a:cxn ang="0">
                  <a:pos x="215" y="738"/>
                </a:cxn>
                <a:cxn ang="0">
                  <a:pos x="294" y="709"/>
                </a:cxn>
                <a:cxn ang="0">
                  <a:pos x="780" y="521"/>
                </a:cxn>
                <a:cxn ang="0">
                  <a:pos x="856" y="471"/>
                </a:cxn>
                <a:cxn ang="0">
                  <a:pos x="918" y="417"/>
                </a:cxn>
                <a:cxn ang="0">
                  <a:pos x="953" y="379"/>
                </a:cxn>
                <a:cxn ang="0">
                  <a:pos x="984" y="334"/>
                </a:cxn>
                <a:cxn ang="0">
                  <a:pos x="988" y="274"/>
                </a:cxn>
                <a:cxn ang="0">
                  <a:pos x="972" y="214"/>
                </a:cxn>
                <a:cxn ang="0">
                  <a:pos x="953" y="167"/>
                </a:cxn>
                <a:cxn ang="0">
                  <a:pos x="920" y="126"/>
                </a:cxn>
                <a:cxn ang="0">
                  <a:pos x="875" y="85"/>
                </a:cxn>
                <a:cxn ang="0">
                  <a:pos x="828" y="50"/>
                </a:cxn>
                <a:cxn ang="0">
                  <a:pos x="803" y="29"/>
                </a:cxn>
                <a:cxn ang="0">
                  <a:pos x="756" y="0"/>
                </a:cxn>
                <a:cxn ang="0">
                  <a:pos x="588" y="61"/>
                </a:cxn>
                <a:cxn ang="0">
                  <a:pos x="649" y="104"/>
                </a:cxn>
                <a:cxn ang="0">
                  <a:pos x="694" y="145"/>
                </a:cxn>
                <a:cxn ang="0">
                  <a:pos x="739" y="182"/>
                </a:cxn>
                <a:cxn ang="0">
                  <a:pos x="780" y="223"/>
                </a:cxn>
                <a:cxn ang="0">
                  <a:pos x="803" y="272"/>
                </a:cxn>
                <a:cxn ang="0">
                  <a:pos x="787" y="323"/>
                </a:cxn>
                <a:cxn ang="0">
                  <a:pos x="729" y="369"/>
                </a:cxn>
                <a:cxn ang="0">
                  <a:pos x="639" y="413"/>
                </a:cxn>
                <a:cxn ang="0">
                  <a:pos x="212" y="589"/>
                </a:cxn>
                <a:cxn ang="0">
                  <a:pos x="160" y="608"/>
                </a:cxn>
                <a:cxn ang="0">
                  <a:pos x="88" y="653"/>
                </a:cxn>
                <a:cxn ang="0">
                  <a:pos x="43" y="698"/>
                </a:cxn>
                <a:cxn ang="0">
                  <a:pos x="9" y="755"/>
                </a:cxn>
                <a:cxn ang="0">
                  <a:pos x="0" y="820"/>
                </a:cxn>
                <a:cxn ang="0">
                  <a:pos x="10" y="872"/>
                </a:cxn>
                <a:cxn ang="0">
                  <a:pos x="40" y="914"/>
                </a:cxn>
                <a:cxn ang="0">
                  <a:pos x="84" y="949"/>
                </a:cxn>
                <a:cxn ang="0">
                  <a:pos x="159" y="999"/>
                </a:cxn>
                <a:cxn ang="0">
                  <a:pos x="487" y="1164"/>
                </a:cxn>
                <a:cxn ang="0">
                  <a:pos x="530" y="1197"/>
                </a:cxn>
                <a:cxn ang="0">
                  <a:pos x="569" y="1236"/>
                </a:cxn>
                <a:cxn ang="0">
                  <a:pos x="557" y="1292"/>
                </a:cxn>
                <a:cxn ang="0">
                  <a:pos x="502" y="1354"/>
                </a:cxn>
                <a:cxn ang="0">
                  <a:pos x="434" y="1394"/>
                </a:cxn>
                <a:cxn ang="0">
                  <a:pos x="525" y="1438"/>
                </a:cxn>
              </a:cxnLst>
              <a:rect l="0" t="0" r="r" b="b"/>
              <a:pathLst>
                <a:path w="989" h="1439">
                  <a:moveTo>
                    <a:pt x="525" y="1438"/>
                  </a:moveTo>
                  <a:lnTo>
                    <a:pt x="582" y="1409"/>
                  </a:lnTo>
                  <a:lnTo>
                    <a:pt x="647" y="1355"/>
                  </a:lnTo>
                  <a:lnTo>
                    <a:pt x="670" y="1304"/>
                  </a:lnTo>
                  <a:lnTo>
                    <a:pt x="686" y="1255"/>
                  </a:lnTo>
                  <a:lnTo>
                    <a:pt x="677" y="1198"/>
                  </a:lnTo>
                  <a:lnTo>
                    <a:pt x="637" y="1125"/>
                  </a:lnTo>
                  <a:lnTo>
                    <a:pt x="609" y="1092"/>
                  </a:lnTo>
                  <a:lnTo>
                    <a:pt x="569" y="1063"/>
                  </a:lnTo>
                  <a:lnTo>
                    <a:pt x="259" y="905"/>
                  </a:lnTo>
                  <a:lnTo>
                    <a:pt x="201" y="863"/>
                  </a:lnTo>
                  <a:lnTo>
                    <a:pt x="177" y="843"/>
                  </a:lnTo>
                  <a:lnTo>
                    <a:pt x="160" y="800"/>
                  </a:lnTo>
                  <a:lnTo>
                    <a:pt x="171" y="766"/>
                  </a:lnTo>
                  <a:lnTo>
                    <a:pt x="215" y="738"/>
                  </a:lnTo>
                  <a:lnTo>
                    <a:pt x="294" y="709"/>
                  </a:lnTo>
                  <a:lnTo>
                    <a:pt x="780" y="521"/>
                  </a:lnTo>
                  <a:lnTo>
                    <a:pt x="856" y="471"/>
                  </a:lnTo>
                  <a:lnTo>
                    <a:pt x="918" y="417"/>
                  </a:lnTo>
                  <a:lnTo>
                    <a:pt x="953" y="379"/>
                  </a:lnTo>
                  <a:lnTo>
                    <a:pt x="984" y="334"/>
                  </a:lnTo>
                  <a:lnTo>
                    <a:pt x="988" y="274"/>
                  </a:lnTo>
                  <a:lnTo>
                    <a:pt x="972" y="214"/>
                  </a:lnTo>
                  <a:lnTo>
                    <a:pt x="953" y="167"/>
                  </a:lnTo>
                  <a:lnTo>
                    <a:pt x="920" y="126"/>
                  </a:lnTo>
                  <a:lnTo>
                    <a:pt x="875" y="85"/>
                  </a:lnTo>
                  <a:lnTo>
                    <a:pt x="828" y="50"/>
                  </a:lnTo>
                  <a:lnTo>
                    <a:pt x="803" y="29"/>
                  </a:lnTo>
                  <a:lnTo>
                    <a:pt x="756" y="0"/>
                  </a:lnTo>
                  <a:lnTo>
                    <a:pt x="588" y="61"/>
                  </a:lnTo>
                  <a:lnTo>
                    <a:pt x="649" y="104"/>
                  </a:lnTo>
                  <a:lnTo>
                    <a:pt x="694" y="145"/>
                  </a:lnTo>
                  <a:lnTo>
                    <a:pt x="739" y="182"/>
                  </a:lnTo>
                  <a:lnTo>
                    <a:pt x="780" y="223"/>
                  </a:lnTo>
                  <a:lnTo>
                    <a:pt x="803" y="272"/>
                  </a:lnTo>
                  <a:lnTo>
                    <a:pt x="787" y="323"/>
                  </a:lnTo>
                  <a:lnTo>
                    <a:pt x="729" y="369"/>
                  </a:lnTo>
                  <a:lnTo>
                    <a:pt x="639" y="413"/>
                  </a:lnTo>
                  <a:lnTo>
                    <a:pt x="212" y="589"/>
                  </a:lnTo>
                  <a:lnTo>
                    <a:pt x="160" y="608"/>
                  </a:lnTo>
                  <a:lnTo>
                    <a:pt x="88" y="653"/>
                  </a:lnTo>
                  <a:lnTo>
                    <a:pt x="43" y="698"/>
                  </a:lnTo>
                  <a:lnTo>
                    <a:pt x="9" y="755"/>
                  </a:lnTo>
                  <a:lnTo>
                    <a:pt x="0" y="820"/>
                  </a:lnTo>
                  <a:lnTo>
                    <a:pt x="10" y="872"/>
                  </a:lnTo>
                  <a:lnTo>
                    <a:pt x="40" y="914"/>
                  </a:lnTo>
                  <a:lnTo>
                    <a:pt x="84" y="949"/>
                  </a:lnTo>
                  <a:lnTo>
                    <a:pt x="159" y="999"/>
                  </a:lnTo>
                  <a:lnTo>
                    <a:pt x="487" y="1164"/>
                  </a:lnTo>
                  <a:lnTo>
                    <a:pt x="530" y="1197"/>
                  </a:lnTo>
                  <a:lnTo>
                    <a:pt x="569" y="1236"/>
                  </a:lnTo>
                  <a:lnTo>
                    <a:pt x="557" y="1292"/>
                  </a:lnTo>
                  <a:lnTo>
                    <a:pt x="502" y="1354"/>
                  </a:lnTo>
                  <a:lnTo>
                    <a:pt x="434" y="1394"/>
                  </a:lnTo>
                  <a:lnTo>
                    <a:pt x="525" y="1438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62" name="Freeform 14"/>
            <p:cNvSpPr>
              <a:spLocks/>
            </p:cNvSpPr>
            <p:nvPr/>
          </p:nvSpPr>
          <p:spPr bwMode="auto">
            <a:xfrm>
              <a:off x="2100" y="1162"/>
              <a:ext cx="669" cy="582"/>
            </a:xfrm>
            <a:custGeom>
              <a:avLst/>
              <a:gdLst/>
              <a:ahLst/>
              <a:cxnLst>
                <a:cxn ang="0">
                  <a:pos x="668" y="553"/>
                </a:cxn>
                <a:cxn ang="0">
                  <a:pos x="668" y="450"/>
                </a:cxn>
                <a:cxn ang="0">
                  <a:pos x="562" y="435"/>
                </a:cxn>
                <a:cxn ang="0">
                  <a:pos x="448" y="420"/>
                </a:cxn>
                <a:cxn ang="0">
                  <a:pos x="367" y="400"/>
                </a:cxn>
                <a:cxn ang="0">
                  <a:pos x="314" y="378"/>
                </a:cxn>
                <a:cxn ang="0">
                  <a:pos x="257" y="349"/>
                </a:cxn>
                <a:cxn ang="0">
                  <a:pos x="220" y="314"/>
                </a:cxn>
                <a:cxn ang="0">
                  <a:pos x="193" y="274"/>
                </a:cxn>
                <a:cxn ang="0">
                  <a:pos x="180" y="231"/>
                </a:cxn>
                <a:cxn ang="0">
                  <a:pos x="180" y="189"/>
                </a:cxn>
                <a:cxn ang="0">
                  <a:pos x="193" y="165"/>
                </a:cxn>
                <a:cxn ang="0">
                  <a:pos x="209" y="143"/>
                </a:cxn>
                <a:cxn ang="0">
                  <a:pos x="255" y="127"/>
                </a:cxn>
                <a:cxn ang="0">
                  <a:pos x="297" y="127"/>
                </a:cxn>
                <a:cxn ang="0">
                  <a:pos x="345" y="141"/>
                </a:cxn>
                <a:cxn ang="0">
                  <a:pos x="396" y="156"/>
                </a:cxn>
                <a:cxn ang="0">
                  <a:pos x="448" y="163"/>
                </a:cxn>
                <a:cxn ang="0">
                  <a:pos x="477" y="125"/>
                </a:cxn>
                <a:cxn ang="0">
                  <a:pos x="464" y="86"/>
                </a:cxn>
                <a:cxn ang="0">
                  <a:pos x="415" y="42"/>
                </a:cxn>
                <a:cxn ang="0">
                  <a:pos x="363" y="18"/>
                </a:cxn>
                <a:cxn ang="0">
                  <a:pos x="319" y="7"/>
                </a:cxn>
                <a:cxn ang="0">
                  <a:pos x="273" y="2"/>
                </a:cxn>
                <a:cxn ang="0">
                  <a:pos x="222" y="0"/>
                </a:cxn>
                <a:cxn ang="0">
                  <a:pos x="176" y="4"/>
                </a:cxn>
                <a:cxn ang="0">
                  <a:pos x="136" y="15"/>
                </a:cxn>
                <a:cxn ang="0">
                  <a:pos x="86" y="33"/>
                </a:cxn>
                <a:cxn ang="0">
                  <a:pos x="50" y="66"/>
                </a:cxn>
                <a:cxn ang="0">
                  <a:pos x="22" y="99"/>
                </a:cxn>
                <a:cxn ang="0">
                  <a:pos x="6" y="145"/>
                </a:cxn>
                <a:cxn ang="0">
                  <a:pos x="0" y="189"/>
                </a:cxn>
                <a:cxn ang="0">
                  <a:pos x="9" y="237"/>
                </a:cxn>
                <a:cxn ang="0">
                  <a:pos x="22" y="285"/>
                </a:cxn>
                <a:cxn ang="0">
                  <a:pos x="50" y="330"/>
                </a:cxn>
                <a:cxn ang="0">
                  <a:pos x="81" y="375"/>
                </a:cxn>
                <a:cxn ang="0">
                  <a:pos x="125" y="419"/>
                </a:cxn>
                <a:cxn ang="0">
                  <a:pos x="169" y="457"/>
                </a:cxn>
                <a:cxn ang="0">
                  <a:pos x="217" y="488"/>
                </a:cxn>
                <a:cxn ang="0">
                  <a:pos x="266" y="514"/>
                </a:cxn>
                <a:cxn ang="0">
                  <a:pos x="310" y="534"/>
                </a:cxn>
                <a:cxn ang="0">
                  <a:pos x="369" y="549"/>
                </a:cxn>
                <a:cxn ang="0">
                  <a:pos x="437" y="568"/>
                </a:cxn>
                <a:cxn ang="0">
                  <a:pos x="516" y="581"/>
                </a:cxn>
                <a:cxn ang="0">
                  <a:pos x="595" y="577"/>
                </a:cxn>
                <a:cxn ang="0">
                  <a:pos x="668" y="553"/>
                </a:cxn>
              </a:cxnLst>
              <a:rect l="0" t="0" r="r" b="b"/>
              <a:pathLst>
                <a:path w="669" h="582">
                  <a:moveTo>
                    <a:pt x="668" y="553"/>
                  </a:moveTo>
                  <a:lnTo>
                    <a:pt x="668" y="450"/>
                  </a:lnTo>
                  <a:lnTo>
                    <a:pt x="562" y="435"/>
                  </a:lnTo>
                  <a:lnTo>
                    <a:pt x="448" y="420"/>
                  </a:lnTo>
                  <a:lnTo>
                    <a:pt x="367" y="400"/>
                  </a:lnTo>
                  <a:lnTo>
                    <a:pt x="314" y="378"/>
                  </a:lnTo>
                  <a:lnTo>
                    <a:pt x="257" y="349"/>
                  </a:lnTo>
                  <a:lnTo>
                    <a:pt x="220" y="314"/>
                  </a:lnTo>
                  <a:lnTo>
                    <a:pt x="193" y="274"/>
                  </a:lnTo>
                  <a:lnTo>
                    <a:pt x="180" y="231"/>
                  </a:lnTo>
                  <a:lnTo>
                    <a:pt x="180" y="189"/>
                  </a:lnTo>
                  <a:lnTo>
                    <a:pt x="193" y="165"/>
                  </a:lnTo>
                  <a:lnTo>
                    <a:pt x="209" y="143"/>
                  </a:lnTo>
                  <a:lnTo>
                    <a:pt x="255" y="127"/>
                  </a:lnTo>
                  <a:lnTo>
                    <a:pt x="297" y="127"/>
                  </a:lnTo>
                  <a:lnTo>
                    <a:pt x="345" y="141"/>
                  </a:lnTo>
                  <a:lnTo>
                    <a:pt x="396" y="156"/>
                  </a:lnTo>
                  <a:lnTo>
                    <a:pt x="448" y="163"/>
                  </a:lnTo>
                  <a:lnTo>
                    <a:pt x="477" y="125"/>
                  </a:lnTo>
                  <a:lnTo>
                    <a:pt x="464" y="86"/>
                  </a:lnTo>
                  <a:lnTo>
                    <a:pt x="415" y="42"/>
                  </a:lnTo>
                  <a:lnTo>
                    <a:pt x="363" y="18"/>
                  </a:lnTo>
                  <a:lnTo>
                    <a:pt x="319" y="7"/>
                  </a:lnTo>
                  <a:lnTo>
                    <a:pt x="273" y="2"/>
                  </a:lnTo>
                  <a:lnTo>
                    <a:pt x="222" y="0"/>
                  </a:lnTo>
                  <a:lnTo>
                    <a:pt x="176" y="4"/>
                  </a:lnTo>
                  <a:lnTo>
                    <a:pt x="136" y="15"/>
                  </a:lnTo>
                  <a:lnTo>
                    <a:pt x="86" y="33"/>
                  </a:lnTo>
                  <a:lnTo>
                    <a:pt x="50" y="66"/>
                  </a:lnTo>
                  <a:lnTo>
                    <a:pt x="22" y="99"/>
                  </a:lnTo>
                  <a:lnTo>
                    <a:pt x="6" y="145"/>
                  </a:lnTo>
                  <a:lnTo>
                    <a:pt x="0" y="189"/>
                  </a:lnTo>
                  <a:lnTo>
                    <a:pt x="9" y="237"/>
                  </a:lnTo>
                  <a:lnTo>
                    <a:pt x="22" y="285"/>
                  </a:lnTo>
                  <a:lnTo>
                    <a:pt x="50" y="330"/>
                  </a:lnTo>
                  <a:lnTo>
                    <a:pt x="81" y="375"/>
                  </a:lnTo>
                  <a:lnTo>
                    <a:pt x="125" y="419"/>
                  </a:lnTo>
                  <a:lnTo>
                    <a:pt x="169" y="457"/>
                  </a:lnTo>
                  <a:lnTo>
                    <a:pt x="217" y="488"/>
                  </a:lnTo>
                  <a:lnTo>
                    <a:pt x="266" y="514"/>
                  </a:lnTo>
                  <a:lnTo>
                    <a:pt x="310" y="534"/>
                  </a:lnTo>
                  <a:lnTo>
                    <a:pt x="369" y="549"/>
                  </a:lnTo>
                  <a:lnTo>
                    <a:pt x="437" y="568"/>
                  </a:lnTo>
                  <a:lnTo>
                    <a:pt x="516" y="581"/>
                  </a:lnTo>
                  <a:lnTo>
                    <a:pt x="595" y="577"/>
                  </a:lnTo>
                  <a:lnTo>
                    <a:pt x="668" y="553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63" name="Freeform 15"/>
            <p:cNvSpPr>
              <a:spLocks/>
            </p:cNvSpPr>
            <p:nvPr/>
          </p:nvSpPr>
          <p:spPr bwMode="auto">
            <a:xfrm>
              <a:off x="1365" y="583"/>
              <a:ext cx="1413" cy="549"/>
            </a:xfrm>
            <a:custGeom>
              <a:avLst/>
              <a:gdLst/>
              <a:ahLst/>
              <a:cxnLst>
                <a:cxn ang="0">
                  <a:pos x="1412" y="548"/>
                </a:cxn>
                <a:cxn ang="0">
                  <a:pos x="1316" y="537"/>
                </a:cxn>
                <a:cxn ang="0">
                  <a:pos x="1237" y="524"/>
                </a:cxn>
                <a:cxn ang="0">
                  <a:pos x="1179" y="511"/>
                </a:cxn>
                <a:cxn ang="0">
                  <a:pos x="1118" y="499"/>
                </a:cxn>
                <a:cxn ang="0">
                  <a:pos x="1060" y="493"/>
                </a:cxn>
                <a:cxn ang="0">
                  <a:pos x="1000" y="495"/>
                </a:cxn>
                <a:cxn ang="0">
                  <a:pos x="939" y="499"/>
                </a:cxn>
                <a:cxn ang="0">
                  <a:pos x="894" y="482"/>
                </a:cxn>
                <a:cxn ang="0">
                  <a:pos x="962" y="440"/>
                </a:cxn>
                <a:cxn ang="0">
                  <a:pos x="1005" y="411"/>
                </a:cxn>
                <a:cxn ang="0">
                  <a:pos x="1043" y="381"/>
                </a:cxn>
                <a:cxn ang="0">
                  <a:pos x="1069" y="348"/>
                </a:cxn>
                <a:cxn ang="0">
                  <a:pos x="962" y="383"/>
                </a:cxn>
                <a:cxn ang="0">
                  <a:pos x="855" y="418"/>
                </a:cxn>
                <a:cxn ang="0">
                  <a:pos x="783" y="436"/>
                </a:cxn>
                <a:cxn ang="0">
                  <a:pos x="670" y="449"/>
                </a:cxn>
                <a:cxn ang="0">
                  <a:pos x="597" y="449"/>
                </a:cxn>
                <a:cxn ang="0">
                  <a:pos x="531" y="444"/>
                </a:cxn>
                <a:cxn ang="0">
                  <a:pos x="486" y="427"/>
                </a:cxn>
                <a:cxn ang="0">
                  <a:pos x="459" y="407"/>
                </a:cxn>
                <a:cxn ang="0">
                  <a:pos x="527" y="389"/>
                </a:cxn>
                <a:cxn ang="0">
                  <a:pos x="572" y="365"/>
                </a:cxn>
                <a:cxn ang="0">
                  <a:pos x="599" y="339"/>
                </a:cxn>
                <a:cxn ang="0">
                  <a:pos x="634" y="308"/>
                </a:cxn>
                <a:cxn ang="0">
                  <a:pos x="544" y="334"/>
                </a:cxn>
                <a:cxn ang="0">
                  <a:pos x="463" y="348"/>
                </a:cxn>
                <a:cxn ang="0">
                  <a:pos x="378" y="356"/>
                </a:cxn>
                <a:cxn ang="0">
                  <a:pos x="303" y="352"/>
                </a:cxn>
                <a:cxn ang="0">
                  <a:pos x="254" y="334"/>
                </a:cxn>
                <a:cxn ang="0">
                  <a:pos x="233" y="312"/>
                </a:cxn>
                <a:cxn ang="0">
                  <a:pos x="281" y="291"/>
                </a:cxn>
                <a:cxn ang="0">
                  <a:pos x="313" y="269"/>
                </a:cxn>
                <a:cxn ang="0">
                  <a:pos x="341" y="244"/>
                </a:cxn>
                <a:cxn ang="0">
                  <a:pos x="339" y="229"/>
                </a:cxn>
                <a:cxn ang="0">
                  <a:pos x="262" y="246"/>
                </a:cxn>
                <a:cxn ang="0">
                  <a:pos x="179" y="255"/>
                </a:cxn>
                <a:cxn ang="0">
                  <a:pos x="109" y="254"/>
                </a:cxn>
                <a:cxn ang="0">
                  <a:pos x="51" y="244"/>
                </a:cxn>
                <a:cxn ang="0">
                  <a:pos x="19" y="229"/>
                </a:cxn>
                <a:cxn ang="0">
                  <a:pos x="0" y="205"/>
                </a:cxn>
                <a:cxn ang="0">
                  <a:pos x="120" y="187"/>
                </a:cxn>
                <a:cxn ang="0">
                  <a:pos x="309" y="156"/>
                </a:cxn>
                <a:cxn ang="0">
                  <a:pos x="544" y="119"/>
                </a:cxn>
                <a:cxn ang="0">
                  <a:pos x="742" y="71"/>
                </a:cxn>
                <a:cxn ang="0">
                  <a:pos x="926" y="26"/>
                </a:cxn>
                <a:cxn ang="0">
                  <a:pos x="1020" y="9"/>
                </a:cxn>
                <a:cxn ang="0">
                  <a:pos x="1098" y="0"/>
                </a:cxn>
                <a:cxn ang="0">
                  <a:pos x="1165" y="2"/>
                </a:cxn>
                <a:cxn ang="0">
                  <a:pos x="1211" y="7"/>
                </a:cxn>
                <a:cxn ang="0">
                  <a:pos x="1254" y="27"/>
                </a:cxn>
                <a:cxn ang="0">
                  <a:pos x="1288" y="71"/>
                </a:cxn>
                <a:cxn ang="0">
                  <a:pos x="1301" y="117"/>
                </a:cxn>
                <a:cxn ang="0">
                  <a:pos x="1316" y="148"/>
                </a:cxn>
                <a:cxn ang="0">
                  <a:pos x="1344" y="159"/>
                </a:cxn>
                <a:cxn ang="0">
                  <a:pos x="1384" y="156"/>
                </a:cxn>
                <a:cxn ang="0">
                  <a:pos x="1412" y="145"/>
                </a:cxn>
                <a:cxn ang="0">
                  <a:pos x="1412" y="548"/>
                </a:cxn>
              </a:cxnLst>
              <a:rect l="0" t="0" r="r" b="b"/>
              <a:pathLst>
                <a:path w="1413" h="549">
                  <a:moveTo>
                    <a:pt x="1412" y="548"/>
                  </a:moveTo>
                  <a:lnTo>
                    <a:pt x="1316" y="537"/>
                  </a:lnTo>
                  <a:lnTo>
                    <a:pt x="1237" y="524"/>
                  </a:lnTo>
                  <a:lnTo>
                    <a:pt x="1179" y="511"/>
                  </a:lnTo>
                  <a:lnTo>
                    <a:pt x="1118" y="499"/>
                  </a:lnTo>
                  <a:lnTo>
                    <a:pt x="1060" y="493"/>
                  </a:lnTo>
                  <a:lnTo>
                    <a:pt x="1000" y="495"/>
                  </a:lnTo>
                  <a:lnTo>
                    <a:pt x="939" y="499"/>
                  </a:lnTo>
                  <a:lnTo>
                    <a:pt x="894" y="482"/>
                  </a:lnTo>
                  <a:lnTo>
                    <a:pt x="962" y="440"/>
                  </a:lnTo>
                  <a:lnTo>
                    <a:pt x="1005" y="411"/>
                  </a:lnTo>
                  <a:lnTo>
                    <a:pt x="1043" y="381"/>
                  </a:lnTo>
                  <a:lnTo>
                    <a:pt x="1069" y="348"/>
                  </a:lnTo>
                  <a:lnTo>
                    <a:pt x="962" y="383"/>
                  </a:lnTo>
                  <a:lnTo>
                    <a:pt x="855" y="418"/>
                  </a:lnTo>
                  <a:lnTo>
                    <a:pt x="783" y="436"/>
                  </a:lnTo>
                  <a:lnTo>
                    <a:pt x="670" y="449"/>
                  </a:lnTo>
                  <a:lnTo>
                    <a:pt x="597" y="449"/>
                  </a:lnTo>
                  <a:lnTo>
                    <a:pt x="531" y="444"/>
                  </a:lnTo>
                  <a:lnTo>
                    <a:pt x="486" y="427"/>
                  </a:lnTo>
                  <a:lnTo>
                    <a:pt x="459" y="407"/>
                  </a:lnTo>
                  <a:lnTo>
                    <a:pt x="527" y="389"/>
                  </a:lnTo>
                  <a:lnTo>
                    <a:pt x="572" y="365"/>
                  </a:lnTo>
                  <a:lnTo>
                    <a:pt x="599" y="339"/>
                  </a:lnTo>
                  <a:lnTo>
                    <a:pt x="634" y="308"/>
                  </a:lnTo>
                  <a:lnTo>
                    <a:pt x="544" y="334"/>
                  </a:lnTo>
                  <a:lnTo>
                    <a:pt x="463" y="348"/>
                  </a:lnTo>
                  <a:lnTo>
                    <a:pt x="378" y="356"/>
                  </a:lnTo>
                  <a:lnTo>
                    <a:pt x="303" y="352"/>
                  </a:lnTo>
                  <a:lnTo>
                    <a:pt x="254" y="334"/>
                  </a:lnTo>
                  <a:lnTo>
                    <a:pt x="233" y="312"/>
                  </a:lnTo>
                  <a:lnTo>
                    <a:pt x="281" y="291"/>
                  </a:lnTo>
                  <a:lnTo>
                    <a:pt x="313" y="269"/>
                  </a:lnTo>
                  <a:lnTo>
                    <a:pt x="341" y="244"/>
                  </a:lnTo>
                  <a:lnTo>
                    <a:pt x="339" y="229"/>
                  </a:lnTo>
                  <a:lnTo>
                    <a:pt x="262" y="246"/>
                  </a:lnTo>
                  <a:lnTo>
                    <a:pt x="179" y="255"/>
                  </a:lnTo>
                  <a:lnTo>
                    <a:pt x="109" y="254"/>
                  </a:lnTo>
                  <a:lnTo>
                    <a:pt x="51" y="244"/>
                  </a:lnTo>
                  <a:lnTo>
                    <a:pt x="19" y="229"/>
                  </a:lnTo>
                  <a:lnTo>
                    <a:pt x="0" y="205"/>
                  </a:lnTo>
                  <a:lnTo>
                    <a:pt x="120" y="187"/>
                  </a:lnTo>
                  <a:lnTo>
                    <a:pt x="309" y="156"/>
                  </a:lnTo>
                  <a:lnTo>
                    <a:pt x="544" y="119"/>
                  </a:lnTo>
                  <a:lnTo>
                    <a:pt x="742" y="71"/>
                  </a:lnTo>
                  <a:lnTo>
                    <a:pt x="926" y="26"/>
                  </a:lnTo>
                  <a:lnTo>
                    <a:pt x="1020" y="9"/>
                  </a:lnTo>
                  <a:lnTo>
                    <a:pt x="1098" y="0"/>
                  </a:lnTo>
                  <a:lnTo>
                    <a:pt x="1165" y="2"/>
                  </a:lnTo>
                  <a:lnTo>
                    <a:pt x="1211" y="7"/>
                  </a:lnTo>
                  <a:lnTo>
                    <a:pt x="1254" y="27"/>
                  </a:lnTo>
                  <a:lnTo>
                    <a:pt x="1288" y="71"/>
                  </a:lnTo>
                  <a:lnTo>
                    <a:pt x="1301" y="117"/>
                  </a:lnTo>
                  <a:lnTo>
                    <a:pt x="1316" y="148"/>
                  </a:lnTo>
                  <a:lnTo>
                    <a:pt x="1344" y="159"/>
                  </a:lnTo>
                  <a:lnTo>
                    <a:pt x="1384" y="156"/>
                  </a:lnTo>
                  <a:lnTo>
                    <a:pt x="1412" y="145"/>
                  </a:lnTo>
                  <a:lnTo>
                    <a:pt x="1412" y="548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2785" y="355"/>
              <a:ext cx="187" cy="198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65" name="Freeform 17"/>
            <p:cNvSpPr>
              <a:spLocks/>
            </p:cNvSpPr>
            <p:nvPr/>
          </p:nvSpPr>
          <p:spPr bwMode="auto">
            <a:xfrm>
              <a:off x="2976" y="583"/>
              <a:ext cx="1413" cy="549"/>
            </a:xfrm>
            <a:custGeom>
              <a:avLst/>
              <a:gdLst/>
              <a:ahLst/>
              <a:cxnLst>
                <a:cxn ang="0">
                  <a:pos x="0" y="548"/>
                </a:cxn>
                <a:cxn ang="0">
                  <a:pos x="96" y="537"/>
                </a:cxn>
                <a:cxn ang="0">
                  <a:pos x="175" y="524"/>
                </a:cxn>
                <a:cxn ang="0">
                  <a:pos x="233" y="511"/>
                </a:cxn>
                <a:cxn ang="0">
                  <a:pos x="294" y="499"/>
                </a:cxn>
                <a:cxn ang="0">
                  <a:pos x="352" y="493"/>
                </a:cxn>
                <a:cxn ang="0">
                  <a:pos x="412" y="495"/>
                </a:cxn>
                <a:cxn ang="0">
                  <a:pos x="473" y="499"/>
                </a:cxn>
                <a:cxn ang="0">
                  <a:pos x="518" y="482"/>
                </a:cxn>
                <a:cxn ang="0">
                  <a:pos x="450" y="440"/>
                </a:cxn>
                <a:cxn ang="0">
                  <a:pos x="407" y="411"/>
                </a:cxn>
                <a:cxn ang="0">
                  <a:pos x="369" y="381"/>
                </a:cxn>
                <a:cxn ang="0">
                  <a:pos x="343" y="348"/>
                </a:cxn>
                <a:cxn ang="0">
                  <a:pos x="450" y="383"/>
                </a:cxn>
                <a:cxn ang="0">
                  <a:pos x="557" y="418"/>
                </a:cxn>
                <a:cxn ang="0">
                  <a:pos x="629" y="436"/>
                </a:cxn>
                <a:cxn ang="0">
                  <a:pos x="742" y="449"/>
                </a:cxn>
                <a:cxn ang="0">
                  <a:pos x="815" y="449"/>
                </a:cxn>
                <a:cxn ang="0">
                  <a:pos x="881" y="444"/>
                </a:cxn>
                <a:cxn ang="0">
                  <a:pos x="926" y="427"/>
                </a:cxn>
                <a:cxn ang="0">
                  <a:pos x="953" y="407"/>
                </a:cxn>
                <a:cxn ang="0">
                  <a:pos x="885" y="389"/>
                </a:cxn>
                <a:cxn ang="0">
                  <a:pos x="840" y="365"/>
                </a:cxn>
                <a:cxn ang="0">
                  <a:pos x="809" y="339"/>
                </a:cxn>
                <a:cxn ang="0">
                  <a:pos x="778" y="308"/>
                </a:cxn>
                <a:cxn ang="0">
                  <a:pos x="868" y="334"/>
                </a:cxn>
                <a:cxn ang="0">
                  <a:pos x="949" y="348"/>
                </a:cxn>
                <a:cxn ang="0">
                  <a:pos x="1034" y="356"/>
                </a:cxn>
                <a:cxn ang="0">
                  <a:pos x="1109" y="352"/>
                </a:cxn>
                <a:cxn ang="0">
                  <a:pos x="1158" y="334"/>
                </a:cxn>
                <a:cxn ang="0">
                  <a:pos x="1179" y="312"/>
                </a:cxn>
                <a:cxn ang="0">
                  <a:pos x="1131" y="291"/>
                </a:cxn>
                <a:cxn ang="0">
                  <a:pos x="1099" y="269"/>
                </a:cxn>
                <a:cxn ang="0">
                  <a:pos x="1071" y="244"/>
                </a:cxn>
                <a:cxn ang="0">
                  <a:pos x="1073" y="229"/>
                </a:cxn>
                <a:cxn ang="0">
                  <a:pos x="1150" y="246"/>
                </a:cxn>
                <a:cxn ang="0">
                  <a:pos x="1233" y="255"/>
                </a:cxn>
                <a:cxn ang="0">
                  <a:pos x="1311" y="253"/>
                </a:cxn>
                <a:cxn ang="0">
                  <a:pos x="1361" y="244"/>
                </a:cxn>
                <a:cxn ang="0">
                  <a:pos x="1393" y="229"/>
                </a:cxn>
                <a:cxn ang="0">
                  <a:pos x="1412" y="205"/>
                </a:cxn>
                <a:cxn ang="0">
                  <a:pos x="1292" y="187"/>
                </a:cxn>
                <a:cxn ang="0">
                  <a:pos x="1087" y="158"/>
                </a:cxn>
                <a:cxn ang="0">
                  <a:pos x="868" y="119"/>
                </a:cxn>
                <a:cxn ang="0">
                  <a:pos x="670" y="71"/>
                </a:cxn>
                <a:cxn ang="0">
                  <a:pos x="486" y="26"/>
                </a:cxn>
                <a:cxn ang="0">
                  <a:pos x="392" y="9"/>
                </a:cxn>
                <a:cxn ang="0">
                  <a:pos x="314" y="0"/>
                </a:cxn>
                <a:cxn ang="0">
                  <a:pos x="247" y="2"/>
                </a:cxn>
                <a:cxn ang="0">
                  <a:pos x="201" y="7"/>
                </a:cxn>
                <a:cxn ang="0">
                  <a:pos x="158" y="27"/>
                </a:cxn>
                <a:cxn ang="0">
                  <a:pos x="124" y="71"/>
                </a:cxn>
                <a:cxn ang="0">
                  <a:pos x="111" y="117"/>
                </a:cxn>
                <a:cxn ang="0">
                  <a:pos x="96" y="148"/>
                </a:cxn>
                <a:cxn ang="0">
                  <a:pos x="68" y="159"/>
                </a:cxn>
                <a:cxn ang="0">
                  <a:pos x="28" y="156"/>
                </a:cxn>
                <a:cxn ang="0">
                  <a:pos x="0" y="145"/>
                </a:cxn>
                <a:cxn ang="0">
                  <a:pos x="0" y="548"/>
                </a:cxn>
              </a:cxnLst>
              <a:rect l="0" t="0" r="r" b="b"/>
              <a:pathLst>
                <a:path w="1413" h="549">
                  <a:moveTo>
                    <a:pt x="0" y="548"/>
                  </a:moveTo>
                  <a:lnTo>
                    <a:pt x="96" y="537"/>
                  </a:lnTo>
                  <a:lnTo>
                    <a:pt x="175" y="524"/>
                  </a:lnTo>
                  <a:lnTo>
                    <a:pt x="233" y="511"/>
                  </a:lnTo>
                  <a:lnTo>
                    <a:pt x="294" y="499"/>
                  </a:lnTo>
                  <a:lnTo>
                    <a:pt x="352" y="493"/>
                  </a:lnTo>
                  <a:lnTo>
                    <a:pt x="412" y="495"/>
                  </a:lnTo>
                  <a:lnTo>
                    <a:pt x="473" y="499"/>
                  </a:lnTo>
                  <a:lnTo>
                    <a:pt x="518" y="482"/>
                  </a:lnTo>
                  <a:lnTo>
                    <a:pt x="450" y="440"/>
                  </a:lnTo>
                  <a:lnTo>
                    <a:pt x="407" y="411"/>
                  </a:lnTo>
                  <a:lnTo>
                    <a:pt x="369" y="381"/>
                  </a:lnTo>
                  <a:lnTo>
                    <a:pt x="343" y="348"/>
                  </a:lnTo>
                  <a:lnTo>
                    <a:pt x="450" y="383"/>
                  </a:lnTo>
                  <a:lnTo>
                    <a:pt x="557" y="418"/>
                  </a:lnTo>
                  <a:lnTo>
                    <a:pt x="629" y="436"/>
                  </a:lnTo>
                  <a:lnTo>
                    <a:pt x="742" y="449"/>
                  </a:lnTo>
                  <a:lnTo>
                    <a:pt x="815" y="449"/>
                  </a:lnTo>
                  <a:lnTo>
                    <a:pt x="881" y="444"/>
                  </a:lnTo>
                  <a:lnTo>
                    <a:pt x="926" y="427"/>
                  </a:lnTo>
                  <a:lnTo>
                    <a:pt x="953" y="407"/>
                  </a:lnTo>
                  <a:lnTo>
                    <a:pt x="885" y="389"/>
                  </a:lnTo>
                  <a:lnTo>
                    <a:pt x="840" y="365"/>
                  </a:lnTo>
                  <a:lnTo>
                    <a:pt x="809" y="339"/>
                  </a:lnTo>
                  <a:lnTo>
                    <a:pt x="778" y="308"/>
                  </a:lnTo>
                  <a:lnTo>
                    <a:pt x="868" y="334"/>
                  </a:lnTo>
                  <a:lnTo>
                    <a:pt x="949" y="348"/>
                  </a:lnTo>
                  <a:lnTo>
                    <a:pt x="1034" y="356"/>
                  </a:lnTo>
                  <a:lnTo>
                    <a:pt x="1109" y="352"/>
                  </a:lnTo>
                  <a:lnTo>
                    <a:pt x="1158" y="334"/>
                  </a:lnTo>
                  <a:lnTo>
                    <a:pt x="1179" y="312"/>
                  </a:lnTo>
                  <a:lnTo>
                    <a:pt x="1131" y="291"/>
                  </a:lnTo>
                  <a:lnTo>
                    <a:pt x="1099" y="269"/>
                  </a:lnTo>
                  <a:lnTo>
                    <a:pt x="1071" y="244"/>
                  </a:lnTo>
                  <a:lnTo>
                    <a:pt x="1073" y="229"/>
                  </a:lnTo>
                  <a:lnTo>
                    <a:pt x="1150" y="246"/>
                  </a:lnTo>
                  <a:lnTo>
                    <a:pt x="1233" y="255"/>
                  </a:lnTo>
                  <a:lnTo>
                    <a:pt x="1311" y="253"/>
                  </a:lnTo>
                  <a:lnTo>
                    <a:pt x="1361" y="244"/>
                  </a:lnTo>
                  <a:lnTo>
                    <a:pt x="1393" y="229"/>
                  </a:lnTo>
                  <a:lnTo>
                    <a:pt x="1412" y="205"/>
                  </a:lnTo>
                  <a:lnTo>
                    <a:pt x="1292" y="187"/>
                  </a:lnTo>
                  <a:lnTo>
                    <a:pt x="1087" y="158"/>
                  </a:lnTo>
                  <a:lnTo>
                    <a:pt x="868" y="119"/>
                  </a:lnTo>
                  <a:lnTo>
                    <a:pt x="670" y="71"/>
                  </a:lnTo>
                  <a:lnTo>
                    <a:pt x="486" y="26"/>
                  </a:lnTo>
                  <a:lnTo>
                    <a:pt x="392" y="9"/>
                  </a:lnTo>
                  <a:lnTo>
                    <a:pt x="314" y="0"/>
                  </a:lnTo>
                  <a:lnTo>
                    <a:pt x="247" y="2"/>
                  </a:lnTo>
                  <a:lnTo>
                    <a:pt x="201" y="7"/>
                  </a:lnTo>
                  <a:lnTo>
                    <a:pt x="158" y="27"/>
                  </a:lnTo>
                  <a:lnTo>
                    <a:pt x="124" y="71"/>
                  </a:lnTo>
                  <a:lnTo>
                    <a:pt x="111" y="117"/>
                  </a:lnTo>
                  <a:lnTo>
                    <a:pt x="96" y="148"/>
                  </a:lnTo>
                  <a:lnTo>
                    <a:pt x="68" y="159"/>
                  </a:lnTo>
                  <a:lnTo>
                    <a:pt x="28" y="156"/>
                  </a:lnTo>
                  <a:lnTo>
                    <a:pt x="0" y="145"/>
                  </a:lnTo>
                  <a:lnTo>
                    <a:pt x="0" y="548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067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2069" name="Rectangle 21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2070" name="Rectangle 2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2071" name="Rectangle 23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1A8BBF3-156F-4509-815A-5031F78383C2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304D1F-65A8-44DA-977A-D822AA6069DE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ED50330-AC09-4018-A479-C9925A79BA72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685800" y="177165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77165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9BEE6E-435A-4EC6-9F60-EC8B50BD66A7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2CA8A1-1921-4E53-8337-31AC41E6F980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32A48E-FC60-472B-BB1F-AC0C361321DD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94F27DC-1C02-4C5D-AABA-6B182890C66E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E5AC96-A342-4EC0-9F48-963EDA82A699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22DAA9-73A8-40A2-975B-29D503218798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C2EA61-1924-41F2-A7AD-93E99825AD52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515100" y="400050"/>
            <a:ext cx="1943100" cy="548640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685800" y="400050"/>
            <a:ext cx="5676900" cy="548640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8F07D9-3F4D-4141-8838-895E99F2A115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29804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roup 18"/>
          <p:cNvGrpSpPr>
            <a:grpSpLocks/>
          </p:cNvGrpSpPr>
          <p:nvPr/>
        </p:nvGrpSpPr>
        <p:grpSpPr bwMode="auto">
          <a:xfrm>
            <a:off x="2166938" y="563563"/>
            <a:ext cx="4800600" cy="6151562"/>
            <a:chOff x="1365" y="355"/>
            <a:chExt cx="3024" cy="3875"/>
          </a:xfrm>
        </p:grpSpPr>
        <p:sp>
          <p:nvSpPr>
            <p:cNvPr id="1026" name="Freeform 2"/>
            <p:cNvSpPr>
              <a:spLocks/>
            </p:cNvSpPr>
            <p:nvPr/>
          </p:nvSpPr>
          <p:spPr bwMode="auto">
            <a:xfrm>
              <a:off x="2835" y="586"/>
              <a:ext cx="88" cy="1121"/>
            </a:xfrm>
            <a:custGeom>
              <a:avLst/>
              <a:gdLst/>
              <a:ahLst/>
              <a:cxnLst>
                <a:cxn ang="0">
                  <a:pos x="0" y="1120"/>
                </a:cxn>
                <a:cxn ang="0">
                  <a:pos x="0" y="0"/>
                </a:cxn>
                <a:cxn ang="0">
                  <a:pos x="87" y="0"/>
                </a:cxn>
                <a:cxn ang="0">
                  <a:pos x="87" y="1085"/>
                </a:cxn>
                <a:cxn ang="0">
                  <a:pos x="0" y="1120"/>
                </a:cxn>
              </a:cxnLst>
              <a:rect l="0" t="0" r="r" b="b"/>
              <a:pathLst>
                <a:path w="88" h="1121">
                  <a:moveTo>
                    <a:pt x="0" y="1120"/>
                  </a:moveTo>
                  <a:lnTo>
                    <a:pt x="0" y="0"/>
                  </a:lnTo>
                  <a:lnTo>
                    <a:pt x="87" y="0"/>
                  </a:lnTo>
                  <a:lnTo>
                    <a:pt x="87" y="1085"/>
                  </a:lnTo>
                  <a:lnTo>
                    <a:pt x="0" y="1120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27" name="Freeform 3"/>
            <p:cNvSpPr>
              <a:spLocks/>
            </p:cNvSpPr>
            <p:nvPr/>
          </p:nvSpPr>
          <p:spPr bwMode="auto">
            <a:xfrm>
              <a:off x="2834" y="1900"/>
              <a:ext cx="84" cy="363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83" y="0"/>
                </a:cxn>
                <a:cxn ang="0">
                  <a:pos x="74" y="329"/>
                </a:cxn>
                <a:cxn ang="0">
                  <a:pos x="0" y="362"/>
                </a:cxn>
                <a:cxn ang="0">
                  <a:pos x="0" y="29"/>
                </a:cxn>
              </a:cxnLst>
              <a:rect l="0" t="0" r="r" b="b"/>
              <a:pathLst>
                <a:path w="84" h="363">
                  <a:moveTo>
                    <a:pt x="0" y="29"/>
                  </a:moveTo>
                  <a:lnTo>
                    <a:pt x="83" y="0"/>
                  </a:lnTo>
                  <a:lnTo>
                    <a:pt x="74" y="329"/>
                  </a:lnTo>
                  <a:lnTo>
                    <a:pt x="0" y="362"/>
                  </a:lnTo>
                  <a:lnTo>
                    <a:pt x="0" y="29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28" name="Freeform 4"/>
            <p:cNvSpPr>
              <a:spLocks/>
            </p:cNvSpPr>
            <p:nvPr/>
          </p:nvSpPr>
          <p:spPr bwMode="auto">
            <a:xfrm>
              <a:off x="2825" y="2493"/>
              <a:ext cx="84" cy="249"/>
            </a:xfrm>
            <a:custGeom>
              <a:avLst/>
              <a:gdLst/>
              <a:ahLst/>
              <a:cxnLst>
                <a:cxn ang="0">
                  <a:pos x="2" y="213"/>
                </a:cxn>
                <a:cxn ang="0">
                  <a:pos x="0" y="28"/>
                </a:cxn>
                <a:cxn ang="0">
                  <a:pos x="83" y="0"/>
                </a:cxn>
                <a:cxn ang="0">
                  <a:pos x="72" y="248"/>
                </a:cxn>
                <a:cxn ang="0">
                  <a:pos x="2" y="213"/>
                </a:cxn>
              </a:cxnLst>
              <a:rect l="0" t="0" r="r" b="b"/>
              <a:pathLst>
                <a:path w="84" h="249">
                  <a:moveTo>
                    <a:pt x="2" y="213"/>
                  </a:moveTo>
                  <a:lnTo>
                    <a:pt x="0" y="28"/>
                  </a:lnTo>
                  <a:lnTo>
                    <a:pt x="83" y="0"/>
                  </a:lnTo>
                  <a:lnTo>
                    <a:pt x="72" y="248"/>
                  </a:lnTo>
                  <a:lnTo>
                    <a:pt x="2" y="213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29" name="Freeform 5"/>
            <p:cNvSpPr>
              <a:spLocks/>
            </p:cNvSpPr>
            <p:nvPr/>
          </p:nvSpPr>
          <p:spPr bwMode="auto">
            <a:xfrm>
              <a:off x="2831" y="2965"/>
              <a:ext cx="52" cy="232"/>
            </a:xfrm>
            <a:custGeom>
              <a:avLst/>
              <a:gdLst/>
              <a:ahLst/>
              <a:cxnLst>
                <a:cxn ang="0">
                  <a:pos x="13" y="204"/>
                </a:cxn>
                <a:cxn ang="0">
                  <a:pos x="0" y="0"/>
                </a:cxn>
                <a:cxn ang="0">
                  <a:pos x="51" y="26"/>
                </a:cxn>
                <a:cxn ang="0">
                  <a:pos x="47" y="231"/>
                </a:cxn>
                <a:cxn ang="0">
                  <a:pos x="13" y="204"/>
                </a:cxn>
              </a:cxnLst>
              <a:rect l="0" t="0" r="r" b="b"/>
              <a:pathLst>
                <a:path w="52" h="232">
                  <a:moveTo>
                    <a:pt x="13" y="204"/>
                  </a:moveTo>
                  <a:lnTo>
                    <a:pt x="0" y="0"/>
                  </a:lnTo>
                  <a:lnTo>
                    <a:pt x="51" y="26"/>
                  </a:lnTo>
                  <a:lnTo>
                    <a:pt x="47" y="231"/>
                  </a:lnTo>
                  <a:lnTo>
                    <a:pt x="13" y="204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0" name="Freeform 6"/>
            <p:cNvSpPr>
              <a:spLocks/>
            </p:cNvSpPr>
            <p:nvPr/>
          </p:nvSpPr>
          <p:spPr bwMode="auto">
            <a:xfrm>
              <a:off x="2851" y="3354"/>
              <a:ext cx="36" cy="133"/>
            </a:xfrm>
            <a:custGeom>
              <a:avLst/>
              <a:gdLst/>
              <a:ahLst/>
              <a:cxnLst>
                <a:cxn ang="0">
                  <a:pos x="4" y="101"/>
                </a:cxn>
                <a:cxn ang="0">
                  <a:pos x="0" y="0"/>
                </a:cxn>
                <a:cxn ang="0">
                  <a:pos x="35" y="20"/>
                </a:cxn>
                <a:cxn ang="0">
                  <a:pos x="28" y="132"/>
                </a:cxn>
                <a:cxn ang="0">
                  <a:pos x="4" y="101"/>
                </a:cxn>
              </a:cxnLst>
              <a:rect l="0" t="0" r="r" b="b"/>
              <a:pathLst>
                <a:path w="36" h="133">
                  <a:moveTo>
                    <a:pt x="4" y="101"/>
                  </a:moveTo>
                  <a:lnTo>
                    <a:pt x="0" y="0"/>
                  </a:lnTo>
                  <a:lnTo>
                    <a:pt x="35" y="20"/>
                  </a:lnTo>
                  <a:lnTo>
                    <a:pt x="28" y="132"/>
                  </a:lnTo>
                  <a:lnTo>
                    <a:pt x="4" y="101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2851" y="3640"/>
              <a:ext cx="30" cy="590"/>
            </a:xfrm>
            <a:custGeom>
              <a:avLst/>
              <a:gdLst/>
              <a:ahLst/>
              <a:cxnLst>
                <a:cxn ang="0">
                  <a:pos x="15" y="589"/>
                </a:cxn>
                <a:cxn ang="0">
                  <a:pos x="0" y="0"/>
                </a:cxn>
                <a:cxn ang="0">
                  <a:pos x="29" y="37"/>
                </a:cxn>
                <a:cxn ang="0">
                  <a:pos x="15" y="589"/>
                </a:cxn>
              </a:cxnLst>
              <a:rect l="0" t="0" r="r" b="b"/>
              <a:pathLst>
                <a:path w="30" h="590">
                  <a:moveTo>
                    <a:pt x="15" y="589"/>
                  </a:moveTo>
                  <a:lnTo>
                    <a:pt x="0" y="0"/>
                  </a:lnTo>
                  <a:lnTo>
                    <a:pt x="29" y="37"/>
                  </a:lnTo>
                  <a:lnTo>
                    <a:pt x="15" y="589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2" name="Freeform 8"/>
            <p:cNvSpPr>
              <a:spLocks/>
            </p:cNvSpPr>
            <p:nvPr/>
          </p:nvSpPr>
          <p:spPr bwMode="auto">
            <a:xfrm>
              <a:off x="2600" y="3595"/>
              <a:ext cx="233" cy="130"/>
            </a:xfrm>
            <a:custGeom>
              <a:avLst/>
              <a:gdLst/>
              <a:ahLst/>
              <a:cxnLst>
                <a:cxn ang="0">
                  <a:pos x="0" y="117"/>
                </a:cxn>
                <a:cxn ang="0">
                  <a:pos x="48" y="101"/>
                </a:cxn>
                <a:cxn ang="0">
                  <a:pos x="93" y="79"/>
                </a:cxn>
                <a:cxn ang="0">
                  <a:pos x="146" y="39"/>
                </a:cxn>
                <a:cxn ang="0">
                  <a:pos x="182" y="0"/>
                </a:cxn>
                <a:cxn ang="0">
                  <a:pos x="232" y="42"/>
                </a:cxn>
                <a:cxn ang="0">
                  <a:pos x="188" y="74"/>
                </a:cxn>
                <a:cxn ang="0">
                  <a:pos x="134" y="110"/>
                </a:cxn>
                <a:cxn ang="0">
                  <a:pos x="61" y="129"/>
                </a:cxn>
                <a:cxn ang="0">
                  <a:pos x="0" y="117"/>
                </a:cxn>
              </a:cxnLst>
              <a:rect l="0" t="0" r="r" b="b"/>
              <a:pathLst>
                <a:path w="233" h="130">
                  <a:moveTo>
                    <a:pt x="0" y="117"/>
                  </a:moveTo>
                  <a:lnTo>
                    <a:pt x="48" y="101"/>
                  </a:lnTo>
                  <a:lnTo>
                    <a:pt x="93" y="79"/>
                  </a:lnTo>
                  <a:lnTo>
                    <a:pt x="146" y="39"/>
                  </a:lnTo>
                  <a:lnTo>
                    <a:pt x="182" y="0"/>
                  </a:lnTo>
                  <a:lnTo>
                    <a:pt x="232" y="42"/>
                  </a:lnTo>
                  <a:lnTo>
                    <a:pt x="188" y="74"/>
                  </a:lnTo>
                  <a:lnTo>
                    <a:pt x="134" y="110"/>
                  </a:lnTo>
                  <a:lnTo>
                    <a:pt x="61" y="129"/>
                  </a:lnTo>
                  <a:lnTo>
                    <a:pt x="0" y="117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583" y="2888"/>
              <a:ext cx="465" cy="646"/>
            </a:xfrm>
            <a:custGeom>
              <a:avLst/>
              <a:gdLst/>
              <a:ahLst/>
              <a:cxnLst>
                <a:cxn ang="0">
                  <a:pos x="359" y="645"/>
                </a:cxn>
                <a:cxn ang="0">
                  <a:pos x="405" y="616"/>
                </a:cxn>
                <a:cxn ang="0">
                  <a:pos x="447" y="580"/>
                </a:cxn>
                <a:cxn ang="0">
                  <a:pos x="460" y="552"/>
                </a:cxn>
                <a:cxn ang="0">
                  <a:pos x="464" y="515"/>
                </a:cxn>
                <a:cxn ang="0">
                  <a:pos x="451" y="468"/>
                </a:cxn>
                <a:cxn ang="0">
                  <a:pos x="424" y="424"/>
                </a:cxn>
                <a:cxn ang="0">
                  <a:pos x="380" y="385"/>
                </a:cxn>
                <a:cxn ang="0">
                  <a:pos x="168" y="259"/>
                </a:cxn>
                <a:cxn ang="0">
                  <a:pos x="133" y="235"/>
                </a:cxn>
                <a:cxn ang="0">
                  <a:pos x="111" y="208"/>
                </a:cxn>
                <a:cxn ang="0">
                  <a:pos x="104" y="166"/>
                </a:cxn>
                <a:cxn ang="0">
                  <a:pos x="117" y="124"/>
                </a:cxn>
                <a:cxn ang="0">
                  <a:pos x="155" y="95"/>
                </a:cxn>
                <a:cxn ang="0">
                  <a:pos x="222" y="52"/>
                </a:cxn>
                <a:cxn ang="0">
                  <a:pos x="124" y="0"/>
                </a:cxn>
                <a:cxn ang="0">
                  <a:pos x="55" y="41"/>
                </a:cxn>
                <a:cxn ang="0">
                  <a:pos x="27" y="70"/>
                </a:cxn>
                <a:cxn ang="0">
                  <a:pos x="2" y="123"/>
                </a:cxn>
                <a:cxn ang="0">
                  <a:pos x="0" y="189"/>
                </a:cxn>
                <a:cxn ang="0">
                  <a:pos x="29" y="257"/>
                </a:cxn>
                <a:cxn ang="0">
                  <a:pos x="78" y="300"/>
                </a:cxn>
                <a:cxn ang="0">
                  <a:pos x="311" y="442"/>
                </a:cxn>
                <a:cxn ang="0">
                  <a:pos x="358" y="474"/>
                </a:cxn>
                <a:cxn ang="0">
                  <a:pos x="375" y="516"/>
                </a:cxn>
                <a:cxn ang="0">
                  <a:pos x="375" y="550"/>
                </a:cxn>
                <a:cxn ang="0">
                  <a:pos x="308" y="608"/>
                </a:cxn>
                <a:cxn ang="0">
                  <a:pos x="359" y="645"/>
                </a:cxn>
              </a:cxnLst>
              <a:rect l="0" t="0" r="r" b="b"/>
              <a:pathLst>
                <a:path w="465" h="646">
                  <a:moveTo>
                    <a:pt x="359" y="645"/>
                  </a:moveTo>
                  <a:lnTo>
                    <a:pt x="405" y="616"/>
                  </a:lnTo>
                  <a:lnTo>
                    <a:pt x="447" y="580"/>
                  </a:lnTo>
                  <a:lnTo>
                    <a:pt x="460" y="552"/>
                  </a:lnTo>
                  <a:lnTo>
                    <a:pt x="464" y="515"/>
                  </a:lnTo>
                  <a:lnTo>
                    <a:pt x="451" y="468"/>
                  </a:lnTo>
                  <a:lnTo>
                    <a:pt x="424" y="424"/>
                  </a:lnTo>
                  <a:lnTo>
                    <a:pt x="380" y="385"/>
                  </a:lnTo>
                  <a:lnTo>
                    <a:pt x="168" y="259"/>
                  </a:lnTo>
                  <a:lnTo>
                    <a:pt x="133" y="235"/>
                  </a:lnTo>
                  <a:lnTo>
                    <a:pt x="111" y="208"/>
                  </a:lnTo>
                  <a:lnTo>
                    <a:pt x="104" y="166"/>
                  </a:lnTo>
                  <a:lnTo>
                    <a:pt x="117" y="124"/>
                  </a:lnTo>
                  <a:lnTo>
                    <a:pt x="155" y="95"/>
                  </a:lnTo>
                  <a:lnTo>
                    <a:pt x="222" y="52"/>
                  </a:lnTo>
                  <a:lnTo>
                    <a:pt x="124" y="0"/>
                  </a:lnTo>
                  <a:lnTo>
                    <a:pt x="55" y="41"/>
                  </a:lnTo>
                  <a:lnTo>
                    <a:pt x="27" y="70"/>
                  </a:lnTo>
                  <a:lnTo>
                    <a:pt x="2" y="123"/>
                  </a:lnTo>
                  <a:lnTo>
                    <a:pt x="0" y="189"/>
                  </a:lnTo>
                  <a:lnTo>
                    <a:pt x="29" y="257"/>
                  </a:lnTo>
                  <a:lnTo>
                    <a:pt x="78" y="300"/>
                  </a:lnTo>
                  <a:lnTo>
                    <a:pt x="311" y="442"/>
                  </a:lnTo>
                  <a:lnTo>
                    <a:pt x="358" y="474"/>
                  </a:lnTo>
                  <a:lnTo>
                    <a:pt x="375" y="516"/>
                  </a:lnTo>
                  <a:lnTo>
                    <a:pt x="375" y="550"/>
                  </a:lnTo>
                  <a:lnTo>
                    <a:pt x="308" y="608"/>
                  </a:lnTo>
                  <a:lnTo>
                    <a:pt x="359" y="645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2966" y="2396"/>
              <a:ext cx="318" cy="422"/>
            </a:xfrm>
            <a:custGeom>
              <a:avLst/>
              <a:gdLst/>
              <a:ahLst/>
              <a:cxnLst>
                <a:cxn ang="0">
                  <a:pos x="92" y="421"/>
                </a:cxn>
                <a:cxn ang="0">
                  <a:pos x="163" y="399"/>
                </a:cxn>
                <a:cxn ang="0">
                  <a:pos x="218" y="357"/>
                </a:cxn>
                <a:cxn ang="0">
                  <a:pos x="263" y="316"/>
                </a:cxn>
                <a:cxn ang="0">
                  <a:pos x="300" y="265"/>
                </a:cxn>
                <a:cxn ang="0">
                  <a:pos x="317" y="203"/>
                </a:cxn>
                <a:cxn ang="0">
                  <a:pos x="316" y="139"/>
                </a:cxn>
                <a:cxn ang="0">
                  <a:pos x="299" y="95"/>
                </a:cxn>
                <a:cxn ang="0">
                  <a:pos x="276" y="64"/>
                </a:cxn>
                <a:cxn ang="0">
                  <a:pos x="241" y="36"/>
                </a:cxn>
                <a:cxn ang="0">
                  <a:pos x="218" y="14"/>
                </a:cxn>
                <a:cxn ang="0">
                  <a:pos x="180" y="0"/>
                </a:cxn>
                <a:cxn ang="0">
                  <a:pos x="61" y="52"/>
                </a:cxn>
                <a:cxn ang="0">
                  <a:pos x="106" y="93"/>
                </a:cxn>
                <a:cxn ang="0">
                  <a:pos x="137" y="130"/>
                </a:cxn>
                <a:cxn ang="0">
                  <a:pos x="159" y="159"/>
                </a:cxn>
                <a:cxn ang="0">
                  <a:pos x="176" y="196"/>
                </a:cxn>
                <a:cxn ang="0">
                  <a:pos x="176" y="246"/>
                </a:cxn>
                <a:cxn ang="0">
                  <a:pos x="145" y="279"/>
                </a:cxn>
                <a:cxn ang="0">
                  <a:pos x="105" y="309"/>
                </a:cxn>
                <a:cxn ang="0">
                  <a:pos x="50" y="342"/>
                </a:cxn>
                <a:cxn ang="0">
                  <a:pos x="0" y="369"/>
                </a:cxn>
                <a:cxn ang="0">
                  <a:pos x="92" y="421"/>
                </a:cxn>
              </a:cxnLst>
              <a:rect l="0" t="0" r="r" b="b"/>
              <a:pathLst>
                <a:path w="318" h="422">
                  <a:moveTo>
                    <a:pt x="92" y="421"/>
                  </a:moveTo>
                  <a:lnTo>
                    <a:pt x="163" y="399"/>
                  </a:lnTo>
                  <a:lnTo>
                    <a:pt x="218" y="357"/>
                  </a:lnTo>
                  <a:lnTo>
                    <a:pt x="263" y="316"/>
                  </a:lnTo>
                  <a:lnTo>
                    <a:pt x="300" y="265"/>
                  </a:lnTo>
                  <a:lnTo>
                    <a:pt x="317" y="203"/>
                  </a:lnTo>
                  <a:lnTo>
                    <a:pt x="316" y="139"/>
                  </a:lnTo>
                  <a:lnTo>
                    <a:pt x="299" y="95"/>
                  </a:lnTo>
                  <a:lnTo>
                    <a:pt x="276" y="64"/>
                  </a:lnTo>
                  <a:lnTo>
                    <a:pt x="241" y="36"/>
                  </a:lnTo>
                  <a:lnTo>
                    <a:pt x="218" y="14"/>
                  </a:lnTo>
                  <a:lnTo>
                    <a:pt x="180" y="0"/>
                  </a:lnTo>
                  <a:lnTo>
                    <a:pt x="61" y="52"/>
                  </a:lnTo>
                  <a:lnTo>
                    <a:pt x="106" y="93"/>
                  </a:lnTo>
                  <a:lnTo>
                    <a:pt x="137" y="130"/>
                  </a:lnTo>
                  <a:lnTo>
                    <a:pt x="159" y="159"/>
                  </a:lnTo>
                  <a:lnTo>
                    <a:pt x="176" y="196"/>
                  </a:lnTo>
                  <a:lnTo>
                    <a:pt x="176" y="246"/>
                  </a:lnTo>
                  <a:lnTo>
                    <a:pt x="145" y="279"/>
                  </a:lnTo>
                  <a:lnTo>
                    <a:pt x="105" y="309"/>
                  </a:lnTo>
                  <a:lnTo>
                    <a:pt x="50" y="342"/>
                  </a:lnTo>
                  <a:lnTo>
                    <a:pt x="0" y="369"/>
                  </a:lnTo>
                  <a:lnTo>
                    <a:pt x="92" y="421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308" y="1190"/>
              <a:ext cx="1404" cy="1153"/>
            </a:xfrm>
            <a:custGeom>
              <a:avLst/>
              <a:gdLst/>
              <a:ahLst/>
              <a:cxnLst>
                <a:cxn ang="0">
                  <a:pos x="466" y="1084"/>
                </a:cxn>
                <a:cxn ang="0">
                  <a:pos x="370" y="1066"/>
                </a:cxn>
                <a:cxn ang="0">
                  <a:pos x="299" y="1035"/>
                </a:cxn>
                <a:cxn ang="0">
                  <a:pos x="257" y="1002"/>
                </a:cxn>
                <a:cxn ang="0">
                  <a:pos x="220" y="956"/>
                </a:cxn>
                <a:cxn ang="0">
                  <a:pos x="209" y="914"/>
                </a:cxn>
                <a:cxn ang="0">
                  <a:pos x="215" y="873"/>
                </a:cxn>
                <a:cxn ang="0">
                  <a:pos x="231" y="836"/>
                </a:cxn>
                <a:cxn ang="0">
                  <a:pos x="273" y="798"/>
                </a:cxn>
                <a:cxn ang="0">
                  <a:pos x="330" y="774"/>
                </a:cxn>
                <a:cxn ang="0">
                  <a:pos x="400" y="748"/>
                </a:cxn>
                <a:cxn ang="0">
                  <a:pos x="1110" y="499"/>
                </a:cxn>
                <a:cxn ang="0">
                  <a:pos x="1207" y="451"/>
                </a:cxn>
                <a:cxn ang="0">
                  <a:pos x="1289" y="398"/>
                </a:cxn>
                <a:cxn ang="0">
                  <a:pos x="1344" y="356"/>
                </a:cxn>
                <a:cxn ang="0">
                  <a:pos x="1381" y="310"/>
                </a:cxn>
                <a:cxn ang="0">
                  <a:pos x="1403" y="249"/>
                </a:cxn>
                <a:cxn ang="0">
                  <a:pos x="1401" y="185"/>
                </a:cxn>
                <a:cxn ang="0">
                  <a:pos x="1386" y="136"/>
                </a:cxn>
                <a:cxn ang="0">
                  <a:pos x="1370" y="90"/>
                </a:cxn>
                <a:cxn ang="0">
                  <a:pos x="1335" y="55"/>
                </a:cxn>
                <a:cxn ang="0">
                  <a:pos x="1280" y="18"/>
                </a:cxn>
                <a:cxn ang="0">
                  <a:pos x="1214" y="0"/>
                </a:cxn>
                <a:cxn ang="0">
                  <a:pos x="1172" y="4"/>
                </a:cxn>
                <a:cxn ang="0">
                  <a:pos x="1111" y="7"/>
                </a:cxn>
                <a:cxn ang="0">
                  <a:pos x="1053" y="20"/>
                </a:cxn>
                <a:cxn ang="0">
                  <a:pos x="989" y="46"/>
                </a:cxn>
                <a:cxn ang="0">
                  <a:pos x="939" y="79"/>
                </a:cxn>
                <a:cxn ang="0">
                  <a:pos x="899" y="106"/>
                </a:cxn>
                <a:cxn ang="0">
                  <a:pos x="878" y="149"/>
                </a:cxn>
                <a:cxn ang="0">
                  <a:pos x="897" y="187"/>
                </a:cxn>
                <a:cxn ang="0">
                  <a:pos x="939" y="183"/>
                </a:cxn>
                <a:cxn ang="0">
                  <a:pos x="987" y="171"/>
                </a:cxn>
                <a:cxn ang="0">
                  <a:pos x="1033" y="158"/>
                </a:cxn>
                <a:cxn ang="0">
                  <a:pos x="1069" y="150"/>
                </a:cxn>
                <a:cxn ang="0">
                  <a:pos x="1111" y="150"/>
                </a:cxn>
                <a:cxn ang="0">
                  <a:pos x="1154" y="163"/>
                </a:cxn>
                <a:cxn ang="0">
                  <a:pos x="1183" y="204"/>
                </a:cxn>
                <a:cxn ang="0">
                  <a:pos x="1179" y="248"/>
                </a:cxn>
                <a:cxn ang="0">
                  <a:pos x="1157" y="286"/>
                </a:cxn>
                <a:cxn ang="0">
                  <a:pos x="1121" y="323"/>
                </a:cxn>
                <a:cxn ang="0">
                  <a:pos x="1047" y="361"/>
                </a:cxn>
                <a:cxn ang="0">
                  <a:pos x="908" y="415"/>
                </a:cxn>
                <a:cxn ang="0">
                  <a:pos x="194" y="675"/>
                </a:cxn>
                <a:cxn ang="0">
                  <a:pos x="123" y="715"/>
                </a:cxn>
                <a:cxn ang="0">
                  <a:pos x="68" y="763"/>
                </a:cxn>
                <a:cxn ang="0">
                  <a:pos x="29" y="809"/>
                </a:cxn>
                <a:cxn ang="0">
                  <a:pos x="6" y="858"/>
                </a:cxn>
                <a:cxn ang="0">
                  <a:pos x="0" y="912"/>
                </a:cxn>
                <a:cxn ang="0">
                  <a:pos x="8" y="952"/>
                </a:cxn>
                <a:cxn ang="0">
                  <a:pos x="22" y="992"/>
                </a:cxn>
                <a:cxn ang="0">
                  <a:pos x="59" y="1036"/>
                </a:cxn>
                <a:cxn ang="0">
                  <a:pos x="127" y="1095"/>
                </a:cxn>
                <a:cxn ang="0">
                  <a:pos x="198" y="1135"/>
                </a:cxn>
                <a:cxn ang="0">
                  <a:pos x="273" y="1152"/>
                </a:cxn>
                <a:cxn ang="0">
                  <a:pos x="466" y="1084"/>
                </a:cxn>
              </a:cxnLst>
              <a:rect l="0" t="0" r="r" b="b"/>
              <a:pathLst>
                <a:path w="1404" h="1153">
                  <a:moveTo>
                    <a:pt x="466" y="1084"/>
                  </a:moveTo>
                  <a:lnTo>
                    <a:pt x="370" y="1066"/>
                  </a:lnTo>
                  <a:lnTo>
                    <a:pt x="299" y="1035"/>
                  </a:lnTo>
                  <a:lnTo>
                    <a:pt x="257" y="1002"/>
                  </a:lnTo>
                  <a:lnTo>
                    <a:pt x="220" y="956"/>
                  </a:lnTo>
                  <a:lnTo>
                    <a:pt x="209" y="914"/>
                  </a:lnTo>
                  <a:lnTo>
                    <a:pt x="215" y="873"/>
                  </a:lnTo>
                  <a:lnTo>
                    <a:pt x="231" y="836"/>
                  </a:lnTo>
                  <a:lnTo>
                    <a:pt x="273" y="798"/>
                  </a:lnTo>
                  <a:lnTo>
                    <a:pt x="330" y="774"/>
                  </a:lnTo>
                  <a:lnTo>
                    <a:pt x="400" y="748"/>
                  </a:lnTo>
                  <a:lnTo>
                    <a:pt x="1110" y="499"/>
                  </a:lnTo>
                  <a:lnTo>
                    <a:pt x="1207" y="451"/>
                  </a:lnTo>
                  <a:lnTo>
                    <a:pt x="1289" y="398"/>
                  </a:lnTo>
                  <a:lnTo>
                    <a:pt x="1344" y="356"/>
                  </a:lnTo>
                  <a:lnTo>
                    <a:pt x="1381" y="310"/>
                  </a:lnTo>
                  <a:lnTo>
                    <a:pt x="1403" y="249"/>
                  </a:lnTo>
                  <a:lnTo>
                    <a:pt x="1401" y="185"/>
                  </a:lnTo>
                  <a:lnTo>
                    <a:pt x="1386" y="136"/>
                  </a:lnTo>
                  <a:lnTo>
                    <a:pt x="1370" y="90"/>
                  </a:lnTo>
                  <a:lnTo>
                    <a:pt x="1335" y="55"/>
                  </a:lnTo>
                  <a:lnTo>
                    <a:pt x="1280" y="18"/>
                  </a:lnTo>
                  <a:lnTo>
                    <a:pt x="1214" y="0"/>
                  </a:lnTo>
                  <a:lnTo>
                    <a:pt x="1172" y="4"/>
                  </a:lnTo>
                  <a:lnTo>
                    <a:pt x="1111" y="7"/>
                  </a:lnTo>
                  <a:lnTo>
                    <a:pt x="1053" y="20"/>
                  </a:lnTo>
                  <a:lnTo>
                    <a:pt x="989" y="46"/>
                  </a:lnTo>
                  <a:lnTo>
                    <a:pt x="939" y="79"/>
                  </a:lnTo>
                  <a:lnTo>
                    <a:pt x="899" y="106"/>
                  </a:lnTo>
                  <a:lnTo>
                    <a:pt x="878" y="149"/>
                  </a:lnTo>
                  <a:lnTo>
                    <a:pt x="897" y="187"/>
                  </a:lnTo>
                  <a:lnTo>
                    <a:pt x="939" y="183"/>
                  </a:lnTo>
                  <a:lnTo>
                    <a:pt x="987" y="171"/>
                  </a:lnTo>
                  <a:lnTo>
                    <a:pt x="1033" y="158"/>
                  </a:lnTo>
                  <a:lnTo>
                    <a:pt x="1069" y="150"/>
                  </a:lnTo>
                  <a:lnTo>
                    <a:pt x="1111" y="150"/>
                  </a:lnTo>
                  <a:lnTo>
                    <a:pt x="1154" y="163"/>
                  </a:lnTo>
                  <a:lnTo>
                    <a:pt x="1183" y="204"/>
                  </a:lnTo>
                  <a:lnTo>
                    <a:pt x="1179" y="248"/>
                  </a:lnTo>
                  <a:lnTo>
                    <a:pt x="1157" y="286"/>
                  </a:lnTo>
                  <a:lnTo>
                    <a:pt x="1121" y="323"/>
                  </a:lnTo>
                  <a:lnTo>
                    <a:pt x="1047" y="361"/>
                  </a:lnTo>
                  <a:lnTo>
                    <a:pt x="908" y="415"/>
                  </a:lnTo>
                  <a:lnTo>
                    <a:pt x="194" y="675"/>
                  </a:lnTo>
                  <a:lnTo>
                    <a:pt x="123" y="715"/>
                  </a:lnTo>
                  <a:lnTo>
                    <a:pt x="68" y="763"/>
                  </a:lnTo>
                  <a:lnTo>
                    <a:pt x="29" y="809"/>
                  </a:lnTo>
                  <a:lnTo>
                    <a:pt x="6" y="858"/>
                  </a:lnTo>
                  <a:lnTo>
                    <a:pt x="0" y="912"/>
                  </a:lnTo>
                  <a:lnTo>
                    <a:pt x="8" y="952"/>
                  </a:lnTo>
                  <a:lnTo>
                    <a:pt x="22" y="992"/>
                  </a:lnTo>
                  <a:lnTo>
                    <a:pt x="59" y="1036"/>
                  </a:lnTo>
                  <a:lnTo>
                    <a:pt x="127" y="1095"/>
                  </a:lnTo>
                  <a:lnTo>
                    <a:pt x="198" y="1135"/>
                  </a:lnTo>
                  <a:lnTo>
                    <a:pt x="273" y="1152"/>
                  </a:lnTo>
                  <a:lnTo>
                    <a:pt x="466" y="1084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711" y="3280"/>
              <a:ext cx="368" cy="422"/>
            </a:xfrm>
            <a:custGeom>
              <a:avLst/>
              <a:gdLst/>
              <a:ahLst/>
              <a:cxnLst>
                <a:cxn ang="0">
                  <a:pos x="367" y="421"/>
                </a:cxn>
                <a:cxn ang="0">
                  <a:pos x="171" y="340"/>
                </a:cxn>
                <a:cxn ang="0">
                  <a:pos x="117" y="304"/>
                </a:cxn>
                <a:cxn ang="0">
                  <a:pos x="73" y="265"/>
                </a:cxn>
                <a:cxn ang="0">
                  <a:pos x="31" y="219"/>
                </a:cxn>
                <a:cxn ang="0">
                  <a:pos x="9" y="179"/>
                </a:cxn>
                <a:cxn ang="0">
                  <a:pos x="0" y="137"/>
                </a:cxn>
                <a:cxn ang="0">
                  <a:pos x="2" y="95"/>
                </a:cxn>
                <a:cxn ang="0">
                  <a:pos x="19" y="51"/>
                </a:cxn>
                <a:cxn ang="0">
                  <a:pos x="44" y="0"/>
                </a:cxn>
                <a:cxn ang="0">
                  <a:pos x="120" y="52"/>
                </a:cxn>
                <a:cxn ang="0">
                  <a:pos x="95" y="98"/>
                </a:cxn>
                <a:cxn ang="0">
                  <a:pos x="95" y="143"/>
                </a:cxn>
                <a:cxn ang="0">
                  <a:pos x="122" y="191"/>
                </a:cxn>
                <a:cxn ang="0">
                  <a:pos x="162" y="235"/>
                </a:cxn>
                <a:cxn ang="0">
                  <a:pos x="223" y="284"/>
                </a:cxn>
                <a:cxn ang="0">
                  <a:pos x="290" y="317"/>
                </a:cxn>
                <a:cxn ang="0">
                  <a:pos x="332" y="351"/>
                </a:cxn>
                <a:cxn ang="0">
                  <a:pos x="351" y="378"/>
                </a:cxn>
                <a:cxn ang="0">
                  <a:pos x="367" y="421"/>
                </a:cxn>
              </a:cxnLst>
              <a:rect l="0" t="0" r="r" b="b"/>
              <a:pathLst>
                <a:path w="368" h="422">
                  <a:moveTo>
                    <a:pt x="367" y="421"/>
                  </a:moveTo>
                  <a:lnTo>
                    <a:pt x="171" y="340"/>
                  </a:lnTo>
                  <a:lnTo>
                    <a:pt x="117" y="304"/>
                  </a:lnTo>
                  <a:lnTo>
                    <a:pt x="73" y="265"/>
                  </a:lnTo>
                  <a:lnTo>
                    <a:pt x="31" y="219"/>
                  </a:lnTo>
                  <a:lnTo>
                    <a:pt x="9" y="179"/>
                  </a:lnTo>
                  <a:lnTo>
                    <a:pt x="0" y="137"/>
                  </a:lnTo>
                  <a:lnTo>
                    <a:pt x="2" y="95"/>
                  </a:lnTo>
                  <a:lnTo>
                    <a:pt x="19" y="51"/>
                  </a:lnTo>
                  <a:lnTo>
                    <a:pt x="44" y="0"/>
                  </a:lnTo>
                  <a:lnTo>
                    <a:pt x="120" y="52"/>
                  </a:lnTo>
                  <a:lnTo>
                    <a:pt x="95" y="98"/>
                  </a:lnTo>
                  <a:lnTo>
                    <a:pt x="95" y="143"/>
                  </a:lnTo>
                  <a:lnTo>
                    <a:pt x="122" y="191"/>
                  </a:lnTo>
                  <a:lnTo>
                    <a:pt x="162" y="235"/>
                  </a:lnTo>
                  <a:lnTo>
                    <a:pt x="223" y="284"/>
                  </a:lnTo>
                  <a:lnTo>
                    <a:pt x="290" y="317"/>
                  </a:lnTo>
                  <a:lnTo>
                    <a:pt x="332" y="351"/>
                  </a:lnTo>
                  <a:lnTo>
                    <a:pt x="351" y="378"/>
                  </a:lnTo>
                  <a:lnTo>
                    <a:pt x="367" y="421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432" y="1792"/>
              <a:ext cx="989" cy="1439"/>
            </a:xfrm>
            <a:custGeom>
              <a:avLst/>
              <a:gdLst/>
              <a:ahLst/>
              <a:cxnLst>
                <a:cxn ang="0">
                  <a:pos x="525" y="1438"/>
                </a:cxn>
                <a:cxn ang="0">
                  <a:pos x="582" y="1409"/>
                </a:cxn>
                <a:cxn ang="0">
                  <a:pos x="647" y="1355"/>
                </a:cxn>
                <a:cxn ang="0">
                  <a:pos x="670" y="1304"/>
                </a:cxn>
                <a:cxn ang="0">
                  <a:pos x="686" y="1255"/>
                </a:cxn>
                <a:cxn ang="0">
                  <a:pos x="677" y="1198"/>
                </a:cxn>
                <a:cxn ang="0">
                  <a:pos x="637" y="1125"/>
                </a:cxn>
                <a:cxn ang="0">
                  <a:pos x="609" y="1092"/>
                </a:cxn>
                <a:cxn ang="0">
                  <a:pos x="569" y="1063"/>
                </a:cxn>
                <a:cxn ang="0">
                  <a:pos x="259" y="905"/>
                </a:cxn>
                <a:cxn ang="0">
                  <a:pos x="201" y="863"/>
                </a:cxn>
                <a:cxn ang="0">
                  <a:pos x="177" y="843"/>
                </a:cxn>
                <a:cxn ang="0">
                  <a:pos x="160" y="800"/>
                </a:cxn>
                <a:cxn ang="0">
                  <a:pos x="171" y="766"/>
                </a:cxn>
                <a:cxn ang="0">
                  <a:pos x="215" y="738"/>
                </a:cxn>
                <a:cxn ang="0">
                  <a:pos x="294" y="709"/>
                </a:cxn>
                <a:cxn ang="0">
                  <a:pos x="780" y="521"/>
                </a:cxn>
                <a:cxn ang="0">
                  <a:pos x="856" y="471"/>
                </a:cxn>
                <a:cxn ang="0">
                  <a:pos x="918" y="417"/>
                </a:cxn>
                <a:cxn ang="0">
                  <a:pos x="953" y="379"/>
                </a:cxn>
                <a:cxn ang="0">
                  <a:pos x="984" y="334"/>
                </a:cxn>
                <a:cxn ang="0">
                  <a:pos x="988" y="274"/>
                </a:cxn>
                <a:cxn ang="0">
                  <a:pos x="972" y="214"/>
                </a:cxn>
                <a:cxn ang="0">
                  <a:pos x="953" y="167"/>
                </a:cxn>
                <a:cxn ang="0">
                  <a:pos x="920" y="126"/>
                </a:cxn>
                <a:cxn ang="0">
                  <a:pos x="875" y="85"/>
                </a:cxn>
                <a:cxn ang="0">
                  <a:pos x="828" y="50"/>
                </a:cxn>
                <a:cxn ang="0">
                  <a:pos x="803" y="29"/>
                </a:cxn>
                <a:cxn ang="0">
                  <a:pos x="756" y="0"/>
                </a:cxn>
                <a:cxn ang="0">
                  <a:pos x="588" y="61"/>
                </a:cxn>
                <a:cxn ang="0">
                  <a:pos x="649" y="104"/>
                </a:cxn>
                <a:cxn ang="0">
                  <a:pos x="694" y="145"/>
                </a:cxn>
                <a:cxn ang="0">
                  <a:pos x="739" y="182"/>
                </a:cxn>
                <a:cxn ang="0">
                  <a:pos x="780" y="223"/>
                </a:cxn>
                <a:cxn ang="0">
                  <a:pos x="803" y="272"/>
                </a:cxn>
                <a:cxn ang="0">
                  <a:pos x="787" y="323"/>
                </a:cxn>
                <a:cxn ang="0">
                  <a:pos x="729" y="369"/>
                </a:cxn>
                <a:cxn ang="0">
                  <a:pos x="639" y="413"/>
                </a:cxn>
                <a:cxn ang="0">
                  <a:pos x="212" y="589"/>
                </a:cxn>
                <a:cxn ang="0">
                  <a:pos x="160" y="608"/>
                </a:cxn>
                <a:cxn ang="0">
                  <a:pos x="88" y="653"/>
                </a:cxn>
                <a:cxn ang="0">
                  <a:pos x="43" y="698"/>
                </a:cxn>
                <a:cxn ang="0">
                  <a:pos x="9" y="755"/>
                </a:cxn>
                <a:cxn ang="0">
                  <a:pos x="0" y="820"/>
                </a:cxn>
                <a:cxn ang="0">
                  <a:pos x="10" y="872"/>
                </a:cxn>
                <a:cxn ang="0">
                  <a:pos x="40" y="914"/>
                </a:cxn>
                <a:cxn ang="0">
                  <a:pos x="84" y="949"/>
                </a:cxn>
                <a:cxn ang="0">
                  <a:pos x="159" y="999"/>
                </a:cxn>
                <a:cxn ang="0">
                  <a:pos x="487" y="1164"/>
                </a:cxn>
                <a:cxn ang="0">
                  <a:pos x="530" y="1197"/>
                </a:cxn>
                <a:cxn ang="0">
                  <a:pos x="569" y="1236"/>
                </a:cxn>
                <a:cxn ang="0">
                  <a:pos x="557" y="1292"/>
                </a:cxn>
                <a:cxn ang="0">
                  <a:pos x="502" y="1354"/>
                </a:cxn>
                <a:cxn ang="0">
                  <a:pos x="434" y="1394"/>
                </a:cxn>
                <a:cxn ang="0">
                  <a:pos x="525" y="1438"/>
                </a:cxn>
              </a:cxnLst>
              <a:rect l="0" t="0" r="r" b="b"/>
              <a:pathLst>
                <a:path w="989" h="1439">
                  <a:moveTo>
                    <a:pt x="525" y="1438"/>
                  </a:moveTo>
                  <a:lnTo>
                    <a:pt x="582" y="1409"/>
                  </a:lnTo>
                  <a:lnTo>
                    <a:pt x="647" y="1355"/>
                  </a:lnTo>
                  <a:lnTo>
                    <a:pt x="670" y="1304"/>
                  </a:lnTo>
                  <a:lnTo>
                    <a:pt x="686" y="1255"/>
                  </a:lnTo>
                  <a:lnTo>
                    <a:pt x="677" y="1198"/>
                  </a:lnTo>
                  <a:lnTo>
                    <a:pt x="637" y="1125"/>
                  </a:lnTo>
                  <a:lnTo>
                    <a:pt x="609" y="1092"/>
                  </a:lnTo>
                  <a:lnTo>
                    <a:pt x="569" y="1063"/>
                  </a:lnTo>
                  <a:lnTo>
                    <a:pt x="259" y="905"/>
                  </a:lnTo>
                  <a:lnTo>
                    <a:pt x="201" y="863"/>
                  </a:lnTo>
                  <a:lnTo>
                    <a:pt x="177" y="843"/>
                  </a:lnTo>
                  <a:lnTo>
                    <a:pt x="160" y="800"/>
                  </a:lnTo>
                  <a:lnTo>
                    <a:pt x="171" y="766"/>
                  </a:lnTo>
                  <a:lnTo>
                    <a:pt x="215" y="738"/>
                  </a:lnTo>
                  <a:lnTo>
                    <a:pt x="294" y="709"/>
                  </a:lnTo>
                  <a:lnTo>
                    <a:pt x="780" y="521"/>
                  </a:lnTo>
                  <a:lnTo>
                    <a:pt x="856" y="471"/>
                  </a:lnTo>
                  <a:lnTo>
                    <a:pt x="918" y="417"/>
                  </a:lnTo>
                  <a:lnTo>
                    <a:pt x="953" y="379"/>
                  </a:lnTo>
                  <a:lnTo>
                    <a:pt x="984" y="334"/>
                  </a:lnTo>
                  <a:lnTo>
                    <a:pt x="988" y="274"/>
                  </a:lnTo>
                  <a:lnTo>
                    <a:pt x="972" y="214"/>
                  </a:lnTo>
                  <a:lnTo>
                    <a:pt x="953" y="167"/>
                  </a:lnTo>
                  <a:lnTo>
                    <a:pt x="920" y="126"/>
                  </a:lnTo>
                  <a:lnTo>
                    <a:pt x="875" y="85"/>
                  </a:lnTo>
                  <a:lnTo>
                    <a:pt x="828" y="50"/>
                  </a:lnTo>
                  <a:lnTo>
                    <a:pt x="803" y="29"/>
                  </a:lnTo>
                  <a:lnTo>
                    <a:pt x="756" y="0"/>
                  </a:lnTo>
                  <a:lnTo>
                    <a:pt x="588" y="61"/>
                  </a:lnTo>
                  <a:lnTo>
                    <a:pt x="649" y="104"/>
                  </a:lnTo>
                  <a:lnTo>
                    <a:pt x="694" y="145"/>
                  </a:lnTo>
                  <a:lnTo>
                    <a:pt x="739" y="182"/>
                  </a:lnTo>
                  <a:lnTo>
                    <a:pt x="780" y="223"/>
                  </a:lnTo>
                  <a:lnTo>
                    <a:pt x="803" y="272"/>
                  </a:lnTo>
                  <a:lnTo>
                    <a:pt x="787" y="323"/>
                  </a:lnTo>
                  <a:lnTo>
                    <a:pt x="729" y="369"/>
                  </a:lnTo>
                  <a:lnTo>
                    <a:pt x="639" y="413"/>
                  </a:lnTo>
                  <a:lnTo>
                    <a:pt x="212" y="589"/>
                  </a:lnTo>
                  <a:lnTo>
                    <a:pt x="160" y="608"/>
                  </a:lnTo>
                  <a:lnTo>
                    <a:pt x="88" y="653"/>
                  </a:lnTo>
                  <a:lnTo>
                    <a:pt x="43" y="698"/>
                  </a:lnTo>
                  <a:lnTo>
                    <a:pt x="9" y="755"/>
                  </a:lnTo>
                  <a:lnTo>
                    <a:pt x="0" y="820"/>
                  </a:lnTo>
                  <a:lnTo>
                    <a:pt x="10" y="872"/>
                  </a:lnTo>
                  <a:lnTo>
                    <a:pt x="40" y="914"/>
                  </a:lnTo>
                  <a:lnTo>
                    <a:pt x="84" y="949"/>
                  </a:lnTo>
                  <a:lnTo>
                    <a:pt x="159" y="999"/>
                  </a:lnTo>
                  <a:lnTo>
                    <a:pt x="487" y="1164"/>
                  </a:lnTo>
                  <a:lnTo>
                    <a:pt x="530" y="1197"/>
                  </a:lnTo>
                  <a:lnTo>
                    <a:pt x="569" y="1236"/>
                  </a:lnTo>
                  <a:lnTo>
                    <a:pt x="557" y="1292"/>
                  </a:lnTo>
                  <a:lnTo>
                    <a:pt x="502" y="1354"/>
                  </a:lnTo>
                  <a:lnTo>
                    <a:pt x="434" y="1394"/>
                  </a:lnTo>
                  <a:lnTo>
                    <a:pt x="525" y="1438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8" name="Freeform 14"/>
            <p:cNvSpPr>
              <a:spLocks/>
            </p:cNvSpPr>
            <p:nvPr/>
          </p:nvSpPr>
          <p:spPr bwMode="auto">
            <a:xfrm>
              <a:off x="2100" y="1162"/>
              <a:ext cx="669" cy="582"/>
            </a:xfrm>
            <a:custGeom>
              <a:avLst/>
              <a:gdLst/>
              <a:ahLst/>
              <a:cxnLst>
                <a:cxn ang="0">
                  <a:pos x="668" y="553"/>
                </a:cxn>
                <a:cxn ang="0">
                  <a:pos x="668" y="450"/>
                </a:cxn>
                <a:cxn ang="0">
                  <a:pos x="562" y="435"/>
                </a:cxn>
                <a:cxn ang="0">
                  <a:pos x="448" y="420"/>
                </a:cxn>
                <a:cxn ang="0">
                  <a:pos x="367" y="400"/>
                </a:cxn>
                <a:cxn ang="0">
                  <a:pos x="314" y="378"/>
                </a:cxn>
                <a:cxn ang="0">
                  <a:pos x="257" y="349"/>
                </a:cxn>
                <a:cxn ang="0">
                  <a:pos x="220" y="314"/>
                </a:cxn>
                <a:cxn ang="0">
                  <a:pos x="193" y="274"/>
                </a:cxn>
                <a:cxn ang="0">
                  <a:pos x="180" y="231"/>
                </a:cxn>
                <a:cxn ang="0">
                  <a:pos x="180" y="189"/>
                </a:cxn>
                <a:cxn ang="0">
                  <a:pos x="193" y="165"/>
                </a:cxn>
                <a:cxn ang="0">
                  <a:pos x="209" y="143"/>
                </a:cxn>
                <a:cxn ang="0">
                  <a:pos x="255" y="127"/>
                </a:cxn>
                <a:cxn ang="0">
                  <a:pos x="297" y="127"/>
                </a:cxn>
                <a:cxn ang="0">
                  <a:pos x="345" y="141"/>
                </a:cxn>
                <a:cxn ang="0">
                  <a:pos x="396" y="156"/>
                </a:cxn>
                <a:cxn ang="0">
                  <a:pos x="448" y="163"/>
                </a:cxn>
                <a:cxn ang="0">
                  <a:pos x="477" y="125"/>
                </a:cxn>
                <a:cxn ang="0">
                  <a:pos x="464" y="86"/>
                </a:cxn>
                <a:cxn ang="0">
                  <a:pos x="415" y="42"/>
                </a:cxn>
                <a:cxn ang="0">
                  <a:pos x="363" y="18"/>
                </a:cxn>
                <a:cxn ang="0">
                  <a:pos x="319" y="7"/>
                </a:cxn>
                <a:cxn ang="0">
                  <a:pos x="273" y="2"/>
                </a:cxn>
                <a:cxn ang="0">
                  <a:pos x="222" y="0"/>
                </a:cxn>
                <a:cxn ang="0">
                  <a:pos x="176" y="4"/>
                </a:cxn>
                <a:cxn ang="0">
                  <a:pos x="136" y="15"/>
                </a:cxn>
                <a:cxn ang="0">
                  <a:pos x="86" y="33"/>
                </a:cxn>
                <a:cxn ang="0">
                  <a:pos x="50" y="66"/>
                </a:cxn>
                <a:cxn ang="0">
                  <a:pos x="22" y="99"/>
                </a:cxn>
                <a:cxn ang="0">
                  <a:pos x="6" y="145"/>
                </a:cxn>
                <a:cxn ang="0">
                  <a:pos x="0" y="189"/>
                </a:cxn>
                <a:cxn ang="0">
                  <a:pos x="9" y="237"/>
                </a:cxn>
                <a:cxn ang="0">
                  <a:pos x="22" y="285"/>
                </a:cxn>
                <a:cxn ang="0">
                  <a:pos x="50" y="330"/>
                </a:cxn>
                <a:cxn ang="0">
                  <a:pos x="81" y="375"/>
                </a:cxn>
                <a:cxn ang="0">
                  <a:pos x="125" y="419"/>
                </a:cxn>
                <a:cxn ang="0">
                  <a:pos x="169" y="457"/>
                </a:cxn>
                <a:cxn ang="0">
                  <a:pos x="217" y="488"/>
                </a:cxn>
                <a:cxn ang="0">
                  <a:pos x="266" y="514"/>
                </a:cxn>
                <a:cxn ang="0">
                  <a:pos x="310" y="534"/>
                </a:cxn>
                <a:cxn ang="0">
                  <a:pos x="369" y="549"/>
                </a:cxn>
                <a:cxn ang="0">
                  <a:pos x="437" y="568"/>
                </a:cxn>
                <a:cxn ang="0">
                  <a:pos x="516" y="581"/>
                </a:cxn>
                <a:cxn ang="0">
                  <a:pos x="595" y="577"/>
                </a:cxn>
                <a:cxn ang="0">
                  <a:pos x="668" y="553"/>
                </a:cxn>
              </a:cxnLst>
              <a:rect l="0" t="0" r="r" b="b"/>
              <a:pathLst>
                <a:path w="669" h="582">
                  <a:moveTo>
                    <a:pt x="668" y="553"/>
                  </a:moveTo>
                  <a:lnTo>
                    <a:pt x="668" y="450"/>
                  </a:lnTo>
                  <a:lnTo>
                    <a:pt x="562" y="435"/>
                  </a:lnTo>
                  <a:lnTo>
                    <a:pt x="448" y="420"/>
                  </a:lnTo>
                  <a:lnTo>
                    <a:pt x="367" y="400"/>
                  </a:lnTo>
                  <a:lnTo>
                    <a:pt x="314" y="378"/>
                  </a:lnTo>
                  <a:lnTo>
                    <a:pt x="257" y="349"/>
                  </a:lnTo>
                  <a:lnTo>
                    <a:pt x="220" y="314"/>
                  </a:lnTo>
                  <a:lnTo>
                    <a:pt x="193" y="274"/>
                  </a:lnTo>
                  <a:lnTo>
                    <a:pt x="180" y="231"/>
                  </a:lnTo>
                  <a:lnTo>
                    <a:pt x="180" y="189"/>
                  </a:lnTo>
                  <a:lnTo>
                    <a:pt x="193" y="165"/>
                  </a:lnTo>
                  <a:lnTo>
                    <a:pt x="209" y="143"/>
                  </a:lnTo>
                  <a:lnTo>
                    <a:pt x="255" y="127"/>
                  </a:lnTo>
                  <a:lnTo>
                    <a:pt x="297" y="127"/>
                  </a:lnTo>
                  <a:lnTo>
                    <a:pt x="345" y="141"/>
                  </a:lnTo>
                  <a:lnTo>
                    <a:pt x="396" y="156"/>
                  </a:lnTo>
                  <a:lnTo>
                    <a:pt x="448" y="163"/>
                  </a:lnTo>
                  <a:lnTo>
                    <a:pt x="477" y="125"/>
                  </a:lnTo>
                  <a:lnTo>
                    <a:pt x="464" y="86"/>
                  </a:lnTo>
                  <a:lnTo>
                    <a:pt x="415" y="42"/>
                  </a:lnTo>
                  <a:lnTo>
                    <a:pt x="363" y="18"/>
                  </a:lnTo>
                  <a:lnTo>
                    <a:pt x="319" y="7"/>
                  </a:lnTo>
                  <a:lnTo>
                    <a:pt x="273" y="2"/>
                  </a:lnTo>
                  <a:lnTo>
                    <a:pt x="222" y="0"/>
                  </a:lnTo>
                  <a:lnTo>
                    <a:pt x="176" y="4"/>
                  </a:lnTo>
                  <a:lnTo>
                    <a:pt x="136" y="15"/>
                  </a:lnTo>
                  <a:lnTo>
                    <a:pt x="86" y="33"/>
                  </a:lnTo>
                  <a:lnTo>
                    <a:pt x="50" y="66"/>
                  </a:lnTo>
                  <a:lnTo>
                    <a:pt x="22" y="99"/>
                  </a:lnTo>
                  <a:lnTo>
                    <a:pt x="6" y="145"/>
                  </a:lnTo>
                  <a:lnTo>
                    <a:pt x="0" y="189"/>
                  </a:lnTo>
                  <a:lnTo>
                    <a:pt x="9" y="237"/>
                  </a:lnTo>
                  <a:lnTo>
                    <a:pt x="22" y="285"/>
                  </a:lnTo>
                  <a:lnTo>
                    <a:pt x="50" y="330"/>
                  </a:lnTo>
                  <a:lnTo>
                    <a:pt x="81" y="375"/>
                  </a:lnTo>
                  <a:lnTo>
                    <a:pt x="125" y="419"/>
                  </a:lnTo>
                  <a:lnTo>
                    <a:pt x="169" y="457"/>
                  </a:lnTo>
                  <a:lnTo>
                    <a:pt x="217" y="488"/>
                  </a:lnTo>
                  <a:lnTo>
                    <a:pt x="266" y="514"/>
                  </a:lnTo>
                  <a:lnTo>
                    <a:pt x="310" y="534"/>
                  </a:lnTo>
                  <a:lnTo>
                    <a:pt x="369" y="549"/>
                  </a:lnTo>
                  <a:lnTo>
                    <a:pt x="437" y="568"/>
                  </a:lnTo>
                  <a:lnTo>
                    <a:pt x="516" y="581"/>
                  </a:lnTo>
                  <a:lnTo>
                    <a:pt x="595" y="577"/>
                  </a:lnTo>
                  <a:lnTo>
                    <a:pt x="668" y="553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1365" y="583"/>
              <a:ext cx="1413" cy="549"/>
            </a:xfrm>
            <a:custGeom>
              <a:avLst/>
              <a:gdLst/>
              <a:ahLst/>
              <a:cxnLst>
                <a:cxn ang="0">
                  <a:pos x="1412" y="548"/>
                </a:cxn>
                <a:cxn ang="0">
                  <a:pos x="1316" y="537"/>
                </a:cxn>
                <a:cxn ang="0">
                  <a:pos x="1237" y="524"/>
                </a:cxn>
                <a:cxn ang="0">
                  <a:pos x="1179" y="511"/>
                </a:cxn>
                <a:cxn ang="0">
                  <a:pos x="1118" y="499"/>
                </a:cxn>
                <a:cxn ang="0">
                  <a:pos x="1060" y="493"/>
                </a:cxn>
                <a:cxn ang="0">
                  <a:pos x="1000" y="495"/>
                </a:cxn>
                <a:cxn ang="0">
                  <a:pos x="939" y="499"/>
                </a:cxn>
                <a:cxn ang="0">
                  <a:pos x="894" y="482"/>
                </a:cxn>
                <a:cxn ang="0">
                  <a:pos x="962" y="440"/>
                </a:cxn>
                <a:cxn ang="0">
                  <a:pos x="1005" y="411"/>
                </a:cxn>
                <a:cxn ang="0">
                  <a:pos x="1043" y="381"/>
                </a:cxn>
                <a:cxn ang="0">
                  <a:pos x="1069" y="348"/>
                </a:cxn>
                <a:cxn ang="0">
                  <a:pos x="962" y="383"/>
                </a:cxn>
                <a:cxn ang="0">
                  <a:pos x="855" y="418"/>
                </a:cxn>
                <a:cxn ang="0">
                  <a:pos x="783" y="436"/>
                </a:cxn>
                <a:cxn ang="0">
                  <a:pos x="670" y="449"/>
                </a:cxn>
                <a:cxn ang="0">
                  <a:pos x="597" y="449"/>
                </a:cxn>
                <a:cxn ang="0">
                  <a:pos x="531" y="444"/>
                </a:cxn>
                <a:cxn ang="0">
                  <a:pos x="486" y="427"/>
                </a:cxn>
                <a:cxn ang="0">
                  <a:pos x="459" y="407"/>
                </a:cxn>
                <a:cxn ang="0">
                  <a:pos x="527" y="389"/>
                </a:cxn>
                <a:cxn ang="0">
                  <a:pos x="572" y="365"/>
                </a:cxn>
                <a:cxn ang="0">
                  <a:pos x="599" y="339"/>
                </a:cxn>
                <a:cxn ang="0">
                  <a:pos x="634" y="308"/>
                </a:cxn>
                <a:cxn ang="0">
                  <a:pos x="544" y="334"/>
                </a:cxn>
                <a:cxn ang="0">
                  <a:pos x="463" y="348"/>
                </a:cxn>
                <a:cxn ang="0">
                  <a:pos x="378" y="356"/>
                </a:cxn>
                <a:cxn ang="0">
                  <a:pos x="303" y="352"/>
                </a:cxn>
                <a:cxn ang="0">
                  <a:pos x="254" y="334"/>
                </a:cxn>
                <a:cxn ang="0">
                  <a:pos x="233" y="312"/>
                </a:cxn>
                <a:cxn ang="0">
                  <a:pos x="281" y="291"/>
                </a:cxn>
                <a:cxn ang="0">
                  <a:pos x="313" y="269"/>
                </a:cxn>
                <a:cxn ang="0">
                  <a:pos x="341" y="244"/>
                </a:cxn>
                <a:cxn ang="0">
                  <a:pos x="339" y="229"/>
                </a:cxn>
                <a:cxn ang="0">
                  <a:pos x="262" y="246"/>
                </a:cxn>
                <a:cxn ang="0">
                  <a:pos x="179" y="255"/>
                </a:cxn>
                <a:cxn ang="0">
                  <a:pos x="109" y="254"/>
                </a:cxn>
                <a:cxn ang="0">
                  <a:pos x="51" y="244"/>
                </a:cxn>
                <a:cxn ang="0">
                  <a:pos x="19" y="229"/>
                </a:cxn>
                <a:cxn ang="0">
                  <a:pos x="0" y="205"/>
                </a:cxn>
                <a:cxn ang="0">
                  <a:pos x="120" y="187"/>
                </a:cxn>
                <a:cxn ang="0">
                  <a:pos x="309" y="156"/>
                </a:cxn>
                <a:cxn ang="0">
                  <a:pos x="544" y="119"/>
                </a:cxn>
                <a:cxn ang="0">
                  <a:pos x="742" y="71"/>
                </a:cxn>
                <a:cxn ang="0">
                  <a:pos x="926" y="26"/>
                </a:cxn>
                <a:cxn ang="0">
                  <a:pos x="1020" y="9"/>
                </a:cxn>
                <a:cxn ang="0">
                  <a:pos x="1098" y="0"/>
                </a:cxn>
                <a:cxn ang="0">
                  <a:pos x="1165" y="2"/>
                </a:cxn>
                <a:cxn ang="0">
                  <a:pos x="1211" y="7"/>
                </a:cxn>
                <a:cxn ang="0">
                  <a:pos x="1254" y="27"/>
                </a:cxn>
                <a:cxn ang="0">
                  <a:pos x="1288" y="71"/>
                </a:cxn>
                <a:cxn ang="0">
                  <a:pos x="1301" y="117"/>
                </a:cxn>
                <a:cxn ang="0">
                  <a:pos x="1316" y="148"/>
                </a:cxn>
                <a:cxn ang="0">
                  <a:pos x="1344" y="159"/>
                </a:cxn>
                <a:cxn ang="0">
                  <a:pos x="1384" y="156"/>
                </a:cxn>
                <a:cxn ang="0">
                  <a:pos x="1412" y="145"/>
                </a:cxn>
                <a:cxn ang="0">
                  <a:pos x="1412" y="548"/>
                </a:cxn>
              </a:cxnLst>
              <a:rect l="0" t="0" r="r" b="b"/>
              <a:pathLst>
                <a:path w="1413" h="549">
                  <a:moveTo>
                    <a:pt x="1412" y="548"/>
                  </a:moveTo>
                  <a:lnTo>
                    <a:pt x="1316" y="537"/>
                  </a:lnTo>
                  <a:lnTo>
                    <a:pt x="1237" y="524"/>
                  </a:lnTo>
                  <a:lnTo>
                    <a:pt x="1179" y="511"/>
                  </a:lnTo>
                  <a:lnTo>
                    <a:pt x="1118" y="499"/>
                  </a:lnTo>
                  <a:lnTo>
                    <a:pt x="1060" y="493"/>
                  </a:lnTo>
                  <a:lnTo>
                    <a:pt x="1000" y="495"/>
                  </a:lnTo>
                  <a:lnTo>
                    <a:pt x="939" y="499"/>
                  </a:lnTo>
                  <a:lnTo>
                    <a:pt x="894" y="482"/>
                  </a:lnTo>
                  <a:lnTo>
                    <a:pt x="962" y="440"/>
                  </a:lnTo>
                  <a:lnTo>
                    <a:pt x="1005" y="411"/>
                  </a:lnTo>
                  <a:lnTo>
                    <a:pt x="1043" y="381"/>
                  </a:lnTo>
                  <a:lnTo>
                    <a:pt x="1069" y="348"/>
                  </a:lnTo>
                  <a:lnTo>
                    <a:pt x="962" y="383"/>
                  </a:lnTo>
                  <a:lnTo>
                    <a:pt x="855" y="418"/>
                  </a:lnTo>
                  <a:lnTo>
                    <a:pt x="783" y="436"/>
                  </a:lnTo>
                  <a:lnTo>
                    <a:pt x="670" y="449"/>
                  </a:lnTo>
                  <a:lnTo>
                    <a:pt x="597" y="449"/>
                  </a:lnTo>
                  <a:lnTo>
                    <a:pt x="531" y="444"/>
                  </a:lnTo>
                  <a:lnTo>
                    <a:pt x="486" y="427"/>
                  </a:lnTo>
                  <a:lnTo>
                    <a:pt x="459" y="407"/>
                  </a:lnTo>
                  <a:lnTo>
                    <a:pt x="527" y="389"/>
                  </a:lnTo>
                  <a:lnTo>
                    <a:pt x="572" y="365"/>
                  </a:lnTo>
                  <a:lnTo>
                    <a:pt x="599" y="339"/>
                  </a:lnTo>
                  <a:lnTo>
                    <a:pt x="634" y="308"/>
                  </a:lnTo>
                  <a:lnTo>
                    <a:pt x="544" y="334"/>
                  </a:lnTo>
                  <a:lnTo>
                    <a:pt x="463" y="348"/>
                  </a:lnTo>
                  <a:lnTo>
                    <a:pt x="378" y="356"/>
                  </a:lnTo>
                  <a:lnTo>
                    <a:pt x="303" y="352"/>
                  </a:lnTo>
                  <a:lnTo>
                    <a:pt x="254" y="334"/>
                  </a:lnTo>
                  <a:lnTo>
                    <a:pt x="233" y="312"/>
                  </a:lnTo>
                  <a:lnTo>
                    <a:pt x="281" y="291"/>
                  </a:lnTo>
                  <a:lnTo>
                    <a:pt x="313" y="269"/>
                  </a:lnTo>
                  <a:lnTo>
                    <a:pt x="341" y="244"/>
                  </a:lnTo>
                  <a:lnTo>
                    <a:pt x="339" y="229"/>
                  </a:lnTo>
                  <a:lnTo>
                    <a:pt x="262" y="246"/>
                  </a:lnTo>
                  <a:lnTo>
                    <a:pt x="179" y="255"/>
                  </a:lnTo>
                  <a:lnTo>
                    <a:pt x="109" y="254"/>
                  </a:lnTo>
                  <a:lnTo>
                    <a:pt x="51" y="244"/>
                  </a:lnTo>
                  <a:lnTo>
                    <a:pt x="19" y="229"/>
                  </a:lnTo>
                  <a:lnTo>
                    <a:pt x="0" y="205"/>
                  </a:lnTo>
                  <a:lnTo>
                    <a:pt x="120" y="187"/>
                  </a:lnTo>
                  <a:lnTo>
                    <a:pt x="309" y="156"/>
                  </a:lnTo>
                  <a:lnTo>
                    <a:pt x="544" y="119"/>
                  </a:lnTo>
                  <a:lnTo>
                    <a:pt x="742" y="71"/>
                  </a:lnTo>
                  <a:lnTo>
                    <a:pt x="926" y="26"/>
                  </a:lnTo>
                  <a:lnTo>
                    <a:pt x="1020" y="9"/>
                  </a:lnTo>
                  <a:lnTo>
                    <a:pt x="1098" y="0"/>
                  </a:lnTo>
                  <a:lnTo>
                    <a:pt x="1165" y="2"/>
                  </a:lnTo>
                  <a:lnTo>
                    <a:pt x="1211" y="7"/>
                  </a:lnTo>
                  <a:lnTo>
                    <a:pt x="1254" y="27"/>
                  </a:lnTo>
                  <a:lnTo>
                    <a:pt x="1288" y="71"/>
                  </a:lnTo>
                  <a:lnTo>
                    <a:pt x="1301" y="117"/>
                  </a:lnTo>
                  <a:lnTo>
                    <a:pt x="1316" y="148"/>
                  </a:lnTo>
                  <a:lnTo>
                    <a:pt x="1344" y="159"/>
                  </a:lnTo>
                  <a:lnTo>
                    <a:pt x="1384" y="156"/>
                  </a:lnTo>
                  <a:lnTo>
                    <a:pt x="1412" y="145"/>
                  </a:lnTo>
                  <a:lnTo>
                    <a:pt x="1412" y="548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2785" y="355"/>
              <a:ext cx="187" cy="198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auto">
            <a:xfrm>
              <a:off x="2976" y="583"/>
              <a:ext cx="1413" cy="549"/>
            </a:xfrm>
            <a:custGeom>
              <a:avLst/>
              <a:gdLst/>
              <a:ahLst/>
              <a:cxnLst>
                <a:cxn ang="0">
                  <a:pos x="0" y="548"/>
                </a:cxn>
                <a:cxn ang="0">
                  <a:pos x="96" y="537"/>
                </a:cxn>
                <a:cxn ang="0">
                  <a:pos x="175" y="524"/>
                </a:cxn>
                <a:cxn ang="0">
                  <a:pos x="233" y="511"/>
                </a:cxn>
                <a:cxn ang="0">
                  <a:pos x="294" y="499"/>
                </a:cxn>
                <a:cxn ang="0">
                  <a:pos x="352" y="493"/>
                </a:cxn>
                <a:cxn ang="0">
                  <a:pos x="412" y="495"/>
                </a:cxn>
                <a:cxn ang="0">
                  <a:pos x="473" y="499"/>
                </a:cxn>
                <a:cxn ang="0">
                  <a:pos x="518" y="482"/>
                </a:cxn>
                <a:cxn ang="0">
                  <a:pos x="450" y="440"/>
                </a:cxn>
                <a:cxn ang="0">
                  <a:pos x="407" y="411"/>
                </a:cxn>
                <a:cxn ang="0">
                  <a:pos x="369" y="381"/>
                </a:cxn>
                <a:cxn ang="0">
                  <a:pos x="343" y="348"/>
                </a:cxn>
                <a:cxn ang="0">
                  <a:pos x="450" y="383"/>
                </a:cxn>
                <a:cxn ang="0">
                  <a:pos x="557" y="418"/>
                </a:cxn>
                <a:cxn ang="0">
                  <a:pos x="629" y="436"/>
                </a:cxn>
                <a:cxn ang="0">
                  <a:pos x="742" y="449"/>
                </a:cxn>
                <a:cxn ang="0">
                  <a:pos x="815" y="449"/>
                </a:cxn>
                <a:cxn ang="0">
                  <a:pos x="881" y="444"/>
                </a:cxn>
                <a:cxn ang="0">
                  <a:pos x="926" y="427"/>
                </a:cxn>
                <a:cxn ang="0">
                  <a:pos x="953" y="407"/>
                </a:cxn>
                <a:cxn ang="0">
                  <a:pos x="885" y="389"/>
                </a:cxn>
                <a:cxn ang="0">
                  <a:pos x="840" y="365"/>
                </a:cxn>
                <a:cxn ang="0">
                  <a:pos x="809" y="339"/>
                </a:cxn>
                <a:cxn ang="0">
                  <a:pos x="778" y="308"/>
                </a:cxn>
                <a:cxn ang="0">
                  <a:pos x="868" y="334"/>
                </a:cxn>
                <a:cxn ang="0">
                  <a:pos x="949" y="348"/>
                </a:cxn>
                <a:cxn ang="0">
                  <a:pos x="1034" y="356"/>
                </a:cxn>
                <a:cxn ang="0">
                  <a:pos x="1109" y="352"/>
                </a:cxn>
                <a:cxn ang="0">
                  <a:pos x="1158" y="334"/>
                </a:cxn>
                <a:cxn ang="0">
                  <a:pos x="1179" y="312"/>
                </a:cxn>
                <a:cxn ang="0">
                  <a:pos x="1131" y="291"/>
                </a:cxn>
                <a:cxn ang="0">
                  <a:pos x="1099" y="269"/>
                </a:cxn>
                <a:cxn ang="0">
                  <a:pos x="1071" y="244"/>
                </a:cxn>
                <a:cxn ang="0">
                  <a:pos x="1073" y="229"/>
                </a:cxn>
                <a:cxn ang="0">
                  <a:pos x="1150" y="246"/>
                </a:cxn>
                <a:cxn ang="0">
                  <a:pos x="1233" y="255"/>
                </a:cxn>
                <a:cxn ang="0">
                  <a:pos x="1311" y="253"/>
                </a:cxn>
                <a:cxn ang="0">
                  <a:pos x="1361" y="244"/>
                </a:cxn>
                <a:cxn ang="0">
                  <a:pos x="1393" y="229"/>
                </a:cxn>
                <a:cxn ang="0">
                  <a:pos x="1412" y="205"/>
                </a:cxn>
                <a:cxn ang="0">
                  <a:pos x="1292" y="187"/>
                </a:cxn>
                <a:cxn ang="0">
                  <a:pos x="1087" y="158"/>
                </a:cxn>
                <a:cxn ang="0">
                  <a:pos x="868" y="119"/>
                </a:cxn>
                <a:cxn ang="0">
                  <a:pos x="670" y="71"/>
                </a:cxn>
                <a:cxn ang="0">
                  <a:pos x="486" y="26"/>
                </a:cxn>
                <a:cxn ang="0">
                  <a:pos x="392" y="9"/>
                </a:cxn>
                <a:cxn ang="0">
                  <a:pos x="314" y="0"/>
                </a:cxn>
                <a:cxn ang="0">
                  <a:pos x="247" y="2"/>
                </a:cxn>
                <a:cxn ang="0">
                  <a:pos x="201" y="7"/>
                </a:cxn>
                <a:cxn ang="0">
                  <a:pos x="158" y="27"/>
                </a:cxn>
                <a:cxn ang="0">
                  <a:pos x="124" y="71"/>
                </a:cxn>
                <a:cxn ang="0">
                  <a:pos x="111" y="117"/>
                </a:cxn>
                <a:cxn ang="0">
                  <a:pos x="96" y="148"/>
                </a:cxn>
                <a:cxn ang="0">
                  <a:pos x="68" y="159"/>
                </a:cxn>
                <a:cxn ang="0">
                  <a:pos x="28" y="156"/>
                </a:cxn>
                <a:cxn ang="0">
                  <a:pos x="0" y="145"/>
                </a:cxn>
                <a:cxn ang="0">
                  <a:pos x="0" y="548"/>
                </a:cxn>
              </a:cxnLst>
              <a:rect l="0" t="0" r="r" b="b"/>
              <a:pathLst>
                <a:path w="1413" h="549">
                  <a:moveTo>
                    <a:pt x="0" y="548"/>
                  </a:moveTo>
                  <a:lnTo>
                    <a:pt x="96" y="537"/>
                  </a:lnTo>
                  <a:lnTo>
                    <a:pt x="175" y="524"/>
                  </a:lnTo>
                  <a:lnTo>
                    <a:pt x="233" y="511"/>
                  </a:lnTo>
                  <a:lnTo>
                    <a:pt x="294" y="499"/>
                  </a:lnTo>
                  <a:lnTo>
                    <a:pt x="352" y="493"/>
                  </a:lnTo>
                  <a:lnTo>
                    <a:pt x="412" y="495"/>
                  </a:lnTo>
                  <a:lnTo>
                    <a:pt x="473" y="499"/>
                  </a:lnTo>
                  <a:lnTo>
                    <a:pt x="518" y="482"/>
                  </a:lnTo>
                  <a:lnTo>
                    <a:pt x="450" y="440"/>
                  </a:lnTo>
                  <a:lnTo>
                    <a:pt x="407" y="411"/>
                  </a:lnTo>
                  <a:lnTo>
                    <a:pt x="369" y="381"/>
                  </a:lnTo>
                  <a:lnTo>
                    <a:pt x="343" y="348"/>
                  </a:lnTo>
                  <a:lnTo>
                    <a:pt x="450" y="383"/>
                  </a:lnTo>
                  <a:lnTo>
                    <a:pt x="557" y="418"/>
                  </a:lnTo>
                  <a:lnTo>
                    <a:pt x="629" y="436"/>
                  </a:lnTo>
                  <a:lnTo>
                    <a:pt x="742" y="449"/>
                  </a:lnTo>
                  <a:lnTo>
                    <a:pt x="815" y="449"/>
                  </a:lnTo>
                  <a:lnTo>
                    <a:pt x="881" y="444"/>
                  </a:lnTo>
                  <a:lnTo>
                    <a:pt x="926" y="427"/>
                  </a:lnTo>
                  <a:lnTo>
                    <a:pt x="953" y="407"/>
                  </a:lnTo>
                  <a:lnTo>
                    <a:pt x="885" y="389"/>
                  </a:lnTo>
                  <a:lnTo>
                    <a:pt x="840" y="365"/>
                  </a:lnTo>
                  <a:lnTo>
                    <a:pt x="809" y="339"/>
                  </a:lnTo>
                  <a:lnTo>
                    <a:pt x="778" y="308"/>
                  </a:lnTo>
                  <a:lnTo>
                    <a:pt x="868" y="334"/>
                  </a:lnTo>
                  <a:lnTo>
                    <a:pt x="949" y="348"/>
                  </a:lnTo>
                  <a:lnTo>
                    <a:pt x="1034" y="356"/>
                  </a:lnTo>
                  <a:lnTo>
                    <a:pt x="1109" y="352"/>
                  </a:lnTo>
                  <a:lnTo>
                    <a:pt x="1158" y="334"/>
                  </a:lnTo>
                  <a:lnTo>
                    <a:pt x="1179" y="312"/>
                  </a:lnTo>
                  <a:lnTo>
                    <a:pt x="1131" y="291"/>
                  </a:lnTo>
                  <a:lnTo>
                    <a:pt x="1099" y="269"/>
                  </a:lnTo>
                  <a:lnTo>
                    <a:pt x="1071" y="244"/>
                  </a:lnTo>
                  <a:lnTo>
                    <a:pt x="1073" y="229"/>
                  </a:lnTo>
                  <a:lnTo>
                    <a:pt x="1150" y="246"/>
                  </a:lnTo>
                  <a:lnTo>
                    <a:pt x="1233" y="255"/>
                  </a:lnTo>
                  <a:lnTo>
                    <a:pt x="1311" y="253"/>
                  </a:lnTo>
                  <a:lnTo>
                    <a:pt x="1361" y="244"/>
                  </a:lnTo>
                  <a:lnTo>
                    <a:pt x="1393" y="229"/>
                  </a:lnTo>
                  <a:lnTo>
                    <a:pt x="1412" y="205"/>
                  </a:lnTo>
                  <a:lnTo>
                    <a:pt x="1292" y="187"/>
                  </a:lnTo>
                  <a:lnTo>
                    <a:pt x="1087" y="158"/>
                  </a:lnTo>
                  <a:lnTo>
                    <a:pt x="868" y="119"/>
                  </a:lnTo>
                  <a:lnTo>
                    <a:pt x="670" y="71"/>
                  </a:lnTo>
                  <a:lnTo>
                    <a:pt x="486" y="26"/>
                  </a:lnTo>
                  <a:lnTo>
                    <a:pt x="392" y="9"/>
                  </a:lnTo>
                  <a:lnTo>
                    <a:pt x="314" y="0"/>
                  </a:lnTo>
                  <a:lnTo>
                    <a:pt x="247" y="2"/>
                  </a:lnTo>
                  <a:lnTo>
                    <a:pt x="201" y="7"/>
                  </a:lnTo>
                  <a:lnTo>
                    <a:pt x="158" y="27"/>
                  </a:lnTo>
                  <a:lnTo>
                    <a:pt x="124" y="71"/>
                  </a:lnTo>
                  <a:lnTo>
                    <a:pt x="111" y="117"/>
                  </a:lnTo>
                  <a:lnTo>
                    <a:pt x="96" y="148"/>
                  </a:lnTo>
                  <a:lnTo>
                    <a:pt x="68" y="159"/>
                  </a:lnTo>
                  <a:lnTo>
                    <a:pt x="28" y="156"/>
                  </a:lnTo>
                  <a:lnTo>
                    <a:pt x="0" y="145"/>
                  </a:lnTo>
                  <a:lnTo>
                    <a:pt x="0" y="548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043" name="Rectangle 1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000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7" rIns="92075" bIns="460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Ana başlık stilini düzenlemek için tıklatın</a:t>
            </a: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7165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Ana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</a:p>
        </p:txBody>
      </p:sp>
      <p:sp>
        <p:nvSpPr>
          <p:cNvPr id="1045" name="Rectangle 2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7" rIns="92075" bIns="46037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tr-TR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7" rIns="92075" bIns="46037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F22CA738-BCCB-4328-BC56-55C161D2B7AB}" type="slidenum">
              <a:rPr lang="tr-TR"/>
              <a:pPr/>
              <a:t>‹#›</a:t>
            </a:fld>
            <a:endParaRPr lang="tr-TR"/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7" rIns="92075" bIns="46037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tr-T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Book Antiqua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&#287;l&#305;k.net/downsendromu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92696"/>
            <a:ext cx="7630616" cy="2736304"/>
          </a:xfrm>
        </p:spPr>
        <p:txBody>
          <a:bodyPr/>
          <a:lstStyle/>
          <a:p>
            <a:r>
              <a:rPr lang="tr-TR" dirty="0" smtClean="0">
                <a:solidFill>
                  <a:srgbClr val="FF0000"/>
                </a:solidFill>
                <a:cs typeface="Aharoni" pitchFamily="2" charset="-79"/>
              </a:rPr>
              <a:t>PEDİATRİK TÜMÖRLERDE RADYOTERAPİ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3861048"/>
            <a:ext cx="5976664" cy="2423120"/>
          </a:xfrm>
        </p:spPr>
        <p:txBody>
          <a:bodyPr/>
          <a:lstStyle/>
          <a:p>
            <a:r>
              <a:rPr lang="tr-T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PROF. DR</a:t>
            </a:r>
            <a:r>
              <a:rPr lang="tr-T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Ş. BİLGE </a:t>
            </a:r>
            <a:r>
              <a:rPr lang="tr-TR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GÜRSEL</a:t>
            </a:r>
          </a:p>
          <a:p>
            <a:endParaRPr lang="tr-TR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tr-TR" sz="2400" dirty="0" err="1" smtClean="0">
                <a:solidFill>
                  <a:srgbClr val="FFFF00"/>
                </a:solidFill>
              </a:rPr>
              <a:t>Ondokuz</a:t>
            </a:r>
            <a:r>
              <a:rPr lang="tr-TR" sz="2400" dirty="0" smtClean="0">
                <a:solidFill>
                  <a:srgbClr val="FFFF00"/>
                </a:solidFill>
              </a:rPr>
              <a:t> Mayıs Üniversitesi Tıp Fakültesi Radyasyon Onkolojisi Anabilim Dalı</a:t>
            </a:r>
            <a:endParaRPr lang="tr-TR" sz="2400" dirty="0">
              <a:solidFill>
                <a:srgbClr val="FFFF00"/>
              </a:solidFill>
            </a:endParaRPr>
          </a:p>
          <a:p>
            <a:endParaRPr lang="tr-TR" dirty="0"/>
          </a:p>
        </p:txBody>
      </p:sp>
      <p:pic>
        <p:nvPicPr>
          <p:cNvPr id="4" name="Picture 2" descr="logo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49080"/>
            <a:ext cx="1586830" cy="157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508104" y="400050"/>
            <a:ext cx="3456384" cy="5981278"/>
          </a:xfrm>
        </p:spPr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</a:rPr>
              <a:t>Pediatrik yaş grubunda tümör tedavisi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dirty="0" smtClean="0">
                <a:solidFill>
                  <a:srgbClr val="00B050"/>
                </a:solidFill>
              </a:rPr>
              <a:t>Farklar</a:t>
            </a:r>
            <a:br>
              <a:rPr lang="tr-TR" sz="3200" dirty="0" smtClean="0">
                <a:solidFill>
                  <a:srgbClr val="00B050"/>
                </a:solidFill>
              </a:rPr>
            </a:br>
            <a:r>
              <a:rPr lang="tr-TR" sz="3200" dirty="0" smtClean="0">
                <a:solidFill>
                  <a:srgbClr val="00B050"/>
                </a:solidFill>
              </a:rPr>
              <a:t/>
            </a:r>
            <a:br>
              <a:rPr lang="tr-TR" sz="3200" dirty="0" smtClean="0">
                <a:solidFill>
                  <a:srgbClr val="00B050"/>
                </a:solidFill>
              </a:rPr>
            </a:br>
            <a:r>
              <a:rPr lang="tr-TR" sz="3200" dirty="0" smtClean="0">
                <a:solidFill>
                  <a:srgbClr val="FFFF00"/>
                </a:solidFill>
              </a:rPr>
              <a:t>Beklentiler</a:t>
            </a:r>
            <a:r>
              <a:rPr lang="tr-TR" sz="3200" dirty="0" smtClean="0">
                <a:solidFill>
                  <a:srgbClr val="00B050"/>
                </a:solidFill>
              </a:rPr>
              <a:t/>
            </a:r>
            <a:br>
              <a:rPr lang="tr-TR" sz="3200" dirty="0" smtClean="0">
                <a:solidFill>
                  <a:srgbClr val="00B050"/>
                </a:solidFill>
              </a:rPr>
            </a:br>
            <a:r>
              <a:rPr lang="tr-TR" sz="3200" dirty="0" smtClean="0">
                <a:solidFill>
                  <a:srgbClr val="00B050"/>
                </a:solidFill>
              </a:rPr>
              <a:t/>
            </a:r>
            <a:br>
              <a:rPr lang="tr-TR" sz="3200" dirty="0" smtClean="0">
                <a:solidFill>
                  <a:srgbClr val="00B050"/>
                </a:solidFill>
              </a:rPr>
            </a:br>
            <a:r>
              <a:rPr lang="tr-TR" sz="3200" dirty="0" smtClean="0">
                <a:solidFill>
                  <a:srgbClr val="00B050"/>
                </a:solidFill>
              </a:rPr>
              <a:t>Gereklilikler</a:t>
            </a:r>
            <a:endParaRPr lang="tr-TR" sz="3200" dirty="0">
              <a:solidFill>
                <a:srgbClr val="00B050"/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1242"/>
            <a:ext cx="5112568" cy="68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PEDİATRİK TÜMÖR PROFİLİ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Lösemi</a:t>
            </a:r>
          </a:p>
          <a:p>
            <a:r>
              <a:rPr lang="tr-TR" dirty="0" err="1" smtClean="0"/>
              <a:t>Lenfoma</a:t>
            </a:r>
            <a:endParaRPr lang="tr-TR" dirty="0" smtClean="0"/>
          </a:p>
          <a:p>
            <a:r>
              <a:rPr lang="tr-TR" dirty="0" smtClean="0"/>
              <a:t>Beyin tümörleri</a:t>
            </a:r>
          </a:p>
          <a:p>
            <a:r>
              <a:rPr lang="tr-TR" dirty="0" err="1" smtClean="0"/>
              <a:t>Nöroblastom</a:t>
            </a:r>
            <a:endParaRPr lang="tr-TR" dirty="0" smtClean="0"/>
          </a:p>
          <a:p>
            <a:r>
              <a:rPr lang="tr-TR" dirty="0" err="1" smtClean="0"/>
              <a:t>Wilms</a:t>
            </a:r>
            <a:r>
              <a:rPr lang="tr-TR" dirty="0" smtClean="0"/>
              <a:t> </a:t>
            </a:r>
            <a:r>
              <a:rPr lang="tr-TR" dirty="0" err="1" smtClean="0"/>
              <a:t>tm</a:t>
            </a:r>
            <a:endParaRPr lang="tr-TR" dirty="0" smtClean="0"/>
          </a:p>
          <a:p>
            <a:r>
              <a:rPr lang="tr-TR" dirty="0" err="1" smtClean="0"/>
              <a:t>Ewing</a:t>
            </a:r>
            <a:r>
              <a:rPr lang="tr-TR" dirty="0" smtClean="0"/>
              <a:t>, </a:t>
            </a:r>
            <a:r>
              <a:rPr lang="tr-TR" dirty="0" err="1" smtClean="0"/>
              <a:t>osteosarkom</a:t>
            </a:r>
            <a:r>
              <a:rPr lang="tr-TR" dirty="0" smtClean="0"/>
              <a:t>, </a:t>
            </a:r>
            <a:r>
              <a:rPr lang="tr-TR" dirty="0" err="1" smtClean="0"/>
              <a:t>retinoblastom</a:t>
            </a:r>
            <a:r>
              <a:rPr lang="tr-TR" dirty="0" smtClean="0"/>
              <a:t>…</a:t>
            </a: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LÖSEMİ</a:t>
            </a:r>
          </a:p>
          <a:p>
            <a:pPr marL="457200" lvl="1" indent="0">
              <a:buNone/>
            </a:pPr>
            <a:r>
              <a:rPr lang="tr-TR" sz="18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Löseminin 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nedenleri arasında bazı faktörler gösterilse de henüz tam olarak nedeni bilinmemektedir. Tek yumurta ikizlerinde, </a:t>
            </a: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  <a:hlinkClick r:id="rId2"/>
              </a:rPr>
              <a:t>Down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  <a:hlinkClick r:id="rId2"/>
              </a:rPr>
              <a:t> </a:t>
            </a: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  <a:hlinkClick r:id="rId2"/>
              </a:rPr>
              <a:t>senromlularda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, </a:t>
            </a: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fanconi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 anemisi olanlarda görülmesi, hastalıkta genetik faktörlerin, </a:t>
            </a: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  <a:hlinkClick r:id="rId2"/>
              </a:rPr>
              <a:t>kromozom</a:t>
            </a: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anormalliklerin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 rol oynadığını göstermektedir. Ayrıca iyonize radyasyona, benzen ve </a:t>
            </a: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alkilleyici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/>
              </a:rPr>
              <a:t> ajanlar gibi kimyasal maddelere maruz kalanlarda görülme riski artmıştır. </a:t>
            </a:r>
            <a:endParaRPr lang="tr-TR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tr-TR" dirty="0" smtClean="0"/>
          </a:p>
          <a:p>
            <a:r>
              <a:rPr lang="tr-TR" dirty="0" smtClean="0">
                <a:solidFill>
                  <a:srgbClr val="FF0000"/>
                </a:solidFill>
              </a:rPr>
              <a:t>LENFOMA</a:t>
            </a:r>
          </a:p>
          <a:p>
            <a:pPr lvl="1"/>
            <a:r>
              <a:rPr lang="tr-TR" dirty="0" err="1" smtClean="0"/>
              <a:t>Hodgkin</a:t>
            </a:r>
            <a:r>
              <a:rPr lang="tr-TR" dirty="0" smtClean="0"/>
              <a:t> </a:t>
            </a:r>
            <a:r>
              <a:rPr lang="tr-TR" dirty="0" err="1" smtClean="0"/>
              <a:t>lenfoma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4146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6" name="Picture 4" descr="Image-033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2656"/>
            <a:ext cx="8532440" cy="639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07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054550"/>
            <a:ext cx="7948322" cy="4894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4679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tr-TR" b="1" dirty="0" smtClean="0">
                <a:solidFill>
                  <a:srgbClr val="70F12F"/>
                </a:solidFill>
                <a:latin typeface="Baskerville Old Face" pitchFamily="18" charset="0"/>
              </a:rPr>
              <a:t>ÇOCUKLUK ÇAĞI TÜMÖRLERİ</a:t>
            </a:r>
            <a:endParaRPr lang="tr-TR" b="1" dirty="0">
              <a:solidFill>
                <a:srgbClr val="70F12F"/>
              </a:solidFill>
              <a:latin typeface="Baskerville Old Face" pitchFamily="18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39552" y="2206422"/>
            <a:ext cx="7948364" cy="3579849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bg1"/>
                </a:solidFill>
                <a:cs typeface="Aharoni" pitchFamily="2" charset="-79"/>
              </a:rPr>
              <a:t>Çocukluk çağı tümörleri görülme sıklığı</a:t>
            </a:r>
          </a:p>
          <a:p>
            <a:pPr>
              <a:buFont typeface="Arial" pitchFamily="34" charset="0"/>
              <a:buChar char="•"/>
            </a:pPr>
            <a:endParaRPr lang="tr-TR" sz="2400" dirty="0" smtClean="0">
              <a:solidFill>
                <a:schemeClr val="bg1"/>
              </a:solidFill>
              <a:cs typeface="Aharoni" pitchFamily="2" charset="-79"/>
            </a:endParaRPr>
          </a:p>
          <a:p>
            <a:pPr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bg1"/>
                </a:solidFill>
                <a:cs typeface="Aharoni" pitchFamily="2" charset="-79"/>
              </a:rPr>
              <a:t>Tedavi sonuçlarının iyileşmesi</a:t>
            </a:r>
          </a:p>
          <a:p>
            <a:pPr>
              <a:buFont typeface="Arial" pitchFamily="34" charset="0"/>
              <a:buChar char="•"/>
            </a:pPr>
            <a:endParaRPr lang="tr-TR" sz="2400" dirty="0">
              <a:solidFill>
                <a:schemeClr val="bg1"/>
              </a:solidFill>
              <a:cs typeface="Aharoni" pitchFamily="2" charset="-79"/>
            </a:endParaRPr>
          </a:p>
          <a:p>
            <a:pPr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bg1"/>
                </a:solidFill>
                <a:cs typeface="Aharoni" pitchFamily="2" charset="-79"/>
              </a:rPr>
              <a:t>Rölatif  </a:t>
            </a:r>
            <a:r>
              <a:rPr lang="tr-TR" sz="2400" dirty="0" err="1" smtClean="0">
                <a:solidFill>
                  <a:schemeClr val="bg1"/>
                </a:solidFill>
                <a:cs typeface="Aharoni" pitchFamily="2" charset="-79"/>
              </a:rPr>
              <a:t>sağkalım</a:t>
            </a:r>
            <a:r>
              <a:rPr lang="tr-TR" sz="2400" dirty="0" smtClean="0">
                <a:solidFill>
                  <a:schemeClr val="bg1"/>
                </a:solidFill>
                <a:cs typeface="Aharoni" pitchFamily="2" charset="-79"/>
              </a:rPr>
              <a:t> artışı</a:t>
            </a:r>
          </a:p>
          <a:p>
            <a:pPr>
              <a:buFont typeface="Arial" pitchFamily="34" charset="0"/>
              <a:buChar char="•"/>
            </a:pPr>
            <a:endParaRPr lang="tr-TR" sz="2400" dirty="0">
              <a:solidFill>
                <a:schemeClr val="bg1"/>
              </a:solidFill>
              <a:cs typeface="Aharoni" pitchFamily="2" charset="-79"/>
            </a:endParaRPr>
          </a:p>
          <a:p>
            <a:pPr>
              <a:buFont typeface="Arial" pitchFamily="34" charset="0"/>
              <a:buChar char="•"/>
            </a:pPr>
            <a:r>
              <a:rPr lang="tr-TR" sz="2400" dirty="0" err="1" smtClean="0">
                <a:solidFill>
                  <a:schemeClr val="bg1"/>
                </a:solidFill>
                <a:cs typeface="Aharoni" pitchFamily="2" charset="-79"/>
              </a:rPr>
              <a:t>Morbidite</a:t>
            </a:r>
            <a:r>
              <a:rPr lang="tr-TR" sz="2400" dirty="0" smtClean="0">
                <a:solidFill>
                  <a:schemeClr val="bg1"/>
                </a:solidFill>
                <a:cs typeface="Aharoni" pitchFamily="2" charset="-79"/>
              </a:rPr>
              <a:t> artışı</a:t>
            </a:r>
          </a:p>
          <a:p>
            <a:pPr>
              <a:buFont typeface="Arial" pitchFamily="34" charset="0"/>
              <a:buChar char="•"/>
            </a:pPr>
            <a:endParaRPr lang="tr-TR" sz="24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>
              <a:buFont typeface="Arial" pitchFamily="34" charset="0"/>
              <a:buChar char="•"/>
            </a:pPr>
            <a:endParaRPr lang="tr-TR" sz="24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</p:txBody>
      </p:sp>
      <p:sp>
        <p:nvSpPr>
          <p:cNvPr id="7" name="Gülen Yüz 6"/>
          <p:cNvSpPr/>
          <p:nvPr/>
        </p:nvSpPr>
        <p:spPr>
          <a:xfrm>
            <a:off x="5558408" y="2999076"/>
            <a:ext cx="698376" cy="648072"/>
          </a:xfrm>
          <a:prstGeom prst="smileyFace">
            <a:avLst/>
          </a:prstGeom>
          <a:solidFill>
            <a:srgbClr val="70F1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Gülen Yüz 8"/>
          <p:cNvSpPr/>
          <p:nvPr/>
        </p:nvSpPr>
        <p:spPr>
          <a:xfrm>
            <a:off x="4067944" y="4094827"/>
            <a:ext cx="698376" cy="648072"/>
          </a:xfrm>
          <a:prstGeom prst="smileyFace">
            <a:avLst/>
          </a:prstGeom>
          <a:solidFill>
            <a:srgbClr val="70F1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Şimşek İşareti 7"/>
          <p:cNvSpPr/>
          <p:nvPr/>
        </p:nvSpPr>
        <p:spPr>
          <a:xfrm rot="15951973">
            <a:off x="3401604" y="4654955"/>
            <a:ext cx="886238" cy="9144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Şimşek İşareti 10"/>
          <p:cNvSpPr/>
          <p:nvPr/>
        </p:nvSpPr>
        <p:spPr>
          <a:xfrm rot="15874461">
            <a:off x="6308625" y="2155284"/>
            <a:ext cx="1000473" cy="906225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285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6"/>
            <a:ext cx="8043977" cy="482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190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9</a:t>
            </a:r>
            <a:endParaRPr lang="tr-TR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71400"/>
            <a:ext cx="9144000" cy="6622491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</p:pic>
      <p:sp>
        <p:nvSpPr>
          <p:cNvPr id="4" name="3 Dikdörtgen"/>
          <p:cNvSpPr/>
          <p:nvPr/>
        </p:nvSpPr>
        <p:spPr>
          <a:xfrm>
            <a:off x="0" y="-171400"/>
            <a:ext cx="9144000" cy="79208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PEDİATRİK KANSERLİ OLGULARDA SAĞKALIM ORANLARI</a:t>
            </a:r>
            <a:endParaRPr lang="tr-TR" sz="28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8"/>
          <a:stretch>
            <a:fillRect/>
          </a:stretch>
        </p:blipFill>
        <p:spPr bwMode="auto">
          <a:xfrm>
            <a:off x="0" y="752475"/>
            <a:ext cx="9144000" cy="548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NÖROBLASTOM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23528" y="1484784"/>
            <a:ext cx="8424936" cy="4401666"/>
          </a:xfrm>
        </p:spPr>
        <p:txBody>
          <a:bodyPr/>
          <a:lstStyle/>
          <a:p>
            <a:r>
              <a:rPr lang="tr-TR" sz="2800" dirty="0" err="1" smtClean="0"/>
              <a:t>Nöroblastom</a:t>
            </a:r>
            <a:r>
              <a:rPr lang="tr-TR" sz="2800" dirty="0" smtClean="0"/>
              <a:t> muammalı bir </a:t>
            </a:r>
            <a:r>
              <a:rPr lang="tr-TR" sz="2800" dirty="0" err="1" smtClean="0"/>
              <a:t>neoplazidir</a:t>
            </a:r>
            <a:r>
              <a:rPr lang="tr-TR" sz="2800" dirty="0" smtClean="0"/>
              <a:t>. Moleküler biyolojik çalışmaların en çok yapıldığı tümörlerden biridir.</a:t>
            </a:r>
          </a:p>
          <a:p>
            <a:r>
              <a:rPr lang="tr-TR" sz="2800" dirty="0" smtClean="0"/>
              <a:t>Beyin tümörleri ve lösemiden sonra 3. en sık çocukluk çağı tümörüdür. Geniş serilerde tarama testlerinin avantajı olmadığı saptanmış. İlk bulgu genellikle ağrı olabilir.  </a:t>
            </a:r>
            <a:r>
              <a:rPr lang="tr-TR" sz="2800" dirty="0" err="1" smtClean="0"/>
              <a:t>Metastatik</a:t>
            </a:r>
            <a:r>
              <a:rPr lang="tr-TR" sz="2800" dirty="0" smtClean="0"/>
              <a:t> </a:t>
            </a:r>
            <a:r>
              <a:rPr lang="tr-TR" sz="2800" dirty="0" err="1" smtClean="0"/>
              <a:t>nöroblastomda</a:t>
            </a:r>
            <a:r>
              <a:rPr lang="tr-TR" sz="2800" dirty="0" smtClean="0"/>
              <a:t> VMA/HVA oranının 1.5 üzeri olması daha iyi </a:t>
            </a:r>
            <a:r>
              <a:rPr lang="tr-TR" sz="2800" dirty="0" err="1" smtClean="0"/>
              <a:t>prognoz</a:t>
            </a:r>
            <a:r>
              <a:rPr lang="tr-TR" sz="2800" dirty="0" smtClean="0"/>
              <a:t> ile ilişkilidir. </a:t>
            </a:r>
            <a:endParaRPr lang="tr-TR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WİLMS TÜMÖRÜ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Wilm’s</a:t>
            </a:r>
            <a:r>
              <a:rPr lang="tr-TR" dirty="0" smtClean="0"/>
              <a:t> Tümörü (WT, </a:t>
            </a:r>
            <a:r>
              <a:rPr lang="tr-TR" dirty="0" err="1" smtClean="0"/>
              <a:t>nefroblastom</a:t>
            </a:r>
            <a:r>
              <a:rPr lang="tr-TR" dirty="0" smtClean="0"/>
              <a:t>) yüksek oranda </a:t>
            </a:r>
            <a:r>
              <a:rPr lang="tr-TR" dirty="0" err="1" smtClean="0"/>
              <a:t>küratif</a:t>
            </a:r>
            <a:r>
              <a:rPr lang="tr-TR" dirty="0" smtClean="0"/>
              <a:t> bir tümördür (%90). 11p13 kromozomundaki tümör </a:t>
            </a:r>
            <a:r>
              <a:rPr lang="tr-TR" dirty="0" err="1" smtClean="0"/>
              <a:t>supresör</a:t>
            </a:r>
            <a:r>
              <a:rPr lang="tr-TR" dirty="0" smtClean="0"/>
              <a:t> gen WT1 WAGR (</a:t>
            </a:r>
            <a:r>
              <a:rPr lang="tr-TR" dirty="0" err="1" smtClean="0"/>
              <a:t>wilms</a:t>
            </a:r>
            <a:r>
              <a:rPr lang="tr-TR" dirty="0" smtClean="0"/>
              <a:t>. </a:t>
            </a:r>
            <a:r>
              <a:rPr lang="tr-TR" dirty="0" err="1" smtClean="0"/>
              <a:t>Aniridi</a:t>
            </a:r>
            <a:r>
              <a:rPr lang="tr-TR" dirty="0" smtClean="0"/>
              <a:t>, </a:t>
            </a:r>
            <a:r>
              <a:rPr lang="tr-TR" dirty="0" err="1" smtClean="0"/>
              <a:t>genitoüriner</a:t>
            </a:r>
            <a:r>
              <a:rPr lang="tr-TR" dirty="0" smtClean="0"/>
              <a:t> </a:t>
            </a:r>
            <a:r>
              <a:rPr lang="tr-TR" dirty="0" err="1" smtClean="0"/>
              <a:t>malformasyon</a:t>
            </a:r>
            <a:r>
              <a:rPr lang="tr-TR" dirty="0" smtClean="0"/>
              <a:t>, </a:t>
            </a:r>
            <a:r>
              <a:rPr lang="tr-TR" dirty="0" err="1" smtClean="0"/>
              <a:t>mental</a:t>
            </a:r>
            <a:r>
              <a:rPr lang="tr-TR" dirty="0" smtClean="0"/>
              <a:t> </a:t>
            </a:r>
            <a:r>
              <a:rPr lang="tr-TR" dirty="0" err="1" smtClean="0"/>
              <a:t>retardasyon</a:t>
            </a:r>
            <a:r>
              <a:rPr lang="tr-TR" dirty="0" smtClean="0"/>
              <a:t>) sendromunda izole edilmiş. </a:t>
            </a:r>
            <a:r>
              <a:rPr lang="tr-TR" dirty="0" err="1" smtClean="0"/>
              <a:t>Danny’s</a:t>
            </a:r>
            <a:r>
              <a:rPr lang="tr-TR" dirty="0" smtClean="0"/>
              <a:t> </a:t>
            </a:r>
            <a:r>
              <a:rPr lang="tr-TR" dirty="0" err="1" smtClean="0"/>
              <a:t>Drash</a:t>
            </a:r>
            <a:r>
              <a:rPr lang="tr-TR" dirty="0" smtClean="0"/>
              <a:t> ve </a:t>
            </a:r>
            <a:r>
              <a:rPr lang="tr-TR" dirty="0" err="1" smtClean="0"/>
              <a:t>Backwith</a:t>
            </a:r>
            <a:r>
              <a:rPr lang="tr-TR" dirty="0" smtClean="0"/>
              <a:t> </a:t>
            </a:r>
            <a:r>
              <a:rPr lang="tr-TR" dirty="0" err="1" smtClean="0"/>
              <a:t>Wideman</a:t>
            </a:r>
            <a:r>
              <a:rPr lang="tr-TR" dirty="0" smtClean="0"/>
              <a:t> </a:t>
            </a:r>
            <a:r>
              <a:rPr lang="tr-TR" dirty="0" err="1" smtClean="0"/>
              <a:t>snd</a:t>
            </a:r>
            <a:r>
              <a:rPr lang="tr-TR" dirty="0" smtClean="0"/>
              <a:t>. İle ilişkili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RABDOMYOSARKOM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 smtClean="0"/>
              <a:t>İskelet kasının </a:t>
            </a:r>
            <a:r>
              <a:rPr lang="tr-TR" sz="2400" dirty="0" err="1" smtClean="0"/>
              <a:t>myotom</a:t>
            </a:r>
            <a:r>
              <a:rPr lang="tr-TR" sz="2400" dirty="0" smtClean="0"/>
              <a:t> </a:t>
            </a:r>
            <a:r>
              <a:rPr lang="tr-TR" sz="2400" dirty="0" err="1" smtClean="0"/>
              <a:t>derivelerinden</a:t>
            </a:r>
            <a:r>
              <a:rPr lang="tr-TR" sz="2400" dirty="0" smtClean="0"/>
              <a:t> veya </a:t>
            </a:r>
            <a:r>
              <a:rPr lang="tr-TR" sz="2400" dirty="0" err="1" smtClean="0"/>
              <a:t>andiferensiye</a:t>
            </a:r>
            <a:r>
              <a:rPr lang="tr-TR" sz="2400" dirty="0" smtClean="0"/>
              <a:t> </a:t>
            </a:r>
            <a:r>
              <a:rPr lang="tr-TR" sz="2400" dirty="0" err="1" smtClean="0"/>
              <a:t>ansegmente</a:t>
            </a:r>
            <a:r>
              <a:rPr lang="tr-TR" sz="2400" dirty="0" smtClean="0"/>
              <a:t> mezodermden köken alan yumuşak dokunun yüksek </a:t>
            </a:r>
            <a:r>
              <a:rPr lang="tr-TR" sz="2400" dirty="0" err="1" smtClean="0"/>
              <a:t>malign</a:t>
            </a:r>
            <a:r>
              <a:rPr lang="tr-TR" sz="2400" dirty="0" smtClean="0"/>
              <a:t> sarkomlarıdır. Vücudun her yerinde görülebilmekle birlikte, en sık göz %9, baş boyun %7, </a:t>
            </a:r>
            <a:r>
              <a:rPr lang="tr-TR" sz="2400" dirty="0" err="1" smtClean="0"/>
              <a:t>parameningeal</a:t>
            </a:r>
            <a:r>
              <a:rPr lang="tr-TR" sz="2400" dirty="0" smtClean="0"/>
              <a:t> alan %25 , </a:t>
            </a:r>
            <a:r>
              <a:rPr lang="tr-TR" sz="2400" dirty="0" err="1" smtClean="0"/>
              <a:t>genitoüriner</a:t>
            </a:r>
            <a:r>
              <a:rPr lang="tr-TR" sz="2400" dirty="0" smtClean="0"/>
              <a:t> bölge %31 ve </a:t>
            </a:r>
            <a:r>
              <a:rPr lang="tr-TR" sz="2400" dirty="0" err="1" smtClean="0"/>
              <a:t>ekstremitelerde</a:t>
            </a:r>
            <a:r>
              <a:rPr lang="tr-TR" sz="2400" dirty="0" smtClean="0"/>
              <a:t> %13 gözlenir.</a:t>
            </a:r>
          </a:p>
          <a:p>
            <a:r>
              <a:rPr lang="tr-TR" sz="2400" dirty="0" smtClean="0"/>
              <a:t>Birçok </a:t>
            </a:r>
            <a:r>
              <a:rPr lang="tr-TR" sz="2400" dirty="0" err="1" smtClean="0"/>
              <a:t>konjenital</a:t>
            </a:r>
            <a:r>
              <a:rPr lang="tr-TR" sz="2400" dirty="0" smtClean="0"/>
              <a:t> bozuklukla ilişkili olduğu raporlanmıştır. Bunlar </a:t>
            </a:r>
            <a:r>
              <a:rPr lang="tr-TR" sz="2400" dirty="0" err="1" smtClean="0"/>
              <a:t>pulmoner</a:t>
            </a:r>
            <a:r>
              <a:rPr lang="tr-TR" sz="2400" dirty="0" smtClean="0"/>
              <a:t> kistler, </a:t>
            </a:r>
            <a:r>
              <a:rPr lang="tr-TR" sz="2400" dirty="0" err="1" smtClean="0"/>
              <a:t>Gorlinin</a:t>
            </a:r>
            <a:r>
              <a:rPr lang="tr-TR" sz="2400" dirty="0" smtClean="0"/>
              <a:t> bazal hücreli </a:t>
            </a:r>
            <a:r>
              <a:rPr lang="tr-TR" sz="2400" dirty="0" err="1" smtClean="0"/>
              <a:t>nevus</a:t>
            </a:r>
            <a:r>
              <a:rPr lang="tr-TR" sz="2400" dirty="0" smtClean="0"/>
              <a:t> sendromu ve </a:t>
            </a:r>
            <a:r>
              <a:rPr lang="tr-TR" sz="2400" dirty="0" err="1" smtClean="0"/>
              <a:t>nörofibromatozistir</a:t>
            </a:r>
            <a:r>
              <a:rPr lang="tr-TR" sz="2400" dirty="0" smtClean="0"/>
              <a:t>. </a:t>
            </a:r>
            <a:endParaRPr lang="tr-TR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RABDOMYOSARKOM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 smtClean="0"/>
              <a:t>Bu çocukların yakınlarında meme kanseri riski de daha fazla. </a:t>
            </a:r>
            <a:r>
              <a:rPr lang="tr-TR" sz="2400" dirty="0" err="1" smtClean="0"/>
              <a:t>Multipl</a:t>
            </a:r>
            <a:r>
              <a:rPr lang="tr-TR" sz="2400" dirty="0" smtClean="0"/>
              <a:t> tümörde olabilir. </a:t>
            </a:r>
            <a:r>
              <a:rPr lang="tr-TR" sz="2400" dirty="0" err="1" smtClean="0"/>
              <a:t>Adrenokortikal</a:t>
            </a:r>
            <a:r>
              <a:rPr lang="tr-TR" sz="2400" dirty="0" smtClean="0"/>
              <a:t> </a:t>
            </a:r>
            <a:r>
              <a:rPr lang="tr-TR" sz="2400" dirty="0" err="1" smtClean="0"/>
              <a:t>karsinom</a:t>
            </a:r>
            <a:r>
              <a:rPr lang="tr-TR" sz="2400" dirty="0" smtClean="0"/>
              <a:t>, beyin tümörleri , akciğer kanseri, meme kanseri ve diğer sarkomlar. Buna </a:t>
            </a:r>
            <a:r>
              <a:rPr lang="tr-TR" sz="2400" dirty="0" err="1" smtClean="0"/>
              <a:t>Li</a:t>
            </a:r>
            <a:r>
              <a:rPr lang="tr-TR" sz="2400" dirty="0" smtClean="0"/>
              <a:t>-</a:t>
            </a:r>
            <a:r>
              <a:rPr lang="tr-TR" sz="2400" dirty="0" err="1" smtClean="0"/>
              <a:t>Fraumeni</a:t>
            </a:r>
            <a:r>
              <a:rPr lang="tr-TR" sz="2400" dirty="0" smtClean="0"/>
              <a:t> sendromu denir.</a:t>
            </a:r>
          </a:p>
          <a:p>
            <a:endParaRPr lang="tr-TR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RABDOMYOSARKOM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 err="1" smtClean="0"/>
              <a:t>Prognostik</a:t>
            </a:r>
            <a:r>
              <a:rPr lang="tr-TR" sz="2400" dirty="0" smtClean="0"/>
              <a:t> Faktörler ve Tedavi</a:t>
            </a:r>
          </a:p>
          <a:p>
            <a:r>
              <a:rPr lang="tr-TR" sz="2400" dirty="0" smtClean="0"/>
              <a:t>Göz: İyi </a:t>
            </a:r>
            <a:r>
              <a:rPr lang="tr-TR" sz="2400" dirty="0" err="1" smtClean="0"/>
              <a:t>prognostik</a:t>
            </a:r>
            <a:r>
              <a:rPr lang="tr-TR" sz="2400" dirty="0" smtClean="0"/>
              <a:t> yerlerden. Lenfatik yayılım az. Tedavi RT+KT.</a:t>
            </a:r>
          </a:p>
          <a:p>
            <a:r>
              <a:rPr lang="tr-TR" sz="2400" dirty="0" err="1" smtClean="0"/>
              <a:t>Parameningeal</a:t>
            </a:r>
            <a:r>
              <a:rPr lang="tr-TR" sz="2400" dirty="0" smtClean="0"/>
              <a:t> bölgeler: %35 inde daha sonra </a:t>
            </a:r>
            <a:r>
              <a:rPr lang="tr-TR" sz="2400" dirty="0" err="1" smtClean="0"/>
              <a:t>meningeal</a:t>
            </a:r>
            <a:r>
              <a:rPr lang="tr-TR" sz="2400" dirty="0" smtClean="0"/>
              <a:t> uzanım gözlenir. </a:t>
            </a:r>
            <a:r>
              <a:rPr lang="tr-TR" sz="2400" dirty="0" err="1" smtClean="0"/>
              <a:t>Primer</a:t>
            </a:r>
            <a:r>
              <a:rPr lang="tr-TR" sz="2400" dirty="0" smtClean="0"/>
              <a:t> tümörün ve ilgili </a:t>
            </a:r>
            <a:r>
              <a:rPr lang="tr-TR" sz="2400" dirty="0" err="1" smtClean="0"/>
              <a:t>meninkslerin</a:t>
            </a:r>
            <a:r>
              <a:rPr lang="tr-TR" sz="2400" dirty="0" smtClean="0"/>
              <a:t> RT ile tedavisi gerekli. </a:t>
            </a:r>
            <a:r>
              <a:rPr lang="tr-TR" sz="2400" dirty="0" err="1" smtClean="0"/>
              <a:t>Meninks</a:t>
            </a:r>
            <a:r>
              <a:rPr lang="tr-TR" sz="2400" dirty="0" smtClean="0"/>
              <a:t> uzanımı olanlar tüm </a:t>
            </a:r>
            <a:r>
              <a:rPr lang="tr-TR" sz="2400" dirty="0" err="1" smtClean="0"/>
              <a:t>nöroaksis</a:t>
            </a:r>
            <a:r>
              <a:rPr lang="tr-TR" sz="2400" dirty="0" smtClean="0"/>
              <a:t> boyunca tedavi edilmeli. Yani </a:t>
            </a:r>
            <a:r>
              <a:rPr lang="tr-TR" sz="2400" dirty="0" err="1" smtClean="0"/>
              <a:t>kraniospinal</a:t>
            </a:r>
            <a:r>
              <a:rPr lang="tr-TR" sz="2400" dirty="0" smtClean="0"/>
              <a:t> radyoterapi. Gerisi lokal.</a:t>
            </a:r>
          </a:p>
          <a:p>
            <a:r>
              <a:rPr lang="tr-TR" sz="2400" dirty="0" err="1" smtClean="0"/>
              <a:t>Nonparameningeal</a:t>
            </a:r>
            <a:r>
              <a:rPr lang="tr-TR" sz="2400" dirty="0" smtClean="0"/>
              <a:t> bölgeler: Bu bölgelerin </a:t>
            </a:r>
            <a:r>
              <a:rPr lang="tr-TR" sz="2400" dirty="0" err="1" smtClean="0"/>
              <a:t>gross</a:t>
            </a:r>
            <a:r>
              <a:rPr lang="tr-TR" sz="2400" dirty="0" smtClean="0"/>
              <a:t> total </a:t>
            </a:r>
            <a:r>
              <a:rPr lang="tr-TR" sz="2400" dirty="0" err="1" smtClean="0"/>
              <a:t>eksizyonu</a:t>
            </a:r>
            <a:r>
              <a:rPr lang="tr-TR" sz="2400" dirty="0" smtClean="0"/>
              <a:t> sıklıkla mümkün olur. </a:t>
            </a:r>
            <a:r>
              <a:rPr lang="tr-TR" sz="2400" dirty="0" err="1" smtClean="0"/>
              <a:t>Rejyonal</a:t>
            </a:r>
            <a:r>
              <a:rPr lang="tr-TR" sz="2400" dirty="0" smtClean="0"/>
              <a:t> lenf </a:t>
            </a:r>
            <a:r>
              <a:rPr lang="tr-TR" sz="2400" dirty="0" err="1" smtClean="0"/>
              <a:t>nodları</a:t>
            </a:r>
            <a:r>
              <a:rPr lang="tr-TR" sz="2400" dirty="0" smtClean="0"/>
              <a:t> tutulum olmadıkça rutinde ışınlanmaz.</a:t>
            </a:r>
            <a:endParaRPr lang="tr-TR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RABDOMYOSARKOM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51520" y="1412776"/>
            <a:ext cx="8206680" cy="4473674"/>
          </a:xfrm>
        </p:spPr>
        <p:txBody>
          <a:bodyPr/>
          <a:lstStyle/>
          <a:p>
            <a:r>
              <a:rPr lang="tr-TR" sz="2000" dirty="0" err="1" smtClean="0"/>
              <a:t>Pelvis</a:t>
            </a:r>
            <a:r>
              <a:rPr lang="tr-TR" sz="2000" dirty="0" smtClean="0"/>
              <a:t> bölgelere göre incelenir.</a:t>
            </a:r>
          </a:p>
          <a:p>
            <a:r>
              <a:rPr lang="tr-TR" sz="2000" dirty="0" smtClean="0"/>
              <a:t>	Mesane ve prostat tümörleri Rutin erken radyoterapi ve kemoterapi.</a:t>
            </a:r>
          </a:p>
          <a:p>
            <a:r>
              <a:rPr lang="tr-TR" sz="2000" dirty="0" smtClean="0"/>
              <a:t>	</a:t>
            </a:r>
            <a:r>
              <a:rPr lang="tr-TR" sz="2000" dirty="0" err="1" smtClean="0"/>
              <a:t>Paratestiküler</a:t>
            </a:r>
            <a:r>
              <a:rPr lang="tr-TR" sz="2000" dirty="0" smtClean="0"/>
              <a:t>:</a:t>
            </a:r>
          </a:p>
          <a:p>
            <a:r>
              <a:rPr lang="tr-TR" sz="2000" dirty="0" smtClean="0"/>
              <a:t>	Jinekolojik: En çok </a:t>
            </a:r>
            <a:r>
              <a:rPr lang="tr-TR" sz="2000" dirty="0" err="1" smtClean="0"/>
              <a:t>vajen</a:t>
            </a:r>
            <a:r>
              <a:rPr lang="tr-TR" sz="2000" dirty="0" smtClean="0"/>
              <a:t>. </a:t>
            </a:r>
            <a:r>
              <a:rPr lang="tr-TR" sz="2000" dirty="0" err="1" smtClean="0"/>
              <a:t>Brakitera</a:t>
            </a:r>
            <a:r>
              <a:rPr lang="tr-TR" sz="2000" dirty="0" smtClean="0"/>
              <a:t> uygulanabilir. Sağkalım mükemmel.</a:t>
            </a:r>
          </a:p>
          <a:p>
            <a:r>
              <a:rPr lang="tr-TR" sz="2000" dirty="0" smtClean="0"/>
              <a:t>	</a:t>
            </a:r>
            <a:r>
              <a:rPr lang="tr-TR" sz="2000" dirty="0" err="1" smtClean="0"/>
              <a:t>Diger</a:t>
            </a:r>
            <a:r>
              <a:rPr lang="tr-TR" sz="2000" dirty="0" smtClean="0"/>
              <a:t> </a:t>
            </a:r>
            <a:r>
              <a:rPr lang="tr-TR" sz="2000" dirty="0" err="1" smtClean="0"/>
              <a:t>pelvik</a:t>
            </a:r>
            <a:r>
              <a:rPr lang="tr-TR" sz="2000" dirty="0" smtClean="0"/>
              <a:t>: Kombine kemoterapi ve radyoterapi programları uygulanabilir.</a:t>
            </a:r>
          </a:p>
          <a:p>
            <a:r>
              <a:rPr lang="tr-TR" sz="2000" dirty="0" err="1" smtClean="0"/>
              <a:t>Ekstremite</a:t>
            </a:r>
            <a:r>
              <a:rPr lang="tr-TR" sz="2000" dirty="0" smtClean="0"/>
              <a:t>: Genellikle </a:t>
            </a:r>
            <a:r>
              <a:rPr lang="tr-TR" sz="2000" dirty="0" err="1" smtClean="0"/>
              <a:t>alveoler</a:t>
            </a:r>
            <a:r>
              <a:rPr lang="tr-TR" sz="2000" dirty="0" smtClean="0"/>
              <a:t> ve </a:t>
            </a:r>
            <a:r>
              <a:rPr lang="tr-TR" sz="2000" dirty="0" err="1" smtClean="0"/>
              <a:t>undifearensiye</a:t>
            </a:r>
            <a:r>
              <a:rPr lang="tr-TR" sz="2000" dirty="0" smtClean="0"/>
              <a:t> </a:t>
            </a:r>
            <a:r>
              <a:rPr lang="tr-TR" sz="2000" dirty="0" err="1" smtClean="0"/>
              <a:t>subtipli</a:t>
            </a:r>
            <a:r>
              <a:rPr lang="tr-TR" sz="2000" dirty="0" smtClean="0"/>
              <a:t>, geniş ve derin </a:t>
            </a:r>
            <a:r>
              <a:rPr lang="tr-TR" sz="2000" dirty="0" err="1" smtClean="0"/>
              <a:t>invazyonlu</a:t>
            </a:r>
            <a:r>
              <a:rPr lang="tr-TR" sz="2000" dirty="0" smtClean="0"/>
              <a:t>. Lenfatik ve </a:t>
            </a:r>
            <a:r>
              <a:rPr lang="tr-TR" sz="2000" dirty="0" err="1" smtClean="0"/>
              <a:t>hematojen</a:t>
            </a:r>
            <a:r>
              <a:rPr lang="tr-TR" sz="2000" dirty="0" smtClean="0"/>
              <a:t> metastaz riski yüksek. RT ve KT ile </a:t>
            </a:r>
            <a:r>
              <a:rPr lang="tr-TR" sz="2000" dirty="0" err="1" smtClean="0"/>
              <a:t>ekstremite</a:t>
            </a:r>
            <a:r>
              <a:rPr lang="tr-TR" sz="2000" dirty="0" smtClean="0"/>
              <a:t> koruyucu yaklaşımlar mümkün olmaktadır Lenf </a:t>
            </a:r>
            <a:r>
              <a:rPr lang="tr-TR" sz="2000" dirty="0" err="1" smtClean="0"/>
              <a:t>nodu</a:t>
            </a:r>
            <a:r>
              <a:rPr lang="tr-TR" sz="2000" dirty="0" smtClean="0"/>
              <a:t> </a:t>
            </a:r>
            <a:r>
              <a:rPr lang="tr-TR" sz="2000" dirty="0" err="1" smtClean="0"/>
              <a:t>diseksiyonun</a:t>
            </a:r>
            <a:r>
              <a:rPr lang="tr-TR" sz="2000" dirty="0" smtClean="0"/>
              <a:t> </a:t>
            </a:r>
            <a:r>
              <a:rPr lang="tr-TR" sz="2000" dirty="0" err="1" smtClean="0"/>
              <a:t>terapötik</a:t>
            </a:r>
            <a:r>
              <a:rPr lang="tr-TR" sz="2000" dirty="0" smtClean="0"/>
              <a:t> avantajı olduğu gösterilmemiş.</a:t>
            </a:r>
            <a:endParaRPr lang="tr-TR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Pediatrik  RT</a:t>
            </a:r>
            <a:endParaRPr lang="tr-TR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3 İçerik Yer Tutucusu" descr="imag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772816"/>
            <a:ext cx="7848872" cy="4785127"/>
          </a:xfrm>
        </p:spPr>
      </p:pic>
      <p:sp>
        <p:nvSpPr>
          <p:cNvPr id="5" name="4 Metin kutusu"/>
          <p:cNvSpPr txBox="1"/>
          <p:nvPr/>
        </p:nvSpPr>
        <p:spPr>
          <a:xfrm>
            <a:off x="1835696" y="4437112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 smtClean="0">
                <a:solidFill>
                  <a:srgbClr val="C00000"/>
                </a:solidFill>
              </a:rPr>
              <a:t>KÜR</a:t>
            </a:r>
            <a:endParaRPr lang="tr-TR" sz="3200" b="1" dirty="0">
              <a:solidFill>
                <a:srgbClr val="C00000"/>
              </a:solidFill>
            </a:endParaRPr>
          </a:p>
        </p:txBody>
      </p:sp>
      <p:sp>
        <p:nvSpPr>
          <p:cNvPr id="6" name="5 Metin kutusu"/>
          <p:cNvSpPr txBox="1"/>
          <p:nvPr/>
        </p:nvSpPr>
        <p:spPr>
          <a:xfrm>
            <a:off x="6084168" y="4221088"/>
            <a:ext cx="22322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 smtClean="0">
                <a:solidFill>
                  <a:srgbClr val="C00000"/>
                </a:solidFill>
              </a:rPr>
              <a:t>GEÇ ETKİLER</a:t>
            </a:r>
            <a:endParaRPr lang="tr-TR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tr-TR" smtClean="0">
                <a:solidFill>
                  <a:srgbClr val="70F12F"/>
                </a:solidFill>
                <a:latin typeface="Baskerville Old Face" pitchFamily="18" charset="0"/>
              </a:rPr>
              <a:t>ER</a:t>
            </a:r>
            <a:r>
              <a:rPr lang="tr-TR" b="1" smtClean="0">
                <a:solidFill>
                  <a:srgbClr val="70F12F"/>
                </a:solidFill>
                <a:latin typeface="Baskerville Old Face" pitchFamily="18" charset="0"/>
              </a:rPr>
              <a:t>İŞKİN </a:t>
            </a:r>
            <a:r>
              <a:rPr lang="tr-TR" b="1" dirty="0" smtClean="0">
                <a:solidFill>
                  <a:srgbClr val="70F12F"/>
                </a:solidFill>
                <a:latin typeface="Baskerville Old Face" pitchFamily="18" charset="0"/>
              </a:rPr>
              <a:t>TÜMÖRLERİNDEN FARKLAR</a:t>
            </a:r>
            <a:endParaRPr lang="tr-TR" b="1" dirty="0">
              <a:solidFill>
                <a:srgbClr val="70F12F"/>
              </a:solidFill>
              <a:latin typeface="Baskerville Old Face" pitchFamily="18" charset="0"/>
            </a:endParaRPr>
          </a:p>
        </p:txBody>
      </p:sp>
      <p:sp>
        <p:nvSpPr>
          <p:cNvPr id="5" name="İçerik Yer Tutucusu 2"/>
          <p:cNvSpPr>
            <a:spLocks noGrp="1"/>
          </p:cNvSpPr>
          <p:nvPr>
            <p:ph idx="1"/>
          </p:nvPr>
        </p:nvSpPr>
        <p:spPr>
          <a:xfrm>
            <a:off x="179512" y="1100628"/>
            <a:ext cx="8712968" cy="3912548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457200" lvl="0" indent="-457200">
              <a:buFont typeface="Arial" pitchFamily="34" charset="0"/>
              <a:buChar char="•"/>
            </a:pP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Büyüme gelişmenin devam ediyor olması,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Zeminde genetik hasarın olma riskinin daha yüksek olması,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İkincil kanser riskinin yüksekliği,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Daha çok lösemilerin oluşturduğu farklı bir popülasyon,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Total vücut ışınlaması gibi tedavi yöntemleri,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Boy uzaması, kognitif fonksiyonların iyiliği, </a:t>
            </a:r>
            <a:r>
              <a:rPr lang="tr-TR" sz="2000" dirty="0" err="1">
                <a:solidFill>
                  <a:schemeClr val="accent3">
                    <a:lumMod val="10000"/>
                  </a:schemeClr>
                </a:solidFill>
              </a:rPr>
              <a:t>fertilite</a:t>
            </a: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 gibi beklentilerin yüksekliği,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tr-TR" sz="2000" dirty="0">
                <a:solidFill>
                  <a:schemeClr val="accent3">
                    <a:lumMod val="10000"/>
                  </a:schemeClr>
                </a:solidFill>
              </a:rPr>
              <a:t>Çoğu çocukluk çağı tümörlerin tedavisinde, yetişkinlere göre farklı ve daha yoğun kemoterapilerin uygulanması,</a:t>
            </a:r>
          </a:p>
          <a:p>
            <a:pPr marL="0" indent="0" algn="ctr"/>
            <a:endParaRPr lang="tr-TR" sz="20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118100"/>
            <a:ext cx="60833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637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Pediatrik Tümörlerde RT</a:t>
            </a:r>
            <a:endParaRPr lang="tr-T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5148064" y="1772816"/>
            <a:ext cx="3744416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İçerik Yer Tutucusu"/>
          <p:cNvSpPr>
            <a:spLocks noGrp="1"/>
          </p:cNvSpPr>
          <p:nvPr>
            <p:ph sz="half" idx="2"/>
          </p:nvPr>
        </p:nvSpPr>
        <p:spPr>
          <a:xfrm>
            <a:off x="0" y="2060848"/>
            <a:ext cx="4860032" cy="4608512"/>
          </a:xfrm>
        </p:spPr>
        <p:txBody>
          <a:bodyPr>
            <a:normAutofit fontScale="92500" lnSpcReduction="20000"/>
          </a:bodyPr>
          <a:lstStyle/>
          <a:p>
            <a:endParaRPr lang="tr-TR" dirty="0" smtClean="0"/>
          </a:p>
          <a:p>
            <a:r>
              <a:rPr lang="tr-TR" b="1" dirty="0" smtClean="0"/>
              <a:t>Daha </a:t>
            </a:r>
            <a:r>
              <a:rPr lang="tr-TR" b="1" dirty="0" err="1" smtClean="0"/>
              <a:t>radyosensitif</a:t>
            </a:r>
            <a:endParaRPr lang="tr-TR" b="1" dirty="0" smtClean="0"/>
          </a:p>
          <a:p>
            <a:endParaRPr lang="tr-TR" b="1" dirty="0" smtClean="0"/>
          </a:p>
          <a:p>
            <a:pPr algn="just"/>
            <a:r>
              <a:rPr lang="tr-TR" b="1" dirty="0" smtClean="0"/>
              <a:t>Aynı miktar saçılan radyasyon veya cihazdan sızıntı,  küçük vücutta daha belirgin</a:t>
            </a:r>
          </a:p>
          <a:p>
            <a:pPr algn="just"/>
            <a:endParaRPr lang="tr-TR" b="1" dirty="0" smtClean="0"/>
          </a:p>
          <a:p>
            <a:pPr algn="just"/>
            <a:r>
              <a:rPr lang="tr-TR" b="1" dirty="0" smtClean="0"/>
              <a:t>Pediatrik kanserli olguların çoğu genetik mutasyon nedeni ile  de daha duyarlılar</a:t>
            </a:r>
          </a:p>
          <a:p>
            <a:endParaRPr lang="tr-TR" dirty="0" smtClean="0"/>
          </a:p>
          <a:p>
            <a:endParaRPr lang="tr-TR" dirty="0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0" y="1340768"/>
            <a:ext cx="914400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7" name="6 Dikdörtgen"/>
          <p:cNvSpPr/>
          <p:nvPr/>
        </p:nvSpPr>
        <p:spPr>
          <a:xfrm>
            <a:off x="0" y="1412776"/>
            <a:ext cx="5004048" cy="93610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b="1" dirty="0" smtClean="0"/>
              <a:t>Sekonder kanser risk artışı</a:t>
            </a:r>
            <a:endParaRPr lang="tr-TR" sz="2800" b="1" dirty="0"/>
          </a:p>
        </p:txBody>
      </p:sp>
      <p:sp>
        <p:nvSpPr>
          <p:cNvPr id="8" name="7 Metin kutusu"/>
          <p:cNvSpPr txBox="1"/>
          <p:nvPr/>
        </p:nvSpPr>
        <p:spPr>
          <a:xfrm>
            <a:off x="5652120" y="6021288"/>
            <a:ext cx="3491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i="1" dirty="0" err="1" smtClean="0"/>
              <a:t>Hall</a:t>
            </a:r>
            <a:r>
              <a:rPr lang="tr-TR" sz="2000" b="1" i="1" dirty="0" smtClean="0"/>
              <a:t>, IJROBP 2006</a:t>
            </a:r>
            <a:endParaRPr lang="tr-TR" sz="20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SİNİR SİSTEMİ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79512" y="1268760"/>
            <a:ext cx="5112568" cy="558924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Lösemide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proflaktik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kranial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ışınlama</a:t>
            </a:r>
          </a:p>
          <a:p>
            <a:pPr algn="just">
              <a:buFont typeface="Arial" pitchFamily="34" charset="0"/>
              <a:buChar char="•"/>
            </a:pPr>
            <a:endParaRPr lang="tr-TR" sz="2400" dirty="0" smtClean="0">
              <a:solidFill>
                <a:srgbClr val="FFFF00"/>
              </a:solidFill>
              <a:cs typeface="Aharoni" pitchFamily="2" charset="-79"/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Lösemide gelişen santral sinir sistemi tutulumu nedeniyle</a:t>
            </a:r>
          </a:p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Santral sinir sistemi tümörleri nedeniyle</a:t>
            </a:r>
          </a:p>
          <a:p>
            <a:pPr algn="just">
              <a:buFont typeface="Arial" pitchFamily="34" charset="0"/>
              <a:buChar char="•"/>
            </a:pPr>
            <a:endParaRPr lang="tr-TR" sz="2400" dirty="0" smtClean="0">
              <a:solidFill>
                <a:srgbClr val="FFFF00"/>
              </a:solidFill>
              <a:cs typeface="Aharoni" pitchFamily="2" charset="-79"/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Beyin metastazı  nedeniyle</a:t>
            </a:r>
          </a:p>
          <a:p>
            <a:endParaRPr lang="tr-T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204861"/>
            <a:ext cx="3593299" cy="3613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SİNİR SİSTEMİ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79512" y="1268760"/>
            <a:ext cx="5112568" cy="558924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Nöronal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gelişim ilk üç yılda çok hızlı, altı yaşından sonra nerede ise hiç yok.</a:t>
            </a:r>
          </a:p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Bu gelişim nöronların sayısında değil boyutunda olur. İlk üç yıl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aksonal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gelişme,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dendritik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arborizasyon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ve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sinaptogenezin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en aktif olduğu dönemdir.</a:t>
            </a:r>
            <a:endParaRPr lang="tr-TR" sz="2400" dirty="0" smtClean="0">
              <a:solidFill>
                <a:schemeClr val="accent1">
                  <a:lumMod val="40000"/>
                  <a:lumOff val="60000"/>
                </a:schemeClr>
              </a:solidFill>
              <a:cs typeface="Aharoni" pitchFamily="2" charset="-79"/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Miyelinizasyon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ise ilk iki yılda neredeyse tamamlanmakla birlikte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puberteye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kadar devam eder.</a:t>
            </a:r>
          </a:p>
          <a:p>
            <a:endParaRPr lang="tr-T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204861"/>
            <a:ext cx="3593299" cy="3613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85800" y="221432"/>
            <a:ext cx="7772400" cy="1143000"/>
          </a:xfrm>
        </p:spPr>
        <p:txBody>
          <a:bodyPr/>
          <a:lstStyle/>
          <a:p>
            <a:r>
              <a:rPr lang="tr-TR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Pediatrik Tümörler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0" y="1340768"/>
            <a:ext cx="914400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1268760"/>
            <a:ext cx="4786943" cy="52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67544" y="3140968"/>
            <a:ext cx="8280920" cy="3456384"/>
          </a:xfrm>
        </p:spPr>
        <p:txBody>
          <a:bodyPr/>
          <a:lstStyle/>
          <a:p>
            <a:r>
              <a:rPr lang="en-US" sz="2000" dirty="0" smtClean="0">
                <a:solidFill>
                  <a:srgbClr val="FFFF00"/>
                </a:solidFill>
              </a:rPr>
              <a:t>The </a:t>
            </a:r>
            <a:r>
              <a:rPr lang="en-US" sz="2000" dirty="0" err="1" smtClean="0">
                <a:solidFill>
                  <a:srgbClr val="FFFF00"/>
                </a:solidFill>
              </a:rPr>
              <a:t>neurocognitive</a:t>
            </a:r>
            <a:r>
              <a:rPr lang="en-US" sz="2000" dirty="0" smtClean="0">
                <a:solidFill>
                  <a:srgbClr val="FFFF00"/>
                </a:solidFill>
              </a:rPr>
              <a:t> effects </a:t>
            </a:r>
            <a:r>
              <a:rPr lang="en-US" sz="2000" dirty="0" smtClean="0"/>
              <a:t>of </a:t>
            </a:r>
            <a:r>
              <a:rPr lang="en-US" sz="2000" dirty="0" smtClean="0">
                <a:solidFill>
                  <a:srgbClr val="002060"/>
                </a:solidFill>
              </a:rPr>
              <a:t>cranial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C00000"/>
                </a:solidFill>
              </a:rPr>
              <a:t>RT in children </a:t>
            </a:r>
            <a:r>
              <a:rPr lang="en-US" sz="2000" dirty="0" smtClean="0"/>
              <a:t>have</a:t>
            </a:r>
            <a:r>
              <a:rPr lang="tr-TR" sz="2000" dirty="0" smtClean="0"/>
              <a:t> </a:t>
            </a:r>
            <a:r>
              <a:rPr lang="en-US" sz="2000" dirty="0" smtClean="0"/>
              <a:t>been studied in several settings. With central nervous system</a:t>
            </a:r>
            <a:r>
              <a:rPr lang="tr-TR" sz="2000" dirty="0" smtClean="0"/>
              <a:t> </a:t>
            </a:r>
            <a:r>
              <a:rPr lang="en-US" sz="2000" dirty="0" smtClean="0"/>
              <a:t>prophylaxis for acute lymphoblastic leukemia, the addition of</a:t>
            </a:r>
            <a:r>
              <a:rPr lang="tr-TR" sz="20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24 </a:t>
            </a:r>
            <a:r>
              <a:rPr lang="en-US" sz="2800" dirty="0" err="1" smtClean="0">
                <a:solidFill>
                  <a:srgbClr val="FF0000"/>
                </a:solidFill>
              </a:rPr>
              <a:t>Gy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radiation to the whole brain (to a chemotherapy regimen)</a:t>
            </a:r>
            <a:r>
              <a:rPr lang="tr-TR" sz="2000" dirty="0" smtClean="0"/>
              <a:t> </a:t>
            </a:r>
            <a:r>
              <a:rPr lang="en-US" sz="2000" dirty="0" smtClean="0"/>
              <a:t>has been associated with a median </a:t>
            </a:r>
            <a:r>
              <a:rPr lang="en-US" sz="2800" dirty="0" smtClean="0">
                <a:solidFill>
                  <a:schemeClr val="accent2"/>
                </a:solidFill>
              </a:rPr>
              <a:t>13-point</a:t>
            </a:r>
            <a:r>
              <a:rPr lang="en-US" sz="2800" dirty="0" smtClean="0">
                <a:solidFill>
                  <a:srgbClr val="17B941"/>
                </a:solidFill>
              </a:rPr>
              <a:t> </a:t>
            </a:r>
            <a:r>
              <a:rPr lang="en-US" sz="24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intelligence</a:t>
            </a:r>
            <a:r>
              <a:rPr lang="tr-TR" sz="24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quotient </a:t>
            </a:r>
            <a:r>
              <a:rPr lang="en-US" sz="2000" dirty="0" smtClean="0">
                <a:solidFill>
                  <a:srgbClr val="17B941"/>
                </a:solidFill>
              </a:rPr>
              <a:t>reduction at 5 years after RT </a:t>
            </a:r>
            <a:r>
              <a:rPr lang="en-US" sz="2000" dirty="0" smtClean="0"/>
              <a:t>and poorer academic</a:t>
            </a:r>
            <a:r>
              <a:rPr lang="tr-TR" sz="2000" dirty="0" smtClean="0"/>
              <a:t> </a:t>
            </a:r>
            <a:r>
              <a:rPr lang="en-US" sz="2000" dirty="0" smtClean="0"/>
              <a:t>achievement and self-image, and greater psychological distress</a:t>
            </a:r>
            <a:r>
              <a:rPr lang="tr-TR" sz="2000" dirty="0" smtClean="0"/>
              <a:t> </a:t>
            </a:r>
            <a:r>
              <a:rPr lang="en-US" sz="2000" dirty="0" smtClean="0"/>
              <a:t>at 15 years after RT. The reported toxicities have</a:t>
            </a:r>
            <a:r>
              <a:rPr lang="tr-TR" sz="2000" dirty="0" smtClean="0"/>
              <a:t> </a:t>
            </a:r>
            <a:r>
              <a:rPr lang="en-US" sz="2000" dirty="0" smtClean="0"/>
              <a:t>been lower (or not detected) when 14–18 </a:t>
            </a:r>
            <a:r>
              <a:rPr lang="en-US" sz="2000" dirty="0" err="1" smtClean="0"/>
              <a:t>Gy</a:t>
            </a:r>
            <a:r>
              <a:rPr lang="en-US" sz="2000" dirty="0" smtClean="0"/>
              <a:t> was used</a:t>
            </a:r>
            <a:r>
              <a:rPr lang="tr-TR" sz="2000" dirty="0" smtClean="0"/>
              <a:t>.</a:t>
            </a:r>
            <a:endParaRPr lang="en-US" sz="2000" dirty="0" smtClean="0"/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88640"/>
            <a:ext cx="7246640" cy="2909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dirty="0" smtClean="0">
                <a:solidFill>
                  <a:srgbClr val="FF0000"/>
                </a:solidFill>
              </a:rPr>
              <a:t>SANTRAL SİNİR </a:t>
            </a:r>
            <a:r>
              <a:rPr lang="tr-TR" sz="3600" dirty="0">
                <a:solidFill>
                  <a:srgbClr val="FF0000"/>
                </a:solidFill>
              </a:rPr>
              <a:t>SİSTEMİ DOZ-VOLÜM İLİŞKİSİ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tr-TR" sz="2000" dirty="0" err="1">
                <a:solidFill>
                  <a:srgbClr val="FFFF00"/>
                </a:solidFill>
              </a:rPr>
              <a:t>Mulhern</a:t>
            </a:r>
            <a:r>
              <a:rPr lang="tr-TR" sz="2000" dirty="0">
                <a:solidFill>
                  <a:srgbClr val="FFFF00"/>
                </a:solidFill>
              </a:rPr>
              <a:t> ve ark. </a:t>
            </a:r>
            <a:r>
              <a:rPr lang="tr-TR" sz="2000" dirty="0" err="1">
                <a:solidFill>
                  <a:srgbClr val="FFFF00"/>
                </a:solidFill>
              </a:rPr>
              <a:t>medulloblastom</a:t>
            </a:r>
            <a:r>
              <a:rPr lang="tr-TR" sz="2000" dirty="0">
                <a:solidFill>
                  <a:srgbClr val="FFFF00"/>
                </a:solidFill>
              </a:rPr>
              <a:t> vakalarında 36 </a:t>
            </a:r>
            <a:r>
              <a:rPr lang="tr-TR" sz="2000" dirty="0" err="1">
                <a:solidFill>
                  <a:srgbClr val="FFFF00"/>
                </a:solidFill>
              </a:rPr>
              <a:t>Gy</a:t>
            </a:r>
            <a:r>
              <a:rPr lang="tr-TR" sz="2000" dirty="0">
                <a:solidFill>
                  <a:srgbClr val="FFFF00"/>
                </a:solidFill>
              </a:rPr>
              <a:t> yerine 23.4 </a:t>
            </a:r>
            <a:r>
              <a:rPr lang="tr-TR" sz="2000" dirty="0" err="1">
                <a:solidFill>
                  <a:srgbClr val="FFFF00"/>
                </a:solidFill>
              </a:rPr>
              <a:t>Gy</a:t>
            </a:r>
            <a:r>
              <a:rPr lang="tr-TR" sz="2000" dirty="0">
                <a:solidFill>
                  <a:srgbClr val="FFFF00"/>
                </a:solidFill>
              </a:rPr>
              <a:t> </a:t>
            </a:r>
            <a:r>
              <a:rPr lang="tr-TR" sz="2000" dirty="0" err="1">
                <a:solidFill>
                  <a:srgbClr val="FFFF00"/>
                </a:solidFill>
              </a:rPr>
              <a:t>kraniospinal</a:t>
            </a:r>
            <a:r>
              <a:rPr lang="tr-TR" sz="2000" dirty="0">
                <a:solidFill>
                  <a:srgbClr val="FFFF00"/>
                </a:solidFill>
              </a:rPr>
              <a:t> doz uygulanması ise IQ da 10-15 puanlık avantaj olduğunu kaydetmişlerdir.</a:t>
            </a:r>
          </a:p>
          <a:p>
            <a:pPr>
              <a:buFont typeface="Arial" pitchFamily="34" charset="0"/>
              <a:buChar char="•"/>
            </a:pPr>
            <a:endParaRPr lang="tr-TR" sz="2000" dirty="0">
              <a:solidFill>
                <a:srgbClr val="FFFF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Wara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ve ark. </a:t>
            </a:r>
            <a:r>
              <a:rPr lang="tr-TR" sz="2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kronik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progresif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radyasyon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myeliti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riskini 25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fx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da 42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ile %1, 45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ile %5, ve 61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ile %50 olarak bildirmiştir. Küçük çocuklarda bu risk daha yüksek olabilir. </a:t>
            </a:r>
            <a:endParaRPr lang="tr-TR"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71600" y="692696"/>
            <a:ext cx="7486600" cy="850354"/>
          </a:xfrm>
        </p:spPr>
        <p:txBody>
          <a:bodyPr/>
          <a:lstStyle/>
          <a:p>
            <a:pPr algn="l"/>
            <a:r>
              <a:rPr lang="tr-TR" sz="2800" dirty="0" err="1" smtClean="0"/>
              <a:t>Metotreksat</a:t>
            </a:r>
            <a:r>
              <a:rPr lang="tr-TR" sz="2800" dirty="0"/>
              <a:t> </a:t>
            </a:r>
            <a:r>
              <a:rPr lang="tr-TR" sz="2800" dirty="0" smtClean="0"/>
              <a:t/>
            </a:r>
            <a:br>
              <a:rPr lang="tr-TR" sz="2800" dirty="0" smtClean="0"/>
            </a:br>
            <a:r>
              <a:rPr lang="tr-TR" sz="2800" dirty="0" err="1" smtClean="0"/>
              <a:t>Sidarabin</a:t>
            </a:r>
            <a:r>
              <a:rPr lang="tr-TR" sz="2800" dirty="0" smtClean="0"/>
              <a:t/>
            </a:r>
            <a:br>
              <a:rPr lang="tr-TR" sz="2800" dirty="0" smtClean="0"/>
            </a:br>
            <a:r>
              <a:rPr lang="tr-TR" sz="2800" dirty="0" err="1" smtClean="0"/>
              <a:t>Aktinomisin</a:t>
            </a:r>
            <a:r>
              <a:rPr lang="tr-TR" sz="2800" dirty="0" smtClean="0"/>
              <a:t> D</a:t>
            </a:r>
            <a:endParaRPr lang="tr-TR" sz="2800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45256"/>
            <a:ext cx="6471169" cy="4929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dirty="0">
                <a:effectLst/>
              </a:rPr>
              <a:t>Çocukluk çağı kanseri tedavisinde oluşan </a:t>
            </a:r>
            <a:r>
              <a:rPr lang="tr-TR" sz="2400" dirty="0" err="1">
                <a:effectLst/>
              </a:rPr>
              <a:t>psikososyal</a:t>
            </a:r>
            <a:r>
              <a:rPr lang="tr-TR" sz="2400" dirty="0">
                <a:effectLst/>
              </a:rPr>
              <a:t> etkiler ise ilk defa </a:t>
            </a:r>
            <a:r>
              <a:rPr lang="tr-TR" sz="2400" dirty="0" err="1">
                <a:effectLst/>
              </a:rPr>
              <a:t>Koocher</a:t>
            </a:r>
            <a:r>
              <a:rPr lang="tr-TR" sz="2400" dirty="0">
                <a:effectLst/>
              </a:rPr>
              <a:t> ve </a:t>
            </a:r>
            <a:r>
              <a:rPr lang="tr-TR" sz="2400" dirty="0" err="1">
                <a:effectLst/>
              </a:rPr>
              <a:t>O’Malley</a:t>
            </a:r>
            <a:r>
              <a:rPr lang="tr-TR" sz="2400" dirty="0">
                <a:effectLst/>
              </a:rPr>
              <a:t> (27) tarafından </a:t>
            </a:r>
            <a:r>
              <a:rPr lang="tr-TR" sz="2400" dirty="0" err="1">
                <a:effectLst/>
              </a:rPr>
              <a:t>Damocles</a:t>
            </a:r>
            <a:r>
              <a:rPr lang="tr-TR" sz="2400" dirty="0">
                <a:effectLst/>
              </a:rPr>
              <a:t> sendromu olarak tanımlanmıştır.</a:t>
            </a:r>
            <a:br>
              <a:rPr lang="tr-TR" sz="2400" dirty="0">
                <a:effectLst/>
              </a:rPr>
            </a:br>
            <a:endParaRPr lang="tr-TR" sz="24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28800"/>
            <a:ext cx="8857606" cy="3855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5877272"/>
            <a:ext cx="5071912" cy="512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0929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dirty="0" smtClean="0">
                <a:solidFill>
                  <a:srgbClr val="FF0000"/>
                </a:solidFill>
                <a:latin typeface="+mn-lt"/>
              </a:rPr>
              <a:t>NÖROENDOKRİN FONKSİYON</a:t>
            </a:r>
            <a:endParaRPr lang="tr-TR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755576" y="1771650"/>
            <a:ext cx="7702624" cy="577230"/>
          </a:xfrm>
        </p:spPr>
        <p:txBody>
          <a:bodyPr/>
          <a:lstStyle/>
          <a:p>
            <a:pPr algn="ctr">
              <a:buNone/>
            </a:pPr>
            <a:r>
              <a:rPr lang="tr-TR" dirty="0" smtClean="0">
                <a:solidFill>
                  <a:srgbClr val="2FF154"/>
                </a:solidFill>
              </a:rPr>
              <a:t>BÜYÜME HORMONU</a:t>
            </a:r>
            <a:endParaRPr lang="tr-TR" dirty="0">
              <a:solidFill>
                <a:srgbClr val="2FF154"/>
              </a:solidFill>
            </a:endParaRPr>
          </a:p>
        </p:txBody>
      </p:sp>
      <p:sp>
        <p:nvSpPr>
          <p:cNvPr id="5" name="4 Metin kutusu"/>
          <p:cNvSpPr txBox="1"/>
          <p:nvPr/>
        </p:nvSpPr>
        <p:spPr>
          <a:xfrm>
            <a:off x="611560" y="2348880"/>
            <a:ext cx="820891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 smtClean="0">
                <a:solidFill>
                  <a:srgbClr val="FFFF00"/>
                </a:solidFill>
              </a:rPr>
              <a:t>En çok etkilenen hormon</a:t>
            </a:r>
          </a:p>
          <a:p>
            <a:r>
              <a:rPr lang="tr-TR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Daha çok </a:t>
            </a:r>
            <a:r>
              <a:rPr lang="tr-TR" sz="28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hipotalamik</a:t>
            </a:r>
            <a:r>
              <a:rPr lang="tr-TR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düzeyde</a:t>
            </a:r>
          </a:p>
          <a:p>
            <a:r>
              <a:rPr lang="tr-TR" sz="2800" dirty="0" smtClean="0">
                <a:solidFill>
                  <a:srgbClr val="FFFF00"/>
                </a:solidFill>
              </a:rPr>
              <a:t>30 </a:t>
            </a:r>
            <a:r>
              <a:rPr lang="tr-TR" sz="2800" dirty="0" err="1" smtClean="0">
                <a:solidFill>
                  <a:srgbClr val="FFFF00"/>
                </a:solidFill>
              </a:rPr>
              <a:t>Gy</a:t>
            </a:r>
            <a:r>
              <a:rPr lang="tr-TR" sz="2800" dirty="0" smtClean="0">
                <a:solidFill>
                  <a:srgbClr val="FFFF00"/>
                </a:solidFill>
              </a:rPr>
              <a:t> ve üzeri %60-80 </a:t>
            </a:r>
            <a:r>
              <a:rPr lang="tr-TR" sz="2800" dirty="0" err="1" smtClean="0">
                <a:solidFill>
                  <a:srgbClr val="FFFF00"/>
                </a:solidFill>
              </a:rPr>
              <a:t>stimulasyon</a:t>
            </a:r>
            <a:r>
              <a:rPr lang="tr-TR" sz="2800" dirty="0" smtClean="0">
                <a:solidFill>
                  <a:srgbClr val="FFFF00"/>
                </a:solidFill>
              </a:rPr>
              <a:t> testleri bozulur</a:t>
            </a:r>
          </a:p>
          <a:p>
            <a:r>
              <a:rPr lang="tr-TR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Eşik doz 18-20 </a:t>
            </a:r>
            <a:r>
              <a:rPr lang="tr-TR" sz="28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Gy</a:t>
            </a:r>
            <a:endParaRPr lang="tr-TR" sz="28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tr-TR" sz="2800" dirty="0" err="1" smtClean="0">
                <a:solidFill>
                  <a:srgbClr val="FFFF00"/>
                </a:solidFill>
                <a:cs typeface="Aharoni" pitchFamily="2" charset="-79"/>
              </a:rPr>
              <a:t>Busulfan</a:t>
            </a:r>
            <a:r>
              <a:rPr lang="tr-TR" sz="2800" dirty="0" smtClean="0">
                <a:solidFill>
                  <a:srgbClr val="FFFF00"/>
                </a:solidFill>
                <a:cs typeface="Aharoni" pitchFamily="2" charset="-79"/>
              </a:rPr>
              <a:t>, </a:t>
            </a:r>
            <a:r>
              <a:rPr lang="tr-TR" sz="2800" dirty="0" err="1" smtClean="0">
                <a:solidFill>
                  <a:srgbClr val="FFFF00"/>
                </a:solidFill>
                <a:cs typeface="Aharoni" pitchFamily="2" charset="-79"/>
              </a:rPr>
              <a:t>siklofosfamid</a:t>
            </a:r>
            <a:r>
              <a:rPr lang="tr-TR" sz="2800" dirty="0" smtClean="0">
                <a:solidFill>
                  <a:srgbClr val="FFFF00"/>
                </a:solidFill>
                <a:cs typeface="Aharoni" pitchFamily="2" charset="-79"/>
              </a:rPr>
              <a:t>, </a:t>
            </a:r>
            <a:r>
              <a:rPr lang="tr-TR" sz="2800" dirty="0" err="1" smtClean="0">
                <a:solidFill>
                  <a:srgbClr val="FFFF00"/>
                </a:solidFill>
                <a:cs typeface="Aharoni" pitchFamily="2" charset="-79"/>
              </a:rPr>
              <a:t>glukokortikoidler</a:t>
            </a:r>
            <a:r>
              <a:rPr lang="tr-TR" sz="2800" dirty="0">
                <a:solidFill>
                  <a:srgbClr val="FFFF00"/>
                </a:solidFill>
                <a:cs typeface="Aharoni" pitchFamily="2" charset="-79"/>
              </a:rPr>
              <a:t>, 6-MP ve </a:t>
            </a:r>
            <a:r>
              <a:rPr lang="tr-TR" sz="2800" dirty="0" smtClean="0">
                <a:solidFill>
                  <a:srgbClr val="FFFF00"/>
                </a:solidFill>
                <a:cs typeface="Aharoni" pitchFamily="2" charset="-79"/>
              </a:rPr>
              <a:t>MTX</a:t>
            </a:r>
            <a:r>
              <a:rPr lang="tr-TR" sz="2800" dirty="0">
                <a:solidFill>
                  <a:srgbClr val="FFFF00"/>
                </a:solidFill>
                <a:cs typeface="Aharoni" pitchFamily="2" charset="-79"/>
              </a:rPr>
              <a:t> </a:t>
            </a:r>
            <a:r>
              <a:rPr lang="tr-TR" sz="2800" dirty="0" smtClean="0">
                <a:solidFill>
                  <a:srgbClr val="FFFF00"/>
                </a:solidFill>
                <a:cs typeface="Aharoni" pitchFamily="2" charset="-79"/>
              </a:rPr>
              <a:t>▲</a:t>
            </a:r>
            <a:endParaRPr lang="tr-TR" sz="2800" dirty="0">
              <a:solidFill>
                <a:srgbClr val="FFFF00"/>
              </a:solidFill>
              <a:cs typeface="Aharoni" pitchFamily="2" charset="-79"/>
            </a:endParaRPr>
          </a:p>
          <a:p>
            <a:endParaRPr lang="tr-TR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İçerik Yer Tutucusu 2"/>
          <p:cNvSpPr>
            <a:spLocks noGrp="1"/>
          </p:cNvSpPr>
          <p:nvPr>
            <p:ph idx="1"/>
          </p:nvPr>
        </p:nvSpPr>
        <p:spPr>
          <a:xfrm>
            <a:off x="539552" y="1124744"/>
            <a:ext cx="8352928" cy="3240360"/>
          </a:xfr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bg1"/>
                </a:solidFill>
                <a:cs typeface="Aharoni" pitchFamily="2" charset="-79"/>
              </a:rPr>
              <a:t> 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50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Gy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üzerindeki dozlarda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gonadotropin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yetmezliği olurken, 18-47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Gy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dozlar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puberte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prekoks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nedeni olabilir.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Puberte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prekoks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en çok 24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kranyal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RT alan kız çocuklarda gözlenir.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35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Gy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ve üzeri dozlardaki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kranyal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RT sonrası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gonadotropin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yetmezliği görülme kümülatif </a:t>
            </a:r>
            <a:r>
              <a:rPr lang="tr-TR" sz="2400" dirty="0" err="1" smtClean="0">
                <a:solidFill>
                  <a:srgbClr val="FFFF00"/>
                </a:solidFill>
                <a:cs typeface="Aharoni" pitchFamily="2" charset="-79"/>
              </a:rPr>
              <a:t>insidansı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 5-10 yılda %10-20’dir.</a:t>
            </a:r>
            <a:endParaRPr lang="tr-TR" sz="2400" dirty="0">
              <a:solidFill>
                <a:srgbClr val="FFFF00"/>
              </a:solidFill>
              <a:cs typeface="Aharoni" pitchFamily="2" charset="-79"/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683567" y="332656"/>
            <a:ext cx="7814525" cy="52322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tr-TR" sz="2800" b="1" spc="150" dirty="0" smtClean="0">
                <a:ln w="11430"/>
                <a:solidFill>
                  <a:srgbClr val="2FF154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BÜYÜME HORMONU DIŞI TROPİNLER</a:t>
            </a:r>
            <a:endParaRPr lang="tr-TR" sz="2800" b="1" spc="150" dirty="0">
              <a:ln w="11430"/>
              <a:solidFill>
                <a:srgbClr val="2FF154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221088"/>
            <a:ext cx="8508054" cy="220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85800" y="692696"/>
            <a:ext cx="7772400" cy="1080120"/>
          </a:xfrm>
        </p:spPr>
        <p:txBody>
          <a:bodyPr/>
          <a:lstStyle/>
          <a:p>
            <a:r>
              <a:rPr lang="tr-TR" sz="3600" spc="150" dirty="0">
                <a:ln w="11430"/>
                <a:solidFill>
                  <a:srgbClr val="2FF154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BÜYÜME HORMONU DIŞI TROPİNLER</a:t>
            </a:r>
            <a:r>
              <a:rPr lang="tr-TR" spc="150" dirty="0">
                <a:ln w="11430"/>
                <a:solidFill>
                  <a:schemeClr val="accent2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tr-TR" spc="150" dirty="0">
                <a:ln w="11430"/>
                <a:solidFill>
                  <a:schemeClr val="accent2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40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Gy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ve üzeri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kranyal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radyoterapi dozları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gonadotropin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, ACTH, TRH ve TSH eksikliğine sebep olmaktadır. 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Oranlar %50-65 arasında bildirilmektedir.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50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Gy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ve üzeri doz alan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nazofarenks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ve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paranasal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sinus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karsinomu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vakalarında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hiperprolaktinemi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bildirilmiştir.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Radyoterapi ile birlikte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nitrosüre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kullanımı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hiperprolaktinemi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gelişim riskini arttırmaktadır.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Ön hipofiz hormon yetmezliği bulgularına rağmen arka hipofiz bozukluğu  olan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diabetes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insipitus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pek rastlanan bir bulgu değildir.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5186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772400" cy="792088"/>
          </a:xfrm>
        </p:spPr>
        <p:txBody>
          <a:bodyPr/>
          <a:lstStyle/>
          <a:p>
            <a:r>
              <a:rPr lang="tr-TR" sz="3600" spc="150" dirty="0">
                <a:ln w="11430"/>
                <a:solidFill>
                  <a:srgbClr val="2FF154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TİROİD HORMONU</a:t>
            </a:r>
            <a:br>
              <a:rPr lang="tr-TR" sz="3600" spc="150" dirty="0">
                <a:ln w="11430"/>
                <a:solidFill>
                  <a:srgbClr val="2FF154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</a:br>
            <a:endParaRPr lang="tr-TR" sz="3600" dirty="0">
              <a:solidFill>
                <a:srgbClr val="2FF154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980728"/>
            <a:ext cx="7772400" cy="41148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Tiroide radyasyon hasarının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patofizyolojisi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?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Hipotiroidi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özellikle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H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odgkin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hastalığı tedavisi sonrası bildirilmiş. (%47).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Mantle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dozu 26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Gy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altında % 16.6.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26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Gy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üzerinde %78.7.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Görülme zamanı radyoterapiyi takiben ortanca 4.6 yıl.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Radyoterapi sırasındaki yaşla da yakın ilişkili olduğu bildirilmiş.</a:t>
            </a:r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94" y="4941168"/>
            <a:ext cx="7200800" cy="1632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521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+mn-lt"/>
              </a:rPr>
              <a:t>KEMİK YUMUŞAK </a:t>
            </a:r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DOKU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484784"/>
            <a:ext cx="4464496" cy="468052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000" dirty="0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Radyoterapi ile </a:t>
            </a:r>
            <a:r>
              <a:rPr lang="tr-TR" sz="2000" dirty="0" err="1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epifizyal</a:t>
            </a:r>
            <a:r>
              <a:rPr lang="tr-TR" sz="2000" dirty="0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 gelişim geriliği ilk defa 1903 de </a:t>
            </a:r>
            <a:r>
              <a:rPr lang="tr-TR" sz="2000" dirty="0" err="1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Perthes</a:t>
            </a:r>
            <a:r>
              <a:rPr lang="tr-TR" sz="2000" dirty="0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 tarafından bildirilmiş</a:t>
            </a:r>
            <a:r>
              <a:rPr lang="tr-TR" sz="2000" dirty="0" smtClean="0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endParaRPr lang="tr-TR" sz="2000" dirty="0">
              <a:solidFill>
                <a:srgbClr val="FFFF00"/>
              </a:solidFill>
              <a:latin typeface="Baskerville Old Face" pitchFamily="18" charset="0"/>
              <a:cs typeface="Aharoni" pitchFamily="2" charset="-79"/>
            </a:endParaRPr>
          </a:p>
          <a:p>
            <a:pPr>
              <a:buFont typeface="Arial" pitchFamily="34" charset="0"/>
              <a:buChar char="•"/>
            </a:pP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RT’nin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kemik hasarı üzerine etkisi muhtemelen </a:t>
            </a:r>
            <a:r>
              <a:rPr lang="tr-TR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kontroblastlar</a:t>
            </a:r>
            <a:r>
              <a:rPr lang="tr-TR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üzerinden olmaktadır. </a:t>
            </a:r>
          </a:p>
          <a:p>
            <a:pPr>
              <a:buFont typeface="Arial" pitchFamily="34" charset="0"/>
              <a:buChar char="•"/>
            </a:pPr>
            <a:endParaRPr lang="tr-TR" sz="1800" dirty="0">
              <a:solidFill>
                <a:srgbClr val="FFFF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tr-TR" sz="1800" dirty="0" err="1">
                <a:solidFill>
                  <a:srgbClr val="FFFF00"/>
                </a:solidFill>
              </a:rPr>
              <a:t>Epifizyal</a:t>
            </a:r>
            <a:r>
              <a:rPr lang="tr-TR" sz="1800" dirty="0">
                <a:solidFill>
                  <a:srgbClr val="FFFF00"/>
                </a:solidFill>
              </a:rPr>
              <a:t> ışınlama, </a:t>
            </a:r>
            <a:r>
              <a:rPr lang="tr-TR" sz="1800" dirty="0" err="1">
                <a:solidFill>
                  <a:srgbClr val="FFFF00"/>
                </a:solidFill>
              </a:rPr>
              <a:t>kondrogenezisi</a:t>
            </a:r>
            <a:r>
              <a:rPr lang="tr-TR" sz="1800" dirty="0">
                <a:solidFill>
                  <a:srgbClr val="FFFF00"/>
                </a:solidFill>
              </a:rPr>
              <a:t> bozarken, </a:t>
            </a:r>
            <a:r>
              <a:rPr lang="tr-TR" sz="1800" dirty="0" err="1">
                <a:solidFill>
                  <a:srgbClr val="FFFF00"/>
                </a:solidFill>
              </a:rPr>
              <a:t>metafizyal</a:t>
            </a:r>
            <a:r>
              <a:rPr lang="tr-TR" sz="1800" dirty="0">
                <a:solidFill>
                  <a:srgbClr val="FFFF00"/>
                </a:solidFill>
              </a:rPr>
              <a:t> ışınlama </a:t>
            </a:r>
            <a:r>
              <a:rPr lang="tr-TR" sz="1800" dirty="0" err="1">
                <a:solidFill>
                  <a:srgbClr val="FFFF00"/>
                </a:solidFill>
              </a:rPr>
              <a:t>kalsifik</a:t>
            </a:r>
            <a:r>
              <a:rPr lang="tr-TR" sz="1800" dirty="0">
                <a:solidFill>
                  <a:srgbClr val="FFFF00"/>
                </a:solidFill>
              </a:rPr>
              <a:t> kemik ve </a:t>
            </a:r>
            <a:r>
              <a:rPr lang="tr-TR" sz="1800" dirty="0" err="1">
                <a:solidFill>
                  <a:srgbClr val="FFFF00"/>
                </a:solidFill>
              </a:rPr>
              <a:t>kartilajda</a:t>
            </a:r>
            <a:r>
              <a:rPr lang="tr-TR" sz="1800" dirty="0">
                <a:solidFill>
                  <a:srgbClr val="FFFF00"/>
                </a:solidFill>
              </a:rPr>
              <a:t> </a:t>
            </a:r>
            <a:r>
              <a:rPr lang="tr-TR" sz="1800" dirty="0" err="1">
                <a:solidFill>
                  <a:srgbClr val="FFFF00"/>
                </a:solidFill>
              </a:rPr>
              <a:t>absorptif</a:t>
            </a:r>
            <a:r>
              <a:rPr lang="tr-TR" sz="1800" dirty="0">
                <a:solidFill>
                  <a:srgbClr val="FFFF00"/>
                </a:solidFill>
              </a:rPr>
              <a:t> kayba ve </a:t>
            </a:r>
            <a:r>
              <a:rPr lang="tr-TR" sz="1800" dirty="0" err="1">
                <a:solidFill>
                  <a:srgbClr val="FFFF00"/>
                </a:solidFill>
              </a:rPr>
              <a:t>diafizyal</a:t>
            </a:r>
            <a:r>
              <a:rPr lang="tr-TR" sz="1800" dirty="0">
                <a:solidFill>
                  <a:srgbClr val="FFFF00"/>
                </a:solidFill>
              </a:rPr>
              <a:t> ışınlama ise </a:t>
            </a:r>
            <a:r>
              <a:rPr lang="tr-TR" sz="1800" dirty="0" err="1">
                <a:solidFill>
                  <a:srgbClr val="FFFF00"/>
                </a:solidFill>
              </a:rPr>
              <a:t>periostal</a:t>
            </a:r>
            <a:r>
              <a:rPr lang="tr-TR" sz="1800" dirty="0">
                <a:solidFill>
                  <a:srgbClr val="FFFF00"/>
                </a:solidFill>
              </a:rPr>
              <a:t> aktivite değişikliğine yol açarak anormal kemik modellemesine neden olur.</a:t>
            </a:r>
          </a:p>
          <a:p>
            <a:endParaRPr lang="tr-TR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268760"/>
            <a:ext cx="3291902" cy="5203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46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smtClean="0">
                <a:solidFill>
                  <a:srgbClr val="FF0000"/>
                </a:solidFill>
                <a:latin typeface="+mn-lt"/>
              </a:rPr>
              <a:t>EPİFİZ PLAKLARINDA BÜYÜME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pic>
        <p:nvPicPr>
          <p:cNvPr id="21506" name="Picture 2" descr="http://www.clipartpal.com/_thumbs/pd/holiday/halloween/child_skelet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268760"/>
            <a:ext cx="3168352" cy="5314951"/>
          </a:xfrm>
          <a:prstGeom prst="rect">
            <a:avLst/>
          </a:prstGeom>
          <a:noFill/>
        </p:spPr>
      </p:pic>
      <p:cxnSp>
        <p:nvCxnSpPr>
          <p:cNvPr id="6" name="5 Dirsek Bağlayıcısı"/>
          <p:cNvCxnSpPr/>
          <p:nvPr/>
        </p:nvCxnSpPr>
        <p:spPr>
          <a:xfrm flipV="1">
            <a:off x="4860032" y="4077072"/>
            <a:ext cx="2304256" cy="21602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Dirsek Bağlayıcısı"/>
          <p:cNvCxnSpPr/>
          <p:nvPr/>
        </p:nvCxnSpPr>
        <p:spPr>
          <a:xfrm>
            <a:off x="4716016" y="5157192"/>
            <a:ext cx="2520280" cy="14401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Dirsek Bağlayıcısı"/>
          <p:cNvCxnSpPr/>
          <p:nvPr/>
        </p:nvCxnSpPr>
        <p:spPr>
          <a:xfrm rot="10800000">
            <a:off x="2123728" y="5013176"/>
            <a:ext cx="2520280" cy="36004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Dirsek Bağlayıcısı"/>
          <p:cNvCxnSpPr>
            <a:endCxn id="27" idx="3"/>
          </p:cNvCxnSpPr>
          <p:nvPr/>
        </p:nvCxnSpPr>
        <p:spPr>
          <a:xfrm rot="10800000">
            <a:off x="2043336" y="5964090"/>
            <a:ext cx="2528664" cy="12920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Dirsek Bağlayıcısı"/>
          <p:cNvCxnSpPr/>
          <p:nvPr/>
        </p:nvCxnSpPr>
        <p:spPr>
          <a:xfrm rot="10800000">
            <a:off x="1403648" y="2492896"/>
            <a:ext cx="2520280" cy="14401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Dirsek Bağlayıcısı"/>
          <p:cNvCxnSpPr/>
          <p:nvPr/>
        </p:nvCxnSpPr>
        <p:spPr>
          <a:xfrm rot="10800000" flipV="1">
            <a:off x="1403648" y="3284984"/>
            <a:ext cx="2376264" cy="7200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Metin kutusu"/>
          <p:cNvSpPr txBox="1"/>
          <p:nvPr/>
        </p:nvSpPr>
        <p:spPr>
          <a:xfrm>
            <a:off x="7164288" y="3933056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%30</a:t>
            </a:r>
            <a:endParaRPr lang="tr-TR" sz="2400" dirty="0"/>
          </a:p>
        </p:txBody>
      </p:sp>
      <p:sp>
        <p:nvSpPr>
          <p:cNvPr id="25" name="24 Metin kutusu"/>
          <p:cNvSpPr txBox="1"/>
          <p:nvPr/>
        </p:nvSpPr>
        <p:spPr>
          <a:xfrm>
            <a:off x="7308304" y="5013176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%70</a:t>
            </a:r>
            <a:endParaRPr lang="tr-TR" sz="2400" dirty="0"/>
          </a:p>
        </p:txBody>
      </p:sp>
      <p:sp>
        <p:nvSpPr>
          <p:cNvPr id="26" name="25 Metin kutusu"/>
          <p:cNvSpPr txBox="1"/>
          <p:nvPr/>
        </p:nvSpPr>
        <p:spPr>
          <a:xfrm>
            <a:off x="1259632" y="4869160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%60</a:t>
            </a:r>
            <a:endParaRPr lang="tr-TR" sz="2400" dirty="0"/>
          </a:p>
        </p:txBody>
      </p:sp>
      <p:sp>
        <p:nvSpPr>
          <p:cNvPr id="27" name="26 Metin kutusu"/>
          <p:cNvSpPr txBox="1"/>
          <p:nvPr/>
        </p:nvSpPr>
        <p:spPr>
          <a:xfrm>
            <a:off x="1259632" y="5733256"/>
            <a:ext cx="78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%40</a:t>
            </a:r>
            <a:endParaRPr lang="tr-TR" sz="2400" dirty="0"/>
          </a:p>
        </p:txBody>
      </p:sp>
      <p:sp>
        <p:nvSpPr>
          <p:cNvPr id="37" name="36 Metin kutusu"/>
          <p:cNvSpPr txBox="1"/>
          <p:nvPr/>
        </p:nvSpPr>
        <p:spPr>
          <a:xfrm>
            <a:off x="539552" y="2276872"/>
            <a:ext cx="855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%80</a:t>
            </a:r>
            <a:endParaRPr lang="tr-TR" sz="2400" dirty="0"/>
          </a:p>
        </p:txBody>
      </p:sp>
      <p:sp>
        <p:nvSpPr>
          <p:cNvPr id="38" name="37 Metin kutusu"/>
          <p:cNvSpPr txBox="1"/>
          <p:nvPr/>
        </p:nvSpPr>
        <p:spPr>
          <a:xfrm>
            <a:off x="467544" y="3140968"/>
            <a:ext cx="92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%20</a:t>
            </a:r>
            <a:endParaRPr lang="tr-TR" sz="2400" dirty="0"/>
          </a:p>
        </p:txBody>
      </p:sp>
      <p:sp>
        <p:nvSpPr>
          <p:cNvPr id="41" name="40 Metin kutusu"/>
          <p:cNvSpPr txBox="1"/>
          <p:nvPr/>
        </p:nvSpPr>
        <p:spPr>
          <a:xfrm>
            <a:off x="323528" y="1700808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>
                <a:solidFill>
                  <a:srgbClr val="FF0000"/>
                </a:solidFill>
              </a:rPr>
              <a:t>HUMERUS</a:t>
            </a:r>
            <a:endParaRPr lang="tr-TR" sz="2400" dirty="0">
              <a:solidFill>
                <a:srgbClr val="FF0000"/>
              </a:solidFill>
            </a:endParaRPr>
          </a:p>
        </p:txBody>
      </p:sp>
      <p:sp>
        <p:nvSpPr>
          <p:cNvPr id="42" name="41 Metin kutusu"/>
          <p:cNvSpPr txBox="1"/>
          <p:nvPr/>
        </p:nvSpPr>
        <p:spPr>
          <a:xfrm>
            <a:off x="1259632" y="422108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>
                <a:solidFill>
                  <a:srgbClr val="FF0000"/>
                </a:solidFill>
              </a:rPr>
              <a:t>TİBİA</a:t>
            </a:r>
            <a:endParaRPr lang="tr-TR" sz="2400" dirty="0">
              <a:solidFill>
                <a:srgbClr val="FF0000"/>
              </a:solidFill>
            </a:endParaRPr>
          </a:p>
        </p:txBody>
      </p:sp>
      <p:sp>
        <p:nvSpPr>
          <p:cNvPr id="43" name="42 Metin kutusu"/>
          <p:cNvSpPr txBox="1"/>
          <p:nvPr/>
        </p:nvSpPr>
        <p:spPr>
          <a:xfrm>
            <a:off x="7092280" y="3284984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>
                <a:solidFill>
                  <a:srgbClr val="FF0000"/>
                </a:solidFill>
              </a:rPr>
              <a:t>FEMUR</a:t>
            </a:r>
            <a:endParaRPr lang="tr-T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59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85800" y="548680"/>
            <a:ext cx="7772400" cy="1296144"/>
          </a:xfrm>
        </p:spPr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+mn-lt"/>
              </a:rPr>
              <a:t>KEMİK YUMUŞAK DOKU </a:t>
            </a:r>
            <a:r>
              <a:rPr lang="tr-TR" sz="4000" dirty="0" smtClean="0">
                <a:solidFill>
                  <a:srgbClr val="FF0000"/>
                </a:solidFill>
                <a:latin typeface="+mn-lt"/>
              </a:rPr>
              <a:t/>
            </a:r>
            <a:br>
              <a:rPr lang="tr-TR" sz="4000" dirty="0" smtClean="0">
                <a:solidFill>
                  <a:srgbClr val="FF0000"/>
                </a:solidFill>
                <a:latin typeface="+mn-lt"/>
              </a:rPr>
            </a:b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55576" y="2420888"/>
            <a:ext cx="7702624" cy="3465562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itchFamily="18" charset="0"/>
                <a:cs typeface="Aharoni" pitchFamily="2" charset="-79"/>
              </a:rPr>
              <a:t>NWTS 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itchFamily="18" charset="0"/>
                <a:cs typeface="Aharoni" pitchFamily="2" charset="-79"/>
              </a:rPr>
              <a:t>çalışması 12 ay altı tanı alan ve 10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itchFamily="18" charset="0"/>
                <a:cs typeface="Aharoni" pitchFamily="2" charset="-79"/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itchFamily="18" charset="0"/>
                <a:cs typeface="Aharoni" pitchFamily="2" charset="-79"/>
              </a:rPr>
              <a:t> üzeri radyoterapi uygulanan çocuklarda boy kaybını 7.7 cm olarak hesaplamış.</a:t>
            </a:r>
          </a:p>
          <a:p>
            <a:pPr algn="just"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Toplam grupta ise 10 </a:t>
            </a:r>
            <a:r>
              <a:rPr lang="tr-TR" sz="2400" dirty="0" err="1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Gy</a:t>
            </a:r>
            <a:r>
              <a:rPr lang="tr-TR" sz="2400" dirty="0">
                <a:solidFill>
                  <a:srgbClr val="FFFF00"/>
                </a:solidFill>
                <a:latin typeface="Baskerville Old Face" pitchFamily="18" charset="0"/>
                <a:cs typeface="Aharoni" pitchFamily="2" charset="-79"/>
              </a:rPr>
              <a:t> için kayıp 2.8 cm.</a:t>
            </a:r>
          </a:p>
          <a:p>
            <a:pPr algn="just">
              <a:buFont typeface="Arial" pitchFamily="34" charset="0"/>
              <a:buChar char="•"/>
            </a:pP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itchFamily="18" charset="0"/>
                <a:cs typeface="Aharoni" pitchFamily="2" charset="-79"/>
              </a:rPr>
              <a:t>Spinal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itchFamily="18" charset="0"/>
                <a:cs typeface="Aharoni" pitchFamily="2" charset="-79"/>
              </a:rPr>
              <a:t> ışınlama ile boy kaybı 1 yaş altı ışınlamada 9 cm, 5 yaşında 7 cm ve 10 yaşında 5.5 cm olarak bildirilmiştir.</a:t>
            </a:r>
          </a:p>
          <a:p>
            <a:pPr>
              <a:buFont typeface="Arial" pitchFamily="34" charset="0"/>
              <a:buChar char="•"/>
            </a:pPr>
            <a:endParaRPr lang="tr-TR" sz="2400" dirty="0">
              <a:solidFill>
                <a:srgbClr val="FFFF00"/>
              </a:solidFill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072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KALP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5800" y="1052736"/>
            <a:ext cx="7772400" cy="4032448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</a:rPr>
              <a:t>HD tanısı ile tedavi edilen 635 hasta üzerinde yapılan çalışmada 17 yıllık takipte </a:t>
            </a:r>
            <a:r>
              <a:rPr lang="tr-TR" sz="2400" dirty="0" err="1">
                <a:solidFill>
                  <a:srgbClr val="FFFF00"/>
                </a:solidFill>
              </a:rPr>
              <a:t>perikardit</a:t>
            </a:r>
            <a:r>
              <a:rPr lang="tr-TR" sz="2400" dirty="0">
                <a:solidFill>
                  <a:srgbClr val="FFFF00"/>
                </a:solidFill>
              </a:rPr>
              <a:t> gelişme riski %4 olarak bulunmuş ve 12 hasta </a:t>
            </a:r>
            <a:r>
              <a:rPr lang="tr-TR" sz="2400" dirty="0" err="1">
                <a:solidFill>
                  <a:srgbClr val="FFFF00"/>
                </a:solidFill>
              </a:rPr>
              <a:t>kardiak</a:t>
            </a:r>
            <a:r>
              <a:rPr lang="tr-TR" sz="2400" dirty="0">
                <a:solidFill>
                  <a:srgbClr val="FFFF00"/>
                </a:solidFill>
              </a:rPr>
              <a:t> hastalıktan ölmüştür. Ölen hastaların hepsi 42-45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doz </a:t>
            </a:r>
            <a:r>
              <a:rPr lang="tr-TR" sz="2400" dirty="0" smtClean="0">
                <a:solidFill>
                  <a:srgbClr val="FFFF00"/>
                </a:solidFill>
              </a:rPr>
              <a:t>almış, 15-26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doz alanlarda ise hiçbir </a:t>
            </a:r>
            <a:r>
              <a:rPr lang="tr-TR" sz="2400" dirty="0" err="1">
                <a:solidFill>
                  <a:srgbClr val="FFFF00"/>
                </a:solidFill>
              </a:rPr>
              <a:t>kardiak</a:t>
            </a:r>
            <a:r>
              <a:rPr lang="tr-TR" sz="2400" dirty="0">
                <a:solidFill>
                  <a:srgbClr val="FFFF00"/>
                </a:solidFill>
              </a:rPr>
              <a:t> problem </a:t>
            </a:r>
            <a:r>
              <a:rPr lang="tr-TR" sz="2400" dirty="0" smtClean="0">
                <a:solidFill>
                  <a:srgbClr val="FFFF00"/>
                </a:solidFill>
              </a:rPr>
              <a:t>kaydedilmemiş </a:t>
            </a:r>
            <a:r>
              <a:rPr lang="tr-TR" sz="2400" dirty="0">
                <a:solidFill>
                  <a:srgbClr val="FFFF00"/>
                </a:solidFill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Sonuçta güncel teknikler ile 25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sonrası kalbi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bloklayarak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küçük bir kalp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segmentinin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40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doz alabileceği 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raporlanmış. </a:t>
            </a:r>
            <a:endParaRPr lang="tr-TR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Antrasiklin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kullanımı ile 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risk</a:t>
            </a:r>
            <a:endParaRPr lang="tr-T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941168"/>
            <a:ext cx="7128792" cy="1767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Yukarı Ok 4"/>
          <p:cNvSpPr/>
          <p:nvPr/>
        </p:nvSpPr>
        <p:spPr>
          <a:xfrm>
            <a:off x="5220072" y="4437112"/>
            <a:ext cx="576064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4443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AKCİĞER </a:t>
            </a:r>
            <a:br>
              <a:rPr lang="tr-TR" sz="4000" dirty="0" smtClean="0">
                <a:solidFill>
                  <a:srgbClr val="FF0000"/>
                </a:solidFill>
                <a:latin typeface="+mn-lt"/>
              </a:rPr>
            </a:b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11560" y="1484784"/>
            <a:ext cx="7772400" cy="411480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</a:rPr>
              <a:t>Akciğerin %75 den fazlası 45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veya üzeri doz aldığında kor </a:t>
            </a:r>
            <a:r>
              <a:rPr lang="tr-TR" sz="2400" dirty="0" err="1">
                <a:solidFill>
                  <a:srgbClr val="FFFF00"/>
                </a:solidFill>
              </a:rPr>
              <a:t>pulmonale</a:t>
            </a:r>
            <a:r>
              <a:rPr lang="tr-TR" sz="2400" dirty="0">
                <a:solidFill>
                  <a:srgbClr val="FFFF00"/>
                </a:solidFill>
              </a:rPr>
              <a:t> ve takiben ölüm </a:t>
            </a:r>
            <a:endParaRPr lang="tr-TR" sz="2400" dirty="0" smtClean="0">
              <a:solidFill>
                <a:srgbClr val="FFFF00"/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Metastatik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Wilm’s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tümörü nedeni ile 12-14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RT uygulanan hastalarda akciğer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vital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kapasitesinin %70’e </a:t>
            </a:r>
            <a:endParaRPr lang="tr-TR" sz="2400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</a:rPr>
              <a:t>Öksürük </a:t>
            </a:r>
            <a:r>
              <a:rPr lang="tr-TR" sz="2400" dirty="0">
                <a:solidFill>
                  <a:srgbClr val="FFFF00"/>
                </a:solidFill>
              </a:rPr>
              <a:t>ateş </a:t>
            </a:r>
            <a:r>
              <a:rPr lang="tr-TR" sz="2400" dirty="0" err="1">
                <a:solidFill>
                  <a:srgbClr val="FFFF00"/>
                </a:solidFill>
              </a:rPr>
              <a:t>dispne</a:t>
            </a:r>
            <a:r>
              <a:rPr lang="tr-TR" sz="2400" dirty="0">
                <a:solidFill>
                  <a:srgbClr val="FFFF00"/>
                </a:solidFill>
              </a:rPr>
              <a:t> ile kendini gösteren klinik </a:t>
            </a:r>
            <a:r>
              <a:rPr lang="tr-TR" sz="2400" dirty="0" err="1">
                <a:solidFill>
                  <a:srgbClr val="FFFF00"/>
                </a:solidFill>
              </a:rPr>
              <a:t>pnömoni</a:t>
            </a:r>
            <a:r>
              <a:rPr lang="tr-TR" sz="2400" dirty="0">
                <a:solidFill>
                  <a:srgbClr val="FFFF00"/>
                </a:solidFill>
              </a:rPr>
              <a:t> tüm akciğerin %50’sinden fazlasının 30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standart fraksiyon ışınlamasında %</a:t>
            </a:r>
            <a:r>
              <a:rPr lang="tr-TR" sz="2400" dirty="0" smtClean="0">
                <a:solidFill>
                  <a:srgbClr val="FFFF00"/>
                </a:solidFill>
              </a:rPr>
              <a:t>5-15</a:t>
            </a:r>
            <a:endParaRPr lang="tr-TR" sz="2400" dirty="0">
              <a:solidFill>
                <a:srgbClr val="FFFF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Karmustin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lomustine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busulfan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bleomisin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kemoterapilerin varlığı da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pulmoner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fibrozis</a:t>
            </a:r>
            <a:endParaRPr lang="tr-TR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just">
              <a:buFont typeface="Arial" pitchFamily="34" charset="0"/>
              <a:buChar char="•"/>
            </a:pPr>
            <a:endParaRPr lang="tr-TR" sz="2400" dirty="0">
              <a:solidFill>
                <a:schemeClr val="bg1"/>
              </a:solidFill>
              <a:cs typeface="Aharoni" pitchFamily="2" charset="-79"/>
            </a:endParaRPr>
          </a:p>
          <a:p>
            <a:endParaRPr lang="tr-TR" dirty="0"/>
          </a:p>
        </p:txBody>
      </p:sp>
      <p:sp>
        <p:nvSpPr>
          <p:cNvPr id="4" name="Aşağı Ok 3"/>
          <p:cNvSpPr/>
          <p:nvPr/>
        </p:nvSpPr>
        <p:spPr>
          <a:xfrm>
            <a:off x="1979712" y="3116695"/>
            <a:ext cx="258403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Yukarı Ok 4"/>
          <p:cNvSpPr/>
          <p:nvPr/>
        </p:nvSpPr>
        <p:spPr>
          <a:xfrm>
            <a:off x="7308304" y="5013176"/>
            <a:ext cx="216024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801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+mn-lt"/>
              </a:rPr>
              <a:t>OVER </a:t>
            </a:r>
            <a:r>
              <a:rPr lang="tr-TR" sz="4000" dirty="0" smtClean="0">
                <a:solidFill>
                  <a:srgbClr val="FF0000"/>
                </a:solidFill>
                <a:latin typeface="+mn-lt"/>
              </a:rPr>
              <a:t/>
            </a:r>
            <a:br>
              <a:rPr lang="tr-TR" sz="4000" dirty="0" smtClean="0">
                <a:solidFill>
                  <a:srgbClr val="FF0000"/>
                </a:solidFill>
                <a:latin typeface="+mn-lt"/>
              </a:rPr>
            </a:b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11560" y="1340768"/>
            <a:ext cx="7772400" cy="360040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</a:rPr>
              <a:t>Adolesan</a:t>
            </a:r>
            <a:r>
              <a:rPr lang="tr-TR" sz="2400" dirty="0">
                <a:solidFill>
                  <a:srgbClr val="FFFF00"/>
                </a:solidFill>
              </a:rPr>
              <a:t> çağda </a:t>
            </a:r>
            <a:r>
              <a:rPr lang="tr-TR" sz="2400" dirty="0" err="1">
                <a:solidFill>
                  <a:srgbClr val="FFFF00"/>
                </a:solidFill>
              </a:rPr>
              <a:t>overler</a:t>
            </a:r>
            <a:r>
              <a:rPr lang="tr-TR" sz="2400" dirty="0">
                <a:solidFill>
                  <a:srgbClr val="FFFF00"/>
                </a:solidFill>
              </a:rPr>
              <a:t> küçük yaş grubuna göre daha </a:t>
            </a:r>
            <a:r>
              <a:rPr lang="tr-TR" sz="2400" dirty="0" smtClean="0">
                <a:solidFill>
                  <a:srgbClr val="FFFF00"/>
                </a:solidFill>
              </a:rPr>
              <a:t>duyarlı</a:t>
            </a:r>
            <a:endParaRPr lang="tr-TR" sz="2400" dirty="0">
              <a:solidFill>
                <a:srgbClr val="FFFF00"/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Tek doz RT sonrası geçici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sterilite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1.7-6.4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ile gerçekleşirken kalıcı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sterilite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3.2-10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doz ile </a:t>
            </a:r>
            <a:endParaRPr lang="tr-TR" sz="2400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</a:rPr>
              <a:t>TVI </a:t>
            </a:r>
            <a:r>
              <a:rPr lang="tr-TR" sz="2400" dirty="0">
                <a:solidFill>
                  <a:srgbClr val="FFFF00"/>
                </a:solidFill>
              </a:rPr>
              <a:t>sırasında 10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/tek fraksiyon uygulanan kız çocuklarının çoğunda </a:t>
            </a:r>
            <a:r>
              <a:rPr lang="tr-TR" sz="2400" dirty="0" err="1">
                <a:solidFill>
                  <a:srgbClr val="FFFF00"/>
                </a:solidFill>
              </a:rPr>
              <a:t>primer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amenore</a:t>
            </a:r>
            <a:r>
              <a:rPr lang="tr-TR" sz="2400" dirty="0">
                <a:solidFill>
                  <a:srgbClr val="FFFF00"/>
                </a:solidFill>
              </a:rPr>
              <a:t> veya </a:t>
            </a:r>
            <a:r>
              <a:rPr lang="tr-TR" sz="2400" dirty="0" err="1">
                <a:solidFill>
                  <a:srgbClr val="FFFF00"/>
                </a:solidFill>
              </a:rPr>
              <a:t>sekonder</a:t>
            </a:r>
            <a:r>
              <a:rPr lang="tr-TR" sz="2400" dirty="0">
                <a:solidFill>
                  <a:srgbClr val="FFFF00"/>
                </a:solidFill>
              </a:rPr>
              <a:t> seks karakterlerinin gelişememesi durumu ortaya </a:t>
            </a:r>
            <a:r>
              <a:rPr lang="tr-TR" sz="2400" dirty="0" smtClean="0">
                <a:solidFill>
                  <a:srgbClr val="FFFF00"/>
                </a:solidFill>
              </a:rPr>
              <a:t>çıkmakta</a:t>
            </a:r>
            <a:endParaRPr lang="tr-TR" sz="2400" dirty="0">
              <a:solidFill>
                <a:srgbClr val="FFFF00"/>
              </a:solidFill>
              <a:cs typeface="Aharoni" pitchFamily="2" charset="-79"/>
            </a:endParaRPr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085184"/>
            <a:ext cx="6504701" cy="170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780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7918648" cy="994370"/>
          </a:xfrm>
        </p:spPr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TESTİS </a:t>
            </a:r>
            <a:br>
              <a:rPr lang="tr-TR" sz="4000" dirty="0" smtClean="0">
                <a:solidFill>
                  <a:srgbClr val="FF0000"/>
                </a:solidFill>
                <a:latin typeface="+mn-lt"/>
              </a:rPr>
            </a:b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tr-TR" sz="2400" dirty="0" err="1">
                <a:solidFill>
                  <a:srgbClr val="FFFF00"/>
                </a:solidFill>
                <a:latin typeface="+mj-lt"/>
              </a:rPr>
              <a:t>Spermatogonialar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radyasyona fazlasıyla duyarlı olduğu için çok küçük dozlarda bile görülebilir hasar gelişir. </a:t>
            </a:r>
            <a:r>
              <a:rPr lang="tr-TR" sz="2400" dirty="0" err="1" smtClean="0">
                <a:solidFill>
                  <a:srgbClr val="FFFF00"/>
                </a:solidFill>
                <a:latin typeface="+mj-lt"/>
              </a:rPr>
              <a:t>Oligospermi</a:t>
            </a:r>
            <a:r>
              <a:rPr lang="tr-TR" sz="2400" dirty="0" smtClean="0">
                <a:solidFill>
                  <a:srgbClr val="FFFF00"/>
                </a:solidFill>
                <a:latin typeface="+mj-lt"/>
              </a:rPr>
              <a:t> 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0,5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Gy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doz sonrası gözlenir. 1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Gy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doz sonrası düzelme 9-18 ay, 2-3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Gy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sonrası 30 ay, 4-6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Gy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sonrası ile 5 yıldan uzun sürer. Daha yüksek dozlarda ise kalıcı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sterilite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görülür.</a:t>
            </a:r>
          </a:p>
          <a:p>
            <a:pPr marL="0" indent="0" algn="just">
              <a:buNone/>
            </a:pPr>
            <a:r>
              <a:rPr lang="tr-TR" sz="2400" dirty="0">
                <a:solidFill>
                  <a:srgbClr val="FFFF00"/>
                </a:solidFill>
                <a:latin typeface="+mj-lt"/>
              </a:rPr>
              <a:t>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Siklofosfamid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 ve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busulfan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 da yüksek oranda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gonadotoksik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 olup, RT </a:t>
            </a:r>
            <a:r>
              <a:rPr lang="tr-TR" sz="2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toksisitesini</a:t>
            </a:r>
            <a:endParaRPr lang="tr-TR" dirty="0"/>
          </a:p>
        </p:txBody>
      </p:sp>
      <p:sp>
        <p:nvSpPr>
          <p:cNvPr id="4" name="Yukarı Ok 3"/>
          <p:cNvSpPr/>
          <p:nvPr/>
        </p:nvSpPr>
        <p:spPr>
          <a:xfrm>
            <a:off x="5796136" y="4437112"/>
            <a:ext cx="360040" cy="43204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5326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BÖBREK </a:t>
            </a:r>
            <a:br>
              <a:rPr lang="tr-TR" sz="4000" dirty="0" smtClean="0">
                <a:solidFill>
                  <a:srgbClr val="FF0000"/>
                </a:solidFill>
                <a:latin typeface="+mn-lt"/>
              </a:rPr>
            </a:b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11560" y="1052736"/>
            <a:ext cx="7846640" cy="3672408"/>
          </a:xfrm>
        </p:spPr>
        <p:txBody>
          <a:bodyPr/>
          <a:lstStyle/>
          <a:p>
            <a:pPr marL="0" indent="0" algn="just">
              <a:buNone/>
            </a:pPr>
            <a:r>
              <a:rPr lang="tr-TR" sz="2400" dirty="0">
                <a:solidFill>
                  <a:srgbClr val="FFFF00"/>
                </a:solidFill>
              </a:rPr>
              <a:t>Her iki böbreğe 25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üzeri dozda ışınlama 6 ayı takiben </a:t>
            </a:r>
            <a:r>
              <a:rPr lang="tr-TR" sz="2400" dirty="0" err="1">
                <a:solidFill>
                  <a:srgbClr val="FFFF00"/>
                </a:solidFill>
              </a:rPr>
              <a:t>renal</a:t>
            </a:r>
            <a:r>
              <a:rPr lang="tr-TR" sz="2400" dirty="0">
                <a:solidFill>
                  <a:srgbClr val="FFFF00"/>
                </a:solidFill>
              </a:rPr>
              <a:t> yetmezlik </a:t>
            </a:r>
            <a:endParaRPr lang="tr-TR" sz="2400" dirty="0" smtClean="0">
              <a:solidFill>
                <a:srgbClr val="FFFF00"/>
              </a:solidFill>
            </a:endParaRPr>
          </a:p>
          <a:p>
            <a:pPr marL="0" indent="0" algn="just">
              <a:buNone/>
            </a:pPr>
            <a:r>
              <a:rPr lang="tr-TR" sz="2400" dirty="0" smtClean="0">
                <a:solidFill>
                  <a:srgbClr val="FFFF00"/>
                </a:solidFill>
              </a:rPr>
              <a:t>14-20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doz sonrası diğer böbrekte </a:t>
            </a:r>
            <a:r>
              <a:rPr lang="tr-TR" sz="2400" dirty="0" err="1">
                <a:solidFill>
                  <a:srgbClr val="FFFF00"/>
                </a:solidFill>
              </a:rPr>
              <a:t>kompensatuar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hipertrofi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smtClean="0">
                <a:solidFill>
                  <a:srgbClr val="FFFF00"/>
                </a:solidFill>
              </a:rPr>
              <a:t>gelişir</a:t>
            </a:r>
          </a:p>
          <a:p>
            <a:pPr marL="0" indent="0" algn="just">
              <a:buNone/>
            </a:pP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Standart 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fraksiyon şeması ile radyasyon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nefropatisi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riski için eşik doz 15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olup 30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plato 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düzeyi </a:t>
            </a:r>
            <a:endParaRPr lang="tr-TR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just">
              <a:buNone/>
            </a:pPr>
            <a:r>
              <a:rPr lang="tr-TR" sz="2400" dirty="0">
                <a:solidFill>
                  <a:srgbClr val="FFFF00"/>
                </a:solidFill>
              </a:rPr>
              <a:t>Birçok </a:t>
            </a:r>
            <a:r>
              <a:rPr lang="tr-TR" sz="2400" dirty="0" err="1">
                <a:solidFill>
                  <a:srgbClr val="FFFF00"/>
                </a:solidFill>
              </a:rPr>
              <a:t>kemoterapotik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 smtClean="0">
                <a:solidFill>
                  <a:srgbClr val="FFFF00"/>
                </a:solidFill>
              </a:rPr>
              <a:t>advers</a:t>
            </a:r>
            <a:r>
              <a:rPr lang="tr-TR" sz="2400" dirty="0" smtClean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renal</a:t>
            </a:r>
            <a:r>
              <a:rPr lang="tr-TR" sz="2400" dirty="0">
                <a:solidFill>
                  <a:srgbClr val="FFFF00"/>
                </a:solidFill>
              </a:rPr>
              <a:t> fonksiyon etkileri </a:t>
            </a:r>
            <a:r>
              <a:rPr lang="tr-TR" sz="2400" dirty="0" smtClean="0">
                <a:solidFill>
                  <a:srgbClr val="FFFF00"/>
                </a:solidFill>
              </a:rPr>
              <a:t>var. </a:t>
            </a:r>
            <a:r>
              <a:rPr lang="tr-TR" sz="2400" dirty="0" err="1" smtClean="0">
                <a:solidFill>
                  <a:srgbClr val="FFFF00"/>
                </a:solidFill>
              </a:rPr>
              <a:t>Sisplatin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>
                <a:solidFill>
                  <a:srgbClr val="FFFF00"/>
                </a:solidFill>
              </a:rPr>
              <a:t>aminoglikozitler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>
                <a:solidFill>
                  <a:srgbClr val="FFFF00"/>
                </a:solidFill>
              </a:rPr>
              <a:t>amfoterisin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 smtClean="0">
                <a:solidFill>
                  <a:srgbClr val="FFFF00"/>
                </a:solidFill>
              </a:rPr>
              <a:t>ifosfamid</a:t>
            </a:r>
            <a:r>
              <a:rPr lang="tr-TR" sz="2400" dirty="0" smtClean="0">
                <a:solidFill>
                  <a:srgbClr val="FFFF00"/>
                </a:solidFill>
              </a:rPr>
              <a:t> </a:t>
            </a:r>
            <a:r>
              <a:rPr lang="tr-TR" sz="2400" dirty="0" err="1" smtClean="0">
                <a:solidFill>
                  <a:srgbClr val="FFFF00"/>
                </a:solidFill>
              </a:rPr>
              <a:t>v.b</a:t>
            </a:r>
            <a:r>
              <a:rPr lang="tr-TR" sz="2400" dirty="0" smtClean="0">
                <a:solidFill>
                  <a:srgbClr val="FFFF00"/>
                </a:solidFill>
              </a:rPr>
              <a:t>.</a:t>
            </a:r>
            <a:endParaRPr lang="tr-TR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674610"/>
            <a:ext cx="7090310" cy="197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7382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23528" y="692696"/>
            <a:ext cx="8134672" cy="1008112"/>
          </a:xfrm>
        </p:spPr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KARACİĞER </a:t>
            </a:r>
            <a:br>
              <a:rPr lang="tr-TR" sz="4000" dirty="0" smtClean="0">
                <a:solidFill>
                  <a:srgbClr val="FF0000"/>
                </a:solidFill>
                <a:latin typeface="+mn-lt"/>
              </a:rPr>
            </a:b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Radyoterapi ile oluşan karaciğer hasarı klasik ve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nonklasik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olarak iki tipte </a:t>
            </a:r>
            <a:endParaRPr lang="tr-TR" sz="2400" dirty="0" smtClean="0">
              <a:solidFill>
                <a:srgbClr val="FFFF00"/>
              </a:solidFill>
              <a:cs typeface="Aharoni" pitchFamily="2" charset="-79"/>
            </a:endParaRPr>
          </a:p>
          <a:p>
            <a:pPr marL="0" indent="0"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Klasik  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tipte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alkalen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fosfatazda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2 kat ve üzeri artış, 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patolojik olarak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hepatik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lobüllerin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santral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venlerinde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obliterasyon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,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retrograt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konjesyon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ve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sekonder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hepatosit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 nekrozu 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  <a:cs typeface="Aharoni" pitchFamily="2" charset="-79"/>
              </a:rPr>
              <a:t>gözlenir</a:t>
            </a:r>
            <a:endParaRPr lang="tr-TR" sz="2400" dirty="0">
              <a:solidFill>
                <a:schemeClr val="accent1">
                  <a:lumMod val="40000"/>
                  <a:lumOff val="60000"/>
                </a:schemeClr>
              </a:solidFill>
              <a:cs typeface="Aharoni" pitchFamily="2" charset="-79"/>
            </a:endParaRPr>
          </a:p>
          <a:p>
            <a:pPr marL="0" indent="0" algn="just"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Nonklasik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tipte ise 4-5 kat artmış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transaminaz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düzeyleri mevcuttur ve daha çok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hepatosellüler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karsinoma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doğru ilerler. Altta yatan </a:t>
            </a:r>
            <a:r>
              <a:rPr lang="tr-TR" sz="2400" dirty="0" err="1">
                <a:solidFill>
                  <a:srgbClr val="FFFF00"/>
                </a:solidFill>
                <a:cs typeface="Aharoni" pitchFamily="2" charset="-79"/>
              </a:rPr>
              <a:t>patogenez</a:t>
            </a:r>
            <a:r>
              <a:rPr lang="tr-TR" sz="2400" dirty="0">
                <a:solidFill>
                  <a:srgbClr val="FFFF00"/>
                </a:solidFill>
                <a:cs typeface="Aharoni" pitchFamily="2" charset="-79"/>
              </a:rPr>
              <a:t> net </a:t>
            </a:r>
            <a:r>
              <a:rPr lang="tr-TR" sz="2400" dirty="0" smtClean="0">
                <a:solidFill>
                  <a:srgbClr val="FFFF00"/>
                </a:solidFill>
                <a:cs typeface="Aharoni" pitchFamily="2" charset="-79"/>
              </a:rPr>
              <a:t>değil.</a:t>
            </a:r>
            <a:endParaRPr lang="tr-TR" sz="2400" dirty="0">
              <a:solidFill>
                <a:srgbClr val="FFFF00"/>
              </a:solidFill>
              <a:cs typeface="Aharoni" pitchFamily="2" charset="-79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4390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7990656" cy="936104"/>
          </a:xfrm>
        </p:spPr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KARACİĞER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771650"/>
            <a:ext cx="7774632" cy="4465662"/>
          </a:xfrm>
        </p:spPr>
        <p:txBody>
          <a:bodyPr/>
          <a:lstStyle/>
          <a:p>
            <a:pPr marL="0" indent="0" algn="just"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</a:rPr>
              <a:t>12-25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 </a:t>
            </a:r>
            <a:r>
              <a:rPr lang="tr-TR" sz="2400" dirty="0" err="1">
                <a:solidFill>
                  <a:srgbClr val="FFFF00"/>
                </a:solidFill>
              </a:rPr>
              <a:t>fraksiyone</a:t>
            </a:r>
            <a:r>
              <a:rPr lang="tr-TR" sz="2400" dirty="0">
                <a:solidFill>
                  <a:srgbClr val="FFFF00"/>
                </a:solidFill>
              </a:rPr>
              <a:t>  RT hastaların %50’sinde karaciğer fonksiyon testlerinde bozulmaya yol açar. </a:t>
            </a:r>
          </a:p>
          <a:p>
            <a:pPr marL="0" indent="0" algn="just"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</a:rPr>
              <a:t>25-35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arası ise bu bozulma %63 </a:t>
            </a:r>
            <a:endParaRPr lang="tr-TR" sz="2400" dirty="0" smtClean="0">
              <a:solidFill>
                <a:srgbClr val="FFFF00"/>
              </a:solidFill>
            </a:endParaRPr>
          </a:p>
          <a:p>
            <a:pPr marL="0" indent="0" algn="just">
              <a:buFont typeface="Arial" pitchFamily="34" charset="0"/>
              <a:buChar char="•"/>
            </a:pPr>
            <a:r>
              <a:rPr lang="tr-TR" sz="2400" dirty="0" smtClean="0">
                <a:solidFill>
                  <a:srgbClr val="FFFF00"/>
                </a:solidFill>
              </a:rPr>
              <a:t>35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üzeri ise %86 hasta için </a:t>
            </a:r>
            <a:r>
              <a:rPr lang="tr-TR" sz="2400" dirty="0" err="1" smtClean="0">
                <a:solidFill>
                  <a:srgbClr val="FFFF00"/>
                </a:solidFill>
              </a:rPr>
              <a:t>toksik</a:t>
            </a:r>
            <a:endParaRPr lang="tr-TR" sz="2400" dirty="0">
              <a:solidFill>
                <a:srgbClr val="FFFF00"/>
              </a:solidFill>
            </a:endParaRPr>
          </a:p>
          <a:p>
            <a:pPr marL="0" indent="0" algn="just">
              <a:buFont typeface="Arial" pitchFamily="34" charset="0"/>
              <a:buChar char="•"/>
            </a:pPr>
            <a:endParaRPr lang="tr-TR" sz="2400" dirty="0">
              <a:solidFill>
                <a:srgbClr val="FFFF00"/>
              </a:solidFill>
            </a:endParaRPr>
          </a:p>
          <a:p>
            <a:pPr marL="0" indent="0" algn="just"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Kemoterapi varlığında çoğu araştırmacı tüm karaciğer dozunun </a:t>
            </a:r>
            <a:r>
              <a:rPr lang="tr-TR" sz="2400" dirty="0">
                <a:solidFill>
                  <a:srgbClr val="2FF154"/>
                </a:solidFill>
              </a:rPr>
              <a:t>12 </a:t>
            </a:r>
            <a:r>
              <a:rPr lang="tr-TR" sz="2400" dirty="0" err="1">
                <a:solidFill>
                  <a:srgbClr val="2FF154"/>
                </a:solidFill>
              </a:rPr>
              <a:t>Gy</a:t>
            </a:r>
            <a:r>
              <a:rPr lang="tr-TR" sz="2400" dirty="0">
                <a:solidFill>
                  <a:srgbClr val="2FF154"/>
                </a:solidFill>
              </a:rPr>
              <a:t> 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üzerinde olmamasını önerir. </a:t>
            </a:r>
          </a:p>
          <a:p>
            <a:pPr marL="0" indent="0" algn="just">
              <a:buFont typeface="Arial" pitchFamily="34" charset="0"/>
              <a:buChar char="•"/>
            </a:pPr>
            <a:endParaRPr lang="tr-TR" sz="2400" dirty="0">
              <a:solidFill>
                <a:srgbClr val="FFFF00"/>
              </a:solidFill>
            </a:endParaRPr>
          </a:p>
          <a:p>
            <a:pPr marL="0" indent="0" algn="just"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</a:rPr>
              <a:t>Metotreksat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>
                <a:solidFill>
                  <a:srgbClr val="FFFF00"/>
                </a:solidFill>
              </a:rPr>
              <a:t>merkaptopürin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>
                <a:solidFill>
                  <a:srgbClr val="FFFF00"/>
                </a:solidFill>
              </a:rPr>
              <a:t>tioguanin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>
                <a:solidFill>
                  <a:srgbClr val="FFFF00"/>
                </a:solidFill>
              </a:rPr>
              <a:t>daktinomisin</a:t>
            </a:r>
            <a:r>
              <a:rPr lang="tr-TR" sz="2400" dirty="0">
                <a:solidFill>
                  <a:srgbClr val="FFFF00"/>
                </a:solidFill>
              </a:rPr>
              <a:t> kullanımı </a:t>
            </a:r>
            <a:r>
              <a:rPr lang="tr-TR" sz="2400" dirty="0" err="1">
                <a:solidFill>
                  <a:srgbClr val="FFFF00"/>
                </a:solidFill>
              </a:rPr>
              <a:t>hepatik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disfonksiyon</a:t>
            </a:r>
            <a:r>
              <a:rPr lang="tr-TR" sz="2400" dirty="0">
                <a:solidFill>
                  <a:srgbClr val="FFFF00"/>
                </a:solidFill>
              </a:rPr>
              <a:t> ve </a:t>
            </a:r>
            <a:r>
              <a:rPr lang="tr-TR" sz="2400" dirty="0" err="1">
                <a:solidFill>
                  <a:srgbClr val="FFFF00"/>
                </a:solidFill>
              </a:rPr>
              <a:t>veno-oklusif</a:t>
            </a:r>
            <a:r>
              <a:rPr lang="tr-TR" sz="2400" dirty="0">
                <a:solidFill>
                  <a:srgbClr val="FFFF00"/>
                </a:solidFill>
              </a:rPr>
              <a:t> hastalık </a:t>
            </a:r>
            <a:r>
              <a:rPr lang="tr-TR" sz="2400" dirty="0" smtClean="0">
                <a:solidFill>
                  <a:srgbClr val="FFFF00"/>
                </a:solidFill>
              </a:rPr>
              <a:t>riskini </a:t>
            </a:r>
            <a:endParaRPr lang="tr-TR" dirty="0"/>
          </a:p>
        </p:txBody>
      </p:sp>
      <p:sp>
        <p:nvSpPr>
          <p:cNvPr id="4" name="Yukarı Ok 3"/>
          <p:cNvSpPr/>
          <p:nvPr/>
        </p:nvSpPr>
        <p:spPr>
          <a:xfrm>
            <a:off x="1835696" y="6021288"/>
            <a:ext cx="288032" cy="2160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744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+mn-lt"/>
              </a:rPr>
              <a:t>DALAK DOZ- VOLÜM İLİŞKİSİ</a:t>
            </a:r>
            <a:r>
              <a:rPr lang="tr-TR" dirty="0"/>
              <a:t/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tr-TR" dirty="0">
                <a:solidFill>
                  <a:srgbClr val="FFFF00"/>
                </a:solidFill>
                <a:latin typeface="+mj-lt"/>
              </a:rPr>
              <a:t>Dalağın 30 </a:t>
            </a:r>
            <a:r>
              <a:rPr lang="tr-TR" dirty="0" err="1">
                <a:solidFill>
                  <a:srgbClr val="FFFF00"/>
                </a:solidFill>
                <a:latin typeface="+mj-lt"/>
              </a:rPr>
              <a:t>Gy</a:t>
            </a:r>
            <a:r>
              <a:rPr lang="tr-TR" dirty="0">
                <a:solidFill>
                  <a:srgbClr val="FFFF00"/>
                </a:solidFill>
                <a:latin typeface="+mj-lt"/>
              </a:rPr>
              <a:t> üzeri ışınlamalarında enfeksiyon </a:t>
            </a:r>
            <a:r>
              <a:rPr lang="tr-TR" dirty="0" smtClean="0">
                <a:solidFill>
                  <a:srgbClr val="FFFF00"/>
                </a:solidFill>
                <a:latin typeface="+mj-lt"/>
              </a:rPr>
              <a:t>riski</a:t>
            </a:r>
            <a:endParaRPr lang="tr-TR" dirty="0">
              <a:solidFill>
                <a:srgbClr val="FFFF00"/>
              </a:solidFill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tr-TR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Proflaktik</a:t>
            </a:r>
            <a:r>
              <a:rPr lang="tr-TR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 aşılama ve penisilin uygulamaları </a:t>
            </a:r>
            <a:r>
              <a:rPr lang="tr-TR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önerilebilir</a:t>
            </a:r>
            <a:endParaRPr lang="tr-TR" dirty="0">
              <a:solidFill>
                <a:schemeClr val="accent1">
                  <a:lumMod val="40000"/>
                  <a:lumOff val="60000"/>
                </a:schemeClr>
              </a:solidFill>
              <a:latin typeface="+mj-lt"/>
            </a:endParaRPr>
          </a:p>
          <a:p>
            <a:endParaRPr lang="tr-TR" dirty="0"/>
          </a:p>
        </p:txBody>
      </p:sp>
      <p:sp>
        <p:nvSpPr>
          <p:cNvPr id="4" name="Yukarı Ok 3"/>
          <p:cNvSpPr/>
          <p:nvPr/>
        </p:nvSpPr>
        <p:spPr>
          <a:xfrm>
            <a:off x="4283968" y="2492896"/>
            <a:ext cx="504056" cy="2160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618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GÖZ DOZ-VOLÜM İLİŞKİSİ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5800" y="980728"/>
            <a:ext cx="7772400" cy="3816424"/>
          </a:xfrm>
        </p:spPr>
        <p:txBody>
          <a:bodyPr/>
          <a:lstStyle/>
          <a:p>
            <a:pPr marL="0" indent="0">
              <a:buNone/>
            </a:pPr>
            <a:r>
              <a:rPr lang="tr-TR" sz="2800" dirty="0">
                <a:solidFill>
                  <a:srgbClr val="17B941"/>
                </a:solidFill>
              </a:rPr>
              <a:t>Retina:</a:t>
            </a:r>
            <a:r>
              <a:rPr lang="tr-TR" sz="2400" dirty="0">
                <a:solidFill>
                  <a:srgbClr val="17B941"/>
                </a:solidFill>
              </a:rPr>
              <a:t> </a:t>
            </a:r>
            <a:r>
              <a:rPr lang="tr-TR" sz="2400" dirty="0">
                <a:solidFill>
                  <a:srgbClr val="FFFF00"/>
                </a:solidFill>
              </a:rPr>
              <a:t>1.8-2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lik</a:t>
            </a:r>
            <a:r>
              <a:rPr lang="tr-TR" sz="2400" dirty="0">
                <a:solidFill>
                  <a:srgbClr val="FFFF00"/>
                </a:solidFill>
              </a:rPr>
              <a:t> standart </a:t>
            </a:r>
            <a:r>
              <a:rPr lang="tr-TR" sz="2400" dirty="0" err="1">
                <a:solidFill>
                  <a:srgbClr val="FFFF00"/>
                </a:solidFill>
              </a:rPr>
              <a:t>fraksiyonasyon</a:t>
            </a:r>
            <a:r>
              <a:rPr lang="tr-TR" sz="2400" dirty="0">
                <a:solidFill>
                  <a:srgbClr val="FFFF00"/>
                </a:solidFill>
              </a:rPr>
              <a:t> ile eşik değer 46 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endParaRPr lang="tr-TR" sz="24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tr-TR" sz="2800" dirty="0" smtClean="0">
                <a:solidFill>
                  <a:srgbClr val="17B941"/>
                </a:solidFill>
              </a:rPr>
              <a:t>Lakrimal </a:t>
            </a:r>
            <a:r>
              <a:rPr lang="tr-TR" sz="2800" dirty="0">
                <a:solidFill>
                  <a:srgbClr val="17B941"/>
                </a:solidFill>
              </a:rPr>
              <a:t>Aparat: 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Yan etki görülme olasılığı standart  fraksiyon ile 45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altında çok az iken 60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sonrası çok 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fazla</a:t>
            </a:r>
            <a:endParaRPr lang="tr-TR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tr-TR" sz="2800" dirty="0">
                <a:solidFill>
                  <a:srgbClr val="17B941"/>
                </a:solidFill>
              </a:rPr>
              <a:t>Lens:</a:t>
            </a:r>
            <a:r>
              <a:rPr lang="tr-TR" sz="2400" dirty="0">
                <a:solidFill>
                  <a:srgbClr val="17B941"/>
                </a:solidFill>
              </a:rPr>
              <a:t> </a:t>
            </a:r>
            <a:r>
              <a:rPr lang="tr-TR" sz="2400" dirty="0">
                <a:solidFill>
                  <a:srgbClr val="FFFF00"/>
                </a:solidFill>
              </a:rPr>
              <a:t>Tek doz 10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TVI yapılan hastalarda katarakt gelişme oranı %80, </a:t>
            </a:r>
            <a:r>
              <a:rPr lang="tr-TR" sz="2400" dirty="0" err="1">
                <a:solidFill>
                  <a:srgbClr val="FFFF00"/>
                </a:solidFill>
              </a:rPr>
              <a:t>fraksiyone</a:t>
            </a:r>
            <a:r>
              <a:rPr lang="tr-TR" sz="2400" dirty="0">
                <a:solidFill>
                  <a:srgbClr val="FFFF00"/>
                </a:solidFill>
              </a:rPr>
              <a:t> 12-15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sonrası ise %</a:t>
            </a:r>
            <a:r>
              <a:rPr lang="tr-TR" sz="2400" dirty="0" smtClean="0">
                <a:solidFill>
                  <a:srgbClr val="FFFF00"/>
                </a:solidFill>
              </a:rPr>
              <a:t>19 </a:t>
            </a:r>
            <a:r>
              <a:rPr lang="tr-TR" sz="2400" dirty="0" err="1">
                <a:solidFill>
                  <a:srgbClr val="FFFF00"/>
                </a:solidFill>
              </a:rPr>
              <a:t>Kortikosteroidler</a:t>
            </a:r>
            <a:r>
              <a:rPr lang="tr-TR" sz="2400" dirty="0">
                <a:solidFill>
                  <a:srgbClr val="FFFF00"/>
                </a:solidFill>
              </a:rPr>
              <a:t> riski arttırırken, yaşın küçük olması ile risk </a:t>
            </a:r>
            <a:r>
              <a:rPr lang="tr-TR" sz="2400" dirty="0" smtClean="0">
                <a:solidFill>
                  <a:srgbClr val="FFFF00"/>
                </a:solidFill>
              </a:rPr>
              <a:t>azalır</a:t>
            </a:r>
            <a:endParaRPr lang="tr-TR" sz="2400" dirty="0">
              <a:solidFill>
                <a:srgbClr val="FFFF00"/>
              </a:solidFill>
            </a:endParaRPr>
          </a:p>
          <a:p>
            <a:endParaRPr lang="tr-T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869160"/>
            <a:ext cx="8352928" cy="1702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798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+mn-lt"/>
              </a:rPr>
              <a:t>KULAK DOZ- VOLÜM İLİŞKİSİ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340768"/>
            <a:ext cx="4680520" cy="4545682"/>
          </a:xfrm>
        </p:spPr>
        <p:txBody>
          <a:bodyPr/>
          <a:lstStyle/>
          <a:p>
            <a:r>
              <a:rPr lang="tr-TR" sz="2400" dirty="0">
                <a:solidFill>
                  <a:srgbClr val="FFFF00"/>
                </a:solidFill>
                <a:latin typeface="+mj-lt"/>
              </a:rPr>
              <a:t>RT,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koklear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hasara yol açarak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sensorinöral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duyma kaybına 60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Gy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uygulanan hastaların %25’inde yol </a:t>
            </a:r>
            <a:r>
              <a:rPr lang="tr-TR" sz="2400" dirty="0" smtClean="0">
                <a:solidFill>
                  <a:srgbClr val="FFFF00"/>
                </a:solidFill>
                <a:latin typeface="+mj-lt"/>
              </a:rPr>
              <a:t>açar. </a:t>
            </a:r>
          </a:p>
          <a:p>
            <a:r>
              <a:rPr lang="tr-TR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Platin bazlı </a:t>
            </a:r>
            <a:r>
              <a:rPr lang="tr-TR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kemoterapötikler</a:t>
            </a:r>
            <a:r>
              <a:rPr lang="tr-TR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, </a:t>
            </a:r>
            <a:r>
              <a:rPr lang="tr-TR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luup</a:t>
            </a:r>
            <a:r>
              <a:rPr lang="tr-TR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tr-TR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diüretikler</a:t>
            </a:r>
            <a:r>
              <a:rPr lang="tr-TR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, </a:t>
            </a:r>
            <a:r>
              <a:rPr lang="tr-TR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aminoglikozit</a:t>
            </a:r>
            <a:r>
              <a:rPr lang="tr-TR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antibiyotikler </a:t>
            </a:r>
            <a:endParaRPr lang="tr-TR" sz="24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r>
              <a:rPr lang="tr-TR" sz="2400" dirty="0" smtClean="0">
                <a:solidFill>
                  <a:srgbClr val="FFFF00"/>
                </a:solidFill>
                <a:latin typeface="+mj-lt"/>
              </a:rPr>
              <a:t>Günümüzde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kokleaya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uygulanan 30-50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Gy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dozun orta sıklıkta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sensorinöral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duyma kaybı ile ilişkili olduğu ve </a:t>
            </a:r>
            <a:r>
              <a:rPr lang="tr-TR" sz="2400" dirty="0" err="1">
                <a:solidFill>
                  <a:srgbClr val="FFFF00"/>
                </a:solidFill>
                <a:latin typeface="+mj-lt"/>
              </a:rPr>
              <a:t>şunt</a:t>
            </a:r>
            <a:r>
              <a:rPr lang="tr-TR" sz="2400" dirty="0">
                <a:solidFill>
                  <a:srgbClr val="FFFF00"/>
                </a:solidFill>
                <a:latin typeface="+mj-lt"/>
              </a:rPr>
              <a:t> prosedürlerinin bu riski arttırdığı bilinmektedir.</a:t>
            </a:r>
            <a:endParaRPr lang="tr-TR" sz="2400" dirty="0">
              <a:solidFill>
                <a:srgbClr val="FFFF00"/>
              </a:solidFill>
              <a:latin typeface="+mj-lt"/>
              <a:cs typeface="Aharoni" pitchFamily="2" charset="-79"/>
            </a:endParaRPr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628800"/>
            <a:ext cx="3796988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Yukarı Ok 4"/>
          <p:cNvSpPr/>
          <p:nvPr/>
        </p:nvSpPr>
        <p:spPr>
          <a:xfrm>
            <a:off x="4572000" y="3645024"/>
            <a:ext cx="216024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305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+mn-lt"/>
              </a:rPr>
              <a:t>DİŞLER VE </a:t>
            </a:r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ORAL KAVİTE DOZ-VOLÜM </a:t>
            </a:r>
            <a:r>
              <a:rPr lang="tr-TR" sz="4000" dirty="0">
                <a:solidFill>
                  <a:srgbClr val="FF0000"/>
                </a:solidFill>
                <a:latin typeface="+mn-lt"/>
              </a:rPr>
              <a:t>İLİŞKİSİ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3672408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</a:rPr>
              <a:t>20-40 </a:t>
            </a:r>
            <a:r>
              <a:rPr lang="tr-TR" sz="2400" dirty="0" err="1">
                <a:solidFill>
                  <a:srgbClr val="FFFF00"/>
                </a:solidFill>
              </a:rPr>
              <a:t>Gy’lik</a:t>
            </a:r>
            <a:r>
              <a:rPr lang="tr-TR" sz="2400" dirty="0">
                <a:solidFill>
                  <a:srgbClr val="FFFF00"/>
                </a:solidFill>
              </a:rPr>
              <a:t> dozlar diş köklerinde kısalma ve </a:t>
            </a:r>
            <a:r>
              <a:rPr lang="tr-TR" sz="2400" dirty="0" err="1">
                <a:solidFill>
                  <a:srgbClr val="FFFF00"/>
                </a:solidFill>
              </a:rPr>
              <a:t>hipokalsifikasyona</a:t>
            </a:r>
            <a:r>
              <a:rPr lang="tr-TR" sz="2400" dirty="0">
                <a:solidFill>
                  <a:srgbClr val="FFFF00"/>
                </a:solidFill>
              </a:rPr>
              <a:t> yol açabilir. Baş-boyun yerleşimli </a:t>
            </a:r>
            <a:r>
              <a:rPr lang="tr-TR" sz="2400" dirty="0" err="1">
                <a:solidFill>
                  <a:srgbClr val="FFFF00"/>
                </a:solidFill>
              </a:rPr>
              <a:t>rabdomyosarkom</a:t>
            </a:r>
            <a:r>
              <a:rPr lang="tr-TR" sz="2400" dirty="0">
                <a:solidFill>
                  <a:srgbClr val="FFFF00"/>
                </a:solidFill>
              </a:rPr>
              <a:t> nedeni ile 40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üzeri RT alan çocukların %85’inde </a:t>
            </a:r>
            <a:r>
              <a:rPr lang="tr-TR" sz="2400" dirty="0" err="1">
                <a:solidFill>
                  <a:srgbClr val="FFFF00"/>
                </a:solidFill>
              </a:rPr>
              <a:t>mandibular</a:t>
            </a:r>
            <a:r>
              <a:rPr lang="tr-TR" sz="2400" dirty="0">
                <a:solidFill>
                  <a:srgbClr val="FFFF00"/>
                </a:solidFill>
              </a:rPr>
              <a:t> ve maksiler </a:t>
            </a:r>
            <a:r>
              <a:rPr lang="tr-TR" sz="2400" dirty="0" err="1">
                <a:solidFill>
                  <a:srgbClr val="FFFF00"/>
                </a:solidFill>
              </a:rPr>
              <a:t>hipolazi</a:t>
            </a:r>
            <a:r>
              <a:rPr lang="tr-TR" sz="2400" dirty="0">
                <a:solidFill>
                  <a:srgbClr val="FFFF00"/>
                </a:solidFill>
              </a:rPr>
              <a:t>, artmış çürük, </a:t>
            </a:r>
            <a:r>
              <a:rPr lang="tr-TR" sz="2400" dirty="0" err="1">
                <a:solidFill>
                  <a:srgbClr val="FFFF00"/>
                </a:solidFill>
              </a:rPr>
              <a:t>hipo</a:t>
            </a:r>
            <a:r>
              <a:rPr lang="tr-TR" sz="2400" dirty="0">
                <a:solidFill>
                  <a:srgbClr val="FFFF00"/>
                </a:solidFill>
              </a:rPr>
              <a:t> veya </a:t>
            </a:r>
            <a:r>
              <a:rPr lang="tr-TR" sz="2400" dirty="0" err="1">
                <a:solidFill>
                  <a:srgbClr val="FFFF00"/>
                </a:solidFill>
              </a:rPr>
              <a:t>mikrodonti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>
                <a:solidFill>
                  <a:srgbClr val="FFFF00"/>
                </a:solidFill>
              </a:rPr>
              <a:t>kserostomi</a:t>
            </a:r>
            <a:r>
              <a:rPr lang="tr-TR" sz="2400" dirty="0">
                <a:solidFill>
                  <a:srgbClr val="FFFF00"/>
                </a:solidFill>
              </a:rPr>
              <a:t> gibi bariz bozukluklar gözlenir .</a:t>
            </a:r>
          </a:p>
          <a:p>
            <a:pPr algn="just"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Özellikle 6 yaş altı ışınlananlarda ve 45-65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gibi yüksek dozlarda ciddi diş yapı bozuklukları ve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malokluzyonlar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bildirilmiş.</a:t>
            </a:r>
            <a:endParaRPr lang="tr-TR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3136"/>
            <a:ext cx="5616624" cy="208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656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0"/>
            <a:ext cx="859155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016" y="3717032"/>
            <a:ext cx="7140557" cy="2796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9757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KEMİK İLİĞİ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544" y="1268760"/>
            <a:ext cx="4824536" cy="5184576"/>
          </a:xfrm>
        </p:spPr>
        <p:txBody>
          <a:bodyPr/>
          <a:lstStyle/>
          <a:p>
            <a:pPr marL="0" indent="0">
              <a:buNone/>
            </a:pPr>
            <a:r>
              <a:rPr lang="tr-TR" sz="2400" dirty="0">
                <a:solidFill>
                  <a:srgbClr val="FFFF00"/>
                </a:solidFill>
              </a:rPr>
              <a:t>Kemik iliğinin </a:t>
            </a:r>
            <a:r>
              <a:rPr lang="tr-TR" sz="2400" dirty="0" err="1">
                <a:solidFill>
                  <a:srgbClr val="FFFF00"/>
                </a:solidFill>
              </a:rPr>
              <a:t>rejeneratif</a:t>
            </a:r>
            <a:r>
              <a:rPr lang="tr-TR" sz="2400" dirty="0">
                <a:solidFill>
                  <a:srgbClr val="FFFF00"/>
                </a:solidFill>
              </a:rPr>
              <a:t> kapasitesi ışınlanan hacim ile </a:t>
            </a:r>
            <a:r>
              <a:rPr lang="tr-TR" sz="2400" dirty="0" smtClean="0">
                <a:solidFill>
                  <a:srgbClr val="FFFF00"/>
                </a:solidFill>
              </a:rPr>
              <a:t>ilişkili. </a:t>
            </a:r>
            <a:r>
              <a:rPr lang="tr-TR" sz="2400" dirty="0">
                <a:solidFill>
                  <a:srgbClr val="FFFF00"/>
                </a:solidFill>
              </a:rPr>
              <a:t>Tüm kemik iliğinin %25’inden azı ışınlandığında, ışınlanmayan bölüm başarılı şekilde </a:t>
            </a:r>
            <a:r>
              <a:rPr lang="tr-TR" sz="2400" dirty="0" err="1">
                <a:solidFill>
                  <a:srgbClr val="FFFF00"/>
                </a:solidFill>
              </a:rPr>
              <a:t>hematopoetik</a:t>
            </a:r>
            <a:r>
              <a:rPr lang="tr-TR" sz="2400" dirty="0">
                <a:solidFill>
                  <a:srgbClr val="FFFF00"/>
                </a:solidFill>
              </a:rPr>
              <a:t> ihtiyacı </a:t>
            </a:r>
            <a:r>
              <a:rPr lang="tr-TR" sz="2400" dirty="0" err="1">
                <a:solidFill>
                  <a:srgbClr val="FFFF00"/>
                </a:solidFill>
              </a:rPr>
              <a:t>kompanse</a:t>
            </a:r>
            <a:r>
              <a:rPr lang="tr-TR" sz="2400" dirty="0">
                <a:solidFill>
                  <a:srgbClr val="FFFF00"/>
                </a:solidFill>
              </a:rPr>
              <a:t> eder ve ışınlanmış kısım </a:t>
            </a:r>
            <a:r>
              <a:rPr lang="tr-TR" sz="2400" dirty="0" err="1">
                <a:solidFill>
                  <a:srgbClr val="FFFF00"/>
                </a:solidFill>
              </a:rPr>
              <a:t>rejenere</a:t>
            </a:r>
            <a:r>
              <a:rPr lang="tr-TR" sz="2400" dirty="0">
                <a:solidFill>
                  <a:srgbClr val="FFFF00"/>
                </a:solidFill>
              </a:rPr>
              <a:t> olmaz. %50’sinden fazlası ışınlandığında ise kemik iliği rezervi yeterli olmaz ve paradoks olarak alan içindeki kemik iliği 2-5 yıl sonra </a:t>
            </a:r>
            <a:r>
              <a:rPr lang="tr-TR" sz="2400" dirty="0" err="1">
                <a:solidFill>
                  <a:srgbClr val="FFFF00"/>
                </a:solidFill>
              </a:rPr>
              <a:t>rejenere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smtClean="0">
                <a:solidFill>
                  <a:srgbClr val="FFFF00"/>
                </a:solidFill>
              </a:rPr>
              <a:t>olur.</a:t>
            </a:r>
            <a:endParaRPr lang="tr-TR" sz="2400" dirty="0">
              <a:solidFill>
                <a:srgbClr val="FFFF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066" y="1556792"/>
            <a:ext cx="4110248" cy="436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31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>
                <a:solidFill>
                  <a:srgbClr val="FF0000"/>
                </a:solidFill>
                <a:latin typeface="+mn-lt"/>
              </a:rPr>
              <a:t>İKİNCİL KANSERLER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27584" y="1196752"/>
            <a:ext cx="7630616" cy="3672408"/>
          </a:xfrm>
        </p:spPr>
        <p:txBody>
          <a:bodyPr/>
          <a:lstStyle/>
          <a:p>
            <a:pPr marL="0" indent="0">
              <a:buNone/>
            </a:pPr>
            <a:r>
              <a:rPr lang="tr-TR" sz="2000" dirty="0">
                <a:solidFill>
                  <a:srgbClr val="FFFF00"/>
                </a:solidFill>
              </a:rPr>
              <a:t>Sağ kalan kanserli çocuklarda artmış ikincil kanser riskine ilk olarak 1975 yılında </a:t>
            </a:r>
            <a:r>
              <a:rPr lang="tr-TR" sz="2000" dirty="0" err="1">
                <a:solidFill>
                  <a:srgbClr val="FFFF00"/>
                </a:solidFill>
              </a:rPr>
              <a:t>Li</a:t>
            </a:r>
            <a:r>
              <a:rPr lang="tr-TR" sz="2000" dirty="0">
                <a:solidFill>
                  <a:srgbClr val="FFFF00"/>
                </a:solidFill>
              </a:rPr>
              <a:t> ve ark tarafından dikkat çekilmiştir.  En sık görülen ikincil kanserler, lösemi, meme, kemik, santral sinir sistemi tümörleri, </a:t>
            </a:r>
            <a:r>
              <a:rPr lang="tr-TR" sz="2000" dirty="0" err="1">
                <a:solidFill>
                  <a:srgbClr val="FFFF00"/>
                </a:solidFill>
              </a:rPr>
              <a:t>tiroid</a:t>
            </a:r>
            <a:r>
              <a:rPr lang="tr-TR" sz="2000" dirty="0">
                <a:solidFill>
                  <a:srgbClr val="FFFF00"/>
                </a:solidFill>
              </a:rPr>
              <a:t> kanserleri olup, ikincil kanserin tipi ve </a:t>
            </a:r>
            <a:r>
              <a:rPr lang="tr-TR" sz="2000" dirty="0" err="1">
                <a:solidFill>
                  <a:srgbClr val="FFFF00"/>
                </a:solidFill>
              </a:rPr>
              <a:t>insidansı</a:t>
            </a:r>
            <a:r>
              <a:rPr lang="tr-TR" sz="2000" dirty="0">
                <a:solidFill>
                  <a:srgbClr val="FFFF00"/>
                </a:solidFill>
              </a:rPr>
              <a:t>; hastaya ait faktörler (yaş, </a:t>
            </a:r>
            <a:r>
              <a:rPr lang="tr-TR" sz="2000" dirty="0" err="1">
                <a:solidFill>
                  <a:srgbClr val="FFFF00"/>
                </a:solidFill>
              </a:rPr>
              <a:t>immun</a:t>
            </a:r>
            <a:r>
              <a:rPr lang="tr-TR" sz="2000" dirty="0">
                <a:solidFill>
                  <a:srgbClr val="FFFF00"/>
                </a:solidFill>
              </a:rPr>
              <a:t> fonksiyon, genetik ve </a:t>
            </a:r>
            <a:r>
              <a:rPr lang="tr-TR" sz="2000" dirty="0" err="1">
                <a:solidFill>
                  <a:srgbClr val="FFFF00"/>
                </a:solidFill>
              </a:rPr>
              <a:t>hormonal</a:t>
            </a:r>
            <a:r>
              <a:rPr lang="tr-TR" sz="2000" dirty="0">
                <a:solidFill>
                  <a:srgbClr val="FFFF00"/>
                </a:solidFill>
              </a:rPr>
              <a:t> durum), hastalığa ait faktörler (</a:t>
            </a:r>
            <a:r>
              <a:rPr lang="tr-TR" sz="2000" dirty="0" err="1">
                <a:solidFill>
                  <a:srgbClr val="FFFF00"/>
                </a:solidFill>
              </a:rPr>
              <a:t>primer</a:t>
            </a:r>
            <a:r>
              <a:rPr lang="tr-TR" sz="2000" dirty="0">
                <a:solidFill>
                  <a:srgbClr val="FFFF00"/>
                </a:solidFill>
              </a:rPr>
              <a:t> tanı, uygulanan tedavi), çevresel faktörler ve yaşam biçimine göre değişmektedir. </a:t>
            </a:r>
          </a:p>
          <a:p>
            <a:pPr marL="0" indent="0">
              <a:buNone/>
            </a:pP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Otozomal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dominant (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Li-Fraumeni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sendromu ve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Cowden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hastalığı) ve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otozomal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resesif (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Fankoni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anemesi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Bloom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Sendromu, ve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Xeroderma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Pigmentozum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geçişli kanser sendromlarında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multipl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kanser-ikincil kanser riski çok </a:t>
            </a:r>
            <a:r>
              <a:rPr lang="tr-TR" sz="2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yüksek.</a:t>
            </a:r>
            <a:endParaRPr lang="tr-TR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725144"/>
            <a:ext cx="3672408" cy="181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022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3 İçerik Yer Tutucusu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692696"/>
            <a:ext cx="7324288" cy="5481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1402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</a:rPr>
              <a:t>Inskip</a:t>
            </a:r>
            <a:r>
              <a:rPr lang="tr-TR" sz="2400" dirty="0">
                <a:solidFill>
                  <a:srgbClr val="FFFF00"/>
                </a:solidFill>
              </a:rPr>
              <a:t> ve ark. tarafından yayınlanan ve SEER (</a:t>
            </a:r>
            <a:r>
              <a:rPr lang="tr-TR" sz="2400" dirty="0" err="1">
                <a:solidFill>
                  <a:srgbClr val="FFFF00"/>
                </a:solidFill>
              </a:rPr>
              <a:t>Surveillance</a:t>
            </a:r>
            <a:r>
              <a:rPr lang="tr-TR" sz="2400" dirty="0">
                <a:solidFill>
                  <a:srgbClr val="FFFF00"/>
                </a:solidFill>
              </a:rPr>
              <a:t>, </a:t>
            </a:r>
            <a:r>
              <a:rPr lang="tr-TR" sz="2400" dirty="0" err="1">
                <a:solidFill>
                  <a:srgbClr val="FFFF00"/>
                </a:solidFill>
              </a:rPr>
              <a:t>Epidemiology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and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End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err="1">
                <a:solidFill>
                  <a:srgbClr val="FFFF00"/>
                </a:solidFill>
              </a:rPr>
              <a:t>Result</a:t>
            </a:r>
            <a:r>
              <a:rPr lang="tr-TR" sz="2400" dirty="0">
                <a:solidFill>
                  <a:srgbClr val="FFFF00"/>
                </a:solidFill>
              </a:rPr>
              <a:t>) kayıtlarının kullanıldığı çalışmada, Amerika Birleşik Devletlerinde 1993-2002 yılları arasında kanser tanısı almış 23 819 çocukta ikincil kanserler araştırılmış, 327 hastada 352 ikincil kanser saptanmış, gözlenen ve genel </a:t>
            </a:r>
            <a:r>
              <a:rPr lang="tr-TR" sz="2400" dirty="0" err="1">
                <a:solidFill>
                  <a:srgbClr val="FFFF00"/>
                </a:solidFill>
              </a:rPr>
              <a:t>populasyonda</a:t>
            </a:r>
            <a:r>
              <a:rPr lang="tr-TR" sz="2400" dirty="0">
                <a:solidFill>
                  <a:srgbClr val="FFFF00"/>
                </a:solidFill>
              </a:rPr>
              <a:t> beklenen değerler karşılaştırıldığında </a:t>
            </a:r>
            <a:r>
              <a:rPr lang="tr-TR" sz="2400" dirty="0">
                <a:solidFill>
                  <a:srgbClr val="2FF154"/>
                </a:solidFill>
              </a:rPr>
              <a:t>6-8 kat artmış </a:t>
            </a:r>
            <a:r>
              <a:rPr lang="tr-TR" sz="2400" dirty="0">
                <a:solidFill>
                  <a:srgbClr val="FFFF00"/>
                </a:solidFill>
              </a:rPr>
              <a:t>risk rapor edilmiştir.  En çok görülen ikincil </a:t>
            </a:r>
            <a:r>
              <a:rPr lang="tr-TR" sz="2400" dirty="0" err="1">
                <a:solidFill>
                  <a:srgbClr val="FFFF00"/>
                </a:solidFill>
              </a:rPr>
              <a:t>primer</a:t>
            </a:r>
            <a:r>
              <a:rPr lang="tr-TR" sz="2400" dirty="0">
                <a:solidFill>
                  <a:srgbClr val="FFFF00"/>
                </a:solidFill>
              </a:rPr>
              <a:t> kanserler </a:t>
            </a:r>
            <a:r>
              <a:rPr lang="tr-TR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meme, kemik ve </a:t>
            </a:r>
            <a:r>
              <a:rPr lang="tr-TR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tiroid</a:t>
            </a:r>
            <a:r>
              <a:rPr lang="tr-TR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kanseri ve akut </a:t>
            </a:r>
            <a:r>
              <a:rPr lang="tr-TR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miyeloid</a:t>
            </a:r>
            <a:r>
              <a:rPr lang="tr-TR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tr-TR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lösemi</a:t>
            </a:r>
            <a:r>
              <a:rPr lang="tr-TR" sz="2400" dirty="0" smtClean="0">
                <a:solidFill>
                  <a:srgbClr val="FFFF00"/>
                </a:solidFill>
              </a:rPr>
              <a:t>. </a:t>
            </a:r>
            <a:r>
              <a:rPr lang="tr-TR" sz="2400" dirty="0">
                <a:solidFill>
                  <a:srgbClr val="FFFF00"/>
                </a:solidFill>
              </a:rPr>
              <a:t>Solid tümör görülme riski takip eden yıllarda artarken, lösemi 10. Yılda plato yapar.</a:t>
            </a:r>
          </a:p>
          <a:p>
            <a:endParaRPr lang="tr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104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11560" y="908720"/>
            <a:ext cx="7846640" cy="1080120"/>
          </a:xfrm>
        </p:spPr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TİROİD </a:t>
            </a:r>
            <a:br>
              <a:rPr lang="tr-TR" sz="4000" dirty="0" smtClean="0">
                <a:solidFill>
                  <a:srgbClr val="FF0000"/>
                </a:solidFill>
                <a:latin typeface="+mn-lt"/>
              </a:rPr>
            </a:br>
            <a:r>
              <a:rPr lang="tr-TR" dirty="0">
                <a:solidFill>
                  <a:srgbClr val="92D050"/>
                </a:solidFill>
              </a:rPr>
              <a:t/>
            </a:r>
            <a:br>
              <a:rPr lang="tr-TR" dirty="0">
                <a:solidFill>
                  <a:srgbClr val="92D050"/>
                </a:solidFill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23528" y="2204864"/>
            <a:ext cx="8134672" cy="3681586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</a:rPr>
              <a:t>Tiroid</a:t>
            </a:r>
            <a:r>
              <a:rPr lang="tr-TR" sz="2400" dirty="0">
                <a:solidFill>
                  <a:srgbClr val="FFFF00"/>
                </a:solidFill>
              </a:rPr>
              <a:t> kanseri </a:t>
            </a:r>
            <a:r>
              <a:rPr lang="tr-TR" sz="2400" dirty="0" err="1">
                <a:solidFill>
                  <a:srgbClr val="FFFF00"/>
                </a:solidFill>
              </a:rPr>
              <a:t>insidansı</a:t>
            </a:r>
            <a:r>
              <a:rPr lang="tr-TR" sz="2400" dirty="0">
                <a:solidFill>
                  <a:srgbClr val="FFFF00"/>
                </a:solidFill>
              </a:rPr>
              <a:t> özellikle 20-29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dozlarda artmakta 30 </a:t>
            </a:r>
            <a:r>
              <a:rPr lang="tr-TR" sz="2400" dirty="0" err="1">
                <a:solidFill>
                  <a:srgbClr val="FFFF00"/>
                </a:solidFill>
              </a:rPr>
              <a:t>Gy</a:t>
            </a:r>
            <a:r>
              <a:rPr lang="tr-TR" sz="2400" dirty="0">
                <a:solidFill>
                  <a:srgbClr val="FFFF00"/>
                </a:solidFill>
              </a:rPr>
              <a:t> üzerinde ise </a:t>
            </a:r>
            <a:r>
              <a:rPr lang="tr-TR" sz="2400" dirty="0" err="1">
                <a:solidFill>
                  <a:srgbClr val="FFFF00"/>
                </a:solidFill>
              </a:rPr>
              <a:t>insidans</a:t>
            </a: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 smtClean="0">
                <a:solidFill>
                  <a:srgbClr val="FFFF00"/>
                </a:solidFill>
              </a:rPr>
              <a:t>azalmakta.</a:t>
            </a:r>
            <a:endParaRPr lang="tr-TR" sz="2400" dirty="0">
              <a:solidFill>
                <a:srgbClr val="FFFF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rgbClr val="FFFF00"/>
                </a:solidFill>
              </a:rPr>
              <a:t> 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10 yaşından önce tanı ve tedavi alanlarda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tiroid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kanseri riski, 10 yaş üstündekilerden daha fazla bulunmuştur.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 err="1">
                <a:solidFill>
                  <a:srgbClr val="FFFF00"/>
                </a:solidFill>
              </a:rPr>
              <a:t>Sklar</a:t>
            </a:r>
            <a:r>
              <a:rPr lang="tr-TR" sz="2400" dirty="0">
                <a:solidFill>
                  <a:srgbClr val="FFFF00"/>
                </a:solidFill>
              </a:rPr>
              <a:t> ve ark HD çocukta yaptığı bir çalışmada 20 hastada </a:t>
            </a:r>
            <a:r>
              <a:rPr lang="tr-TR" sz="2400" dirty="0" err="1">
                <a:solidFill>
                  <a:srgbClr val="FFFF00"/>
                </a:solidFill>
              </a:rPr>
              <a:t>tiroid</a:t>
            </a:r>
            <a:r>
              <a:rPr lang="tr-TR" sz="2400" dirty="0">
                <a:solidFill>
                  <a:srgbClr val="FFFF00"/>
                </a:solidFill>
              </a:rPr>
              <a:t> kanserinin riskini genel </a:t>
            </a:r>
            <a:r>
              <a:rPr lang="tr-TR" sz="2400" dirty="0" err="1">
                <a:solidFill>
                  <a:srgbClr val="FFFF00"/>
                </a:solidFill>
              </a:rPr>
              <a:t>populasyondan</a:t>
            </a:r>
            <a:r>
              <a:rPr lang="tr-TR" sz="2400" dirty="0">
                <a:solidFill>
                  <a:srgbClr val="FFFF00"/>
                </a:solidFill>
              </a:rPr>
              <a:t> 18.3 kat fazla olduğunu göstermiştir.</a:t>
            </a:r>
          </a:p>
          <a:p>
            <a:pPr>
              <a:buFont typeface="Arial" pitchFamily="34" charset="0"/>
              <a:buChar char="•"/>
            </a:pP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9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cGy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dozda bile </a:t>
            </a:r>
            <a:r>
              <a:rPr lang="tr-TR" sz="2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tiroid</a:t>
            </a:r>
            <a:r>
              <a:rPr lang="tr-TR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kanserinde 4 misli artış olduğu gözlenmiştir 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6896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MEME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1520" y="1771650"/>
            <a:ext cx="5112568" cy="4681686"/>
          </a:xfrm>
        </p:spPr>
        <p:txBody>
          <a:bodyPr/>
          <a:lstStyle/>
          <a:p>
            <a:pPr marL="0" indent="0"/>
            <a:r>
              <a:rPr lang="tr-TR" sz="2000" dirty="0">
                <a:solidFill>
                  <a:srgbClr val="FFFF00"/>
                </a:solidFill>
              </a:rPr>
              <a:t>20 yaş altında </a:t>
            </a:r>
            <a:r>
              <a:rPr lang="tr-TR" sz="2000" dirty="0" err="1">
                <a:solidFill>
                  <a:srgbClr val="FFFF00"/>
                </a:solidFill>
              </a:rPr>
              <a:t>toraks</a:t>
            </a:r>
            <a:r>
              <a:rPr lang="tr-TR" sz="2000" dirty="0">
                <a:solidFill>
                  <a:srgbClr val="FFFF00"/>
                </a:solidFill>
              </a:rPr>
              <a:t> RT uygulanan hastalarda meme kanseri görülme yaşı </a:t>
            </a:r>
            <a:r>
              <a:rPr lang="tr-TR" sz="2000" dirty="0" err="1">
                <a:solidFill>
                  <a:srgbClr val="FFFF00"/>
                </a:solidFill>
              </a:rPr>
              <a:t>median</a:t>
            </a:r>
            <a:r>
              <a:rPr lang="tr-TR" sz="2000" dirty="0">
                <a:solidFill>
                  <a:srgbClr val="FFFF00"/>
                </a:solidFill>
              </a:rPr>
              <a:t> 35 </a:t>
            </a:r>
            <a:r>
              <a:rPr lang="tr-TR" sz="2000" dirty="0" smtClean="0">
                <a:solidFill>
                  <a:srgbClr val="FFFF00"/>
                </a:solidFill>
              </a:rPr>
              <a:t>, </a:t>
            </a:r>
            <a:r>
              <a:rPr lang="tr-TR" sz="2000" dirty="0">
                <a:solidFill>
                  <a:srgbClr val="FFFF00"/>
                </a:solidFill>
              </a:rPr>
              <a:t>genel </a:t>
            </a:r>
            <a:r>
              <a:rPr lang="tr-TR" sz="2000" dirty="0" err="1">
                <a:solidFill>
                  <a:srgbClr val="FFFF00"/>
                </a:solidFill>
              </a:rPr>
              <a:t>populasyonda</a:t>
            </a:r>
            <a:r>
              <a:rPr lang="tr-TR" sz="2000" dirty="0">
                <a:solidFill>
                  <a:srgbClr val="FFFF00"/>
                </a:solidFill>
              </a:rPr>
              <a:t> 61 </a:t>
            </a:r>
            <a:endParaRPr lang="tr-TR" sz="2000" dirty="0" smtClean="0">
              <a:solidFill>
                <a:srgbClr val="FFFF00"/>
              </a:solidFill>
            </a:endParaRPr>
          </a:p>
          <a:p>
            <a:pPr marL="0" indent="0"/>
            <a:r>
              <a:rPr lang="tr-TR" sz="2000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Inskip</a:t>
            </a:r>
            <a:r>
              <a:rPr lang="tr-TR" sz="2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ve ark.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toraks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RT dozu ile meme kanseri gelişme riskinin lineer olarak arttığını ve 40 </a:t>
            </a:r>
            <a:r>
              <a:rPr lang="tr-TR" sz="2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Gy</a:t>
            </a:r>
            <a:r>
              <a:rPr lang="tr-TR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doz ile riskin ışınlanmayanlara göre 10.8 kat (%95 CI, 3.8-31) arttığını </a:t>
            </a:r>
            <a:r>
              <a:rPr lang="tr-TR" sz="2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bildirmiş</a:t>
            </a:r>
          </a:p>
          <a:p>
            <a:pPr marL="0" indent="0"/>
            <a:r>
              <a:rPr lang="tr-TR" sz="2000" dirty="0">
                <a:solidFill>
                  <a:srgbClr val="FFFF00"/>
                </a:solidFill>
                <a:effectLst/>
              </a:rPr>
              <a:t>Memeye uygulanan her bir </a:t>
            </a:r>
            <a:r>
              <a:rPr lang="tr-TR" sz="2000" dirty="0" err="1">
                <a:solidFill>
                  <a:srgbClr val="FFFF00"/>
                </a:solidFill>
                <a:effectLst/>
              </a:rPr>
              <a:t>Gy</a:t>
            </a:r>
            <a:r>
              <a:rPr lang="tr-TR" sz="2000" dirty="0">
                <a:solidFill>
                  <a:srgbClr val="FFFF00"/>
                </a:solidFill>
                <a:effectLst/>
              </a:rPr>
              <a:t> için meme kanseri gelişme rölatif </a:t>
            </a:r>
            <a:r>
              <a:rPr lang="tr-TR" sz="2000" dirty="0" err="1">
                <a:solidFill>
                  <a:srgbClr val="FFFF00"/>
                </a:solidFill>
                <a:effectLst/>
              </a:rPr>
              <a:t>risikin</a:t>
            </a:r>
            <a:r>
              <a:rPr lang="tr-TR" sz="2000" dirty="0">
                <a:solidFill>
                  <a:srgbClr val="FFFF00"/>
                </a:solidFill>
                <a:effectLst/>
              </a:rPr>
              <a:t> 0.13 oranında </a:t>
            </a:r>
            <a:r>
              <a:rPr lang="tr-TR" sz="2000" dirty="0" smtClean="0">
                <a:solidFill>
                  <a:srgbClr val="FFFF00"/>
                </a:solidFill>
                <a:effectLst/>
              </a:rPr>
              <a:t>artmakta</a:t>
            </a:r>
            <a:endParaRPr lang="tr-TR" sz="2000" dirty="0">
              <a:solidFill>
                <a:srgbClr val="FFFF00"/>
              </a:solidFill>
              <a:effectLst/>
            </a:endParaRPr>
          </a:p>
          <a:p>
            <a:pPr marL="0" indent="0"/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100" y="1628800"/>
            <a:ext cx="3854333" cy="4300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526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dirty="0" smtClean="0">
                <a:solidFill>
                  <a:srgbClr val="FF0000"/>
                </a:solidFill>
                <a:latin typeface="+mn-lt"/>
              </a:rPr>
              <a:t>BİLGİLENDİRME VE TAKİP</a:t>
            </a:r>
            <a:r>
              <a:rPr lang="tr-TR" dirty="0">
                <a:solidFill>
                  <a:srgbClr val="70F12F"/>
                </a:solidFill>
                <a:latin typeface="Baskerville Old Face" pitchFamily="18" charset="0"/>
              </a:rPr>
              <a:t/>
            </a:r>
            <a:br>
              <a:rPr lang="tr-TR" dirty="0">
                <a:solidFill>
                  <a:srgbClr val="70F12F"/>
                </a:solidFill>
                <a:latin typeface="Baskerville Old Face" pitchFamily="18" charset="0"/>
              </a:rPr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5800" y="980728"/>
            <a:ext cx="7772400" cy="4104456"/>
          </a:xfrm>
        </p:spPr>
        <p:txBody>
          <a:bodyPr/>
          <a:lstStyle/>
          <a:p>
            <a:pPr marL="0" indent="0">
              <a:buNone/>
            </a:pPr>
            <a:endParaRPr lang="tr-T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85" y="4653136"/>
            <a:ext cx="8079850" cy="1855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05613"/>
            <a:ext cx="7507288" cy="3529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05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ıbbi Tasarım Şablonu">
  <a:themeElements>
    <a:clrScheme name="medical_tp01069040 1">
      <a:dk1>
        <a:srgbClr val="000000"/>
      </a:dk1>
      <a:lt1>
        <a:srgbClr val="FFFFFF"/>
      </a:lt1>
      <a:dk2>
        <a:srgbClr val="7F00FF"/>
      </a:dk2>
      <a:lt2>
        <a:srgbClr val="FAFD00"/>
      </a:lt2>
      <a:accent1>
        <a:srgbClr val="B50069"/>
      </a:accent1>
      <a:accent2>
        <a:srgbClr val="FF7F00"/>
      </a:accent2>
      <a:accent3>
        <a:srgbClr val="C0AAFF"/>
      </a:accent3>
      <a:accent4>
        <a:srgbClr val="DADADA"/>
      </a:accent4>
      <a:accent5>
        <a:srgbClr val="D7AAB9"/>
      </a:accent5>
      <a:accent6>
        <a:srgbClr val="E77200"/>
      </a:accent6>
      <a:hlink>
        <a:srgbClr val="FF00FF"/>
      </a:hlink>
      <a:folHlink>
        <a:srgbClr val="B760F9"/>
      </a:folHlink>
    </a:clrScheme>
    <a:fontScheme name="medical_tp01069040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edical_tp01069040 1">
        <a:dk1>
          <a:srgbClr val="000000"/>
        </a:dk1>
        <a:lt1>
          <a:srgbClr val="FFFFFF"/>
        </a:lt1>
        <a:dk2>
          <a:srgbClr val="7F00FF"/>
        </a:dk2>
        <a:lt2>
          <a:srgbClr val="FAFD00"/>
        </a:lt2>
        <a:accent1>
          <a:srgbClr val="B50069"/>
        </a:accent1>
        <a:accent2>
          <a:srgbClr val="FF7F00"/>
        </a:accent2>
        <a:accent3>
          <a:srgbClr val="C0AAFF"/>
        </a:accent3>
        <a:accent4>
          <a:srgbClr val="DADADA"/>
        </a:accent4>
        <a:accent5>
          <a:srgbClr val="D7AAB9"/>
        </a:accent5>
        <a:accent6>
          <a:srgbClr val="E77200"/>
        </a:accent6>
        <a:hlink>
          <a:srgbClr val="FF00FF"/>
        </a:hlink>
        <a:folHlink>
          <a:srgbClr val="B760F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cal_tp01069040 2">
        <a:dk1>
          <a:srgbClr val="000000"/>
        </a:dk1>
        <a:lt1>
          <a:srgbClr val="B760F9"/>
        </a:lt1>
        <a:dk2>
          <a:srgbClr val="7B00E4"/>
        </a:dk2>
        <a:lt2>
          <a:srgbClr val="280049"/>
        </a:lt2>
        <a:accent1>
          <a:srgbClr val="FFFFFF"/>
        </a:accent1>
        <a:accent2>
          <a:srgbClr val="FFFF00"/>
        </a:accent2>
        <a:accent3>
          <a:srgbClr val="D8B6FB"/>
        </a:accent3>
        <a:accent4>
          <a:srgbClr val="000000"/>
        </a:accent4>
        <a:accent5>
          <a:srgbClr val="FFFFFF"/>
        </a:accent5>
        <a:accent6>
          <a:srgbClr val="E7E700"/>
        </a:accent6>
        <a:hlink>
          <a:srgbClr val="FF00FF"/>
        </a:hlink>
        <a:folHlink>
          <a:srgbClr val="DFB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dical_tp01069040 3">
        <a:dk1>
          <a:srgbClr val="000000"/>
        </a:dk1>
        <a:lt1>
          <a:srgbClr val="FFFFFF"/>
        </a:lt1>
        <a:dk2>
          <a:srgbClr val="000000"/>
        </a:dk2>
        <a:lt2>
          <a:srgbClr val="DADADA"/>
        </a:lt2>
        <a:accent1>
          <a:srgbClr val="F2F2F2"/>
        </a:accent1>
        <a:accent2>
          <a:srgbClr val="919191"/>
        </a:accent2>
        <a:accent3>
          <a:srgbClr val="FFFFFF"/>
        </a:accent3>
        <a:accent4>
          <a:srgbClr val="000000"/>
        </a:accent4>
        <a:accent5>
          <a:srgbClr val="F7F7F7"/>
        </a:accent5>
        <a:accent6>
          <a:srgbClr val="838383"/>
        </a:accent6>
        <a:hlink>
          <a:srgbClr val="DADADA"/>
        </a:hlink>
        <a:folHlink>
          <a:srgbClr val="67676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Tıbbi Tasarım Şablonu</Template>
  <TotalTime>2048</TotalTime>
  <Words>2255</Words>
  <Application>Microsoft Office PowerPoint</Application>
  <PresentationFormat>Ekran Gösterisi (4:3)</PresentationFormat>
  <Paragraphs>198</Paragraphs>
  <Slides>51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51</vt:i4>
      </vt:variant>
    </vt:vector>
  </HeadingPairs>
  <TitlesOfParts>
    <vt:vector size="57" baseType="lpstr">
      <vt:lpstr>Aharoni</vt:lpstr>
      <vt:lpstr>Arial</vt:lpstr>
      <vt:lpstr>Baskerville Old Face</vt:lpstr>
      <vt:lpstr>Book Antiqua</vt:lpstr>
      <vt:lpstr>Calibri</vt:lpstr>
      <vt:lpstr>Tıbbi Tasarım Şablonu</vt:lpstr>
      <vt:lpstr>PEDİATRİK TÜMÖRLERDE RADYOTERAPİ</vt:lpstr>
      <vt:lpstr>Pediatrik yaş grubunda tümör tedavisi  Farklar  Beklentiler  Gereklilikler</vt:lpstr>
      <vt:lpstr>PEDİATRİK TÜMÖR PROFİLİ</vt:lpstr>
      <vt:lpstr>PowerPoint Sunusu</vt:lpstr>
      <vt:lpstr>PowerPoint Sunusu</vt:lpstr>
      <vt:lpstr>PowerPoint Sunusu</vt:lpstr>
      <vt:lpstr>ÇOCUKLUK ÇAĞI TÜMÖRLERİ</vt:lpstr>
      <vt:lpstr>PowerPoint Sunusu</vt:lpstr>
      <vt:lpstr>9</vt:lpstr>
      <vt:lpstr>NÖROBLASTOM</vt:lpstr>
      <vt:lpstr>WİLMS TÜMÖRÜ</vt:lpstr>
      <vt:lpstr>RABDOMYOSARKOM</vt:lpstr>
      <vt:lpstr>RABDOMYOSARKOM</vt:lpstr>
      <vt:lpstr>RABDOMYOSARKOM</vt:lpstr>
      <vt:lpstr>RABDOMYOSARKOM</vt:lpstr>
      <vt:lpstr>Pediatrik  RT</vt:lpstr>
      <vt:lpstr>ERİŞKİN TÜMÖRLERİNDEN FARKLAR</vt:lpstr>
      <vt:lpstr>Pediatrik Tümörlerde RT</vt:lpstr>
      <vt:lpstr>SİNİR SİSTEMİ</vt:lpstr>
      <vt:lpstr>SİNİR SİSTEMİ</vt:lpstr>
      <vt:lpstr>Pediatrik Tümörler</vt:lpstr>
      <vt:lpstr>PowerPoint Sunusu</vt:lpstr>
      <vt:lpstr>SANTRAL SİNİR SİSTEMİ DOZ-VOLÜM İLİŞKİSİ </vt:lpstr>
      <vt:lpstr>Metotreksat  Sidarabin Aktinomisin D</vt:lpstr>
      <vt:lpstr>Çocukluk çağı kanseri tedavisinde oluşan psikososyal etkiler ise ilk defa Koocher ve O’Malley (27) tarafından Damocles sendromu olarak tanımlanmıştır. </vt:lpstr>
      <vt:lpstr>NÖROENDOKRİN FONKSİYON</vt:lpstr>
      <vt:lpstr>PowerPoint Sunusu</vt:lpstr>
      <vt:lpstr>BÜYÜME HORMONU DIŞI TROPİNLER </vt:lpstr>
      <vt:lpstr>TİROİD HORMONU </vt:lpstr>
      <vt:lpstr>KEMİK YUMUŞAK DOKU </vt:lpstr>
      <vt:lpstr>EPİFİZ PLAKLARINDA BÜYÜME </vt:lpstr>
      <vt:lpstr>KEMİK YUMUŞAK DOKU   </vt:lpstr>
      <vt:lpstr>KALP </vt:lpstr>
      <vt:lpstr>AKCİĞER   </vt:lpstr>
      <vt:lpstr>OVER   </vt:lpstr>
      <vt:lpstr>TESTİS   </vt:lpstr>
      <vt:lpstr>BÖBREK   </vt:lpstr>
      <vt:lpstr>KARACİĞER   </vt:lpstr>
      <vt:lpstr>KARACİĞER </vt:lpstr>
      <vt:lpstr>DALAK DOZ- VOLÜM İLİŞKİSİ </vt:lpstr>
      <vt:lpstr>GÖZ DOZ-VOLÜM İLİŞKİSİ </vt:lpstr>
      <vt:lpstr>KULAK DOZ- VOLÜM İLİŞKİSİ </vt:lpstr>
      <vt:lpstr>DİŞLER VE ORAL KAVİTE DOZ-VOLÜM İLİŞKİSİ </vt:lpstr>
      <vt:lpstr>PowerPoint Sunusu</vt:lpstr>
      <vt:lpstr>KEMİK İLİĞİ </vt:lpstr>
      <vt:lpstr>İKİNCİL KANSERLER </vt:lpstr>
      <vt:lpstr>PowerPoint Sunusu</vt:lpstr>
      <vt:lpstr>PowerPoint Sunusu</vt:lpstr>
      <vt:lpstr>TİROİD   </vt:lpstr>
      <vt:lpstr>MEME </vt:lpstr>
      <vt:lpstr>BİLGİLENDİRME VE TAKİP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PEDİATRİK TÜMÖRLERDE KRİTİKORGAN-DOZ İLİŞKİSİ</dc:title>
  <dc:creator>Mahmut</dc:creator>
  <cp:lastModifiedBy>ADMİN</cp:lastModifiedBy>
  <cp:revision>46</cp:revision>
  <dcterms:created xsi:type="dcterms:W3CDTF">2012-04-01T14:14:14Z</dcterms:created>
  <dcterms:modified xsi:type="dcterms:W3CDTF">2024-09-30T05:51:26Z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TC010690401055</vt:lpwstr>
  </property>
</Properties>
</file>
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789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Genel Onkolojik Prensipler
Kanser Tedavisinde Ortak Dil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D0E8E8"/>
                </a:solidFill>
                <a:latin typeface="Calibri"/>
              </a:rPr>
              <a:t>Radyasyon onkolojisi elektifi · Dönem 5 · 45 dakika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6235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Ders 2 · Genel Onkolojik Prensipler
Prof. Dr. Ş. Bilge Gürsel · Ondokuz Mayıs Üniversitesi Tıp Fakültesi · Radyasyon Onkolojisi 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Öğrenme hedefleri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Evreleme, performans ve tedavi amacını ayırt etmek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Cerrahi / sistemik tedavi / radyoterapinin rollerini entegre etmek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Adjuvan, neoadjuvan, definitif, konkuran, palyatif kavramlarını doğru kullanmak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MDT kararının neden zorunlu olduğunu örneklemek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Kanser tedavisinin üç ayağı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Cerrahi: lokal hastalıkta en sık küratif araç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Sistemik tedavi: KT, endokrin, hedefe yönelik, immünoterapi, ADC’ler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Radyoterapi: lokal-bölgesel kontrol; bazı tümörlerde primer küratif modalite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Destek / palyatif bakım: semptom ve yaşam kalitesi — eşzamanlı başlar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Modern onkoloji = modalite yarışı değil, sıralı/kombinasyon stratejisi.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Tedavi amacı netleştirin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Küratif: hastalığı eradike etme niyeti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Adjuvan: cerrahi sonrası mikroskopik riski azaltma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Neoadjuvan: cerrahi/RT öncesi küçültme, organ koruma, yanıt değerlendirme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Definitif RT (± KT): cerrahi yerine veya cerrahi yapılamıyorsa lokal kür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Palyatif: semptom ve yaşam kalitesi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Evreleme ve biyolojik alt tip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TNM / FIGO / Ann Arbor gibi sistemler tedavi seçimini belirler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Aynı evrede biyoloji farklıdır: örn. meme HR+ / HER2+ / TNBC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Patoloji + IHC + moleküler testler (EGFR, BRAF, MSI, PD-L1, BRCA…)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Görüntüleme: evreleme ve yanıt değerlendirme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Performans durumu ve hasta faktörleri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ECOG / Karnofsky: yoğun tedaviye uygunluk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Komorbidite, organ rezervi, polifarmasi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Yaş tek başına kontrendikasyon değildir; “fit vs frail” ayrımı önemli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Fertilite, gebelik, kardiyak/pulmoner rezerv — özellikle RT alanında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Lokal vs sistemik hastalık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0E7C7B"/>
                </a:solidFill>
                <a:latin typeface="Calibri"/>
              </a:rPr>
              <a:t>Lokal / lokal ileri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Cerrahi ± RT ± sistemik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Definitif kemoradyoterapi seçenek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Organ koruma protokolleri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Örnek: larenks, anal kanal, serviks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394960" cy="5029200"/>
          </a:xfrm>
          <a:prstGeom prst="roundRect">
            <a:avLst/>
          </a:prstGeom>
          <a:solidFill>
            <a:srgbClr val="FFFFFF"/>
          </a:solidFill>
          <a:ln>
            <a:solidFill>
              <a:srgbClr val="D5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41732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C45C26"/>
                </a:solidFill>
                <a:latin typeface="Calibri"/>
              </a:rPr>
              <a:t>Metastatik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11680"/>
            <a:ext cx="4937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Sistemik tedavi omurgadır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RT çoğunlukla palyatif / oligometastaz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Beyin, kemik, kanama, bası acilleri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2C3E50"/>
                </a:solidFill>
                <a:latin typeface="Calibri"/>
              </a:rPr>
              <a:t>• Seçilmiş OMD’de ablative RT tartışılır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Kemoradyoterapi (konkuran) mantığı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Aynı anda KT + RT: radyosensitizasyon + mikrometastaz kontrolü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Klasik örnekler: serviks, baş-boyun, rektum, seçilmiş akciğer/özofagus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Bedeli: artmış akut toksisite → destek tedavi şart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Öğrenci notu: her olguda “neden birlikte?” diye sorun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Sıralama: neoadjuvan mı, adjuvan mı?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Neoadjuvan: küçültme, organ koruma, in vivo yanıt bilgisi (rektum, meme, mesane…)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Adjuvan: cerrahi patolojiye göre risk indirgeme (meme, endometrium, seçilmiş GIS)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Definitif: cerrahi yerine lokal kür (serviks lokal ileri, anal kanal, larenks seçilmiş)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Yanlış sıralama: toksisiteyi artırır veya sistemik tedaviyi geciktirebilir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Yanıtın değerlendirilmesi ve takip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Klinik yanıt ≠ patolojik yanıt; neoadjuvanda pCR prognostik olabilir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Takip: nüks paterni (lokal / bölgesel / uzak) tedavi başarısını anlatır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Geç toksisite takibi uzun yıllar sürer (özellikle çocuk ve genç erişkin)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Hasta bildirimi (PRO): yaşam kalitesi klinik uç noktadır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Toksisiteyi konuşurken ortak dil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CTCAE: yan etki derecelendirme (öğrenci düzeyinde “hafif–orta–ağır” yeterli)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Akut vs geç: zamanlama yönetim stratejisini değiştirir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Organ-at-risk: plan kısıtı = klinik toksisiteyi önleme aracı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Destek tedavi: antiemetik, cilt bakımı, antidiayreal, beslenme, ağrı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Onkolojik acillerde RT’nin yeri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Spinal kord basısı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Superior vena kava sendromu (seçilmiş)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Semptomatik beyin metastazı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Kontrolsüz tümör kanaması (mesane, serviks, baş-boyun)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Ağrılı kemik metastazı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8932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C45C26"/>
                </a:solidFill>
                <a:latin typeface="Calibri"/>
              </a:rPr>
              <a:t>Not: Acilde RT: kısa şema, hızlı planlama, sistemik tedavi ile eşgüdüm.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Etik ve iletişim (dönem 5 için)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Bilgilendirilmiş onam: amaç, alternatifler, toksisite, fertilite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Kötü haber ve palyatif geçiş: umut = dürüstlük + bakım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MDT notu ve ortak dil: hastaya çelişkili mesaj vermeyin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Klinik araştırma seçeneğini erken sunun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Alınacak mesajlar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Önce amaç: kür mü, palyasyon mu?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Evreleme + biyoloji + performans = tedavi üçgeni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Üç modalite tamamlayıcıdır; MDT zorunludur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Konkuran tedavi toksisiteyi artırır, kontrolü güçlendirebilir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RT acillerde de “hızlı lokal silah”tır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B3A4B"/>
                </a:solidFill>
                <a:latin typeface="Calibri"/>
              </a:rPr>
              <a:t>Mini olgular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371600" cy="54864"/>
          </a:xfrm>
          <a:prstGeom prst="rect">
            <a:avLst/>
          </a:prstGeom>
          <a:solidFill>
            <a:srgbClr val="C45C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A: Rektum ca, cT3N+ → neden neoadjuvan KT-RT konuşulur?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B: Kemik metastazı, gece ağrısı → palyatif RT şeması örneği?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Olgu C: ECOG 3, yaygın hastalık → küratif yoğun rejim uygun mu?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537960"/>
            <a:ext cx="9326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D6D7E"/>
                </a:solidFill>
                <a:latin typeface="Calibri"/>
              </a:rPr>
              <a:t>OMÜ TF · Elektif Radyasyon Onkolojisi · Dönem 5 · Ders 2 · Genel Onkolojik Prensipler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537960"/>
            <a:ext cx="1463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5D6D7E"/>
                </a:solidFill>
                <a:latin typeface="Calibri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
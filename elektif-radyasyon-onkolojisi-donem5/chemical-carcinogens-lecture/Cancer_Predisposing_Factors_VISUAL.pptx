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A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0"/>
            <a:ext cx="2926080" cy="2926080"/>
          </a:xfrm>
          <a:prstGeom prst="ellipse">
            <a:avLst/>
          </a:prstGeom>
          <a:solidFill>
            <a:srgbClr val="1A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160520"/>
            <a:ext cx="2103120" cy="45720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CHEMICALS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160520"/>
            <a:ext cx="2103120" cy="45720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TOBACCO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4160520"/>
            <a:ext cx="210312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Cancer &amp; Predisposing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E6E1"/>
                </a:solidFill>
                <a:latin typeface="Calibri"/>
              </a:rPr>
              <a:t>Visual lecture deck  ·  Mechanisms, exposures,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Prof. Dr. Ş. Bilge Gürsel
Ondokuz Mayıs University Faculty of Medicine  ·  Department of Radiation Oncology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194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94560" cy="109728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554480"/>
            <a:ext cx="914400" cy="9144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242"/>
                </a:solidFill>
                <a:latin typeface="Calibri"/>
              </a:rP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6"/>
                </a:solidFill>
                <a:latin typeface="Calibri"/>
              </a:rPr>
              <a:t>Geographic &amp; lifestyle drivers of cancer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234440"/>
            <a:ext cx="2194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234440"/>
            <a:ext cx="2194560" cy="109728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7559" y="1554480"/>
            <a:ext cx="914400" cy="91440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59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242"/>
                </a:solidFill>
                <a:latin typeface="Calibri"/>
              </a:rPr>
              <a:t>Chemicals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2918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6"/>
                </a:solidFill>
                <a:latin typeface="Calibri"/>
              </a:rPr>
              <a:t>IARC groups + genotoxic / non-genotoxic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234440"/>
            <a:ext cx="2194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234440"/>
            <a:ext cx="2194560" cy="109728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0" y="1554480"/>
            <a:ext cx="914400" cy="9144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242"/>
                </a:solidFill>
                <a:latin typeface="Calibri"/>
              </a:rPr>
              <a:t>Occupation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918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6"/>
                </a:solidFill>
                <a:latin typeface="Calibri"/>
              </a:rPr>
              <a:t>High-yield workplace carcinogen–cancer links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234440"/>
            <a:ext cx="2194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19" y="1234440"/>
            <a:ext cx="2194560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0999" y="1554480"/>
            <a:ext cx="914400" cy="9144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999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242"/>
                </a:solidFill>
                <a:latin typeface="Calibri"/>
              </a:rPr>
              <a:t>Tobacco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2918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6"/>
                </a:solidFill>
                <a:latin typeface="Calibri"/>
              </a:rPr>
              <a:t>Smoke cocktail → DNA damage → multi-site disease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1234440"/>
            <a:ext cx="2194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234440"/>
            <a:ext cx="2194560" cy="109728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19" y="1554480"/>
            <a:ext cx="914400" cy="91440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9" y="1783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242"/>
                </a:solidFill>
                <a:latin typeface="Calibri"/>
              </a:rPr>
              <a:t>Radiation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2918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6"/>
                </a:solidFill>
                <a:latin typeface="Calibri"/>
              </a:rPr>
              <a:t>Direct/indirect DNA injury, dose &amp; age effects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Causes Cancer? — Three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74920" y="2743200"/>
            <a:ext cx="2011680" cy="201168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CANCER
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52044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Lifestyle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2103120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20" y="2103120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0" y="2103120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Tobacco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Diet / obesity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Inactivity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UV / alcohol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3444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52044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716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94959" y="2103120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2103120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2103120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Pollution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Occupation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Second-hand smoke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Chemicals / infections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23444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234440"/>
            <a:ext cx="3520440" cy="64008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3716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Family History</a:t>
            </a:r>
          </a:p>
        </p:txBody>
      </p:sp>
      <p:sp>
        <p:nvSpPr>
          <p:cNvPr id="26" name="Oval 25"/>
          <p:cNvSpPr/>
          <p:nvPr/>
        </p:nvSpPr>
        <p:spPr>
          <a:xfrm>
            <a:off x="8458200" y="2103120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2103120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12680" y="2103120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89920" y="2103120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880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&lt;15% inherited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Selected gene mutations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Breast, colon, ovary…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Environment modifies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Lifestyle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Smoking — the single largest avoidable cancer cause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Diet high in fat / low in fruits and vegetables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Physical inactivity and obesity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Unprotected sun (UV) exposure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Alcohol (ethanol) — IARC Group 1 carcinogen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Environmental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526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Second-hand smoke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Air pollution and industrial emissions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Chemical exposures at work and home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Pesticides, solvents, metals, combustion products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An estimated 2–8% of cancers are attributable to workplace exposures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FBEEE9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★  Environment + lifestyle explain most geographic variation.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Inherited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Less than 15% of cancers are truly inherited syndromes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Gene mutations linked to selected inherited cancers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Examples: colon, breast, ovarian, prostate, melanoma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Even with inheritance, environment modifies penetrance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Environment and Cancer — Key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~27% of deaths in developed countries are due to cancer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Lifetime cancer risk ≈ 30% in developed countries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85–95% of cancers relate to environmental / lifestyle factors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Inherited predisposition accounts for &lt;15%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Avoidable Factors Linked to Cancer Deaths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Tobacco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46304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4663440" cy="36576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29–31%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Diet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9456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194560"/>
            <a:ext cx="5440679" cy="36576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A6E"/>
                </a:solidFill>
                <a:latin typeface="Calibri"/>
              </a:rPr>
              <a:t>20–50%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Infections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92608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2926080"/>
            <a:ext cx="2331720" cy="36576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79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A100"/>
                </a:solidFill>
                <a:latin typeface="Calibri"/>
              </a:rPr>
              <a:t>10–20%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Radiation + UV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65760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7520" y="3657600"/>
            <a:ext cx="932688" cy="3657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5–7%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Occupation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38912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17520" y="4389120"/>
            <a:ext cx="466344" cy="365760"/>
          </a:xfrm>
          <a:prstGeom prst="round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42"/>
                </a:solidFill>
                <a:latin typeface="Calibri"/>
              </a:rPr>
              <a:t>2–4%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Pollution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5120640"/>
            <a:ext cx="7772400" cy="365760"/>
          </a:xfrm>
          <a:prstGeom prst="round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17520" y="5120640"/>
            <a:ext cx="466344" cy="365760"/>
          </a:xfrm>
          <a:prstGeom prst="roundRect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B76"/>
                </a:solidFill>
                <a:latin typeface="Calibri"/>
              </a:rPr>
              <a:t>1–5%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Source: Doll R. Recent Results Cancer Res. 1998;154:3–21 (UK estimates)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Evidence That Environment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Certain cancers dominate in specific populations / regions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Incidence changes when populations migrate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Incidence changes over calendar time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Clear rises after defined exposures (asbestos, radiation, tobacco)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Migration Evidence — Colorectal Cancer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200400" cy="100584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Born in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A33"/>
                </a:solidFill>
                <a:latin typeface="Calibri"/>
              </a:rPr>
              <a:t>Males 69.3
Females 63.5
per 100,000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3320" y="3291840"/>
            <a:ext cx="822960" cy="50292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200400" cy="100584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11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Migrate to 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A33"/>
                </a:solidFill>
                <a:latin typeface="Calibri"/>
              </a:rPr>
              <a:t>Environment &amp;
lifestyle 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3291840"/>
            <a:ext cx="822960" cy="50292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18288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3200400" cy="100584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011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Born in USA
(Japanese ancestry)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A33"/>
                </a:solidFill>
                <a:latin typeface="Calibri"/>
              </a:rPr>
              <a:t>Males 142.5
Females 90.1
per 100,000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5D3A"/>
                </a:solidFill>
                <a:latin typeface="Calibri"/>
              </a:rPr>
              <a:t>★  Rates shift toward the host country → environment outweighs ancestry for many common cancers.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Chemical Carcinogens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Definition · classification · mechanisms · flowcharts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Is a Carcinogen?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An agent that increases cancer incidence after contact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1775 — Percival Pott: scrotal cancer in chimney sweeps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Later linked to polycyclic aromatic hydrocarbons (PAHs) in soot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Today: IARC classifies using human, animal, and mechanistic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IARC Classification — Visual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5647" y="1280160"/>
            <a:ext cx="3200400" cy="96012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8527" y="14173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Group 1 — Carcinogenic to humans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527" y="1783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Sufficient evidence in humans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8447" y="2423160"/>
            <a:ext cx="4114800" cy="96012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1327" y="2560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Group 2A — Probably carcinogenic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327" y="2926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Limited human + sufficient animal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1247" y="3566160"/>
            <a:ext cx="5029200" cy="96012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4127" y="3703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Group 2B — Possibly carcinogenic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4127" y="4069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Limited evidence in humans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4047" y="4709160"/>
            <a:ext cx="5943600" cy="960120"/>
          </a:xfrm>
          <a:prstGeom prst="roundRect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6927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Group 3 — Not classifiable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6927" y="52120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Inadequate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Source: IARC Monographs — https://monographs.iarc.who.int/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How Carcinogens Enter the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554480"/>
            <a:ext cx="1371600" cy="13716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INHALATION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Most common
occupational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2926080" cy="822960"/>
          </a:xfrm>
          <a:prstGeom prst="roundRect">
            <a:avLst/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3"/>
                </a:solidFill>
                <a:latin typeface="Calibri"/>
              </a:rPr>
              <a:t>Gases · fumes · dusts · smoke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0680" y="1554480"/>
            <a:ext cx="1371600" cy="137160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SKIN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Direct absorption
through skin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46320"/>
            <a:ext cx="2926080" cy="822960"/>
          </a:xfrm>
          <a:prstGeom prst="roundRect">
            <a:avLst/>
          </a:prstGeom>
          <a:solidFill>
            <a:srgbClr val="F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3"/>
                </a:solidFill>
                <a:latin typeface="Calibri"/>
              </a:rPr>
              <a:t>Solvents · industrial chemicals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1554480"/>
            <a:ext cx="1371600" cy="13716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Swallowing
exposure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846320"/>
            <a:ext cx="2926080" cy="82296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3"/>
                </a:solidFill>
                <a:latin typeface="Calibri"/>
              </a:rPr>
              <a:t>Food · water · accidental intake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Two Paths to Cancer — Mode of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4864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GENOTOXIC PATHWAY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965960"/>
            <a:ext cx="4206240" cy="50292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Carcinogen / metabolite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34640" y="2441448"/>
            <a:ext cx="320040" cy="256032"/>
          </a:xfrm>
          <a:prstGeom prst="down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697480"/>
            <a:ext cx="4206240" cy="502920"/>
          </a:xfrm>
          <a:prstGeom prst="roundRect">
            <a:avLst/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DNA adduct / chromosome injury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34640" y="3172968"/>
            <a:ext cx="320040" cy="256032"/>
          </a:xfrm>
          <a:prstGeom prst="down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429000"/>
            <a:ext cx="4206240" cy="50292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Mutation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34640" y="3904487"/>
            <a:ext cx="320040" cy="256032"/>
          </a:xfrm>
          <a:prstGeom prst="down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4160520"/>
            <a:ext cx="4206240" cy="502920"/>
          </a:xfrm>
          <a:prstGeom prst="roundRect">
            <a:avLst/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Initiated cell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34640" y="4636008"/>
            <a:ext cx="320040" cy="256032"/>
          </a:xfrm>
          <a:prstGeom prst="down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892040"/>
            <a:ext cx="4206240" cy="50292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Cancer (with promotion)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577840" cy="54864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NON-GENOTOXIC PATHWAY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965960"/>
            <a:ext cx="4206240" cy="50292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Promoter / mitogen / cytotoxicant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686800" y="2441448"/>
            <a:ext cx="320040" cy="256032"/>
          </a:xfrm>
          <a:prstGeom prst="downArrow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2697480"/>
            <a:ext cx="4206240" cy="502920"/>
          </a:xfrm>
          <a:prstGeom prst="roundRect">
            <a:avLst/>
          </a:prstGeom>
          <a:solidFill>
            <a:srgbClr val="F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↑ Proliferation or regeneration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686800" y="3172968"/>
            <a:ext cx="320040" cy="256032"/>
          </a:xfrm>
          <a:prstGeom prst="downArrow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3429000"/>
            <a:ext cx="4206240" cy="50292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Clonal selection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686800" y="3904487"/>
            <a:ext cx="320040" cy="256032"/>
          </a:xfrm>
          <a:prstGeom prst="downArrow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4160520"/>
            <a:ext cx="4206240" cy="502920"/>
          </a:xfrm>
          <a:prstGeom prst="roundRect">
            <a:avLst/>
          </a:prstGeom>
          <a:solidFill>
            <a:srgbClr val="FB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Secondary mutations possible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686800" y="4636008"/>
            <a:ext cx="320040" cy="256032"/>
          </a:xfrm>
          <a:prstGeom prst="downArrow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0" y="4892040"/>
            <a:ext cx="4206240" cy="50292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Tumor outgrowth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Genotoxic Carcinogens — Subtypes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526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Direct carcinogens — no metabolic activation (alkylating agents)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Indirect / procarcinogens — need activation (PAHs, aromatic amines, nitrosamines)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Natural genotoxins — e.g., aflatoxin B1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Inorganic carcinogens — Ni, Cr, Cd, As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Activation often via CYP450 enzymes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FBEEE9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★  Procarcinogen → ultimate carcinogen → DNA adduct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Metabolic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Many carcinogens are inactive until biotransformed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CYP450s are the classic activation enzymes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Receptors, cofactors, and conjugating enzymes also participate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Enzyme differences help explain individual susceptibility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Non-Genotoxic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Increased cell proliferation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Decreased apoptosis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Changes in gene expression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Receptor / signaling activation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Oxidative stress and enzyme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Carcinogenesis Flowchart — Initiation → Promotion →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365760" y="1234440"/>
            <a:ext cx="3566160" cy="777240"/>
          </a:xfrm>
          <a:prstGeom prst="chevron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INITIATION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35661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3242"/>
                </a:solidFill>
                <a:latin typeface="Calibri"/>
              </a:rPr>
              <a:t>Irreversible DNA
alteration
(heritable)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Oncogene activation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Tumor-suppressor loss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DNA-repair failure</a:t>
            </a:r>
          </a:p>
        </p:txBody>
      </p:sp>
      <p:sp>
        <p:nvSpPr>
          <p:cNvPr id="9" name="Chevron 8"/>
          <p:cNvSpPr/>
          <p:nvPr/>
        </p:nvSpPr>
        <p:spPr>
          <a:xfrm>
            <a:off x="4297680" y="1234440"/>
            <a:ext cx="3566160" cy="777240"/>
          </a:xfrm>
          <a:prstGeom prst="chevron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PROMOTION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3242"/>
                </a:solidFill>
                <a:latin typeface="Calibri"/>
              </a:rPr>
              <a:t>Clonal expansion
of initiated cells
(reversible)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Mitogenic stimulus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Repeated exposure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Not mutagenic alone</a:t>
            </a:r>
          </a:p>
        </p:txBody>
      </p:sp>
      <p:sp>
        <p:nvSpPr>
          <p:cNvPr id="13" name="Chevron 12"/>
          <p:cNvSpPr/>
          <p:nvPr/>
        </p:nvSpPr>
        <p:spPr>
          <a:xfrm>
            <a:off x="8229600" y="1234440"/>
            <a:ext cx="3566160" cy="777240"/>
          </a:xfrm>
          <a:prstGeom prst="chevron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PROGRESSION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5661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3242"/>
                </a:solidFill>
                <a:latin typeface="Calibri"/>
              </a:rPr>
              <a:t>Invasion &amp;
metastasis
(irreversible)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Genomic instability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Inflammation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Angiogenesis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Classic Experimental Model — Mouse Skin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9875520" cy="109728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880360"/>
            <a:ext cx="914400" cy="914400"/>
          </a:xfrm>
          <a:prstGeom prst="ellipse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Normal
skin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880360"/>
            <a:ext cx="914400" cy="9144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Initiator
(e.g. B[a]P)</a:t>
            </a:r>
          </a:p>
        </p:txBody>
      </p:sp>
      <p:sp>
        <p:nvSpPr>
          <p:cNvPr id="10" name="Oval 9"/>
          <p:cNvSpPr/>
          <p:nvPr/>
        </p:nvSpPr>
        <p:spPr>
          <a:xfrm>
            <a:off x="6766560" y="2880360"/>
            <a:ext cx="914400" cy="9144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Promoter
(phorbol ester)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880360"/>
            <a:ext cx="914400" cy="91440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Papilloma /
tumor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11680" y="3108960"/>
            <a:ext cx="1463040" cy="41148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937760" y="3108960"/>
            <a:ext cx="1463040" cy="41148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863840" y="3108960"/>
            <a:ext cx="1463040" cy="41148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5486400" cy="1097280"/>
          </a:xfrm>
          <a:prstGeom prst="round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3242"/>
                </a:solidFill>
                <a:latin typeface="Calibri"/>
              </a:rPr>
              <a:t>Initiator alone (single) → usually no tumor
Promoter alone → no tumor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29200"/>
            <a:ext cx="5486400" cy="1097280"/>
          </a:xfrm>
          <a:prstGeom prst="roundRect">
            <a:avLst/>
          </a:prstGeom>
          <a:solidFill>
            <a:srgbClr val="FBEEE9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3242"/>
                </a:solidFill>
                <a:latin typeface="Calibri"/>
              </a:rPr>
              <a:t>Initiator → then repeated promoter → tumors
Order and repetition matter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Initiation vs Promotion —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544068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Initiation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Essentially irreversible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Caused by carcinogenic compounds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Occurs rapidly after exposure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Alone usually not enough for a tumor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Targets oncogenes / suppressors / repair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44068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Reversible if exposure stops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Acts only after initiation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Needs repeated promoter exposure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Not carcinogenic by itself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Mitogenic, not mutagenic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Irreversible phase that can lead to metastasis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Further mutations from chromosomal instability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Recruitment of inflammatory immune cells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Wound-healing traits: angiogenesis, proteases, chemoattractants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Progressors: inflammation, asbestos, benzene, oxidative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Environmental &amp; Occupational Chemicals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Agent cards · metals · workplace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Environmental &amp; Occupational Chemicals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High-Yield Chemical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64592" cy="233172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Benzene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→ Leukemia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Solvent; also in smoke &amp; gasoline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164592" cy="23317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417320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PAHs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A6E"/>
                </a:solidFill>
                <a:latin typeface="Calibri"/>
              </a:rPr>
              <a:t>→ Lung, skin, urinary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Combustion products / grilled foods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18872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188720"/>
            <a:ext cx="164592" cy="233172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9640" y="1417320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Dioxins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103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A100"/>
                </a:solidFill>
                <a:latin typeface="Calibri"/>
              </a:rPr>
              <a:t>→ Multiple / persistent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Half-life in body ~7–11 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749039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749039"/>
            <a:ext cx="164592" cy="2331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3977639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023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Vinyl chloride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→ Hepatic angiosarcoma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Plastics industry classic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749039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749039"/>
            <a:ext cx="164592" cy="23317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63440" y="3977639"/>
            <a:ext cx="502920" cy="50292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4023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Benzidine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663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242"/>
                </a:solidFill>
                <a:latin typeface="Calibri"/>
              </a:rPr>
              <a:t>→ Bladder cancer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Dye industry aromatic amine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749039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3749039"/>
            <a:ext cx="164592" cy="233172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49640" y="3977639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4023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242"/>
                </a:solidFill>
                <a:latin typeface="Calibri"/>
              </a:rPr>
              <a:t>Asbestos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663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→ Mesothelioma + solids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120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Fibers — multiple organs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Benzene — Clinical Spotlight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IARC Group 1 human carcinogen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Industrial solvent; also in tobacco smoke and gasoline vapor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Strongest cancer link: leukemia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Inhalation is the dominant exposure route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Useful bridge between occupation and smoking sections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Pesticides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About 20 pesticide ingredients have caused cancer in animals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High-exposure groups: farmers, crop-duster pilots, manufacturers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Higher rates of blood and lymphatic cancers reported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Also linked to melanoma and cancers of lip, stomach, brain, lung, prostate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Message: exposure control and protective equipment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Solvents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Used in paint removers, grease removers, thinners, dry cleaning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Benzene, carbon tetrachloride, chloroform, methylene chloride linked to cancer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Strongest solvent evidence: benzene → leukemia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Occupational hygiene and substitution are primary prevention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Dioxins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Byproducts of paper bleaching, smelting, and waste incineration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Break down very slowly → widespread environmental persistence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Accumulate in fat cells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Most human exposure comes from dairy products, fish, and meat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Body half-life estimated at about 7–11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Polycyclic Aromatic Hydrocarbons (PAHs)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Come from burning carbon-based material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Found in wood smoke, car exhaust, cigarette smoke, charcoal-grilled foods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Also reported in sausages and roasted coffees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Linked to increased risks of lung, skin, and urinary cancers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Historically connected to Percival Pott’s soot / scrotal cancer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Vinyl Chloride &amp; Benzidine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Vinyl chloride: plastics industry; lung cancer; classic hepatic angiosarcoma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Nearby residents may be exposed via contaminated air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Benzidine: known since the 1920s; dye production for paper, textiles, leather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Classic occupational bladder carcinogen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Historical control of aromatic amine dyes is a public-health success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Metals as Carcinogens — Quick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1097280" cy="10972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Arsenic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Skin, lung,
bladder, liver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371600" cy="365760"/>
          </a:xfrm>
          <a:prstGeom prst="round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1783080"/>
            <a:ext cx="1097280" cy="109728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Beryllium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Lung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5303520"/>
            <a:ext cx="1371600" cy="365760"/>
          </a:xfrm>
          <a:prstGeom prst="round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09160" y="1783080"/>
            <a:ext cx="1097280" cy="109728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Cadmium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Lung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303520"/>
            <a:ext cx="1371600" cy="365760"/>
          </a:xfrm>
          <a:prstGeom prst="round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1783080"/>
            <a:ext cx="1097280" cy="10972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Chromium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Lung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59" y="5303520"/>
            <a:ext cx="1371600" cy="3657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41080" y="1783080"/>
            <a:ext cx="1097280" cy="109728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Nickel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Nasal, lung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19" y="5303520"/>
            <a:ext cx="1371600" cy="365760"/>
          </a:xfrm>
          <a:prstGeom prst="round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1463040"/>
            <a:ext cx="1828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07040" y="1783080"/>
            <a:ext cx="1097280" cy="1097280"/>
          </a:xfrm>
          <a:prstGeom prst="ellipse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2057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9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9" y="3749039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Kidney, brain
(probable)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69880" y="5303520"/>
            <a:ext cx="1371600" cy="365760"/>
          </a:xfrm>
          <a:prstGeom prst="roundRect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IARC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Where Are These Metals Found?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Arsenic — wood preservatives, glass, pesticides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Beryllium — nuclear weapons, rocket fuel, ceramics, glass, plastics, fiberoptics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Cadmium — metal coatings, plastics, batteries, fungicides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Chromium — automotive parts, plating, cement, asphalt roofing, paper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Nickel — steel, dental fillings, batteries, magnets, glazes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Lead — dyes, coatings, paints/varnishes, some plastics and specialty glass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Occupational Cancer — Exposure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743200" cy="50292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Asbestos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Mesothelioma
+ lung / larynx…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Wood dust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Sinonasal /
nasopharynx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743200" cy="50292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Lung cancer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Diesel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Lung, bladder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947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94760"/>
            <a:ext cx="274320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Coal 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Skin (NMSC)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7947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3794760"/>
            <a:ext cx="2743200" cy="50292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617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Lung, bladder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947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794760"/>
            <a:ext cx="274320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17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Lung, eye melanoma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7947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794760"/>
            <a:ext cx="2743200" cy="50292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Night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6177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A33"/>
                </a:solidFill>
                <a:latin typeface="Calibri"/>
              </a:rPr>
              <a:t>Breast cancer*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Occupational Cancer — Expanded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Asbestos → lung, larynx, ovary, GI sites, mesothelioma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Wood dust → nasopharynx / sinonasal cancers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Diesel exhaust → lung, bladder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Coal tars / pitches → non-melanoma skin cancer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Painters / welders — elevated lung (and other) risks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Night-shift work — associated with breast cancer risk (IARC)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Liver Cancer — Documented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Strong: aflatoxin B1, androgens, ethanol, hydrocarbons, N-nitrosodimethylamine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Good: arsenic, captafol, PCBs, thorium dioxide (Thorotrast), TCE, vinyl chloride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Teaching use: one organ, many pathways (fungal toxin, alcohol, industrial chemical)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Aflatoxin + chronic HBV is a classic synergistic pair worldwide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Site–Agent Teaching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Thyroid: ionizing radiation (strong); melanoma: UV (strong)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NHL: benzene, dioxins, solvents/pesticides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Breast: smoking, alcohol, radiation, hormones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Childhood leukemia/brain: radiation, benzene, pesticides, second-hand smoke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36 /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Childhood Cancer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544068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Brain tumors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Ionizing radiation — Strong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Pesticides — Good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Second-hand smoke — Good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Solvents — Good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Selected insecticides — Good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44068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Leukemias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Benzene — Strong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Ionizing radiation — Strong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Solvents / TCE — Good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Pesticides / metal dusts — Good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Second-hand smoke — 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37 /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Tobacco &amp; Cancer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Cocktail diagram · pathway · multi-site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 &amp; Cancer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38 /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Tobacco — Scale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Hundreds of thousands of smoking-attributable deaths yearly in large populations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Leading cause of lung cancer death in men and women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~90% male / ~80% female lung cancer deaths linked to smoking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Also throat, mouth, nasal cavity, esophagus, stomach, pancreas, kidney, bladder, cervix, 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Is in a Burning Cigarette?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526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~4,000 chemicals released when a cigarette burns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&gt;70 known cancer-causing chemicals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Hundreds of other poisons / toxicants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Nicotine — highly addictive; sustains chronic exposure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Additives designed to improve taste and keep smokers hooked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FBEEE9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★  Addiction converts episodic exposure into lifelong cumulative dose.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The Cigarette — A Carcinogen Cocktail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371600"/>
            <a:ext cx="1371600" cy="4754880"/>
          </a:xfrm>
          <a:prstGeom prst="roundRect">
            <a:avLst/>
          </a:prstGeom>
          <a:solidFill>
            <a:srgbClr val="E8D5B7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5212080"/>
            <a:ext cx="1371600" cy="9144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3242"/>
                </a:solidFill>
                <a:latin typeface="Calibri"/>
              </a:rPr>
              <a:t>~4000
chemicals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5394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&gt;70
carcinogens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37160" cy="1097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PAHs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DNA adducts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37160" cy="1097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Nitrosamines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TSNA / NNK family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37160" cy="1097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Benzene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Leukemia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37160" cy="10972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1,3-Butadiene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Industrial carcinogen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371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371600"/>
            <a:ext cx="137160" cy="10972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Metals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As, Cd, Cr, 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743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2743200"/>
            <a:ext cx="137160" cy="10972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Po-210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Radioactive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1148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114800"/>
            <a:ext cx="137160" cy="10972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Formaldehyde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DNA / protein damage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539496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5394960"/>
            <a:ext cx="137160" cy="10972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3242"/>
                </a:solidFill>
                <a:latin typeface="Calibri"/>
              </a:rPr>
              <a:t>Nicotine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989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Addiction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Cancer-Causing Chemicals in Smoke — List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Tar — mixture of dangerous chemicals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Arsenic — used in wood preservatives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Benzene — industrial solvent from crude oil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Cadmium — used in batteries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Formaldehyde — mortuaries / paint manufacturing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Polonium-210 — highly radioactive 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Cancer-Causing Chemicals in Smoke — List 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Chromium — dyes, paints, alloys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1,3-Butadiene — rubber manufacturing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Polycyclic aromatic hydrocarbons — DNA-damaging group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Nitrosamines — another DNA-damaging group (incl. tobacco-specific)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Acrolein — historically used as a chemical weapon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Tobacco Carcinogenesis — Pathway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011680"/>
            <a:ext cx="2148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86000"/>
            <a:ext cx="1143000" cy="11430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657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Inhalation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41605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Smoke reaches
airway epithelium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3200400"/>
            <a:ext cx="320040" cy="32004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2011680"/>
            <a:ext cx="2148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0" y="2286000"/>
            <a:ext cx="1143000" cy="114300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6060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657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605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CYP metabolism
→ reactive species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0600" y="3200400"/>
            <a:ext cx="320040" cy="32004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2011680"/>
            <a:ext cx="2148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77840" y="2286000"/>
            <a:ext cx="1143000" cy="114300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3657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DNA adducts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41605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TP53 / KRAS
mutations accumulate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8040" y="3200400"/>
            <a:ext cx="320040" cy="32004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2011680"/>
            <a:ext cx="2148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0" y="2286000"/>
            <a:ext cx="1143000" cy="1143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6060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657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Field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1605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Multifocal injury
along aerodigestive tract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55480" y="3200400"/>
            <a:ext cx="320040" cy="32004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2011680"/>
            <a:ext cx="2148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2286000"/>
            <a:ext cx="1143000" cy="114300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6060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657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Cancer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1605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6"/>
                </a:solidFill>
                <a:latin typeface="Calibri"/>
              </a:rPr>
              <a:t>Lung + many
other 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Tobacco — Multi-Site Cancer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1280160"/>
            <a:ext cx="1371600" cy="1188720"/>
          </a:xfrm>
          <a:prstGeom prst="ellipse">
            <a:avLst/>
          </a:prstGeom>
          <a:solidFill>
            <a:srgbClr val="E6F3F1"/>
          </a:solidFill>
          <a:ln>
            <a:solidFill>
              <a:srgbClr val="1F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0" y="2468880"/>
            <a:ext cx="1737360" cy="2926080"/>
          </a:xfrm>
          <a:prstGeom prst="roundRect">
            <a:avLst/>
          </a:prstGeom>
          <a:solidFill>
            <a:srgbClr val="E6F3F1"/>
          </a:solidFill>
          <a:ln>
            <a:solidFill>
              <a:srgbClr val="1F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37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Mouth / throat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73736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137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Lung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65176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37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Esophagus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47472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137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Stomach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429768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37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Pancreas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512064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146304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75720" y="1463040"/>
            <a:ext cx="137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Nasal cavity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173736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37744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75720" y="2377440"/>
            <a:ext cx="137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Kidney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265176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320040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75720" y="3200400"/>
            <a:ext cx="137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Bladder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347472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02336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75720" y="4023360"/>
            <a:ext cx="137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160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Cervix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29768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8160" y="4846320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75720" y="4846320"/>
            <a:ext cx="137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242"/>
                </a:solidFill>
                <a:latin typeface="Calibri"/>
              </a:rPr>
              <a:t>AML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5120640"/>
            <a:ext cx="1188720" cy="54864"/>
          </a:xfrm>
          <a:prstGeom prst="rect">
            <a:avLst/>
          </a:prstGeom>
          <a:solidFill>
            <a:srgbClr val="D0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From Smoke Chemistry to Clinical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Local contact cancers: mouth, throat, larynx, lung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Distant / systemic cancers: bladder, kidney, pancreas, cervix, AML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Explains why filter tips never made cigarettes safe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Dose–response with pack-years is a core bedside teaching tool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Cessation lowers risk; earlier quitting yields larger 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Clinical Teaching Points — Tobacco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Pack-years = practical dose metric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Risk falls after cessation; earlier quitting → larger benefit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Synergy with radon, asbestos, alcohol (site-dependent)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Second-hand smoke is a real carcinogen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Ask–Advise–Assist–Arrange at every clinical encounter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Second-Hand Smoke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Not a mild nuisance — a carcinogenic exposure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Contributes substantial attributable deaths in large populations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Linked to lung cancer in nonsmokers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Also appears in childhood cancer association lists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Smoke-free laws are cancer-prevention policy, not etiquette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Radiation Carcinogenesis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DNA injury diagram · risk modifiers · medical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 Carcinogenesis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Radiation as a Carcinogen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Ionizing radiation = IARC Group 1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UV radiation = major skin cancer / melanoma driver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Avoidable share from ionizing + UV ≈ 5–7% of cancer deaths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Sources: background, medical, occupational, accidents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Radiation Interaction with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926080"/>
            <a:ext cx="1188720" cy="11887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γ / X
ray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3246120"/>
            <a:ext cx="822960" cy="411480"/>
          </a:xfrm>
          <a:prstGeom prst="rightArrow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371600"/>
            <a:ext cx="3931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1371600"/>
            <a:ext cx="3931920" cy="50292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DIRECT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0574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Hits DNA directly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SSB / DSB / base damage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Dominant for high-LET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931920"/>
            <a:ext cx="3931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3931920"/>
            <a:ext cx="3931920" cy="50292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INDIRECT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6177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Water radiolysis → •OH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Radical attack on DNA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Major for X/γ rays; OER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2320" y="3246120"/>
            <a:ext cx="822960" cy="411480"/>
          </a:xfrm>
          <a:prstGeom prst="rightArrow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3566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566160" cy="54864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Misrepair of DSB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Chromosome aberrations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Driver mutations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Genomic instability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Cancer after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Interaction of Radiation with DNA — Teaching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Energy deposition is clustered at the nanometer scale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Complex damage is harder to repair accurately than simple lesions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Misrepaired DSBs create chromosomal aberrations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Daughter cells may inherit instability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This is the physical → chemical → biological chain of carcinogenesis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From DNA Damage to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Misrepaired DSBs → chromosomal aberrations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Mutations in oncogenes / tumor-suppressor genes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Genomic instability may persist in daughter cells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Latency: years to decades (leukemia earlier; solid tumors later)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Human evidence: A-bomb survivors, medical exposure, radon miners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Dose, Age, and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Higher dose generally → higher risk (with tissue-specific nuances)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Younger age at exposure often → higher lifetime risk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Leukemias appear earlier; solid tumors later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Fractionation and dose rate modify biologic effect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Never quote a single “safe” threshold for stochastic cancer risk in teaching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Radiation Cancer Risk — What Modifies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1554480"/>
            <a:ext cx="1097280" cy="10972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Dose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32120" y="1554480"/>
            <a:ext cx="1097280" cy="109728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828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Dose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1554480"/>
            <a:ext cx="1097280" cy="109728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828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91640" y="4023360"/>
            <a:ext cx="1097280" cy="10972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297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Tissue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32120" y="4023360"/>
            <a:ext cx="1097280" cy="109728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4297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12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Sex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11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72600" y="4023360"/>
            <a:ext cx="1097280" cy="1097280"/>
          </a:xfrm>
          <a:prstGeom prst="ellipse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2976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12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3242"/>
                </a:solidFill>
                <a:latin typeface="Calibri"/>
              </a:rPr>
              <a:t>Combined exposures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Tissue Sensitivity &amp; Notable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Highly sensitive: bone marrow (leukemia), thyroid (esp. children), breast, lung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Childhood exposure carries higher lifetime risk for many tissues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Thyroid cancer strongly linked to ionizing radiation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Breast cancer risk rises with chest irradiation at young ages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UV → basal cell / squamous cell carcinoma and melanoma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Ionizing vs UV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544068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Ionizing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X-rays, γ-rays, particles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Deep tissues can be affected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Leukemia + many solid tumors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Medical / occupational / environmental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440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44068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Ultraviolet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UVB / UVA — sun &amp; tanning beds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Skin as primary target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Melanoma and non-melanoma skin cancers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Prevention highly 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Medical Radiation — Balanced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Diagnostic imaging: ALARA + clinical justification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Therapeutic RT: benefit outweighs secondary-cancer risk when indicated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Secondary malignancies uncommon but real in long survivors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Children need special dose/volume discipline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Honest risk talk without fear of necessary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Radiation + Chemicals — Combined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Tobacco + radon / asbestos: synergistic lung cancer risk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Chemotherapy / radiation combinations matter in survivors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Oxidative stress is a shared final pathway with many chemicals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Students should stop thinking in silos: exposures travel together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Prevention packages beat single slogans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288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Turn knowledge into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Prevention Cycle — Avoid the Avoidable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91640"/>
            <a:ext cx="1005840" cy="100584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No tobacco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1691640"/>
            <a:ext cx="1005840" cy="100584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Healthy weight
&amp; diet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691640"/>
            <a:ext cx="1005840" cy="100584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Limit alcohol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6304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9840" y="1691640"/>
            <a:ext cx="1005840" cy="10058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9202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Sun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069080"/>
            <a:ext cx="1005840" cy="100584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Workplace
controls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97680" y="4069080"/>
            <a:ext cx="1005840" cy="100584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297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12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Vaccines
(HPV/HBV)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4069080"/>
            <a:ext cx="1005840" cy="100584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297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Smart imaging
(ALARA)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9840" y="4069080"/>
            <a:ext cx="1005840" cy="100584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42976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212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3242"/>
                </a:solidFill>
                <a:latin typeface="Calibri"/>
              </a:rPr>
              <a:t>Smoke-free
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Prevention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98448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Most cancers are environmentally influenced — many deaths are avoidable.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121408"/>
            <a:ext cx="502920" cy="50292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Chemicals act by genotoxic DNA damage or non-genotoxic growth promotion.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358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Remember the flow: Initiation → Promotion → Progression.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767328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Tobacco is a multi-agent cocktail with multi-organ cancer impact.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590288"/>
            <a:ext cx="502920" cy="502920"/>
          </a:xfrm>
          <a:prstGeom prst="ellipse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Radiation risk depends on dose, age, tissue — justify medical exposure.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413248"/>
            <a:ext cx="502920" cy="50292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04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Prevention = personal choices + workplace/public health controls.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Selected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49834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IARC Monographs — https://monographs.iarc.who.int/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Doll R. Recent Results Cancer Res. 1998;154:3–21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Robbins &amp; Kumar — Basic Pathology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DeVita — Cancer: Principles &amp; Practice of Oncology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Perez &amp; Brady — Principles and Practice of Radiation Oncology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WHO / NCI / NIEHS environmental carcinogen resources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Tür A (ed.). Scientific Aspects of Cigarette Smoking, 2005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63 / 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
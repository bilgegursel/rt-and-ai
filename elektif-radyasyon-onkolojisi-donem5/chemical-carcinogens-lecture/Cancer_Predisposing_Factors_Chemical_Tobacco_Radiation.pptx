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2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Cancer &amp; Predisposing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8E6E1"/>
                </a:solidFill>
                <a:latin typeface="Calibri"/>
              </a:rPr>
              <a:t>Chemical Carcinogens  ·  Tobacco  ·  Radiation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Prof. Dr. Ş. Bilge Gürsel
Ondokuz Mayıs University Faculty of Medicine  ·  Department of Radiation Oncology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1945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2194560" cy="109728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A6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3242"/>
                </a:solidFill>
                <a:latin typeface="Calibri"/>
              </a:rPr>
              <a:t>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6"/>
                </a:solidFill>
                <a:latin typeface="Calibri"/>
              </a:rPr>
              <a:t>Geographic and environmental factors that shape cancer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280160"/>
            <a:ext cx="21945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1280160"/>
            <a:ext cx="2194560" cy="109728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6002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A6E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3242"/>
                </a:solidFill>
                <a:latin typeface="Calibri"/>
              </a:rPr>
              <a:t>Chemicals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92608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6"/>
                </a:solidFill>
                <a:latin typeface="Calibri"/>
              </a:rPr>
              <a:t>Mechanisms and classification of chemical carcinogens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280160"/>
            <a:ext cx="21945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1280160"/>
            <a:ext cx="2194560" cy="109728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16002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A6E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3242"/>
                </a:solidFill>
                <a:latin typeface="Calibri"/>
              </a:rPr>
              <a:t>Occupation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92608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6"/>
                </a:solidFill>
                <a:latin typeface="Calibri"/>
              </a:rPr>
              <a:t>Key occupational exposures and related cancer types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1280160"/>
            <a:ext cx="21945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1280160"/>
            <a:ext cx="2194560" cy="109728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16002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A6E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3242"/>
                </a:solidFill>
                <a:latin typeface="Calibri"/>
              </a:rPr>
              <a:t>Tobacco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92608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6"/>
                </a:solidFill>
                <a:latin typeface="Calibri"/>
              </a:rPr>
              <a:t>Constituents of smoke and pathways to malignancy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38359" y="1280160"/>
            <a:ext cx="21945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38359" y="1280160"/>
            <a:ext cx="2194560" cy="109728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16002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A6E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19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3242"/>
                </a:solidFill>
                <a:latin typeface="Calibri"/>
              </a:rPr>
              <a:t>Radiation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292608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6"/>
                </a:solidFill>
                <a:latin typeface="Calibri"/>
              </a:rPr>
              <a:t>Carcinogenic effects of ionizing and UV radiation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 / 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What Causes Cancer?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35661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566160" cy="64008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89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Lifestyle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Tobacco use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Diet &amp; obesity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Physical inactivity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UV exposure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5661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566160" cy="64008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89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Air &amp; industrial pollution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Occupational chemicals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Second-hand smoke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Contaminated food/water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280160"/>
            <a:ext cx="35661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80" y="1280160"/>
            <a:ext cx="3566160" cy="640080"/>
          </a:xfrm>
          <a:prstGeom prst="rect">
            <a:avLst/>
          </a:prstGeom>
          <a:solidFill>
            <a:srgbClr val="E0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389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Family History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9456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&lt;15% truly inherited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Gene mutations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Breast, ovary, colon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Prostate, melanoma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Lifestyle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Smoking — the single largest avoidable cancer cause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Diet high in fat / low in fruits and vegetables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Physical inactivity and obesity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Unprotected sun (UV) exposure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Alcohol (ethanol) — IARC Group 1 carcinogen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Human Impact on the Environment — and the Reverse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Industrialization changed the chemical load of air, water, soil, and food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Humans alter the environment; the environment then alters human disease patterns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Cancer maps often track exposure maps more than genetic maps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Prevention therefore includes both personal choices and public health control of exposures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Environmental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Second-hand smoke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Air pollution and industrial emissions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Chemical exposures at work and home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Pesticides, solvents, metals, combustion products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An estimated 2–8% of cancers are attributable to workplace exposures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5D3A"/>
                </a:solidFill>
                <a:latin typeface="Calibri"/>
              </a:rPr>
              <a:t>Key point: Environment + lifestyle explain most of the geographic variation in cancer.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Inherited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Less than 15% of cancers are truly inherited cancer syndromes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Gene mutations linked to selected inherited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Examples: colon, breast, ovarian, prostate, melanoma / skin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Even with inheritance, environment often modifies penetrance and age of onset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Family history matters — but it is not the main story for most patients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Environment and Cancer — Key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~27% of deaths in developed countries are due to cancer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Lifetime cancer risk in developed countries ≈ 30%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85–95% of cancers are related to environmental / lifestyle factors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Inherited predisposition accounts for &lt;15% of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These figures justify a prevention-first teaching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Avoidable Factors Linked to Cancer Deaths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Tobacco — 29–31%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Diet — 20–50%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Infections (bacteria, viruses) — 10–20%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Ionizing radiation &amp; UV light — 5–7%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Occupation — 2–4%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Pollution (air, water, food) — 1–5%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5D3A"/>
                </a:solidFill>
                <a:latin typeface="Calibri"/>
              </a:rPr>
              <a:t>Key point: Classic UK estimates — Doll R. Recent Results Cancer Res. 1998;154:3–21.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Evidence That Environment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Certain cancers dominate in specific populations / regions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Incidence changes when populations migrate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Incidence changes over calendar time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Clear rises after defined exposures (asbestos, radiation, tobacco)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Geographic gaps are usually environmental, not purely racial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Geographic Variation — Teaching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Clear discrimination of incidence and death rates by cancer type worldwide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Racial susceptibility cannot be fully excluded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Most geographic differences are believed to be environmental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Mortality comparisons of Japanese emigrants to the USA illustrate the shift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Children born in the host country often approach host-country rates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Migration Example — Colorectal Cancer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440680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Born in Japan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Japanese males: 69.3 / 100,000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Japanese females: 63.5 / 100,000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Lower Western-pattern risk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Useful baseline for comparison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40680" cy="59436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Born in the USA (Japanese ancestry)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Japanese males: 142.5 / 100,000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Japanese females: 90.1 / 100,000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Rates approach host-country pattern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Points to diet / lifestyle exposures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Introduction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PART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Chemical Carcinogens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8F0EC"/>
                </a:solidFill>
                <a:latin typeface="Calibri"/>
              </a:rPr>
              <a:t>Definition, classification, entry routes, and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What Is a Carcinogen?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An agent that increases cancer incidence after contact (experimental or human data)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1775 — Percival Pott: scrotal cancer in chimney sweeps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Years later the soot carcinogen class was identified as PAHs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Today: classified by IARC using human, animal, and mechanistic evidence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Teaching definition must include dose, route, and latency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IARC Classification of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7432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2743200" cy="13716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Group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Carcinogenic to humans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A33"/>
                </a:solidFill>
                <a:latin typeface="Calibri"/>
              </a:rPr>
              <a:t>Sufficient evidence in humans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280160"/>
            <a:ext cx="27432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137160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Group 2A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9659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Probably carcinogenic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01752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A33"/>
                </a:solidFill>
                <a:latin typeface="Calibri"/>
              </a:rPr>
              <a:t>Limited human + sufficient animal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80160"/>
            <a:ext cx="27432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280160"/>
            <a:ext cx="2743200" cy="1371600"/>
          </a:xfrm>
          <a:prstGeom prst="rect">
            <a:avLst/>
          </a:prstGeom>
          <a:solidFill>
            <a:srgbClr val="E0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Group 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9659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Possibly carcinogenic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1752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A33"/>
                </a:solidFill>
                <a:latin typeface="Calibri"/>
              </a:rPr>
              <a:t>Limited evidence in humans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280160"/>
            <a:ext cx="27432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280160"/>
            <a:ext cx="2743200" cy="1371600"/>
          </a:xfrm>
          <a:prstGeom prst="rect">
            <a:avLst/>
          </a:prstGeom>
          <a:solidFill>
            <a:srgbClr val="5A6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Group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9659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Not classifiable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01752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A33"/>
                </a:solidFill>
                <a:latin typeface="Calibri"/>
              </a:rPr>
              <a:t>Inadequate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6"/>
                </a:solidFill>
                <a:latin typeface="Calibri"/>
              </a:rPr>
              <a:t>Source: IARC Monographs — https://monographs.iarc.who.int/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Using IARC in Clinical Teaching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Group 1 answers: “Is this an established human carcinogen?”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Group 2A/2B signal caution and research / exposure control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Classification is not the same as individual risk prediction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Always ask: Who is exposed? How much? For how long?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Monographs: https://monographs.iarc.who.int/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How Carcinogens Enter the Body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Inhalation — gases, fumes, dusts, smoke (most common occupational route)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Skin absorption — solvents and many industrial chemicals cross intact skin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Ingestion — contaminated food, water, accidental swallowing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Exposure intensity × duration × individual susceptibility → risk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Same agent may hit different organs depending on route and metabolism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Mode of Action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440680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Genotoxic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DNA-reactive parent or metabolite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Direct chromosomal damage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Often mutagenic / cytotoxic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DNA adduct → mutation → cancer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Examples: PAHs, nitrosamines, alkylators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40680" cy="59436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Non-genotoxic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No direct DNA mutation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Harder to detect (rodent bioassay)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Act via proliferation, receptors, oxidative stress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Promote initiated clones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Examples: some hormones, mitogens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Genotoxic Carcinogens — Subtypes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Direct carcinogens — no metabolic activation (e.g., alkylating agents)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Indirect / procarcinogens — need activation (PAHs, aromatic amines, nitrosamines)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Natural substances can also be genotoxic carcinogens (e.g., aflatoxin B1)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Inorganic carcinogens — Ni, Cr, Cd, As and related compounds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Metabolic activation often via CYP450 enzymes and cofactors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5D3A"/>
                </a:solidFill>
                <a:latin typeface="Calibri"/>
              </a:rPr>
              <a:t>Key point: Procarcinogen → ultimate carcinogen → DNA adduct.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Metabolic Activation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Many carcinogens are inactive until biotransformed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CYP450s are the classic activation enzymes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Receptors, cofactors, and conjugating enzymes also participate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Inter-individual enzyme differences help explain susceptibility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Detoxification pathways can protect — or, if overloaded, fail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Non-Genotoxic Carcinogens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Mitogens — stimulate proliferation; mutations may arise secondarily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May cause preferential growth of preneoplastic cells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Cytotoxicants — cell death → regenerative growth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Secondary mutations can appear during regeneration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Detection usually requires long-term rodent carcinogenicity bioassays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Mechanisms of Non-Genotoxic Carcinogenesis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Increased cell proliferation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Decreased apoptosis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Changes in gene expression (epigenetic / transcriptional)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Induction of metabolizing enzymes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Activation of receptors and signaling pathways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Oxidative stress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Steps of Carcinogenesis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38328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7360" y="1920240"/>
            <a:ext cx="914400" cy="91440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21031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43242"/>
                </a:solidFill>
                <a:latin typeface="Calibri"/>
              </a:rPr>
              <a:t>Initiation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B76"/>
                </a:solidFill>
                <a:latin typeface="Calibri"/>
              </a:rPr>
              <a:t>Irreversible heritable DNA change in a key regulatory pathway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45D3A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38328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77840" y="1920240"/>
            <a:ext cx="914400" cy="914400"/>
          </a:xfrm>
          <a:prstGeom prst="ellipse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1031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089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43242"/>
                </a:solidFill>
                <a:latin typeface="Calibri"/>
              </a:rPr>
              <a:t>Promotion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B76"/>
                </a:solidFill>
                <a:latin typeface="Calibri"/>
              </a:rPr>
              <a:t>Selective clonal expansion of initiated cells; reversible if stopped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45D3A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645920"/>
            <a:ext cx="338328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0" y="1920240"/>
            <a:ext cx="914400" cy="914400"/>
          </a:xfrm>
          <a:prstGeom prst="ellipse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21031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1089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43242"/>
                </a:solidFill>
                <a:latin typeface="Calibri"/>
              </a:rPr>
              <a:t>Progression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B76"/>
                </a:solidFill>
                <a:latin typeface="Calibri"/>
              </a:rPr>
              <a:t>Genetic instability → invasion, angiogenesis, metastasis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Initiation — Definition &amp; Properties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Point at which an irreversible alteration (usually genetic) enters a target cell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Genotoxicity = interaction with DNA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May convert a proto-oncogene into an oncogene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Properties: irreversible; caused by carcinogenic compounds; occurs rapidly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Generally alone does not produce a tumor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Several initiator exposures may produce tumors without a classic promoter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Targets of Initiation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Mutational activation of oncogenic / proliferative pathways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  – growth-factor receptors, signaling proteins, cell-cycle checkpoints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Mutational inactivation of apoptotic pathways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  – growth-inhibitory receptors, apoptosis proteins, tumor suppressors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Mutational inactivation of DNA repair (BER, NER, etc.)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Mutational inactivation of antioxidant responses (e.g., SOD)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Initiation vs Promotion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440680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Initiation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Essentially irreversible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Caused by carcinogenic compounds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Occurs rapidly after exposure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Alone usually not enough for a tumor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Targets: oncogenes, tumor suppressors, DNA repair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40680" cy="59436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Promotion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Reversible (if exposure stops)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Acts only after initiation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Needs repeated promoter exposure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Not carcinogenic by itself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Classic example: PAH initiator + phorbol ester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Promotion — More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Epigenetic event — change in gene expression without DNA sequence change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Mitogenic (not mutagenic): stimulates proliferation of mutated and normal cells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Enhances initiator effect by establishing clones of initiated cells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Long delay may exist between initiator and promoter administration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Requires continuous stimulation to maintain focal proliferations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Example: benzo[a]pyrene (initiator) + cotton-oil phorbol ester (promoter) in mouse 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Progression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Irreversible process that can lead to metastasis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Further mutations from chromosomal / genetic instability during promotion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Recruitment of inflammatory immune cells to the tumor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Tumor cells acquire wound-healing traits (chemoattractants, angiogenesis, proteases)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Progressor examples: inflammation, asbestos fibers, benzene, benzoyl peroxide, oxidative stress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Genotoxic + Non-Genotoxic Effects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Real-world exposures often combine both classes of action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An agent may initiate DNA damage and also drive proliferation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Chronic inflammation bridges cytotoxicity, ROS, and clonal selection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Teaching model: DNA hit starts the story; growth selection writes the next chapters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This dual view prepares students for tobacco and radiation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PART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Environmental &amp; Occupational Chemicals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8F0EC"/>
                </a:solidFill>
                <a:latin typeface="Calibri"/>
              </a:rPr>
              <a:t>Major agents students should recognize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Environmental &amp; Occupational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Pesticides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About 20 pesticide ingredients have caused cancer in animals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High-exposure groups: farmers, crop-duster pilots, manufacturers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Higher rates of blood and lymphatic cancers reported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Also linked in studies to melanoma and cancers of lip, stomach, brain, lung, prostate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Message: exposure control and protective equipment matter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Solvents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Used in paint removers, grease removers, thinners, dry cleaning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Benzene, carbon tetrachloride, chloroform, methylene chloride linked to human cancer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Strongest solvent evidence: benzene → leukemia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Benzene is also found in cigarette smoke and gasoline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Occupational hygiene and substitution are primary prevention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Benzene — Clinical Spotlight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IARC Group 1 human carcinogen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Industrial solvent; also in tobacco smoke and gasoline vapor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Strongest cancer link: leukemia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Inhalation is the dominant exposure route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Useful classroom bridge between occupation and smoking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Dioxins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Byproducts of paper bleaching, smelting, and waste incineration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Break down very slowly → widespread environmental persistence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Accumulate in fat cells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Most human exposure comes from dairy products, fish, and meat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Body half-life estimated at about 7–11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Polycyclic Aromatic Hydrocarbons (PAHs)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Come from burning carbon-based material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Found in wood smoke, car exhaust, cigarette smoke, charcoal-grilled foods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Also reported in sausages and roasted coffees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Linked to increased risks of lung, skin, and urinary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Historically connected to Percival Pott’s soot / scrotal cancer observation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Vinyl Chloride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Used in the plastics industry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Associated with lung cancer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Classic association: angiosarcomas of the liver (and brain reported)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Most people are not routinely exposed unless they work in plastics plants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Nearby residents may be exposed via contaminated 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Benzidine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Known cancer association since the 1920s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Used in dye production for paper, textiles, and leather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Classic occupational bladder carcinogen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Exposure can occur around workstations, bulk/process containers, dye dust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Historical control of aromatic amine dyes is a public-health success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Selected Metals and Related Cancers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3703320" cy="502920"/>
          </a:xfrm>
          <a:prstGeom prst="rect">
            <a:avLst/>
          </a:prstGeom>
          <a:solidFill>
            <a:srgbClr val="143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Metal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234440"/>
            <a:ext cx="3703320" cy="502920"/>
          </a:xfrm>
          <a:prstGeom prst="rect">
            <a:avLst/>
          </a:prstGeom>
          <a:solidFill>
            <a:srgbClr val="143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3258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Associated cancers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234440"/>
            <a:ext cx="3703320" cy="502920"/>
          </a:xfrm>
          <a:prstGeom prst="rect">
            <a:avLst/>
          </a:prstGeom>
          <a:solidFill>
            <a:srgbClr val="143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3258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Human carcinogen?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470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Arsenic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7373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8470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Skin, lung, bladder, kidney, liver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17373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8470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231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5328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Beryllium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4231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25328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Lung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24231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5328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089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2186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Cadmium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1089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32186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Lung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0" y="31089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32186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Yes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9044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Chromium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37947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39044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Lung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0" y="37947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39044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4805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5902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Nickel compounds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44805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45902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Nasal cavity, lung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80" y="4480560"/>
            <a:ext cx="37033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45902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Yes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1663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2760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Lead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6240" y="51663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52760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Kidney, brain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80" y="5166360"/>
            <a:ext cx="3703320" cy="640080"/>
          </a:xfrm>
          <a:prstGeom prst="rect">
            <a:avLst/>
          </a:prstGeom>
          <a:solidFill>
            <a:srgbClr val="E6F3F1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0" y="527608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33"/>
                </a:solidFill>
                <a:latin typeface="Calibri"/>
              </a:rPr>
              <a:t>Probable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38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Where Are These Metals Found?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Arsenic — wood preservatives, glass, pesticides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Beryllium — nuclear weapons, rocket fuel, ceramics, glass, plastics, fiberoptics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Cadmium — metal coatings, plastics, batteries, fungicides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Chromium — automotive parts, plating, cement, asphalt roofing, paper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Nickel — steel, dental fillings, batteries, magnets, glazes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Lead — dyes, coatings, paints/varnishes, some plastics and specialty glass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39 / 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Occupational Cancer — List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Asbestos fibers → colorectal, larynx, lung, ovary, pharynx, stomach cancers; mesothelioma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Wood dusts → nasopharynx and sinonasal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UV radiation from sunlight → skin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Metalworking fluids and mineral oils → bladder, lung, sinonasal, skin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Silica dust → lung cancer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40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Occupational Cancer — List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Diesel engine exhaust → bladder and lung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Coal tars and pitches → non-melanoma skin cancer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Work as a painter → bladder and lung cancers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Work as a welder → lung cancer; melanoma of the eye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Shift (night) work → associated with breast cancer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41 / 72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Liver Cancer — Documented 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Strong: aflatoxin B1, androgens, ethanol, hydrocarbons, N-nitrosodimethylamine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Good: arsenic, captafol, PCBs, thorium dioxide (Thorotrast), TCE, vinyl chloride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Teaching use: one organ, many pathways (fungal toxin, alcohol, industrial chemical)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Aflatoxin + chronic HBV is a classic synergistic pair worldwide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5D3A"/>
                </a:solidFill>
                <a:latin typeface="Calibri"/>
              </a:rPr>
              <a:t>Key point: Source pattern: CHE Toxicant and Disease Database (teaching compilation).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42 / 72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Thyroid &amp; Melanoma — Documented 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440680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Thyroid cancer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Ionizing radiation — Strong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Ethylene thiourea (ETU) — Good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Age at radiation exposure is critical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Children are especially vulnerable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40680" cy="59436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Melanoma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UV radiation — Strong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Sun exposure and tanning beds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Prevention = shade, clothing, sunscreen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Different biology from non-melanoma skin cancers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43 / 72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Non-Hodgkin Lymphoma — Documented 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Strong: 1,3-butadiene, benzene, dioxins/TCDD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Good evidence signals: 2,4-D, Agent Orange, many organochlorine/organophosphate pesticides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Also: solvents, PCE, TCE, PCBs, creosotes, ionizing radiation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Teaching point: hematologic malignancy can track chemical landscapes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Useful bridge to benzene and dioxin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44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Breast Cancer — Documented 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Strong: active smoking, estrogens/DES, ethanol, ionizing radiation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Second-hand smoke — strong/probable signal in compilations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Good: aromatic amines, ethylene oxide, PAHs, PCBs, progestins, solvents, PCE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Shows how lifestyle, hormones, chemicals, and radiation intersect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Night-shift work discussed under occupational 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45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Childhood Cancers — Documented 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440680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Childhood brain cancer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Ionizing radiation — Strong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Dichlorvos, lindane — Good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Pesticides — Good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Second-hand smoke — Good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Solvents — Good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40680" cy="59436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Childhood leukemias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Benzene — Strong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Ionizing radiation — Strong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Agent Orange / solvents / TCE — Good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Metal dusts, pesticides — Good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Second-hand smoke — Good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Chemical Carcinogens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46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PART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Tobacco &amp; Cancer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8F0EC"/>
                </a:solidFill>
                <a:latin typeface="Calibri"/>
              </a:rPr>
              <a:t>Constituents, mechanisms, and multi-site disease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 &amp; Cancer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47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Tobacco — The Scale of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Historically ~443,000 US smoking-attributable deaths/year (incl. ~49,000 from second-hand smoke)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Leading cause of lung cancer death in men and women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~90% of male and ~80% of female lung cancer deaths linked to smoking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Also: throat, mouth, nasal cavity, esophagus, stomach, pancreas, kidney, bladder, cervix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Acute myeloid leukemia is smoking-related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48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What Is in a Burning Cigarette?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~4,000 chemicals released when a cigarette burns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&gt;70 known cancer-causing chemicals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Hundreds of other poisons / toxicants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Nicotine — highly addictive; sustains chronic exposure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Additives designed to improve taste and keep smokers hooked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5D3A"/>
                </a:solidFill>
                <a:latin typeface="Calibri"/>
              </a:rPr>
              <a:t>Key point: Addiction converts episodic exposure into lifelong cumulative dose.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49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Cancer-Causing Chemicals in Tobacco Smoke — List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Tar — mixture of dangerous chemicals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Arsenic — used in wood preservatives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Benzene — industrial solvent from crude oil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Cadmium — used in batteries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Formaldehyde — mortuaries / paint manufacturing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Polonium-210 — highly radioactive element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50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Cancer-Causing Chemicals in Tobacco Smoke — List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Chromium — dyes, paints, alloys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1,3-Butadiene — rubber manufacturing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Polycyclic aromatic hydrocarbons — DNA-damaging group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Nitrosamines — another DNA-damaging group (incl. tobacco-specific)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Acrolein — historically used as a chemical weapon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Plus many additional carcinogens and co-carcinogens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51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Selected Named Carcinogens Identified in Tobacco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PAHs: benz[a]anthracene, benzo[a]pyrene, chrysene, dibenzanthracenes…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Nitrosamines: NNK-related and N-nitrosodimethylamine / diethylamine family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Aromatic amines: alpha-naphthylamine and related compounds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Metals / radioisotope: cadmium, nickel compounds, arsenic, polonium-210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Volatile organics: benzene, aminostilbene, and many others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This list is illustrative — smoke is a complex mixture, not a single toxin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52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Major Carcinogen Classes in Smoke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440680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DNA-damaging organics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Polycyclic aromatic hydrocarbons (PAHs)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N-nitrosamines (incl. tobacco-specific)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Benzene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1,3-Butadiene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Formaldehyde / acrolein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40680" cy="59436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Metals &amp; radioisotopes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Arsenic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Cadmium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Chromium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Nickel compounds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Polonium-210 (radioactive)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53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Mechanism — How Tobacco Causes Cancer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Inhaled carcinogens undergo metabolic activation (CYP pathways)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Formation of DNA adducts in bronchial and other epithelial cells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Mutations in TP53, KRAS and other key drivers accumulate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Chronic inflammation and oxidative stress promote progression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Field cancerization: multifocal genetic injury along the aerodigestive tract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Second-hand smoke also carries proven carcinogenic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54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From Smoke Chemistry to Clinical Disease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Local contact cancers: mouth, throat, larynx, lung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Distant / systemic cancers: bladder, kidney, pancreas, cervix, AML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Explains why “filter tips” never made cigarettes safe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Dose–response with pack-years is a core bedside teaching tool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Cessation lowers risk; earlier quitting yields larger benefit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55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Clinical Teaching Points — Tobacco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Dose–response: pack-years correlate with risk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Risk falls after cessation but never fully equals never-smokers for some sites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Synergy with radon, asbestos, alcohol (site-dependent)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Prevention priority #1 in cancer control globally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Ask–Advise–Assist–Arrange: every clinician’s brief intervention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56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Second-Hand Smoke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Not a mild nuisance — a carcinogenic exposure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Contributes tens of thousands of attributable deaths in large populations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Linked to lung cancer in nonsmokers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Also appears in childhood cancer association lists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Smoke-free laws are cancer-prevention policy, not etiquette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Tobacco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57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PART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Radiation Carcinogenesis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8F0EC"/>
                </a:solidFill>
                <a:latin typeface="Calibri"/>
              </a:rPr>
              <a:t>Ionizing radiation, UV light, and DNA injury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 Carcinogenesis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58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Radiation as a Carcinogen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Ionizing radiation = IARC Group 1 carcinogen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UV radiation = major cause of skin cancers (including melanoma)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Avoidable share of cancer deaths from ionizing + UV ≈ 5–7%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Sources: natural background, medical imaging/therapy, occupational, nuclear accidents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Risk depends on dose, dose rate, age at exposure, sex, and tissue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59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How Radiation Interacts with DNA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440680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Direct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Photon / particle hits DNA directly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Strand breaks (SSB, DSB)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Base damage and crosslinks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Dominant for high-LET radiation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40680" cy="59436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Indirect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Radiolysis of water → free radicals (•OH)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Radicals attack DNA / proteins / lipids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Major pathway for X / γ rays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Oxygen enhances damage (OER)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60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Interaction of Radiation with DNA — Teaching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Energy deposition is clustered at the nanometer scale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Complex damage is harder to repair accurately than simple lesions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Misrepaired DSBs create chromosomal aberrations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Daughter cells may inherit instability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This is the physical → chemical → biological chain of carcinogenesis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61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From DNA Damage to Cancer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Misrepaired double-strand breaks → chromosomal aberrations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Mutations in oncogenes / tumor-suppressor genes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Genomic instability may persist in daughter cells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Latency: years to decades (solid tumors longer than leukemias)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Classic human evidence: atomic-bomb survivors, medical irradiation, radon miners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62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Dose, Age, and Latency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Higher dose generally → higher risk (with tissue-specific nuances)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Younger age at exposure often → higher lifetime risk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Leukemias appear earlier; solid tumors later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Fractionation and dose rate modify biologic effect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Never quote a single “safe” threshold for stochastic cancer risk in teaching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63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Tissue Sensitivity &amp; Notable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Highly sensitive: bone marrow (leukemia), thyroid (esp. children), breast, lung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Childhood exposure carries higher lifetime risk for many tissues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Thyroid cancer strongly linked to ionizing radiation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Breast cancer risk rises with chest irradiation at young ages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UV → basal cell / squamous cell carcinoma and melanoma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64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Ionizing vs UV Radiation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440680" cy="59436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Ionizing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X-rays, γ-rays, particles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Deep tissues can be affected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Leukemia + many solid tumors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Medical, occupational, environmental sources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440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40680" cy="59436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Ultraviolet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UVB / UVA from sun &amp; tanning beds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Skin as primary target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Melanoma and non-melanoma skin cancers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Prevention is highly effective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65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Medical Radiation — Balanced 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Diagnostic imaging: keep doses ALARA; justify every exam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Therapeutic radiotherapy: cancer cure/control outweighs secondary-cancer risk when indicated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Secondary malignancies are uncommon but real — relevant in long-term survivors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Pediatric patients need special dose/volume discipline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Communicate risk honestly without creating fear of necessary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66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Radiation + Chemicals — Combined Thinking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Tobacco + radon / asbestos: synergistic lung cancer risk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Chemotherapy / radiation combinations matter in survivors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Oxidative stress is a shared final pathway with many chemicals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Students should stop thinking in silos: exposures travel together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Prevention packages (smoke-free + workplace + sun safety) beat single slogans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Radiation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67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PART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8F0EC"/>
                </a:solidFill>
                <a:latin typeface="Calibri"/>
              </a:rPr>
              <a:t>Avoid the avoidable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Prevention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68 / 72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Avoid the Avoidable Risk Factors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Never start — or stop — tobacco; avoid second-hand smoke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Healthy diet, healthy weight, regular physical activity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Limit alcohol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Sun protection; avoid intentional tanning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Workplace controls: substitution, ventilation, PPE, regulation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Vaccination / infection control where relevant (HPV, HBV)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Rational use of medical radiation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Prevention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69 / 72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What a Future Doctor Should Remember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Ask about occupation and hobbies that involve chemicals / dusts / solvents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Ask about smoking and advise cessation at every opportunity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Do not order imaging without a clinical question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Counsel sun safety and workplace protection as cancer prevention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Know where to look up IARC classifications when uncertain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Prevention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70 / 72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Take-Home Messages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11155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137160" cy="6858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990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A33"/>
                </a:solidFill>
                <a:latin typeface="Calibri"/>
              </a:rPr>
              <a:t>Most cancers are driven by environmental and lifestyle factors — many are avoidable.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11155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137160" cy="68580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762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A33"/>
                </a:solidFill>
                <a:latin typeface="Calibri"/>
              </a:rPr>
              <a:t>Chemical carcinogens act via genotoxic DNA damage or non-genotoxic promotion of growth.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88920"/>
            <a:ext cx="11155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788920"/>
            <a:ext cx="137160" cy="6858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535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A33"/>
                </a:solidFill>
                <a:latin typeface="Calibri"/>
              </a:rPr>
              <a:t>Carcinogenesis unfolds as initiation → promotion → progression.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66160"/>
            <a:ext cx="11155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66160"/>
            <a:ext cx="137160" cy="68580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30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A33"/>
                </a:solidFill>
                <a:latin typeface="Calibri"/>
              </a:rPr>
              <a:t>Tobacco smoke is a multi-agent carcinogen cocktail linked to many cancer sites.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43400"/>
            <a:ext cx="11155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343400"/>
            <a:ext cx="137160" cy="685800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079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A33"/>
                </a:solidFill>
                <a:latin typeface="Calibri"/>
              </a:rPr>
              <a:t>Ionizing radiation is a proven human carcinogen; risk depends on dose, age, and tissue.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120640"/>
            <a:ext cx="11155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120640"/>
            <a:ext cx="137160" cy="685800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8523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A33"/>
                </a:solidFill>
                <a:latin typeface="Calibri"/>
              </a:rPr>
              <a:t>Prevention = reduce exposure, stop smoking, protect from UV/radiation, workplace safety.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71 / 72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3242"/>
                </a:solidFill>
                <a:latin typeface="Calibri"/>
              </a:rPr>
              <a:t>Selected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234440" cy="50292"/>
          </a:xfrm>
          <a:prstGeom prst="rect">
            <a:avLst/>
          </a:prstGeom>
          <a:solidFill>
            <a:srgbClr val="D45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IARC Monographs — https://monographs.iarc.who.int/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Doll R. Recent Results in Cancer Research 1998;154:3–21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Robbins &amp; Kumar — Basic Pathology (carcinogenesis chapters)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DeVita, Hellman, Rosenberg — Cancer: Principles &amp; Practice of Oncology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Perez &amp; Brady — Principles and Practice of Radiation Oncology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WHO / NCI / NIEHS public resources on environmental carcinogens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•  Tür A (ed.). Scientific Aspects of Cigarette Smoking. Logos Medical Publishing, 2005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6"/>
                </a:solidFill>
                <a:latin typeface="Calibri"/>
              </a:rPr>
              <a:t>Prof. Dr. Ş. Bilge Gürsel  ·  Cancer &amp; Predisposing Factors  · 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6"/>
                </a:solidFill>
                <a:latin typeface="Calibri"/>
              </a:rPr>
              <a:t>72 /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
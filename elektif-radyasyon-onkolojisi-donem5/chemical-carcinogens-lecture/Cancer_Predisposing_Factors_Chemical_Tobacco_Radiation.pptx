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Cancer &amp; Predisposing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E6E1"/>
                </a:solidFill>
                <a:latin typeface="Calibri"/>
              </a:rPr>
              <a:t>Chemical Carcinogens  ·  Tobacco  ·  Radiation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Prof. Dr. Ş. Bilge Gürsel
Ondokuz Mayıs University Faculty of Medicine  ·  Department of Radiation Oncology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2194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194560" cy="109728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6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242"/>
                </a:solidFill>
                <a:latin typeface="Calibri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6"/>
                </a:solidFill>
                <a:latin typeface="Calibri"/>
              </a:rPr>
              <a:t>Geographic and environmental factors that shape cancer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280160"/>
            <a:ext cx="2194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280160"/>
            <a:ext cx="2194560" cy="109728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6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242"/>
                </a:solidFill>
                <a:latin typeface="Calibri"/>
              </a:rPr>
              <a:t>Chemicals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260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6"/>
                </a:solidFill>
                <a:latin typeface="Calibri"/>
              </a:rPr>
              <a:t>Mechanisms and classification of chemical carcinogens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280160"/>
            <a:ext cx="2194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280160"/>
            <a:ext cx="2194560" cy="109728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6E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242"/>
                </a:solidFill>
                <a:latin typeface="Calibri"/>
              </a:rPr>
              <a:t>Occupation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260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6"/>
                </a:solidFill>
                <a:latin typeface="Calibri"/>
              </a:rPr>
              <a:t>Key occupational exposures and related cancer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280160"/>
            <a:ext cx="2194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280160"/>
            <a:ext cx="2194560" cy="109728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6E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242"/>
                </a:solidFill>
                <a:latin typeface="Calibri"/>
              </a:rPr>
              <a:t>Tobacco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9260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6"/>
                </a:solidFill>
                <a:latin typeface="Calibri"/>
              </a:rPr>
              <a:t>Constituents of smoke and pathways to malignancy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59" y="1280160"/>
            <a:ext cx="2194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59" y="1280160"/>
            <a:ext cx="2194560" cy="109728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6E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148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242"/>
                </a:solidFill>
                <a:latin typeface="Calibri"/>
              </a:rPr>
              <a:t>Radiation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9260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6"/>
                </a:solidFill>
                <a:latin typeface="Calibri"/>
              </a:rPr>
              <a:t>Carcinogenic effects of ionizing and UV radiation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What Causes Cancer?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566160" cy="64008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Lifestyle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Tobacco use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Diet &amp; obesity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Physical inactivity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UV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566160" cy="64008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Air &amp; industrial pollution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Occupational chemicals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Second-hand smoke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Contaminated food/water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28016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280160"/>
            <a:ext cx="3566160" cy="640080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Family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&lt;15% truly inherited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Gene mutations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Breast, ovary, colon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•  Prostate, melanoma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Lifestyle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Smoking — the single largest avoidable cancer cause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Diet high in fat / low in fruits and vegetables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Physical inactivity and obesity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Unprotected sun (UV) exposure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Alcohol (ethanol) — IARC Group 1 carcinogen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Environmental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Second-hand smoke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Air pollution and industrial emissions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Chemical exposures at work and home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Pesticides, solvents, metals, combustion products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An estimated 2–8% of cancers are attributable to workplace exposures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Key point: Environment + lifestyle explain most of the geographic variation in cancer.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Environment and Cancer — Key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~27% of deaths in developed countries are due to cancer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Lifetime cancer risk in developed countries ≈ 30%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85–95% of cancers are related to environmental / lifestyle factors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Inherited predisposition accounts for &lt;15% of cancers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Avoidable Factors Linked to Cancer Deaths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50292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Risk 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234440"/>
            <a:ext cx="5577840" cy="50292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Approx. share of cancer deaths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577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Tobacco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737360"/>
            <a:ext cx="5577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8470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29–31%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557784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328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Diet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423160"/>
            <a:ext cx="557784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5328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20–50%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577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Infections (bacteria, viruses)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108960"/>
            <a:ext cx="5577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2186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10–20%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557784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Ionizing radiation &amp; UV light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794760"/>
            <a:ext cx="557784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9044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5–7%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5577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902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Occupation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4480560"/>
            <a:ext cx="5577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45902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2–4%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760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Pollution (air, water, food)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5166360"/>
            <a:ext cx="557784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52760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1–5%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Evidence That Environment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Certain cancers dominate in specific populations / regions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Incidence changes when populations migrate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Incidence changes over calendar time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Clear rises after defined exposures (asbestos, radiation, tobacco)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Japanese migrants to the USA: colorectal cancer rates shift toward US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Migration Example — Colorectal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40680" cy="59436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Born in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Japanese males: 69.3 / 100,000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Japanese females: 63.5 / 100,000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Lower Western-pattern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40680" cy="59436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Born in the USA (Japanese ancestry)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Japanese males: 142.5 / 100,000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Japanese females: 90.1 / 100,000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Rates approach host-country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Chemical Carcinogens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Definition, classification, entry routes, and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What Is a Carcinogen?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An agent that increases cancer incidence after contact (experimental or human data)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1775 — Percival Pott: scrotal cancer in chimney sweeps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Later linked to polycyclic aromatic hydrocarbons (PAHs) in soot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Today: classified by IARC using human, animal, and mechanistic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IARC Classification of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743200" cy="13716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Group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Carcinogenic to humans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Sufficient evidence in humans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743200" cy="13716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Group 2A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Probably carcinogenic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Limited human + sufficient animal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8016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2743200" cy="1371600"/>
          </a:xfrm>
          <a:prstGeom prst="rect">
            <a:avLst/>
          </a:prstGeom>
          <a:solidFill>
            <a:srgbClr val="E0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Group 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Possibly carcinogenic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Limited evidence in humans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28016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280160"/>
            <a:ext cx="2743200" cy="1371600"/>
          </a:xfrm>
          <a:prstGeom prst="rect">
            <a:avLst/>
          </a:prstGeom>
          <a:solidFill>
            <a:srgbClr val="5A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Group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Not classifiable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3"/>
                </a:solidFill>
                <a:latin typeface="Calibri"/>
              </a:rPr>
              <a:t>Inadequate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6"/>
                </a:solidFill>
                <a:latin typeface="Calibri"/>
              </a:rPr>
              <a:t>Source: IARC Monographs — https://monographs.iarc.who.int/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How Carcinogens Enter the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Inhalation — gases, fumes, dusts, smoke (most common occupational route)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Skin absorption — solvents and many industrial chemicals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Ingestion — contaminated food, water, accidental swallowing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Exposure intensity × duration × individual susceptibility →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Mode of Action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40680" cy="59436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Genotoxic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DNA-reactive parent or metabolite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Direct chromosomal damage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Often mutagenic / cytotoxic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DNA adduct → mutation → cancer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Examples: PAHs, nitrosamines, alkylators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40680" cy="59436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Non-genotoxic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No direct DNA mutation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Harder to detect (rodent bioassay)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Act via proliferation, receptors, oxidative stress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Promote initiated clones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Examples: some hormones, mitogens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Genotoxic Carcinogens — Subtypes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Direct carcinogens — no metabolic activation (e.g., alkylating agents)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Indirect / procarcinogens — need activation (PAHs, aromatic amines, nitrosamines)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Metabolic activation often via CYP450 enzymes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Inorganic carcinogens — Ni, Cr, Cd, As and related compounds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Key point: Procarcinogen → ultimate carcinogen → DNA adduct.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Non-Genotoxic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Mitogens — stimulate proliferation; mutations may arise secondarily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Cytotoxicants — cell death → regenerative growth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Decreased apoptosis; altered gene expression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Receptor activation / signaling changes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Oxidative stress and enzyme induction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Steps of Carcinogenesis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1920240"/>
            <a:ext cx="914400" cy="91440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3242"/>
                </a:solidFill>
                <a:latin typeface="Calibri"/>
              </a:rPr>
              <a:t>Initiation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6"/>
                </a:solidFill>
                <a:latin typeface="Calibri"/>
              </a:rPr>
              <a:t>Irreversible heritable DNA change in a key regulatory pathway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45D3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1920240"/>
            <a:ext cx="914400" cy="91440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103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3242"/>
                </a:solidFill>
                <a:latin typeface="Calibri"/>
              </a:rPr>
              <a:t>Promotion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6"/>
                </a:solidFill>
                <a:latin typeface="Calibri"/>
              </a:rPr>
              <a:t>Selective clonal expansion of initiated cells; reversible if stopped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45D3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64592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1920240"/>
            <a:ext cx="914400" cy="914400"/>
          </a:xfrm>
          <a:prstGeom prst="ellipse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3242"/>
                </a:solidFill>
                <a:latin typeface="Calibri"/>
              </a:rPr>
              <a:t>Progression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6"/>
                </a:solidFill>
                <a:latin typeface="Calibri"/>
              </a:rPr>
              <a:t>Genetic instability → invasion, angiogenesis, metastasis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Initiation vs Promotion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40680" cy="59436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Initiation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Essentially irreversible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Caused by carcinogenic compounds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Occurs rapidly after exposure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Alone usually not enough for a tumor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Targets: oncogenes, tumor suppressors, DNA repair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40680" cy="59436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Reversible (if exposure stops)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Acts only after initiation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Needs repeated promoter exposure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Not carcinogenic by itself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Classic example: PAH initiator + phorbol ester promoter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Irreversible phase that can lead to metastasis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Further mutations from chromosomal instability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Recruitment of inflammatory immune cells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Acquisition of wound-healing traits (angiogenesis, proteases)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Progressor examples: inflammation, asbestos, benzene, oxidative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Environmental &amp; Occupational Chemicals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Major agents students should 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Environmental &amp; Occupational Chemicals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Key Chemical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40680" cy="59436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Organic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Benzene → leukemia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PAHs → lung, skin, urinary cancers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Vinyl chloride → hepatic angiosarcoma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Benzidine → bladder cancer (dyes)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Dioxins — persistent, fat-soluble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40680" cy="59436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Metals &amp; dusts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Arsenic — skin, lung, bladder…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Chromium / nickel — lung, nasal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Cadmium — lung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Asbestos — mesothelioma + several solid tumors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Silica / wood dust — lung / sinonasal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Selected Agents — Clinical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Benzene: industrial solvent; also in cigarette smoke &amp; gasoline; strongest link to leukemia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PAHs: burning of carbon-based material — smoke, exhaust, grilled foods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Dioxins: paper bleaching / incineration byproducts; half-life in body ~7–11 years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Vinyl chloride: plastics industry; lung cancer and liver/brain angiosarcomas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Pesticides: higher blood/lymphatic cancers and several solid tumors in highly exposed workers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Selected Metals and Related Cancers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703320" cy="50292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34440"/>
            <a:ext cx="3703320" cy="50292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3258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Associated cancers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234440"/>
            <a:ext cx="3703320" cy="502920"/>
          </a:xfrm>
          <a:prstGeom prst="rect">
            <a:avLst/>
          </a:prstGeom>
          <a:solidFill>
            <a:srgbClr val="14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258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Human carcinogen?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Arsenic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373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8470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Skin, lung, bladder, kidney, liver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7373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470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328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Beryllium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4231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5328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Lung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4231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5328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186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Cadmium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1089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2186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Lung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31089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2186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947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9044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Chromium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7947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9044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Lung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37947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39044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902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Nickel compounds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4805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45902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Nasal cavity, lung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4480560"/>
            <a:ext cx="3703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5902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663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2760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1663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52760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Kidney, brain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5166360"/>
            <a:ext cx="3703320" cy="640080"/>
          </a:xfrm>
          <a:prstGeom prst="rect">
            <a:avLst/>
          </a:prstGeom>
          <a:solidFill>
            <a:srgbClr val="E6F3F1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527608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3"/>
                </a:solidFill>
                <a:latin typeface="Calibri"/>
              </a:rPr>
              <a:t>Probable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Occupational Cancer — High-Yield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Asbestos → lung, larynx, ovary, GI sites, mesothelioma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Wood dust → nasopharynx / sinonasal cancers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Diesel exhaust → lung, bladder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Coal tars / pitches → non-melanoma skin cancer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Painters / welders — elevated lung (and other) risks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Night-shift work — associated with breast cancer risk (IARC)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Site–Agent Links (Examples for Teaching)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Liver: aflatoxin B1, ethanol, vinyl chloride, arsenic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Thyroid / melanoma: ionizing radiation; UV for melanoma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NHL: benzene, dioxins, several solvents/pesticides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Breast: active smoking, alcohol, ionizing radiation, hormones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Childhood leukemia / brain tumors: radiation, benzene, pesticides, second-hand smoke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Chemical Carcinogens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Tobacco &amp; Cancer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Constituents, mechanisms, and multi-site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 &amp; Cancer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Tobacco — The Scale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Hundreds of thousands of smoking-attributable deaths yearly (US estimates historically ~443,000 including second-hand smoke)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Leading cause of lung cancer death in men and women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~90% of male and ~80% of female lung cancer deaths linked to smoking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Also causes cancers of throat, mouth, nasal cavity, esophagus, stomach, pancreas, kidney, bladder, cervix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Acute myeloid leukemia is also smoking-related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What Is in a Burning Cigarette?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~4,000 chemicals released when a cigarette burns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&gt;70 known cancer-causing chemicals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Hundreds of other toxicants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Nicotine — highly addictive; keeps exposure chronic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Additives that improve taste and sustain addiction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5D3A"/>
                </a:solidFill>
                <a:latin typeface="Calibri"/>
              </a:rPr>
              <a:t>Key point: Addiction converts episodic exposure into lifelong cumulative dose.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Cancer-Causing Chemicals in Smoke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40680" cy="59436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DNA-damaging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Polycyclic aromatic hydrocarbons (PAHs)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N-nitrosamines (incl. tobacco-specific)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Benzene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1,3-Butadiene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Formaldehyde / acrolein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40680" cy="59436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Metals &amp; radioisotopes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Arsenic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Cadmium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Chromium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Nickel compounds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Polonium-210 (radioactive)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Mechanism — How Tobacco Causes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Inhaled carcinogens undergo metabolic activation (CYP pathways)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Formation of DNA adducts in bronchial and other epithelial cells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Mutations in TP53, KRAS and other key drivers accumulate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Chronic inflammation and oxidative stress promote progression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Field cancerization: multifocal genetic injury along the aerodigestive tract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Second-hand smoke also carries proven carcinogenic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Clinical Teaching Points — Tobacco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Dose–response: pack-years correlate with risk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Risk falls after cessation but never fully equals never-smokers for some sites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Synergy with radon, asbestos, alcohol (depending on site)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Prevention priority #1 in cancer control globally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Ask–Advise–Assist–Arrange: every clinician’s brief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Tobacco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Radiation Carcinogenesis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Ionizing radiation, UV light, and DNA injury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 Carcinogenesis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Radiation as a Carcinogen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Ionizing radiation = IARC Group 1 carcinogen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UV radiation = major cause of skin cancers (including melanoma)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Avoidable share of cancer deaths from ionizing + UV ≈ 5–7%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Sources: natural background, medical imaging/therapy, occupational, nuclear accidents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Risk depends on dose, dose rate, age at exposure, sex, and tissue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How Radiation Interacts with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40680" cy="59436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Direct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Photon / particle hits DNA directly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Strand breaks (SSB, DSB)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Base damage and crosslinks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Dominant for high-LET radiation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4406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40680" cy="59436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Indirect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Radiolysis of water → free radicals (•OH)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Radicals attack DNA/proteins/lipids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Major pathway for X/γ rays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Oxygen enhances damage (OER)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From DNA Damage to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Misrepaired double-strand breaks → chromosomal aberrations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Mutations in oncogenes / tumor-suppressor genes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Genomic instability may persist in daughter cells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Latency: years to decades (solid tumors longer than leukemias)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Classic human evidence: atomic-bomb survivors, medical irradiation, radon miners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Tissue Sensitivity &amp; Notable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Highly sensitive: bone marrow (leukemia), thyroid (esp. children), breast, lung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Childhood exposure carries higher lifetime risk for many tissues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Thyroid cancer strongly linked to ionizing radiation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Breast cancer risk rises with chest irradiation at young ages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UV → basal cell / squamous cell carcinoma and melanoma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Medical Radiation — Balanced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Diagnostic imaging: keep doses ALARA; justify every exam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Therapeutic radiotherapy: cancer cure/control outweighs secondary-cancer risk in indicated patients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Secondary malignancies are uncommon but real — relevant in long-term survivors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Pediatric patients need special dose/volume discipline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Communicate risk honestly without creating fear of necessary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Radiation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F0EC"/>
                </a:solidFill>
                <a:latin typeface="Calibri"/>
              </a:rPr>
              <a:t>Avoid the avoidable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Avoid the Avoidable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Never start — or stop — tobacco; avoid second-hand smoke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Healthy diet, healthy weight, regular physical activity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Limit alcohol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Sun protection; avoid intentional tanning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Workplace controls: substitution, ventilation, PPE, regulation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Vaccination / infection control where relevant (HPV, HBV)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Rational use of medical radiation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Prevention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Take-Home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55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" cy="6858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33"/>
                </a:solidFill>
                <a:latin typeface="Calibri"/>
              </a:rPr>
              <a:t>Most cancers are driven by environmental and lifestyle factors — many are avoidable.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1155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137160" cy="6858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762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33"/>
                </a:solidFill>
                <a:latin typeface="Calibri"/>
              </a:rPr>
              <a:t>Chemical carcinogens act via genotoxic DNA damage or non-genotoxic promotion of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11155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137160" cy="6858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535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33"/>
                </a:solidFill>
                <a:latin typeface="Calibri"/>
              </a:rPr>
              <a:t>Carcinogenesis unfolds as initiation → promotion → progression.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11155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137160" cy="6858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33"/>
                </a:solidFill>
                <a:latin typeface="Calibri"/>
              </a:rPr>
              <a:t>Tobacco smoke is a multi-agent carcinogen cocktail linked to many cancer sites.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43400"/>
            <a:ext cx="11155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137160" cy="6858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079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33"/>
                </a:solidFill>
                <a:latin typeface="Calibri"/>
              </a:rPr>
              <a:t>Ionizing radiation is a proven human carcinogen; risk depends on dose, age, and tissue.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20640"/>
            <a:ext cx="11155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120640"/>
            <a:ext cx="137160" cy="6858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8523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33"/>
                </a:solidFill>
                <a:latin typeface="Calibri"/>
              </a:rPr>
              <a:t>Prevention = reduce exposure, stop smoking, protect from UV/radiation, workplace safety.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242"/>
                </a:solidFill>
                <a:latin typeface="Calibri"/>
              </a:rPr>
              <a:t>Selected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234440" cy="50292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IARC Monographs on the Identification of Carcinogenic Hazards — https://monographs.iarc.who.int/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Doll R. Recent Results in Cancer Research 1998;154:3–21 (avoidable risks)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Robbins &amp; Kumar — Basic Pathology (carcinogenesis chapters)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DeVita, Hellman, Rosenberg — Cancer: Principles &amp; Practice of Oncology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Perez &amp; Brady — Principles and Practice of Radiation Oncology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WHO / NCI / NIEHS public resources on environmental carcinogens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•  Tür A (ed.). Scientific Aspects of Cigarette Smoking. Logos Medical Publishing, 2005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6"/>
                </a:solidFill>
                <a:latin typeface="Calibri"/>
              </a:rPr>
              <a:t>Prof. Dr. Ş. Bilge Gürsel  ·  Cancer &amp; Predisposing Factors  · 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6"/>
                </a:solidFill>
                <a:latin typeface="Calibri"/>
              </a:rP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
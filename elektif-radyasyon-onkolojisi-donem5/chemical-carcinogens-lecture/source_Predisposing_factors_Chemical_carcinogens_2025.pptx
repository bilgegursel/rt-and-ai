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9" r:id="rId1"/>
  </p:sldMasterIdLst>
  <p:notesMasterIdLst>
    <p:notesMasterId r:id="rId70"/>
  </p:notesMasterIdLst>
  <p:handoutMasterIdLst>
    <p:handoutMasterId r:id="rId71"/>
  </p:handoutMasterIdLst>
  <p:sldIdLst>
    <p:sldId id="256" r:id="rId2"/>
    <p:sldId id="332" r:id="rId3"/>
    <p:sldId id="431" r:id="rId4"/>
    <p:sldId id="432" r:id="rId5"/>
    <p:sldId id="426" r:id="rId6"/>
    <p:sldId id="427" r:id="rId7"/>
    <p:sldId id="433" r:id="rId8"/>
    <p:sldId id="434" r:id="rId9"/>
    <p:sldId id="257" r:id="rId10"/>
    <p:sldId id="406" r:id="rId11"/>
    <p:sldId id="258" r:id="rId12"/>
    <p:sldId id="378" r:id="rId13"/>
    <p:sldId id="408" r:id="rId14"/>
    <p:sldId id="260" r:id="rId15"/>
    <p:sldId id="355" r:id="rId16"/>
    <p:sldId id="539" r:id="rId17"/>
    <p:sldId id="446" r:id="rId18"/>
    <p:sldId id="435" r:id="rId19"/>
    <p:sldId id="413" r:id="rId20"/>
    <p:sldId id="537" r:id="rId21"/>
    <p:sldId id="415" r:id="rId22"/>
    <p:sldId id="536" r:id="rId23"/>
    <p:sldId id="416" r:id="rId24"/>
    <p:sldId id="538" r:id="rId25"/>
    <p:sldId id="418" r:id="rId26"/>
    <p:sldId id="541" r:id="rId27"/>
    <p:sldId id="419" r:id="rId28"/>
    <p:sldId id="417" r:id="rId29"/>
    <p:sldId id="510" r:id="rId30"/>
    <p:sldId id="511" r:id="rId31"/>
    <p:sldId id="512" r:id="rId32"/>
    <p:sldId id="515" r:id="rId33"/>
    <p:sldId id="516" r:id="rId34"/>
    <p:sldId id="517" r:id="rId35"/>
    <p:sldId id="518" r:id="rId36"/>
    <p:sldId id="520" r:id="rId37"/>
    <p:sldId id="519" r:id="rId38"/>
    <p:sldId id="524" r:id="rId39"/>
    <p:sldId id="449" r:id="rId40"/>
    <p:sldId id="497" r:id="rId41"/>
    <p:sldId id="460" r:id="rId42"/>
    <p:sldId id="453" r:id="rId43"/>
    <p:sldId id="454" r:id="rId44"/>
    <p:sldId id="457" r:id="rId45"/>
    <p:sldId id="461" r:id="rId46"/>
    <p:sldId id="464" r:id="rId47"/>
    <p:sldId id="491" r:id="rId48"/>
    <p:sldId id="521" r:id="rId49"/>
    <p:sldId id="479" r:id="rId50"/>
    <p:sldId id="492" r:id="rId51"/>
    <p:sldId id="486" r:id="rId52"/>
    <p:sldId id="523" r:id="rId53"/>
    <p:sldId id="410" r:id="rId54"/>
    <p:sldId id="368" r:id="rId55"/>
    <p:sldId id="506" r:id="rId56"/>
    <p:sldId id="507" r:id="rId57"/>
    <p:sldId id="369" r:id="rId58"/>
    <p:sldId id="525" r:id="rId59"/>
    <p:sldId id="526" r:id="rId60"/>
    <p:sldId id="527" r:id="rId61"/>
    <p:sldId id="513" r:id="rId62"/>
    <p:sldId id="528" r:id="rId63"/>
    <p:sldId id="529" r:id="rId64"/>
    <p:sldId id="530" r:id="rId65"/>
    <p:sldId id="531" r:id="rId66"/>
    <p:sldId id="532" r:id="rId67"/>
    <p:sldId id="412" r:id="rId68"/>
    <p:sldId id="333" r:id="rId69"/>
  </p:sldIdLst>
  <p:sldSz cx="9144000" cy="6858000" type="screen4x3"/>
  <p:notesSz cx="6858000" cy="9544050"/>
  <p:defaultTextStyle>
    <a:defPPr>
      <a:defRPr lang="tr-TR"/>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50" autoAdjust="0"/>
    <p:restoredTop sz="76250" autoAdjust="0"/>
  </p:normalViewPr>
  <p:slideViewPr>
    <p:cSldViewPr>
      <p:cViewPr varScale="1">
        <p:scale>
          <a:sx n="94" d="100"/>
          <a:sy n="94" d="100"/>
        </p:scale>
        <p:origin x="2536" y="184"/>
      </p:cViewPr>
      <p:guideLst>
        <p:guide orient="horz" pos="2160"/>
        <p:guide pos="2880"/>
      </p:guideLst>
    </p:cSldViewPr>
  </p:slideViewPr>
  <p:outlineViewPr>
    <p:cViewPr>
      <p:scale>
        <a:sx n="33" d="100"/>
        <a:sy n="33" d="100"/>
      </p:scale>
      <p:origin x="0" y="-52976"/>
    </p:cViewPr>
    <p:sldLst>
      <p:sld r:id="rId1" collapse="1"/>
    </p:sldLst>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59F5995E-B806-3548-943F-F7278D64BC00}"/>
              </a:ext>
            </a:extLst>
          </p:cNvPr>
          <p:cNvSpPr>
            <a:spLocks noGrp="1" noChangeArrowheads="1"/>
          </p:cNvSpPr>
          <p:nvPr>
            <p:ph type="hdr" sz="quarter"/>
          </p:nvPr>
        </p:nvSpPr>
        <p:spPr bwMode="auto">
          <a:xfrm>
            <a:off x="0" y="0"/>
            <a:ext cx="2971800" cy="477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charset="0"/>
              </a:defRPr>
            </a:lvl1pPr>
          </a:lstStyle>
          <a:p>
            <a:pPr>
              <a:defRPr/>
            </a:pPr>
            <a:endParaRPr lang="tr-TR"/>
          </a:p>
        </p:txBody>
      </p:sp>
      <p:sp>
        <p:nvSpPr>
          <p:cNvPr id="84995" name="Rectangle 3">
            <a:extLst>
              <a:ext uri="{FF2B5EF4-FFF2-40B4-BE49-F238E27FC236}">
                <a16:creationId xmlns:a16="http://schemas.microsoft.com/office/drawing/2014/main" id="{9822392A-C382-0A40-BE0E-65BFABF9A48D}"/>
              </a:ext>
            </a:extLst>
          </p:cNvPr>
          <p:cNvSpPr>
            <a:spLocks noGrp="1" noChangeArrowheads="1"/>
          </p:cNvSpPr>
          <p:nvPr>
            <p:ph type="dt" sz="quarter" idx="1"/>
          </p:nvPr>
        </p:nvSpPr>
        <p:spPr bwMode="auto">
          <a:xfrm>
            <a:off x="3884613" y="0"/>
            <a:ext cx="2971800" cy="477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charset="0"/>
              </a:defRPr>
            </a:lvl1pPr>
          </a:lstStyle>
          <a:p>
            <a:pPr>
              <a:defRPr/>
            </a:pPr>
            <a:endParaRPr lang="tr-TR"/>
          </a:p>
        </p:txBody>
      </p:sp>
      <p:sp>
        <p:nvSpPr>
          <p:cNvPr id="84996" name="Rectangle 4">
            <a:extLst>
              <a:ext uri="{FF2B5EF4-FFF2-40B4-BE49-F238E27FC236}">
                <a16:creationId xmlns:a16="http://schemas.microsoft.com/office/drawing/2014/main" id="{F5630B57-4AC3-E64E-97E2-FE406FBB942D}"/>
              </a:ext>
            </a:extLst>
          </p:cNvPr>
          <p:cNvSpPr>
            <a:spLocks noGrp="1" noChangeArrowheads="1"/>
          </p:cNvSpPr>
          <p:nvPr>
            <p:ph type="ftr" sz="quarter" idx="2"/>
          </p:nvPr>
        </p:nvSpPr>
        <p:spPr bwMode="auto">
          <a:xfrm>
            <a:off x="0" y="9064625"/>
            <a:ext cx="2971800" cy="477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charset="0"/>
              </a:defRPr>
            </a:lvl1pPr>
          </a:lstStyle>
          <a:p>
            <a:pPr>
              <a:defRPr/>
            </a:pPr>
            <a:endParaRPr lang="tr-TR"/>
          </a:p>
        </p:txBody>
      </p:sp>
      <p:sp>
        <p:nvSpPr>
          <p:cNvPr id="84997" name="Rectangle 5">
            <a:extLst>
              <a:ext uri="{FF2B5EF4-FFF2-40B4-BE49-F238E27FC236}">
                <a16:creationId xmlns:a16="http://schemas.microsoft.com/office/drawing/2014/main" id="{9953DE50-34FD-8349-A344-2C5EF2695418}"/>
              </a:ext>
            </a:extLst>
          </p:cNvPr>
          <p:cNvSpPr>
            <a:spLocks noGrp="1" noChangeArrowheads="1"/>
          </p:cNvSpPr>
          <p:nvPr>
            <p:ph type="sldNum" sz="quarter" idx="3"/>
          </p:nvPr>
        </p:nvSpPr>
        <p:spPr bwMode="auto">
          <a:xfrm>
            <a:off x="3884613" y="9064625"/>
            <a:ext cx="2971800" cy="477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531EF2B-96C8-E643-91F7-3FF2398D01A3}" type="slidenum">
              <a:rPr lang="tr-TR" altLang="tr-TR"/>
              <a:pPr/>
              <a:t>‹#›</a:t>
            </a:fld>
            <a:endParaRPr lang="tr-TR" altLang="tr-T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DADAA9E-AB98-5148-88B6-0D47BC18CDB2}"/>
              </a:ext>
            </a:extLst>
          </p:cNvPr>
          <p:cNvSpPr>
            <a:spLocks noGrp="1" noChangeArrowheads="1"/>
          </p:cNvSpPr>
          <p:nvPr>
            <p:ph type="hdr" sz="quarter"/>
          </p:nvPr>
        </p:nvSpPr>
        <p:spPr bwMode="auto">
          <a:xfrm>
            <a:off x="0" y="0"/>
            <a:ext cx="2971800" cy="477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charset="0"/>
              </a:defRPr>
            </a:lvl1pPr>
          </a:lstStyle>
          <a:p>
            <a:pPr>
              <a:defRPr/>
            </a:pPr>
            <a:endParaRPr lang="tr-TR"/>
          </a:p>
        </p:txBody>
      </p:sp>
      <p:sp>
        <p:nvSpPr>
          <p:cNvPr id="54275" name="Rectangle 3">
            <a:extLst>
              <a:ext uri="{FF2B5EF4-FFF2-40B4-BE49-F238E27FC236}">
                <a16:creationId xmlns:a16="http://schemas.microsoft.com/office/drawing/2014/main" id="{03694990-22F2-1948-A2C7-A914010A7B76}"/>
              </a:ext>
            </a:extLst>
          </p:cNvPr>
          <p:cNvSpPr>
            <a:spLocks noGrp="1" noChangeArrowheads="1"/>
          </p:cNvSpPr>
          <p:nvPr>
            <p:ph type="dt" idx="1"/>
          </p:nvPr>
        </p:nvSpPr>
        <p:spPr bwMode="auto">
          <a:xfrm>
            <a:off x="3884613" y="0"/>
            <a:ext cx="2971800" cy="477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charset="0"/>
              </a:defRPr>
            </a:lvl1pPr>
          </a:lstStyle>
          <a:p>
            <a:pPr>
              <a:defRPr/>
            </a:pPr>
            <a:endParaRPr lang="tr-TR"/>
          </a:p>
        </p:txBody>
      </p:sp>
      <p:sp>
        <p:nvSpPr>
          <p:cNvPr id="16388" name="Rectangle 4">
            <a:extLst>
              <a:ext uri="{FF2B5EF4-FFF2-40B4-BE49-F238E27FC236}">
                <a16:creationId xmlns:a16="http://schemas.microsoft.com/office/drawing/2014/main" id="{9B565793-D629-B5FD-A17E-1C698C62DEC5}"/>
              </a:ext>
            </a:extLst>
          </p:cNvPr>
          <p:cNvSpPr>
            <a:spLocks noRot="1" noChangeArrowheads="1" noTextEdit="1"/>
          </p:cNvSpPr>
          <p:nvPr>
            <p:ph type="sldImg" idx="2"/>
          </p:nvPr>
        </p:nvSpPr>
        <p:spPr bwMode="auto">
          <a:xfrm>
            <a:off x="1044575" y="715963"/>
            <a:ext cx="4770438" cy="3578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7" name="Rectangle 5">
            <a:extLst>
              <a:ext uri="{FF2B5EF4-FFF2-40B4-BE49-F238E27FC236}">
                <a16:creationId xmlns:a16="http://schemas.microsoft.com/office/drawing/2014/main" id="{63C4B7C8-C76C-9749-9D24-93DB5A0BD1E8}"/>
              </a:ext>
            </a:extLst>
          </p:cNvPr>
          <p:cNvSpPr>
            <a:spLocks noGrp="1" noChangeArrowheads="1"/>
          </p:cNvSpPr>
          <p:nvPr>
            <p:ph type="body" sz="quarter" idx="3"/>
          </p:nvPr>
        </p:nvSpPr>
        <p:spPr bwMode="auto">
          <a:xfrm>
            <a:off x="685800" y="4533900"/>
            <a:ext cx="5486400" cy="4294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p>
        </p:txBody>
      </p:sp>
      <p:sp>
        <p:nvSpPr>
          <p:cNvPr id="54278" name="Rectangle 6">
            <a:extLst>
              <a:ext uri="{FF2B5EF4-FFF2-40B4-BE49-F238E27FC236}">
                <a16:creationId xmlns:a16="http://schemas.microsoft.com/office/drawing/2014/main" id="{F7D249D6-3438-9146-AF6F-EC4B9EA1D3F6}"/>
              </a:ext>
            </a:extLst>
          </p:cNvPr>
          <p:cNvSpPr>
            <a:spLocks noGrp="1" noChangeArrowheads="1"/>
          </p:cNvSpPr>
          <p:nvPr>
            <p:ph type="ftr" sz="quarter" idx="4"/>
          </p:nvPr>
        </p:nvSpPr>
        <p:spPr bwMode="auto">
          <a:xfrm>
            <a:off x="0" y="9064625"/>
            <a:ext cx="2971800" cy="477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charset="0"/>
              </a:defRPr>
            </a:lvl1pPr>
          </a:lstStyle>
          <a:p>
            <a:pPr>
              <a:defRPr/>
            </a:pPr>
            <a:endParaRPr lang="tr-TR"/>
          </a:p>
        </p:txBody>
      </p:sp>
      <p:sp>
        <p:nvSpPr>
          <p:cNvPr id="54279" name="Rectangle 7">
            <a:extLst>
              <a:ext uri="{FF2B5EF4-FFF2-40B4-BE49-F238E27FC236}">
                <a16:creationId xmlns:a16="http://schemas.microsoft.com/office/drawing/2014/main" id="{DB80ECA9-CE01-0F43-9520-479CC6EF5C36}"/>
              </a:ext>
            </a:extLst>
          </p:cNvPr>
          <p:cNvSpPr>
            <a:spLocks noGrp="1" noChangeArrowheads="1"/>
          </p:cNvSpPr>
          <p:nvPr>
            <p:ph type="sldNum" sz="quarter" idx="5"/>
          </p:nvPr>
        </p:nvSpPr>
        <p:spPr bwMode="auto">
          <a:xfrm>
            <a:off x="3884613" y="9064625"/>
            <a:ext cx="2971800" cy="477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FBCBC2B7-59F1-9649-8131-93CA8B1884DA}" type="slidenum">
              <a:rPr lang="tr-TR" altLang="tr-TR"/>
              <a:pPr/>
              <a:t>‹#›</a:t>
            </a:fld>
            <a:endParaRPr lang="tr-TR"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843F1EE-F142-F843-A5D0-14D3BDCF8B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EC88698-FB4F-4F47-B478-A4ECC9A67E72}" type="slidenum">
              <a:rPr lang="en-US" altLang="tr-TR">
                <a:latin typeface="Arial" panose="020B0604020202020204" pitchFamily="34" charset="0"/>
              </a:rPr>
              <a:pPr/>
              <a:t>3</a:t>
            </a:fld>
            <a:endParaRPr lang="en-US" altLang="tr-TR">
              <a:latin typeface="Arial" panose="020B0604020202020204" pitchFamily="34" charset="0"/>
            </a:endParaRPr>
          </a:p>
        </p:txBody>
      </p:sp>
      <p:sp>
        <p:nvSpPr>
          <p:cNvPr id="21506" name="Rectangle 2">
            <a:extLst>
              <a:ext uri="{FF2B5EF4-FFF2-40B4-BE49-F238E27FC236}">
                <a16:creationId xmlns:a16="http://schemas.microsoft.com/office/drawing/2014/main" id="{6C4EE88F-6DC4-1813-B18B-91711FB1CB25}"/>
              </a:ext>
            </a:extLst>
          </p:cNvPr>
          <p:cNvSpPr>
            <a:spLocks noChangeArrowheads="1" noTextEdit="1"/>
          </p:cNvSpPr>
          <p:nvPr>
            <p:ph type="sldImg"/>
          </p:nvPr>
        </p:nvSpPr>
        <p:spPr>
          <a:ln/>
        </p:spPr>
      </p:sp>
      <p:sp>
        <p:nvSpPr>
          <p:cNvPr id="21507" name="Rectangle 3">
            <a:extLst>
              <a:ext uri="{FF2B5EF4-FFF2-40B4-BE49-F238E27FC236}">
                <a16:creationId xmlns:a16="http://schemas.microsoft.com/office/drawing/2014/main" id="{2104F202-1079-C4E2-87A8-9DA382B351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latin typeface="Arial" panose="020B0604020202020204" pitchFamily="34" charset="0"/>
              </a:rPr>
              <a:t>We know that there are three major contributing/risk factors for cancer.  (Read slide)</a:t>
            </a:r>
          </a:p>
          <a:p>
            <a:endParaRPr lang="en-US" altLang="tr-TR">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3861A6C-4134-334D-8F51-3B19C45E9A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000E78E-FCCB-3E4E-BCEE-545208A0C610}" type="slidenum">
              <a:rPr lang="en-US" altLang="tr-TR">
                <a:latin typeface="Arial" panose="020B0604020202020204" pitchFamily="34" charset="0"/>
              </a:rPr>
              <a:pPr/>
              <a:t>4</a:t>
            </a:fld>
            <a:endParaRPr lang="en-US" altLang="tr-TR">
              <a:latin typeface="Arial" panose="020B0604020202020204" pitchFamily="34" charset="0"/>
            </a:endParaRPr>
          </a:p>
        </p:txBody>
      </p:sp>
      <p:sp>
        <p:nvSpPr>
          <p:cNvPr id="23554" name="Rectangle 2">
            <a:extLst>
              <a:ext uri="{FF2B5EF4-FFF2-40B4-BE49-F238E27FC236}">
                <a16:creationId xmlns:a16="http://schemas.microsoft.com/office/drawing/2014/main" id="{E75EEE12-F0A2-50CB-BCBF-5EC1D99BA5F9}"/>
              </a:ext>
            </a:extLst>
          </p:cNvPr>
          <p:cNvSpPr>
            <a:spLocks noChangeArrowheads="1" noTextEdit="1"/>
          </p:cNvSpPr>
          <p:nvPr>
            <p:ph type="sldImg"/>
          </p:nvPr>
        </p:nvSpPr>
        <p:spPr>
          <a:ln/>
        </p:spPr>
      </p:sp>
      <p:sp>
        <p:nvSpPr>
          <p:cNvPr id="23555" name="Rectangle 3">
            <a:extLst>
              <a:ext uri="{FF2B5EF4-FFF2-40B4-BE49-F238E27FC236}">
                <a16:creationId xmlns:a16="http://schemas.microsoft.com/office/drawing/2014/main" id="{E4996941-6BC9-DB13-978C-141FCB13A5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latin typeface="Times" pitchFamily="18" charset="0"/>
              </a:rPr>
              <a:t>Two-thirds (67%) of all cancers are caused by the way we live.</a:t>
            </a:r>
          </a:p>
          <a:p>
            <a:pPr>
              <a:buFontTx/>
              <a:buChar char="•"/>
            </a:pPr>
            <a:r>
              <a:rPr lang="en-US" altLang="en-US">
                <a:latin typeface="Times" pitchFamily="18" charset="0"/>
              </a:rPr>
              <a:t>Obesity is a lifestyle risk for developing cancer.  In Utah 18% of adults are obese.</a:t>
            </a:r>
          </a:p>
          <a:p>
            <a:endParaRPr lang="en-US" altLang="tr-TR">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66A06486-785B-6993-14DC-B80500ADA3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1370E36-0BE4-2A44-9D44-AFAADB4A47C3}" type="slidenum">
              <a:rPr lang="en-US" altLang="tr-TR">
                <a:latin typeface="Arial" panose="020B0604020202020204" pitchFamily="34" charset="0"/>
              </a:rPr>
              <a:pPr/>
              <a:t>7</a:t>
            </a:fld>
            <a:endParaRPr lang="en-US" altLang="tr-TR">
              <a:latin typeface="Arial" panose="020B0604020202020204" pitchFamily="34" charset="0"/>
            </a:endParaRPr>
          </a:p>
        </p:txBody>
      </p:sp>
      <p:sp>
        <p:nvSpPr>
          <p:cNvPr id="27650" name="Rectangle 2">
            <a:extLst>
              <a:ext uri="{FF2B5EF4-FFF2-40B4-BE49-F238E27FC236}">
                <a16:creationId xmlns:a16="http://schemas.microsoft.com/office/drawing/2014/main" id="{2C940AD2-6BEA-93FC-E029-568E41817D34}"/>
              </a:ext>
            </a:extLst>
          </p:cNvPr>
          <p:cNvSpPr>
            <a:spLocks noChangeArrowheads="1" noTextEdit="1"/>
          </p:cNvSpPr>
          <p:nvPr>
            <p:ph type="sldImg"/>
          </p:nvPr>
        </p:nvSpPr>
        <p:spPr>
          <a:ln/>
        </p:spPr>
      </p:sp>
      <p:sp>
        <p:nvSpPr>
          <p:cNvPr id="27651" name="Rectangle 3">
            <a:extLst>
              <a:ext uri="{FF2B5EF4-FFF2-40B4-BE49-F238E27FC236}">
                <a16:creationId xmlns:a16="http://schemas.microsoft.com/office/drawing/2014/main" id="{0EC66DEE-7100-96B4-F3D9-381920A91D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tr-TR">
                <a:latin typeface="Arial" panose="020B0604020202020204" pitchFamily="34" charset="0"/>
              </a:rPr>
              <a:t>Researchers have estimated that between 2 and 8 percent of cancers can be attributed to workplace exposures. In the United States, this would represent between 24,500 and 98,000 new cases of cancer each year.</a:t>
            </a:r>
          </a:p>
          <a:p>
            <a:pPr>
              <a:buFontTx/>
              <a:buChar char="•"/>
            </a:pPr>
            <a:r>
              <a:rPr lang="en-US" altLang="tr-TR">
                <a:latin typeface="Arial" panose="020B0604020202020204" pitchFamily="34" charset="0"/>
              </a:rPr>
              <a:t>Diesel exhaust and other pollutants are linked to lung cancer, but unless you have had prolonged exposure, your risk is low.  The Environmental Protection Agency regulates diesel exhaust emissions from motor vehicles under the Clean Air Act.  For more information go to www.EPA.gov.</a:t>
            </a:r>
          </a:p>
          <a:p>
            <a:pPr>
              <a:buFontTx/>
              <a:buChar char="•"/>
            </a:pPr>
            <a:r>
              <a:rPr lang="en-US" altLang="tr-TR">
                <a:latin typeface="Arial" panose="020B0604020202020204" pitchFamily="34" charset="0"/>
              </a:rPr>
              <a:t>Smokers have 10 times the risk of getting lung cancer than a non-smoker.</a:t>
            </a:r>
          </a:p>
          <a:p>
            <a:endParaRPr lang="en-US" altLang="tr-TR">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5B079313-7284-12D0-E25E-7F776B0BED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0C8E880-6B5C-3E4E-A8E4-5D4DD7D90DE3}" type="slidenum">
              <a:rPr lang="en-US" altLang="tr-TR">
                <a:latin typeface="Arial" panose="020B0604020202020204" pitchFamily="34" charset="0"/>
              </a:rPr>
              <a:pPr/>
              <a:t>8</a:t>
            </a:fld>
            <a:endParaRPr lang="en-US" altLang="tr-TR">
              <a:latin typeface="Arial" panose="020B0604020202020204" pitchFamily="34" charset="0"/>
            </a:endParaRPr>
          </a:p>
        </p:txBody>
      </p:sp>
      <p:sp>
        <p:nvSpPr>
          <p:cNvPr id="29698" name="Rectangle 2">
            <a:extLst>
              <a:ext uri="{FF2B5EF4-FFF2-40B4-BE49-F238E27FC236}">
                <a16:creationId xmlns:a16="http://schemas.microsoft.com/office/drawing/2014/main" id="{30352F70-932C-7D83-48A2-E85D52518EA3}"/>
              </a:ext>
            </a:extLst>
          </p:cNvPr>
          <p:cNvSpPr>
            <a:spLocks noChangeArrowheads="1" noTextEdit="1"/>
          </p:cNvSpPr>
          <p:nvPr>
            <p:ph type="sldImg"/>
          </p:nvPr>
        </p:nvSpPr>
        <p:spPr>
          <a:ln/>
        </p:spPr>
      </p:sp>
      <p:sp>
        <p:nvSpPr>
          <p:cNvPr id="29699" name="Rectangle 3">
            <a:extLst>
              <a:ext uri="{FF2B5EF4-FFF2-40B4-BE49-F238E27FC236}">
                <a16:creationId xmlns:a16="http://schemas.microsoft.com/office/drawing/2014/main" id="{DB2A07E1-1F39-ABEF-A734-0E51FBC2C7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Remember to stress that only 15% are inherited. Everyone is at risk for cancer!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ayt Resmi Yer Tutucusu 1">
            <a:extLst>
              <a:ext uri="{FF2B5EF4-FFF2-40B4-BE49-F238E27FC236}">
                <a16:creationId xmlns:a16="http://schemas.microsoft.com/office/drawing/2014/main" id="{287F66BE-3C0F-47A1-F694-AED5E4AB9367}"/>
              </a:ext>
            </a:extLst>
          </p:cNvPr>
          <p:cNvSpPr>
            <a:spLocks noGrp="1" noRot="1" noChangeAspect="1" noChangeArrowheads="1" noTextEdit="1"/>
          </p:cNvSpPr>
          <p:nvPr>
            <p:ph type="sldImg"/>
          </p:nvPr>
        </p:nvSpPr>
        <p:spPr>
          <a:ln/>
        </p:spPr>
      </p:sp>
      <p:sp>
        <p:nvSpPr>
          <p:cNvPr id="34818" name="Not Yer Tutucusu 2">
            <a:extLst>
              <a:ext uri="{FF2B5EF4-FFF2-40B4-BE49-F238E27FC236}">
                <a16:creationId xmlns:a16="http://schemas.microsoft.com/office/drawing/2014/main" id="{4F97B1EE-39BD-9897-22A8-A2F651BD47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tr-TR">
              <a:latin typeface="Arial" panose="020B0604020202020204" pitchFamily="34" charset="0"/>
            </a:endParaRPr>
          </a:p>
        </p:txBody>
      </p:sp>
      <p:sp>
        <p:nvSpPr>
          <p:cNvPr id="34819" name="Slayt Numarası Yer Tutucusu 3">
            <a:extLst>
              <a:ext uri="{FF2B5EF4-FFF2-40B4-BE49-F238E27FC236}">
                <a16:creationId xmlns:a16="http://schemas.microsoft.com/office/drawing/2014/main" id="{49681F06-9224-10E8-B1B2-9AAB7BE4B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DDB1D4C-E69B-0549-A875-8E945705F680}" type="slidenum">
              <a:rPr lang="tr-TR" altLang="tr-TR">
                <a:latin typeface="Arial" panose="020B0604020202020204" pitchFamily="34" charset="0"/>
              </a:rPr>
              <a:pPr/>
              <a:t>12</a:t>
            </a:fld>
            <a:endParaRPr lang="tr-TR" altLang="tr-TR">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30D440E8-7DEE-DCB8-F3FB-5041C2B2778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36866" name="Rectangle 6">
            <a:extLst>
              <a:ext uri="{FF2B5EF4-FFF2-40B4-BE49-F238E27FC236}">
                <a16:creationId xmlns:a16="http://schemas.microsoft.com/office/drawing/2014/main" id="{8B2C19C8-EC27-9040-6083-F72D56C18DA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36867" name="Rectangle 7">
            <a:extLst>
              <a:ext uri="{FF2B5EF4-FFF2-40B4-BE49-F238E27FC236}">
                <a16:creationId xmlns:a16="http://schemas.microsoft.com/office/drawing/2014/main" id="{73AC37E1-D74D-7E06-7A0D-AD793FF91D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4902D51-2068-2246-82E0-64DCCC9663B4}" type="slidenum">
              <a:rPr lang="en-US" altLang="tr-TR">
                <a:latin typeface="Times" pitchFamily="18" charset="0"/>
                <a:ea typeface="MS PGothic" panose="020B0600070205080204" pitchFamily="34" charset="-128"/>
              </a:rPr>
              <a:pPr/>
              <a:t>13</a:t>
            </a:fld>
            <a:endParaRPr lang="en-US" altLang="tr-TR">
              <a:latin typeface="Times" pitchFamily="18" charset="0"/>
              <a:ea typeface="MS PGothic" panose="020B0600070205080204" pitchFamily="34" charset="-128"/>
            </a:endParaRPr>
          </a:p>
        </p:txBody>
      </p:sp>
      <p:sp>
        <p:nvSpPr>
          <p:cNvPr id="36868" name="Rectangle 2">
            <a:extLst>
              <a:ext uri="{FF2B5EF4-FFF2-40B4-BE49-F238E27FC236}">
                <a16:creationId xmlns:a16="http://schemas.microsoft.com/office/drawing/2014/main" id="{628E386E-59B0-DA56-739C-7E81241F0AE2}"/>
              </a:ext>
            </a:extLst>
          </p:cNvPr>
          <p:cNvSpPr>
            <a:spLocks noChangeArrowheads="1" noTextEdit="1"/>
          </p:cNvSpPr>
          <p:nvPr>
            <p:ph type="sldImg"/>
          </p:nvPr>
        </p:nvSpPr>
        <p:spPr>
          <a:ln/>
        </p:spPr>
      </p:sp>
      <p:sp>
        <p:nvSpPr>
          <p:cNvPr id="36869" name="Rectangle 3">
            <a:extLst>
              <a:ext uri="{FF2B5EF4-FFF2-40B4-BE49-F238E27FC236}">
                <a16:creationId xmlns:a16="http://schemas.microsoft.com/office/drawing/2014/main" id="{CDE220BB-3B66-9A40-C680-C1BE140707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The environment </a:t>
            </a:r>
            <a:r>
              <a:rPr lang="en-US" altLang="tr-TR" i="1">
                <a:latin typeface="Times" pitchFamily="18" charset="0"/>
              </a:rPr>
              <a:t>influences</a:t>
            </a:r>
            <a:r>
              <a:rPr lang="en-US" altLang="tr-TR">
                <a:latin typeface="Times" pitchFamily="18" charset="0"/>
              </a:rPr>
              <a:t> cancer rates and risks. We can see this by comparing cancer rates in different countries, and how rates change when people move from one country to another. </a:t>
            </a:r>
          </a:p>
          <a:p>
            <a:pPr eaLnBrk="1" hangingPunct="1"/>
            <a:r>
              <a:rPr lang="en-US" altLang="tr-TR">
                <a:latin typeface="Times" pitchFamily="18" charset="0"/>
              </a:rPr>
              <a:t>For example, U.S.-born Japanese men have twice the rate of colon cancer as native-born Japanese men, and U.S.-born Japanese women have colon cancer rates 40 percent higher than their counterparts born in Japan. So scientists study what exposures or characteristics differ between Japanese immigrants and their descendants in the U.S. to better understand the environmental factors that may be influencing their colon cancer rates and risks.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ayt Resmi Yer Tutucusu 1">
            <a:extLst>
              <a:ext uri="{FF2B5EF4-FFF2-40B4-BE49-F238E27FC236}">
                <a16:creationId xmlns:a16="http://schemas.microsoft.com/office/drawing/2014/main" id="{AADBD7B6-BAFD-4BD5-BEF1-01A0BC440ED2}"/>
              </a:ext>
            </a:extLst>
          </p:cNvPr>
          <p:cNvSpPr>
            <a:spLocks noGrp="1" noRot="1" noChangeAspect="1" noChangeArrowheads="1" noTextEdit="1"/>
          </p:cNvSpPr>
          <p:nvPr>
            <p:ph type="sldImg"/>
          </p:nvPr>
        </p:nvSpPr>
        <p:spPr>
          <a:ln/>
        </p:spPr>
      </p:sp>
      <p:sp>
        <p:nvSpPr>
          <p:cNvPr id="38914" name="Not Yer Tutucusu 2">
            <a:extLst>
              <a:ext uri="{FF2B5EF4-FFF2-40B4-BE49-F238E27FC236}">
                <a16:creationId xmlns:a16="http://schemas.microsoft.com/office/drawing/2014/main" id="{56C9EB41-A2CA-456B-C663-8F8A3BA36A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tr-TR">
              <a:latin typeface="Arial" panose="020B0604020202020204" pitchFamily="34" charset="0"/>
            </a:endParaRPr>
          </a:p>
        </p:txBody>
      </p:sp>
      <p:sp>
        <p:nvSpPr>
          <p:cNvPr id="38915" name="Slayt Numarası Yer Tutucusu 3">
            <a:extLst>
              <a:ext uri="{FF2B5EF4-FFF2-40B4-BE49-F238E27FC236}">
                <a16:creationId xmlns:a16="http://schemas.microsoft.com/office/drawing/2014/main" id="{8592F9C6-0C30-1C89-0A14-95E160A7C3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6EFFEF5-2251-9C46-962F-148A896E6025}" type="slidenum">
              <a:rPr lang="tr-TR" altLang="tr-TR">
                <a:latin typeface="Arial" panose="020B0604020202020204" pitchFamily="34" charset="0"/>
              </a:rPr>
              <a:pPr/>
              <a:t>14</a:t>
            </a:fld>
            <a:endParaRPr lang="tr-TR" altLang="tr-TR">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ayt Resmi Yer Tutucusu 1">
            <a:extLst>
              <a:ext uri="{FF2B5EF4-FFF2-40B4-BE49-F238E27FC236}">
                <a16:creationId xmlns:a16="http://schemas.microsoft.com/office/drawing/2014/main" id="{4FDA287D-3F3D-622E-3EAF-EE9ED715C7EF}"/>
              </a:ext>
            </a:extLst>
          </p:cNvPr>
          <p:cNvSpPr>
            <a:spLocks noGrp="1" noRot="1" noChangeAspect="1" noChangeArrowheads="1" noTextEdit="1"/>
          </p:cNvSpPr>
          <p:nvPr>
            <p:ph type="sldImg"/>
          </p:nvPr>
        </p:nvSpPr>
        <p:spPr>
          <a:ln/>
        </p:spPr>
      </p:sp>
      <p:sp>
        <p:nvSpPr>
          <p:cNvPr id="40962" name="Not Yer Tutucusu 2">
            <a:extLst>
              <a:ext uri="{FF2B5EF4-FFF2-40B4-BE49-F238E27FC236}">
                <a16:creationId xmlns:a16="http://schemas.microsoft.com/office/drawing/2014/main" id="{7FBDE04D-4767-FCA8-1735-C22AAB2239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tr-TR" dirty="0">
              <a:latin typeface="Arial" panose="020B0604020202020204" pitchFamily="34" charset="0"/>
            </a:endParaRPr>
          </a:p>
        </p:txBody>
      </p:sp>
      <p:sp>
        <p:nvSpPr>
          <p:cNvPr id="40963" name="Slayt Numarası Yer Tutucusu 3">
            <a:extLst>
              <a:ext uri="{FF2B5EF4-FFF2-40B4-BE49-F238E27FC236}">
                <a16:creationId xmlns:a16="http://schemas.microsoft.com/office/drawing/2014/main" id="{D121E8F7-6F12-9D47-4101-FA11AF9E3A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C7FA064-EFF3-E145-B303-89C9E279B9EC}" type="slidenum">
              <a:rPr lang="tr-TR" altLang="tr-TR">
                <a:latin typeface="Arial" panose="020B0604020202020204" pitchFamily="34" charset="0"/>
              </a:rPr>
              <a:pPr/>
              <a:t>15</a:t>
            </a:fld>
            <a:endParaRPr lang="tr-TR" altLang="tr-TR">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3E3D50AB-AFD4-BD0F-568A-215B9C36BC4E}"/>
              </a:ext>
            </a:extLst>
          </p:cNvPr>
          <p:cNvSpPr>
            <a:spLocks noChangeArrowheads="1" noTextEdit="1"/>
          </p:cNvSpPr>
          <p:nvPr>
            <p:ph type="sldImg"/>
          </p:nvPr>
        </p:nvSpPr>
        <p:spPr>
          <a:xfrm>
            <a:off x="1052513" y="722313"/>
            <a:ext cx="4752975" cy="3565525"/>
          </a:xfrm>
          <a:ln cap="flat"/>
        </p:spPr>
      </p:sp>
      <p:sp>
        <p:nvSpPr>
          <p:cNvPr id="43010" name="Rectangle 3">
            <a:extLst>
              <a:ext uri="{FF2B5EF4-FFF2-40B4-BE49-F238E27FC236}">
                <a16:creationId xmlns:a16="http://schemas.microsoft.com/office/drawing/2014/main" id="{ADDC83B4-3416-743F-03CF-B044CB4FDD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ayt Resmi Yer Tutucusu 1">
            <a:extLst>
              <a:ext uri="{FF2B5EF4-FFF2-40B4-BE49-F238E27FC236}">
                <a16:creationId xmlns:a16="http://schemas.microsoft.com/office/drawing/2014/main" id="{9974A2E6-2B73-E711-D874-2111FC9D2AF5}"/>
              </a:ext>
            </a:extLst>
          </p:cNvPr>
          <p:cNvSpPr>
            <a:spLocks noGrp="1" noRot="1" noChangeAspect="1" noChangeArrowheads="1" noTextEdit="1"/>
          </p:cNvSpPr>
          <p:nvPr>
            <p:ph type="sldImg"/>
          </p:nvPr>
        </p:nvSpPr>
        <p:spPr>
          <a:ln/>
        </p:spPr>
      </p:sp>
      <p:sp>
        <p:nvSpPr>
          <p:cNvPr id="45058" name="Not Yer Tutucusu 2">
            <a:extLst>
              <a:ext uri="{FF2B5EF4-FFF2-40B4-BE49-F238E27FC236}">
                <a16:creationId xmlns:a16="http://schemas.microsoft.com/office/drawing/2014/main" id="{4974570C-4007-9D62-F2FD-9A41F99D25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About 20 ingredients in pesticides have been found to cause cancer in animals. Studies of people with high exposure to pesticides--farmers, crop</a:t>
            </a:r>
          </a:p>
          <a:p>
            <a:r>
              <a:rPr lang="en-US" altLang="tr-TR">
                <a:latin typeface="Arial" panose="020B0604020202020204" pitchFamily="34" charset="0"/>
              </a:rPr>
              <a:t>duster pilots, pesticide manufacturers--have shown higher rates of blood and lymphatic system cancers in these people, as well as melanoma and</a:t>
            </a:r>
          </a:p>
          <a:p>
            <a:r>
              <a:rPr lang="en-US" altLang="tr-TR">
                <a:latin typeface="Arial" panose="020B0604020202020204" pitchFamily="34" charset="0"/>
              </a:rPr>
              <a:t>cancers of the lip, stomach, brain, lung, and prostate.</a:t>
            </a:r>
            <a:endParaRPr lang="tr-TR" altLang="tr-TR">
              <a:latin typeface="Arial" panose="020B0604020202020204" pitchFamily="34" charset="0"/>
            </a:endParaRPr>
          </a:p>
          <a:p>
            <a:endParaRPr lang="en-US" altLang="tr-TR">
              <a:latin typeface="Arial" panose="020B0604020202020204" pitchFamily="34" charset="0"/>
            </a:endParaRPr>
          </a:p>
        </p:txBody>
      </p:sp>
      <p:sp>
        <p:nvSpPr>
          <p:cNvPr id="45059" name="Slayt Numarası Yer Tutucusu 3">
            <a:extLst>
              <a:ext uri="{FF2B5EF4-FFF2-40B4-BE49-F238E27FC236}">
                <a16:creationId xmlns:a16="http://schemas.microsoft.com/office/drawing/2014/main" id="{3368BD97-0181-A456-F5FA-72DEA9A627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265E5D1-E5A7-AC46-8758-D96929147F1D}" type="slidenum">
              <a:rPr lang="tr-TR" altLang="tr-TR">
                <a:latin typeface="Arial" panose="020B0604020202020204" pitchFamily="34" charset="0"/>
              </a:rPr>
              <a:pPr/>
              <a:t>18</a:t>
            </a:fld>
            <a:endParaRPr lang="tr-TR" altLang="tr-TR">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E2B37ED-6BEF-7FB4-5070-E2028489F0F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47106" name="Rectangle 6">
            <a:extLst>
              <a:ext uri="{FF2B5EF4-FFF2-40B4-BE49-F238E27FC236}">
                <a16:creationId xmlns:a16="http://schemas.microsoft.com/office/drawing/2014/main" id="{83A51706-C7E0-1CB2-7C11-03A272E8A95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47107" name="Rectangle 7">
            <a:extLst>
              <a:ext uri="{FF2B5EF4-FFF2-40B4-BE49-F238E27FC236}">
                <a16:creationId xmlns:a16="http://schemas.microsoft.com/office/drawing/2014/main" id="{6FEAA650-CD6E-EBF1-33C3-0C508C5437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58AE609-D22D-604C-9BAE-CD7FE47E7143}" type="slidenum">
              <a:rPr lang="en-US" altLang="tr-TR">
                <a:latin typeface="Times" pitchFamily="18" charset="0"/>
                <a:ea typeface="MS PGothic" panose="020B0600070205080204" pitchFamily="34" charset="-128"/>
              </a:rPr>
              <a:pPr/>
              <a:t>19</a:t>
            </a:fld>
            <a:endParaRPr lang="en-US" altLang="tr-TR">
              <a:latin typeface="Times" pitchFamily="18" charset="0"/>
              <a:ea typeface="MS PGothic" panose="020B0600070205080204" pitchFamily="34" charset="-128"/>
            </a:endParaRPr>
          </a:p>
        </p:txBody>
      </p:sp>
      <p:sp>
        <p:nvSpPr>
          <p:cNvPr id="47108" name="Rectangle 2">
            <a:extLst>
              <a:ext uri="{FF2B5EF4-FFF2-40B4-BE49-F238E27FC236}">
                <a16:creationId xmlns:a16="http://schemas.microsoft.com/office/drawing/2014/main" id="{B457D437-3580-5A31-F640-8F89F03549F8}"/>
              </a:ext>
            </a:extLst>
          </p:cNvPr>
          <p:cNvSpPr>
            <a:spLocks noChangeArrowheads="1" noTextEdit="1"/>
          </p:cNvSpPr>
          <p:nvPr>
            <p:ph type="sldImg"/>
          </p:nvPr>
        </p:nvSpPr>
        <p:spPr>
          <a:ln/>
        </p:spPr>
      </p:sp>
      <p:sp>
        <p:nvSpPr>
          <p:cNvPr id="47109" name="Rectangle 3">
            <a:extLst>
              <a:ext uri="{FF2B5EF4-FFF2-40B4-BE49-F238E27FC236}">
                <a16:creationId xmlns:a16="http://schemas.microsoft.com/office/drawing/2014/main" id="{DD6477CA-31F6-CE4A-75AF-61C7733693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Solvents are used in paint removers, grease removers, paint thinners, and dry cleaning. The solvents benzene, carbon tetrachloride, chloroform, and methylene chloride have been linked to human cancer.</a:t>
            </a:r>
          </a:p>
          <a:p>
            <a:pPr eaLnBrk="1" hangingPunct="1"/>
            <a:r>
              <a:rPr lang="en-US" altLang="tr-TR">
                <a:latin typeface="Times" pitchFamily="18" charset="0"/>
              </a:rPr>
              <a:t>The strongest evidence linking a solvent to cancer involves benzene, which is also found in cigarette smoke and gasoline. It increases the risk of leukemia.</a:t>
            </a:r>
          </a:p>
          <a:p>
            <a:pPr eaLnBrk="1" hangingPunct="1"/>
            <a:r>
              <a:rPr lang="en-US" altLang="tr-TR">
                <a:latin typeface="Times" pitchFamily="18" charset="0"/>
              </a:rPr>
              <a:t>If you must work with solvents, work outside or make sure the area is well ventilated.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9CD2285E-0B77-486D-1C26-C7817D8390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49154" name="Rectangle 6">
            <a:extLst>
              <a:ext uri="{FF2B5EF4-FFF2-40B4-BE49-F238E27FC236}">
                <a16:creationId xmlns:a16="http://schemas.microsoft.com/office/drawing/2014/main" id="{16369F47-03AD-B786-7D13-07643BA8CF0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49155" name="Rectangle 7">
            <a:extLst>
              <a:ext uri="{FF2B5EF4-FFF2-40B4-BE49-F238E27FC236}">
                <a16:creationId xmlns:a16="http://schemas.microsoft.com/office/drawing/2014/main" id="{DC86C793-A1EB-E607-7375-5C7A3BFBDC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3E71772-72B1-4B4D-99A4-F8D163749EC9}" type="slidenum">
              <a:rPr lang="en-US" altLang="tr-TR">
                <a:latin typeface="Times" pitchFamily="18" charset="0"/>
                <a:ea typeface="MS PGothic" panose="020B0600070205080204" pitchFamily="34" charset="-128"/>
              </a:rPr>
              <a:pPr/>
              <a:t>21</a:t>
            </a:fld>
            <a:endParaRPr lang="en-US" altLang="tr-TR">
              <a:latin typeface="Times" pitchFamily="18" charset="0"/>
              <a:ea typeface="MS PGothic" panose="020B0600070205080204" pitchFamily="34" charset="-128"/>
            </a:endParaRPr>
          </a:p>
        </p:txBody>
      </p:sp>
      <p:sp>
        <p:nvSpPr>
          <p:cNvPr id="49156" name="Rectangle 2">
            <a:extLst>
              <a:ext uri="{FF2B5EF4-FFF2-40B4-BE49-F238E27FC236}">
                <a16:creationId xmlns:a16="http://schemas.microsoft.com/office/drawing/2014/main" id="{E0F2BE40-A362-4AF3-31C0-624DA13AB80F}"/>
              </a:ext>
            </a:extLst>
          </p:cNvPr>
          <p:cNvSpPr>
            <a:spLocks noChangeArrowheads="1" noTextEdit="1"/>
          </p:cNvSpPr>
          <p:nvPr>
            <p:ph type="sldImg"/>
          </p:nvPr>
        </p:nvSpPr>
        <p:spPr>
          <a:ln/>
        </p:spPr>
      </p:sp>
      <p:sp>
        <p:nvSpPr>
          <p:cNvPr id="49157" name="Rectangle 3">
            <a:extLst>
              <a:ext uri="{FF2B5EF4-FFF2-40B4-BE49-F238E27FC236}">
                <a16:creationId xmlns:a16="http://schemas.microsoft.com/office/drawing/2014/main" id="{6411181D-A0A5-229D-CC65-DCC1256E7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Dioxins are byproducts of paper bleaching, smelting, and waste incineration. They are widespread in the environment because they break down very slowly. They also accumulate in fat cells. Most of our exposure to dioxins comes from eating dairy products, fish, and meat. </a:t>
            </a:r>
          </a:p>
          <a:p>
            <a:pPr eaLnBrk="1" hangingPunct="1"/>
            <a:endParaRPr lang="en-US" altLang="tr-TR">
              <a:latin typeface="Times"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7F650EA8-0194-82EB-91E6-927D558072D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51202" name="Rectangle 6">
            <a:extLst>
              <a:ext uri="{FF2B5EF4-FFF2-40B4-BE49-F238E27FC236}">
                <a16:creationId xmlns:a16="http://schemas.microsoft.com/office/drawing/2014/main" id="{87C9A33D-7DAC-33ED-4094-9D70D5AA045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51203" name="Rectangle 7">
            <a:extLst>
              <a:ext uri="{FF2B5EF4-FFF2-40B4-BE49-F238E27FC236}">
                <a16:creationId xmlns:a16="http://schemas.microsoft.com/office/drawing/2014/main" id="{0BCB9EB1-5424-3FAA-00E6-0659B92BB7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BE30BEF-2121-E143-A22D-EE339A72DCAF}" type="slidenum">
              <a:rPr lang="en-US" altLang="tr-TR">
                <a:latin typeface="Times" pitchFamily="18" charset="0"/>
                <a:ea typeface="MS PGothic" panose="020B0600070205080204" pitchFamily="34" charset="-128"/>
              </a:rPr>
              <a:pPr/>
              <a:t>23</a:t>
            </a:fld>
            <a:endParaRPr lang="en-US" altLang="tr-TR">
              <a:latin typeface="Times" pitchFamily="18" charset="0"/>
              <a:ea typeface="MS PGothic" panose="020B0600070205080204" pitchFamily="34" charset="-128"/>
            </a:endParaRPr>
          </a:p>
        </p:txBody>
      </p:sp>
      <p:sp>
        <p:nvSpPr>
          <p:cNvPr id="51204" name="Rectangle 2">
            <a:extLst>
              <a:ext uri="{FF2B5EF4-FFF2-40B4-BE49-F238E27FC236}">
                <a16:creationId xmlns:a16="http://schemas.microsoft.com/office/drawing/2014/main" id="{59F8A097-95E8-0CA8-574A-C40E7745BAD9}"/>
              </a:ext>
            </a:extLst>
          </p:cNvPr>
          <p:cNvSpPr>
            <a:spLocks noChangeArrowheads="1" noTextEdit="1"/>
          </p:cNvSpPr>
          <p:nvPr>
            <p:ph type="sldImg"/>
          </p:nvPr>
        </p:nvSpPr>
        <p:spPr>
          <a:ln/>
        </p:spPr>
      </p:sp>
      <p:sp>
        <p:nvSpPr>
          <p:cNvPr id="51205" name="Rectangle 3">
            <a:extLst>
              <a:ext uri="{FF2B5EF4-FFF2-40B4-BE49-F238E27FC236}">
                <a16:creationId xmlns:a16="http://schemas.microsoft.com/office/drawing/2014/main" id="{F6A43AC3-61FA-9FD2-D644-F092F077C2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These compounds (known as PAHs) come from the burning of carbon-based material. They are found in wood smoke, car exhaust, cigarette smoke, and charcoal-grilled foods. Sausages and roasted coffees may also contain PAHs. These compounds have been linked to increased risks of lung, skin, and urinary cancers.</a:t>
            </a:r>
          </a:p>
          <a:p>
            <a:pPr eaLnBrk="1" hangingPunct="1"/>
            <a:endParaRPr lang="en-US" altLang="tr-TR">
              <a:latin typeface="Times"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D0259F52-A2B7-40FB-45A0-927F0DAC08E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53250" name="Rectangle 6">
            <a:extLst>
              <a:ext uri="{FF2B5EF4-FFF2-40B4-BE49-F238E27FC236}">
                <a16:creationId xmlns:a16="http://schemas.microsoft.com/office/drawing/2014/main" id="{330D029F-B256-A003-E53B-1FD864BEB5D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53251" name="Rectangle 7">
            <a:extLst>
              <a:ext uri="{FF2B5EF4-FFF2-40B4-BE49-F238E27FC236}">
                <a16:creationId xmlns:a16="http://schemas.microsoft.com/office/drawing/2014/main" id="{124925DC-D5B8-701B-CFA5-5D3269B3A3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776607D-6ECE-BE44-B2F9-A3CECAB02FF2}" type="slidenum">
              <a:rPr lang="en-US" altLang="tr-TR">
                <a:latin typeface="Times" pitchFamily="18" charset="0"/>
                <a:ea typeface="MS PGothic" panose="020B0600070205080204" pitchFamily="34" charset="-128"/>
              </a:rPr>
              <a:pPr/>
              <a:t>25</a:t>
            </a:fld>
            <a:endParaRPr lang="en-US" altLang="tr-TR">
              <a:latin typeface="Times" pitchFamily="18" charset="0"/>
              <a:ea typeface="MS PGothic" panose="020B0600070205080204" pitchFamily="34" charset="-128"/>
            </a:endParaRPr>
          </a:p>
        </p:txBody>
      </p:sp>
      <p:sp>
        <p:nvSpPr>
          <p:cNvPr id="53252" name="Rectangle 2">
            <a:extLst>
              <a:ext uri="{FF2B5EF4-FFF2-40B4-BE49-F238E27FC236}">
                <a16:creationId xmlns:a16="http://schemas.microsoft.com/office/drawing/2014/main" id="{64A3A6C8-B702-E778-648F-877B2419187D}"/>
              </a:ext>
            </a:extLst>
          </p:cNvPr>
          <p:cNvSpPr>
            <a:spLocks noChangeArrowheads="1" noTextEdit="1"/>
          </p:cNvSpPr>
          <p:nvPr>
            <p:ph type="sldImg"/>
          </p:nvPr>
        </p:nvSpPr>
        <p:spPr>
          <a:ln/>
        </p:spPr>
      </p:sp>
      <p:sp>
        <p:nvSpPr>
          <p:cNvPr id="53253" name="Rectangle 3">
            <a:extLst>
              <a:ext uri="{FF2B5EF4-FFF2-40B4-BE49-F238E27FC236}">
                <a16:creationId xmlns:a16="http://schemas.microsoft.com/office/drawing/2014/main" id="{0029A2EE-6291-51A0-FD71-13558C6E3C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Vinyl chloride is used in the plastics industry and has been associated with lung cancer and with angiosarcomas (blood-vessel tumors) of the liver and brain. Most people are not routinely exposed to vinyl chloride unless they work in plastics manufacturing plants. People who live close to such plants also may be exposed through contaminated air.</a:t>
            </a:r>
          </a:p>
          <a:p>
            <a:pPr eaLnBrk="1" hangingPunct="1"/>
            <a:endParaRPr lang="en-US" altLang="tr-TR">
              <a:latin typeface="Times"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9F7525FA-8EC3-D1E9-D823-24E13BFB88E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55298" name="Rectangle 6">
            <a:extLst>
              <a:ext uri="{FF2B5EF4-FFF2-40B4-BE49-F238E27FC236}">
                <a16:creationId xmlns:a16="http://schemas.microsoft.com/office/drawing/2014/main" id="{B3DD67A9-79BA-FD2B-4D72-5909233E0B2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55299" name="Rectangle 7">
            <a:extLst>
              <a:ext uri="{FF2B5EF4-FFF2-40B4-BE49-F238E27FC236}">
                <a16:creationId xmlns:a16="http://schemas.microsoft.com/office/drawing/2014/main" id="{E391702D-7B79-9411-81DB-D1A1B80693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7B343E9-8C49-9D48-8F76-EF5DC22A5092}" type="slidenum">
              <a:rPr lang="en-US" altLang="tr-TR">
                <a:latin typeface="Times" pitchFamily="18" charset="0"/>
                <a:ea typeface="MS PGothic" panose="020B0600070205080204" pitchFamily="34" charset="-128"/>
              </a:rPr>
              <a:pPr/>
              <a:t>27</a:t>
            </a:fld>
            <a:endParaRPr lang="en-US" altLang="tr-TR">
              <a:latin typeface="Times" pitchFamily="18" charset="0"/>
              <a:ea typeface="MS PGothic" panose="020B0600070205080204" pitchFamily="34" charset="-128"/>
            </a:endParaRPr>
          </a:p>
        </p:txBody>
      </p:sp>
      <p:sp>
        <p:nvSpPr>
          <p:cNvPr id="55300" name="Rectangle 2">
            <a:extLst>
              <a:ext uri="{FF2B5EF4-FFF2-40B4-BE49-F238E27FC236}">
                <a16:creationId xmlns:a16="http://schemas.microsoft.com/office/drawing/2014/main" id="{C3407B03-9B8F-32BE-BA9D-058FF1EFF8A7}"/>
              </a:ext>
            </a:extLst>
          </p:cNvPr>
          <p:cNvSpPr>
            <a:spLocks noChangeArrowheads="1" noTextEdit="1"/>
          </p:cNvSpPr>
          <p:nvPr>
            <p:ph type="sldImg"/>
          </p:nvPr>
        </p:nvSpPr>
        <p:spPr>
          <a:ln/>
        </p:spPr>
      </p:sp>
      <p:sp>
        <p:nvSpPr>
          <p:cNvPr id="55301" name="Rectangle 3">
            <a:extLst>
              <a:ext uri="{FF2B5EF4-FFF2-40B4-BE49-F238E27FC236}">
                <a16:creationId xmlns:a16="http://schemas.microsoft.com/office/drawing/2014/main" id="{A8E33E0D-55DA-A375-44C1-030774F5C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Benzidine has been known to be associated with cancer since the 1920s. It is used in the production of dyes for paper, textiles, and leather. Exposure to these dyed products is not hazardous, however.</a:t>
            </a:r>
          </a:p>
          <a:p>
            <a:pPr eaLnBrk="1" hangingPunct="1"/>
            <a:endParaRPr lang="en-US" altLang="tr-TR">
              <a:latin typeface="Times"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63330685-3AE5-7BD8-B3B1-ADF4BCB64C2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57346" name="Rectangle 6">
            <a:extLst>
              <a:ext uri="{FF2B5EF4-FFF2-40B4-BE49-F238E27FC236}">
                <a16:creationId xmlns:a16="http://schemas.microsoft.com/office/drawing/2014/main" id="{E4A52F9D-5BB7-B66E-6278-524F3BD6EB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57347" name="Rectangle 7">
            <a:extLst>
              <a:ext uri="{FF2B5EF4-FFF2-40B4-BE49-F238E27FC236}">
                <a16:creationId xmlns:a16="http://schemas.microsoft.com/office/drawing/2014/main" id="{093552E7-9A50-82F3-7A27-C45703ACD0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EA416B1-2F43-6640-A659-47A8AF581047}" type="slidenum">
              <a:rPr lang="en-US" altLang="tr-TR">
                <a:latin typeface="Times" pitchFamily="18" charset="0"/>
                <a:ea typeface="MS PGothic" panose="020B0600070205080204" pitchFamily="34" charset="-128"/>
              </a:rPr>
              <a:pPr/>
              <a:t>28</a:t>
            </a:fld>
            <a:endParaRPr lang="en-US" altLang="tr-TR">
              <a:latin typeface="Times" pitchFamily="18" charset="0"/>
              <a:ea typeface="MS PGothic" panose="020B0600070205080204" pitchFamily="34" charset="-128"/>
            </a:endParaRPr>
          </a:p>
        </p:txBody>
      </p:sp>
      <p:sp>
        <p:nvSpPr>
          <p:cNvPr id="57348" name="Rectangle 2">
            <a:extLst>
              <a:ext uri="{FF2B5EF4-FFF2-40B4-BE49-F238E27FC236}">
                <a16:creationId xmlns:a16="http://schemas.microsoft.com/office/drawing/2014/main" id="{1F6E9C73-AE19-8F49-8281-37EAB34E3913}"/>
              </a:ext>
            </a:extLst>
          </p:cNvPr>
          <p:cNvSpPr>
            <a:spLocks noChangeArrowheads="1" noTextEdit="1"/>
          </p:cNvSpPr>
          <p:nvPr>
            <p:ph type="sldImg"/>
          </p:nvPr>
        </p:nvSpPr>
        <p:spPr>
          <a:ln/>
        </p:spPr>
      </p:sp>
      <p:sp>
        <p:nvSpPr>
          <p:cNvPr id="57349" name="Rectangle 3">
            <a:extLst>
              <a:ext uri="{FF2B5EF4-FFF2-40B4-BE49-F238E27FC236}">
                <a16:creationId xmlns:a16="http://schemas.microsoft.com/office/drawing/2014/main" id="{66DBB718-3F92-E29F-E0D5-C31CD61A7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Times" pitchFamily="18" charset="0"/>
              </a:rPr>
              <a:t>Some metals--including arsenic, beryllium, cadmium, chromium, lead, and nickel--have been associated with several types of cancer, including lung, kidney, brain, skin, and liver cancers.</a:t>
            </a:r>
          </a:p>
          <a:p>
            <a:pPr eaLnBrk="1" hangingPunct="1"/>
            <a:endParaRPr lang="en-US" altLang="tr-TR">
              <a:latin typeface="Times"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0E954080-0806-BA7F-ED80-4C1E74B222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Calibri" panose="020F0502020204030204" pitchFamily="34" charset="0"/>
              </a:defRPr>
            </a:lvl1pPr>
            <a:lvl2pPr marL="742950" indent="-285750" defTabSz="928688">
              <a:defRPr>
                <a:solidFill>
                  <a:schemeClr val="tx1"/>
                </a:solidFill>
                <a:latin typeface="Calibri" panose="020F0502020204030204" pitchFamily="34" charset="0"/>
              </a:defRPr>
            </a:lvl2pPr>
            <a:lvl3pPr marL="1143000" indent="-228600" defTabSz="928688">
              <a:defRPr>
                <a:solidFill>
                  <a:schemeClr val="tx1"/>
                </a:solidFill>
                <a:latin typeface="Calibri" panose="020F0502020204030204" pitchFamily="34" charset="0"/>
              </a:defRPr>
            </a:lvl3pPr>
            <a:lvl4pPr marL="1600200" indent="-228600" defTabSz="928688">
              <a:defRPr>
                <a:solidFill>
                  <a:schemeClr val="tx1"/>
                </a:solidFill>
                <a:latin typeface="Calibri" panose="020F0502020204030204" pitchFamily="34" charset="0"/>
              </a:defRPr>
            </a:lvl4pPr>
            <a:lvl5pPr marL="2057400" indent="-228600" defTabSz="928688">
              <a:defRPr>
                <a:solidFill>
                  <a:schemeClr val="tx1"/>
                </a:solidFill>
                <a:latin typeface="Calibri" panose="020F0502020204030204" pitchFamily="34" charset="0"/>
              </a:defRPr>
            </a:lvl5pPr>
            <a:lvl6pPr marL="2514600" indent="-228600" defTabSz="928688" eaLnBrk="0" fontAlgn="base" hangingPunct="0">
              <a:spcBef>
                <a:spcPct val="0"/>
              </a:spcBef>
              <a:spcAft>
                <a:spcPct val="0"/>
              </a:spcAft>
              <a:defRPr>
                <a:solidFill>
                  <a:schemeClr val="tx1"/>
                </a:solidFill>
                <a:latin typeface="Calibri" panose="020F0502020204030204" pitchFamily="34" charset="0"/>
              </a:defRPr>
            </a:lvl6pPr>
            <a:lvl7pPr marL="2971800" indent="-228600" defTabSz="928688" eaLnBrk="0" fontAlgn="base" hangingPunct="0">
              <a:spcBef>
                <a:spcPct val="0"/>
              </a:spcBef>
              <a:spcAft>
                <a:spcPct val="0"/>
              </a:spcAft>
              <a:defRPr>
                <a:solidFill>
                  <a:schemeClr val="tx1"/>
                </a:solidFill>
                <a:latin typeface="Calibri" panose="020F0502020204030204" pitchFamily="34" charset="0"/>
              </a:defRPr>
            </a:lvl7pPr>
            <a:lvl8pPr marL="3429000" indent="-228600" defTabSz="928688" eaLnBrk="0" fontAlgn="base" hangingPunct="0">
              <a:spcBef>
                <a:spcPct val="0"/>
              </a:spcBef>
              <a:spcAft>
                <a:spcPct val="0"/>
              </a:spcAft>
              <a:defRPr>
                <a:solidFill>
                  <a:schemeClr val="tx1"/>
                </a:solidFill>
                <a:latin typeface="Calibri" panose="020F0502020204030204" pitchFamily="34" charset="0"/>
              </a:defRPr>
            </a:lvl8pPr>
            <a:lvl9pPr marL="3886200" indent="-228600" defTabSz="928688" eaLnBrk="0" fontAlgn="base" hangingPunct="0">
              <a:spcBef>
                <a:spcPct val="0"/>
              </a:spcBef>
              <a:spcAft>
                <a:spcPct val="0"/>
              </a:spcAft>
              <a:defRPr>
                <a:solidFill>
                  <a:schemeClr val="tx1"/>
                </a:solidFill>
                <a:latin typeface="Calibri" panose="020F0502020204030204" pitchFamily="34" charset="0"/>
              </a:defRPr>
            </a:lvl9pPr>
          </a:lstStyle>
          <a:p>
            <a:fld id="{5B9E38F5-8CE4-C044-B29D-E06CBFB7BE90}" type="slidenum">
              <a:rPr lang="en-US" altLang="tr-TR">
                <a:solidFill>
                  <a:srgbClr val="000000"/>
                </a:solidFill>
                <a:latin typeface="Arial" panose="020B0604020202020204" pitchFamily="34" charset="0"/>
                <a:cs typeface="Arial" panose="020B0604020202020204" pitchFamily="34" charset="0"/>
              </a:rPr>
              <a:pPr/>
              <a:t>33</a:t>
            </a:fld>
            <a:endParaRPr lang="en-US" altLang="tr-TR">
              <a:solidFill>
                <a:srgbClr val="000000"/>
              </a:solidFill>
              <a:latin typeface="Arial" panose="020B0604020202020204" pitchFamily="34" charset="0"/>
              <a:cs typeface="Arial" panose="020B0604020202020204" pitchFamily="34" charset="0"/>
            </a:endParaRPr>
          </a:p>
        </p:txBody>
      </p:sp>
      <p:sp>
        <p:nvSpPr>
          <p:cNvPr id="63490" name="Rectangle 2">
            <a:extLst>
              <a:ext uri="{FF2B5EF4-FFF2-40B4-BE49-F238E27FC236}">
                <a16:creationId xmlns:a16="http://schemas.microsoft.com/office/drawing/2014/main" id="{00B0F59A-22C8-C704-03E7-DAA4741F49BD}"/>
              </a:ext>
            </a:extLst>
          </p:cNvPr>
          <p:cNvSpPr>
            <a:spLocks noChangeArrowheads="1" noTextEdit="1"/>
          </p:cNvSpPr>
          <p:nvPr>
            <p:ph type="sldImg"/>
          </p:nvPr>
        </p:nvSpPr>
        <p:spPr>
          <a:solidFill>
            <a:srgbClr val="FFFFFF"/>
          </a:solidFill>
          <a:ln/>
        </p:spPr>
      </p:sp>
      <p:sp>
        <p:nvSpPr>
          <p:cNvPr id="63491" name="Rectangle 3">
            <a:extLst>
              <a:ext uri="{FF2B5EF4-FFF2-40B4-BE49-F238E27FC236}">
                <a16:creationId xmlns:a16="http://schemas.microsoft.com/office/drawing/2014/main" id="{D555F88C-83C1-D8D6-0E1B-77893E0E4EC3}"/>
              </a:ext>
            </a:extLst>
          </p:cNvPr>
          <p:cNvSpPr>
            <a:spLocks noChangeArrowheads="1"/>
          </p:cNvSpPr>
          <p:nvPr>
            <p:ph type="body" idx="1"/>
          </p:nvPr>
        </p:nvSpPr>
        <p:spPr>
          <a:solidFill>
            <a:srgbClr val="FFFFFF"/>
          </a:solidFill>
          <a:ln>
            <a:solidFill>
              <a:srgbClr val="000000"/>
            </a:solidFill>
          </a:ln>
        </p:spPr>
        <p:txBody>
          <a:bodyPr/>
          <a:lstStyle/>
          <a:p>
            <a:pPr eaLnBrk="1" hangingPunct="1">
              <a:spcBef>
                <a:spcPct val="0"/>
              </a:spcBef>
            </a:pPr>
            <a:r>
              <a:rPr lang="en-CA" altLang="tr-TR" sz="1400">
                <a:latin typeface="Arial" panose="020B0604020202020204" pitchFamily="34" charset="0"/>
                <a:cs typeface="Arial" panose="020B0604020202020204" pitchFamily="34" charset="0"/>
              </a:rPr>
              <a:t>Next few slides provide examples of cancers in Canada that have been the </a:t>
            </a:r>
            <a:r>
              <a:rPr lang="en-CA" altLang="tr-TR" sz="1400" u="sng">
                <a:latin typeface="Arial" panose="020B0604020202020204" pitchFamily="34" charset="0"/>
                <a:cs typeface="Arial" panose="020B0604020202020204" pitchFamily="34" charset="0"/>
              </a:rPr>
              <a:t>fastest on the increase</a:t>
            </a:r>
            <a:r>
              <a:rPr lang="en-CA" altLang="tr-TR" sz="1400">
                <a:latin typeface="Arial" panose="020B0604020202020204" pitchFamily="34" charset="0"/>
                <a:cs typeface="Arial" panose="020B0604020202020204" pitchFamily="34" charset="0"/>
              </a:rPr>
              <a:t>, at least for some age groups, in the past decade – just in the past 10 years [1992-2001].</a:t>
            </a:r>
          </a:p>
          <a:p>
            <a:pPr eaLnBrk="1" hangingPunct="1">
              <a:spcBef>
                <a:spcPct val="0"/>
              </a:spcBef>
            </a:pPr>
            <a:endParaRPr lang="en-CA" altLang="tr-TR" sz="1400">
              <a:latin typeface="Arial" panose="020B0604020202020204" pitchFamily="34" charset="0"/>
              <a:cs typeface="Arial" panose="020B0604020202020204" pitchFamily="34" charset="0"/>
            </a:endParaRPr>
          </a:p>
          <a:p>
            <a:pPr eaLnBrk="1" hangingPunct="1">
              <a:spcBef>
                <a:spcPct val="0"/>
              </a:spcBef>
            </a:pPr>
            <a:r>
              <a:rPr lang="en-CA" altLang="tr-TR" sz="1400">
                <a:latin typeface="Arial" panose="020B0604020202020204" pitchFamily="34" charset="0"/>
                <a:cs typeface="Arial" panose="020B0604020202020204" pitchFamily="34" charset="0"/>
              </a:rPr>
              <a:t>- Explain -- Solomon, Schettler, Janssen database</a:t>
            </a:r>
          </a:p>
          <a:p>
            <a:pPr eaLnBrk="1" hangingPunct="1">
              <a:spcBef>
                <a:spcPct val="0"/>
              </a:spcBef>
            </a:pPr>
            <a:r>
              <a:rPr lang="en-CA" altLang="tr-TR" sz="1400">
                <a:latin typeface="Arial" panose="020B0604020202020204" pitchFamily="34" charset="0"/>
                <a:cs typeface="Arial" panose="020B0604020202020204" pitchFamily="34" charset="0"/>
              </a:rPr>
              <a:t>At: healthandenvironment.org. </a:t>
            </a:r>
          </a:p>
          <a:p>
            <a:pPr eaLnBrk="1" hangingPunct="1">
              <a:spcBef>
                <a:spcPct val="0"/>
              </a:spcBef>
            </a:pPr>
            <a:r>
              <a:rPr lang="en-CA" altLang="tr-TR" sz="1400">
                <a:latin typeface="Arial" panose="020B0604020202020204" pitchFamily="34" charset="0"/>
                <a:cs typeface="Arial" panose="020B0604020202020204" pitchFamily="34" charset="0"/>
              </a:rPr>
              <a:t>- Each of these lists includes evidence considered to be “strong” or “good” in the CHE database and does not include what CHE describes as “limited or conflicting evidence.”</a:t>
            </a:r>
          </a:p>
          <a:p>
            <a:pPr eaLnBrk="1" hangingPunct="1">
              <a:spcBef>
                <a:spcPct val="0"/>
              </a:spcBef>
            </a:pPr>
            <a:endParaRPr lang="en-CA" altLang="tr-TR" sz="1400">
              <a:latin typeface="Arial" panose="020B0604020202020204" pitchFamily="34" charset="0"/>
              <a:cs typeface="Arial" panose="020B0604020202020204" pitchFamily="34" charset="0"/>
            </a:endParaRPr>
          </a:p>
          <a:p>
            <a:pPr eaLnBrk="1" hangingPunct="1">
              <a:spcBef>
                <a:spcPct val="0"/>
              </a:spcBef>
            </a:pPr>
            <a:r>
              <a:rPr lang="en-CA" altLang="tr-TR" sz="1400" u="sng">
                <a:latin typeface="Arial" panose="020B0604020202020204" pitchFamily="34" charset="0"/>
                <a:cs typeface="Arial" panose="020B0604020202020204" pitchFamily="34" charset="0"/>
              </a:rPr>
              <a:t>Melanoma</a:t>
            </a:r>
            <a:r>
              <a:rPr lang="en-CA" altLang="tr-TR" sz="1400">
                <a:latin typeface="Arial" panose="020B0604020202020204" pitchFamily="34" charset="0"/>
                <a:cs typeface="Arial" panose="020B0604020202020204" pitchFamily="34" charset="0"/>
              </a:rPr>
              <a:t> – increasing among </a:t>
            </a:r>
            <a:r>
              <a:rPr lang="en-CA" altLang="tr-TR" sz="1400" u="sng">
                <a:latin typeface="Arial" panose="020B0604020202020204" pitchFamily="34" charset="0"/>
                <a:cs typeface="Arial" panose="020B0604020202020204" pitchFamily="34" charset="0"/>
              </a:rPr>
              <a:t>all age groups</a:t>
            </a:r>
            <a:r>
              <a:rPr lang="en-CA" altLang="tr-TR" sz="1400">
                <a:latin typeface="Arial" panose="020B0604020202020204" pitchFamily="34" charset="0"/>
                <a:cs typeface="Arial" panose="020B0604020202020204" pitchFamily="34" charset="0"/>
              </a:rPr>
              <a:t> </a:t>
            </a:r>
            <a:r>
              <a:rPr lang="en-CA" altLang="tr-TR" sz="1400" u="sng">
                <a:latin typeface="Arial" panose="020B0604020202020204" pitchFamily="34" charset="0"/>
                <a:cs typeface="Arial" panose="020B0604020202020204" pitchFamily="34" charset="0"/>
              </a:rPr>
              <a:t>except 20-49</a:t>
            </a:r>
            <a:r>
              <a:rPr lang="en-CA" altLang="tr-TR" sz="1400">
                <a:latin typeface="Arial" panose="020B0604020202020204" pitchFamily="34" charset="0"/>
                <a:cs typeface="Arial" panose="020B0604020202020204" pitchFamily="34" charset="0"/>
              </a:rPr>
              <a:t>.</a:t>
            </a:r>
          </a:p>
          <a:p>
            <a:pPr eaLnBrk="1" hangingPunct="1">
              <a:spcBef>
                <a:spcPct val="0"/>
              </a:spcBef>
            </a:pPr>
            <a:endParaRPr lang="en-CA" altLang="tr-TR" sz="1400">
              <a:latin typeface="Arial" panose="020B0604020202020204" pitchFamily="34" charset="0"/>
              <a:cs typeface="Arial" panose="020B0604020202020204" pitchFamily="34" charset="0"/>
            </a:endParaRPr>
          </a:p>
          <a:p>
            <a:pPr eaLnBrk="1" hangingPunct="1">
              <a:spcBef>
                <a:spcPct val="0"/>
              </a:spcBef>
            </a:pPr>
            <a:r>
              <a:rPr lang="en-CA" altLang="tr-TR" sz="1400" u="sng">
                <a:latin typeface="Arial" panose="020B0604020202020204" pitchFamily="34" charset="0"/>
                <a:cs typeface="Arial" panose="020B0604020202020204" pitchFamily="34" charset="0"/>
              </a:rPr>
              <a:t>Thyroid</a:t>
            </a:r>
            <a:r>
              <a:rPr lang="en-CA" altLang="tr-TR" sz="1400">
                <a:latin typeface="Arial" panose="020B0604020202020204" pitchFamily="34" charset="0"/>
                <a:cs typeface="Arial" panose="020B0604020202020204" pitchFamily="34" charset="0"/>
              </a:rPr>
              <a:t> – increasing among </a:t>
            </a:r>
            <a:r>
              <a:rPr lang="en-CA" altLang="tr-TR" sz="1400" u="sng">
                <a:latin typeface="Arial" panose="020B0604020202020204" pitchFamily="34" charset="0"/>
                <a:cs typeface="Arial" panose="020B0604020202020204" pitchFamily="34" charset="0"/>
              </a:rPr>
              <a:t>all age groups</a:t>
            </a:r>
            <a:r>
              <a:rPr lang="en-CA" altLang="tr-TR" sz="1400">
                <a:latin typeface="Arial" panose="020B0604020202020204" pitchFamily="34" charset="0"/>
                <a:cs typeface="Arial" panose="020B0604020202020204" pitchFamily="34" charset="0"/>
              </a:rPr>
              <a:t>, </a:t>
            </a:r>
            <a:r>
              <a:rPr lang="en-CA" altLang="tr-TR" sz="1400" u="sng">
                <a:latin typeface="Arial" panose="020B0604020202020204" pitchFamily="34" charset="0"/>
                <a:cs typeface="Arial" panose="020B0604020202020204" pitchFamily="34" charset="0"/>
              </a:rPr>
              <a:t>especially under 75</a:t>
            </a:r>
            <a:r>
              <a:rPr lang="en-CA" altLang="tr-TR" sz="1400">
                <a:latin typeface="Arial" panose="020B0604020202020204" pitchFamily="34" charset="0"/>
                <a:cs typeface="Arial" panose="020B0604020202020204" pitchFamily="34" charset="0"/>
              </a:rPr>
              <a:t>!</a:t>
            </a:r>
          </a:p>
          <a:p>
            <a:pPr eaLnBrk="1" hangingPunct="1">
              <a:spcBef>
                <a:spcPct val="15000"/>
              </a:spcBef>
            </a:pPr>
            <a:endParaRPr lang="en-CA" altLang="tr-TR" sz="1400">
              <a:latin typeface="Arial" panose="020B0604020202020204" pitchFamily="34" charset="0"/>
              <a:cs typeface="Arial" panose="020B0604020202020204" pitchFamily="34" charset="0"/>
            </a:endParaRPr>
          </a:p>
          <a:p>
            <a:pPr eaLnBrk="1" hangingPunct="1">
              <a:lnSpc>
                <a:spcPct val="80000"/>
              </a:lnSpc>
            </a:pPr>
            <a:r>
              <a:rPr lang="en-CA" altLang="tr-TR" sz="900">
                <a:latin typeface="Arial" panose="020B0604020202020204" pitchFamily="34" charset="0"/>
                <a:cs typeface="Arial" panose="020B0604020202020204" pitchFamily="34" charset="0"/>
              </a:rPr>
              <a:t>************************</a:t>
            </a:r>
          </a:p>
          <a:p>
            <a:pPr eaLnBrk="1" hangingPunct="1">
              <a:lnSpc>
                <a:spcPct val="80000"/>
              </a:lnSpc>
            </a:pPr>
            <a:r>
              <a:rPr lang="en-CA" altLang="tr-TR" sz="900">
                <a:latin typeface="Arial" panose="020B0604020202020204" pitchFamily="34" charset="0"/>
                <a:cs typeface="Arial" panose="020B0604020202020204" pitchFamily="34" charset="0"/>
              </a:rPr>
              <a:t>Carcinogens source:  Solomon G, Schettler T, Janssen S. “CHE Toxicant and Disease Database.” Accessed 3-22-06: http://database.healthandenvironment.org/.</a:t>
            </a:r>
          </a:p>
          <a:p>
            <a:pPr eaLnBrk="1" hangingPunct="1">
              <a:lnSpc>
                <a:spcPct val="80000"/>
              </a:lnSpc>
            </a:pPr>
            <a:r>
              <a:rPr lang="en-CA" altLang="tr-TR" sz="900">
                <a:latin typeface="Arial" panose="020B0604020202020204" pitchFamily="34" charset="0"/>
                <a:cs typeface="Arial" panose="020B0604020202020204" pitchFamily="34" charset="0"/>
              </a:rPr>
              <a:t>Disease trends source: Cancer Surveillance On-Line, Public Health Agency of Canada, http://dsol-smed.phac-aspc.gc.ca/dsol-smed/cancer/index_e.html.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637C5243-736B-144B-6B85-067AEEBDC8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Calibri" panose="020F0502020204030204" pitchFamily="34" charset="0"/>
              </a:defRPr>
            </a:lvl1pPr>
            <a:lvl2pPr marL="742950" indent="-285750" defTabSz="928688">
              <a:defRPr>
                <a:solidFill>
                  <a:schemeClr val="tx1"/>
                </a:solidFill>
                <a:latin typeface="Calibri" panose="020F0502020204030204" pitchFamily="34" charset="0"/>
              </a:defRPr>
            </a:lvl2pPr>
            <a:lvl3pPr marL="1143000" indent="-228600" defTabSz="928688">
              <a:defRPr>
                <a:solidFill>
                  <a:schemeClr val="tx1"/>
                </a:solidFill>
                <a:latin typeface="Calibri" panose="020F0502020204030204" pitchFamily="34" charset="0"/>
              </a:defRPr>
            </a:lvl3pPr>
            <a:lvl4pPr marL="1600200" indent="-228600" defTabSz="928688">
              <a:defRPr>
                <a:solidFill>
                  <a:schemeClr val="tx1"/>
                </a:solidFill>
                <a:latin typeface="Calibri" panose="020F0502020204030204" pitchFamily="34" charset="0"/>
              </a:defRPr>
            </a:lvl4pPr>
            <a:lvl5pPr marL="2057400" indent="-228600" defTabSz="928688">
              <a:defRPr>
                <a:solidFill>
                  <a:schemeClr val="tx1"/>
                </a:solidFill>
                <a:latin typeface="Calibri" panose="020F0502020204030204" pitchFamily="34" charset="0"/>
              </a:defRPr>
            </a:lvl5pPr>
            <a:lvl6pPr marL="2514600" indent="-228600" defTabSz="928688" eaLnBrk="0" fontAlgn="base" hangingPunct="0">
              <a:spcBef>
                <a:spcPct val="0"/>
              </a:spcBef>
              <a:spcAft>
                <a:spcPct val="0"/>
              </a:spcAft>
              <a:defRPr>
                <a:solidFill>
                  <a:schemeClr val="tx1"/>
                </a:solidFill>
                <a:latin typeface="Calibri" panose="020F0502020204030204" pitchFamily="34" charset="0"/>
              </a:defRPr>
            </a:lvl6pPr>
            <a:lvl7pPr marL="2971800" indent="-228600" defTabSz="928688" eaLnBrk="0" fontAlgn="base" hangingPunct="0">
              <a:spcBef>
                <a:spcPct val="0"/>
              </a:spcBef>
              <a:spcAft>
                <a:spcPct val="0"/>
              </a:spcAft>
              <a:defRPr>
                <a:solidFill>
                  <a:schemeClr val="tx1"/>
                </a:solidFill>
                <a:latin typeface="Calibri" panose="020F0502020204030204" pitchFamily="34" charset="0"/>
              </a:defRPr>
            </a:lvl7pPr>
            <a:lvl8pPr marL="3429000" indent="-228600" defTabSz="928688" eaLnBrk="0" fontAlgn="base" hangingPunct="0">
              <a:spcBef>
                <a:spcPct val="0"/>
              </a:spcBef>
              <a:spcAft>
                <a:spcPct val="0"/>
              </a:spcAft>
              <a:defRPr>
                <a:solidFill>
                  <a:schemeClr val="tx1"/>
                </a:solidFill>
                <a:latin typeface="Calibri" panose="020F0502020204030204" pitchFamily="34" charset="0"/>
              </a:defRPr>
            </a:lvl8pPr>
            <a:lvl9pPr marL="3886200" indent="-228600" defTabSz="928688" eaLnBrk="0" fontAlgn="base" hangingPunct="0">
              <a:spcBef>
                <a:spcPct val="0"/>
              </a:spcBef>
              <a:spcAft>
                <a:spcPct val="0"/>
              </a:spcAft>
              <a:defRPr>
                <a:solidFill>
                  <a:schemeClr val="tx1"/>
                </a:solidFill>
                <a:latin typeface="Calibri" panose="020F0502020204030204" pitchFamily="34" charset="0"/>
              </a:defRPr>
            </a:lvl9pPr>
          </a:lstStyle>
          <a:p>
            <a:fld id="{9048C8AD-AD51-C245-AF9B-E459898E67CB}" type="slidenum">
              <a:rPr lang="en-US" altLang="tr-TR">
                <a:solidFill>
                  <a:srgbClr val="000000"/>
                </a:solidFill>
                <a:latin typeface="Arial" panose="020B0604020202020204" pitchFamily="34" charset="0"/>
                <a:cs typeface="Arial" panose="020B0604020202020204" pitchFamily="34" charset="0"/>
              </a:rPr>
              <a:pPr/>
              <a:t>34</a:t>
            </a:fld>
            <a:endParaRPr lang="en-US" altLang="tr-TR">
              <a:solidFill>
                <a:srgbClr val="000000"/>
              </a:solidFill>
              <a:latin typeface="Arial" panose="020B0604020202020204" pitchFamily="34" charset="0"/>
              <a:cs typeface="Arial" panose="020B0604020202020204" pitchFamily="34" charset="0"/>
            </a:endParaRPr>
          </a:p>
        </p:txBody>
      </p:sp>
      <p:sp>
        <p:nvSpPr>
          <p:cNvPr id="65538" name="Rectangle 2">
            <a:extLst>
              <a:ext uri="{FF2B5EF4-FFF2-40B4-BE49-F238E27FC236}">
                <a16:creationId xmlns:a16="http://schemas.microsoft.com/office/drawing/2014/main" id="{8E4523A0-DBD2-88DD-05FD-AFFA5604B950}"/>
              </a:ext>
            </a:extLst>
          </p:cNvPr>
          <p:cNvSpPr>
            <a:spLocks noChangeArrowheads="1" noTextEdit="1"/>
          </p:cNvSpPr>
          <p:nvPr>
            <p:ph type="sldImg"/>
          </p:nvPr>
        </p:nvSpPr>
        <p:spPr>
          <a:solidFill>
            <a:srgbClr val="FFFFFF"/>
          </a:solidFill>
          <a:ln/>
        </p:spPr>
      </p:sp>
      <p:sp>
        <p:nvSpPr>
          <p:cNvPr id="65539" name="Rectangle 3">
            <a:extLst>
              <a:ext uri="{FF2B5EF4-FFF2-40B4-BE49-F238E27FC236}">
                <a16:creationId xmlns:a16="http://schemas.microsoft.com/office/drawing/2014/main" id="{0E519FCC-1EA6-1E8E-8730-36887FACD53C}"/>
              </a:ext>
            </a:extLst>
          </p:cNvPr>
          <p:cNvSpPr>
            <a:spLocks noChangeArrowheads="1"/>
          </p:cNvSpPr>
          <p:nvPr>
            <p:ph type="body" idx="1"/>
          </p:nvPr>
        </p:nvSpPr>
        <p:spPr>
          <a:solidFill>
            <a:srgbClr val="FFFFFF"/>
          </a:solidFill>
          <a:ln>
            <a:solidFill>
              <a:srgbClr val="000000"/>
            </a:solidFill>
          </a:ln>
        </p:spPr>
        <p:txBody>
          <a:bodyPr/>
          <a:lstStyle/>
          <a:p>
            <a:pPr eaLnBrk="1" hangingPunct="1">
              <a:lnSpc>
                <a:spcPct val="80000"/>
              </a:lnSpc>
            </a:pPr>
            <a:r>
              <a:rPr lang="en-CA" altLang="tr-TR" sz="1100">
                <a:latin typeface="Arial" panose="020B0604020202020204" pitchFamily="34" charset="0"/>
                <a:cs typeface="Arial" panose="020B0604020202020204" pitchFamily="34" charset="0"/>
              </a:rPr>
              <a:t>NHL</a:t>
            </a: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lnSpc>
                <a:spcPct val="80000"/>
              </a:lnSpc>
            </a:pPr>
            <a:endParaRPr lang="en-CA" altLang="tr-TR" sz="1100">
              <a:latin typeface="Arial" panose="020B0604020202020204" pitchFamily="34" charset="0"/>
              <a:cs typeface="Arial" panose="020B0604020202020204" pitchFamily="34" charset="0"/>
            </a:endParaRPr>
          </a:p>
          <a:p>
            <a:pPr eaLnBrk="1" hangingPunct="1"/>
            <a:r>
              <a:rPr lang="en-CA" altLang="tr-TR" sz="900">
                <a:latin typeface="Arial" panose="020B0604020202020204" pitchFamily="34" charset="0"/>
                <a:cs typeface="Arial" panose="020B0604020202020204" pitchFamily="34" charset="0"/>
              </a:rPr>
              <a:t>************************</a:t>
            </a:r>
          </a:p>
          <a:p>
            <a:pPr eaLnBrk="1" hangingPunct="1"/>
            <a:r>
              <a:rPr lang="en-CA" altLang="tr-TR" sz="900">
                <a:latin typeface="Arial" panose="020B0604020202020204" pitchFamily="34" charset="0"/>
                <a:cs typeface="Arial" panose="020B0604020202020204" pitchFamily="34" charset="0"/>
              </a:rPr>
              <a:t>Carcinogens source:  Solomon G, Schettler T, Janssen S. “CHE Toxicant and Disease Database.” Accessed 3-22-06: http://database.healthandenvironment.org/.</a:t>
            </a:r>
          </a:p>
          <a:p>
            <a:pPr eaLnBrk="1" hangingPunct="1"/>
            <a:r>
              <a:rPr lang="en-CA" altLang="tr-TR" sz="900">
                <a:latin typeface="Arial" panose="020B0604020202020204" pitchFamily="34" charset="0"/>
                <a:cs typeface="Arial" panose="020B0604020202020204" pitchFamily="34" charset="0"/>
              </a:rPr>
              <a:t>Disease trends source: Cancer Surveillance On-Line, Public Health Agency of Canada, http://dsol-smed.phac-aspc.gc.ca/dsol-smed/cancer/index_e.html.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E0591B77-6F0E-5D79-742D-9841155841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Calibri" panose="020F0502020204030204" pitchFamily="34" charset="0"/>
              </a:defRPr>
            </a:lvl1pPr>
            <a:lvl2pPr marL="742950" indent="-285750" defTabSz="928688">
              <a:defRPr>
                <a:solidFill>
                  <a:schemeClr val="tx1"/>
                </a:solidFill>
                <a:latin typeface="Calibri" panose="020F0502020204030204" pitchFamily="34" charset="0"/>
              </a:defRPr>
            </a:lvl2pPr>
            <a:lvl3pPr marL="1143000" indent="-228600" defTabSz="928688">
              <a:defRPr>
                <a:solidFill>
                  <a:schemeClr val="tx1"/>
                </a:solidFill>
                <a:latin typeface="Calibri" panose="020F0502020204030204" pitchFamily="34" charset="0"/>
              </a:defRPr>
            </a:lvl3pPr>
            <a:lvl4pPr marL="1600200" indent="-228600" defTabSz="928688">
              <a:defRPr>
                <a:solidFill>
                  <a:schemeClr val="tx1"/>
                </a:solidFill>
                <a:latin typeface="Calibri" panose="020F0502020204030204" pitchFamily="34" charset="0"/>
              </a:defRPr>
            </a:lvl4pPr>
            <a:lvl5pPr marL="2057400" indent="-228600" defTabSz="928688">
              <a:defRPr>
                <a:solidFill>
                  <a:schemeClr val="tx1"/>
                </a:solidFill>
                <a:latin typeface="Calibri" panose="020F0502020204030204" pitchFamily="34" charset="0"/>
              </a:defRPr>
            </a:lvl5pPr>
            <a:lvl6pPr marL="2514600" indent="-228600" defTabSz="928688" eaLnBrk="0" fontAlgn="base" hangingPunct="0">
              <a:spcBef>
                <a:spcPct val="0"/>
              </a:spcBef>
              <a:spcAft>
                <a:spcPct val="0"/>
              </a:spcAft>
              <a:defRPr>
                <a:solidFill>
                  <a:schemeClr val="tx1"/>
                </a:solidFill>
                <a:latin typeface="Calibri" panose="020F0502020204030204" pitchFamily="34" charset="0"/>
              </a:defRPr>
            </a:lvl6pPr>
            <a:lvl7pPr marL="2971800" indent="-228600" defTabSz="928688" eaLnBrk="0" fontAlgn="base" hangingPunct="0">
              <a:spcBef>
                <a:spcPct val="0"/>
              </a:spcBef>
              <a:spcAft>
                <a:spcPct val="0"/>
              </a:spcAft>
              <a:defRPr>
                <a:solidFill>
                  <a:schemeClr val="tx1"/>
                </a:solidFill>
                <a:latin typeface="Calibri" panose="020F0502020204030204" pitchFamily="34" charset="0"/>
              </a:defRPr>
            </a:lvl7pPr>
            <a:lvl8pPr marL="3429000" indent="-228600" defTabSz="928688" eaLnBrk="0" fontAlgn="base" hangingPunct="0">
              <a:spcBef>
                <a:spcPct val="0"/>
              </a:spcBef>
              <a:spcAft>
                <a:spcPct val="0"/>
              </a:spcAft>
              <a:defRPr>
                <a:solidFill>
                  <a:schemeClr val="tx1"/>
                </a:solidFill>
                <a:latin typeface="Calibri" panose="020F0502020204030204" pitchFamily="34" charset="0"/>
              </a:defRPr>
            </a:lvl8pPr>
            <a:lvl9pPr marL="3886200" indent="-228600" defTabSz="928688" eaLnBrk="0" fontAlgn="base" hangingPunct="0">
              <a:spcBef>
                <a:spcPct val="0"/>
              </a:spcBef>
              <a:spcAft>
                <a:spcPct val="0"/>
              </a:spcAft>
              <a:defRPr>
                <a:solidFill>
                  <a:schemeClr val="tx1"/>
                </a:solidFill>
                <a:latin typeface="Calibri" panose="020F0502020204030204" pitchFamily="34" charset="0"/>
              </a:defRPr>
            </a:lvl9pPr>
          </a:lstStyle>
          <a:p>
            <a:fld id="{D88BCC21-A542-2A46-8D6B-00C86152E9B0}" type="slidenum">
              <a:rPr lang="en-US" altLang="tr-TR">
                <a:solidFill>
                  <a:srgbClr val="000000"/>
                </a:solidFill>
                <a:latin typeface="Arial" panose="020B0604020202020204" pitchFamily="34" charset="0"/>
                <a:cs typeface="Arial" panose="020B0604020202020204" pitchFamily="34" charset="0"/>
              </a:rPr>
              <a:pPr/>
              <a:t>35</a:t>
            </a:fld>
            <a:endParaRPr lang="en-US" altLang="tr-TR">
              <a:solidFill>
                <a:srgbClr val="000000"/>
              </a:solidFill>
              <a:latin typeface="Arial" panose="020B0604020202020204" pitchFamily="34" charset="0"/>
              <a:cs typeface="Arial" panose="020B0604020202020204" pitchFamily="34" charset="0"/>
            </a:endParaRPr>
          </a:p>
        </p:txBody>
      </p:sp>
      <p:sp>
        <p:nvSpPr>
          <p:cNvPr id="67586" name="Rectangle 2">
            <a:extLst>
              <a:ext uri="{FF2B5EF4-FFF2-40B4-BE49-F238E27FC236}">
                <a16:creationId xmlns:a16="http://schemas.microsoft.com/office/drawing/2014/main" id="{3913293F-1DE2-3721-3B66-462646681721}"/>
              </a:ext>
            </a:extLst>
          </p:cNvPr>
          <p:cNvSpPr>
            <a:spLocks noChangeArrowheads="1" noTextEdit="1"/>
          </p:cNvSpPr>
          <p:nvPr>
            <p:ph type="sldImg"/>
          </p:nvPr>
        </p:nvSpPr>
        <p:spPr>
          <a:solidFill>
            <a:srgbClr val="FFFFFF"/>
          </a:solidFill>
          <a:ln/>
        </p:spPr>
      </p:sp>
      <p:sp>
        <p:nvSpPr>
          <p:cNvPr id="67587" name="Rectangle 3">
            <a:extLst>
              <a:ext uri="{FF2B5EF4-FFF2-40B4-BE49-F238E27FC236}">
                <a16:creationId xmlns:a16="http://schemas.microsoft.com/office/drawing/2014/main" id="{B1C824FC-EE7A-F782-67AB-FA06EADEF23E}"/>
              </a:ext>
            </a:extLst>
          </p:cNvPr>
          <p:cNvSpPr>
            <a:spLocks noChangeArrowheads="1"/>
          </p:cNvSpPr>
          <p:nvPr>
            <p:ph type="body" idx="1"/>
          </p:nvPr>
        </p:nvSpPr>
        <p:spPr>
          <a:solidFill>
            <a:srgbClr val="FFFFFF"/>
          </a:solidFill>
          <a:ln>
            <a:solidFill>
              <a:srgbClr val="000000"/>
            </a:solidFill>
          </a:ln>
        </p:spPr>
        <p:txBody>
          <a:bodyPr/>
          <a:lstStyle/>
          <a:p>
            <a:pPr eaLnBrk="1" hangingPunct="1"/>
            <a:r>
              <a:rPr lang="en-CA" altLang="tr-TR" sz="1100">
                <a:latin typeface="Arial" panose="020B0604020202020204" pitchFamily="34" charset="0"/>
                <a:cs typeface="Arial" panose="020B0604020202020204" pitchFamily="34" charset="0"/>
              </a:rPr>
              <a:t>Breast</a:t>
            </a:r>
          </a:p>
          <a:p>
            <a:pPr eaLnBrk="1" hangingPunct="1"/>
            <a:endParaRPr lang="en-CA" altLang="tr-TR" sz="1100">
              <a:latin typeface="Arial" panose="020B0604020202020204" pitchFamily="34" charset="0"/>
              <a:cs typeface="Arial" panose="020B0604020202020204" pitchFamily="34" charset="0"/>
            </a:endParaRPr>
          </a:p>
          <a:p>
            <a:pPr eaLnBrk="1" hangingPunct="1"/>
            <a:endParaRPr lang="en-CA" altLang="tr-TR" sz="1100">
              <a:latin typeface="Arial" panose="020B0604020202020204" pitchFamily="34" charset="0"/>
              <a:cs typeface="Arial" panose="020B0604020202020204" pitchFamily="34" charset="0"/>
            </a:endParaRPr>
          </a:p>
          <a:p>
            <a:pPr eaLnBrk="1" hangingPunct="1"/>
            <a:endParaRPr lang="en-CA" altLang="tr-TR" sz="11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endParaRPr lang="en-CA" altLang="tr-TR" sz="1000">
              <a:latin typeface="Arial" panose="020B0604020202020204" pitchFamily="34" charset="0"/>
              <a:cs typeface="Arial" panose="020B0604020202020204" pitchFamily="34" charset="0"/>
            </a:endParaRPr>
          </a:p>
          <a:p>
            <a:pPr eaLnBrk="1" hangingPunct="1">
              <a:lnSpc>
                <a:spcPct val="110000"/>
              </a:lnSpc>
            </a:pPr>
            <a:r>
              <a:rPr lang="en-CA" altLang="tr-TR" sz="900">
                <a:latin typeface="Arial" panose="020B0604020202020204" pitchFamily="34" charset="0"/>
                <a:cs typeface="Arial" panose="020B0604020202020204" pitchFamily="34" charset="0"/>
              </a:rPr>
              <a:t>************************</a:t>
            </a:r>
          </a:p>
          <a:p>
            <a:pPr eaLnBrk="1" hangingPunct="1">
              <a:lnSpc>
                <a:spcPct val="110000"/>
              </a:lnSpc>
            </a:pPr>
            <a:r>
              <a:rPr lang="en-CA" altLang="tr-TR" sz="900">
                <a:latin typeface="Arial" panose="020B0604020202020204" pitchFamily="34" charset="0"/>
                <a:cs typeface="Arial" panose="020B0604020202020204" pitchFamily="34" charset="0"/>
              </a:rPr>
              <a:t>Carcinogens source:  Solomon G, Schettler T, Janssen S. “CHE Toxicant and Disease Database.” Accessed 3-22-06: http://database.healthandenvironment.org/.</a:t>
            </a:r>
          </a:p>
          <a:p>
            <a:pPr eaLnBrk="1" hangingPunct="1">
              <a:lnSpc>
                <a:spcPct val="110000"/>
              </a:lnSpc>
            </a:pPr>
            <a:r>
              <a:rPr lang="en-CA" altLang="tr-TR" sz="900">
                <a:latin typeface="Arial" panose="020B0604020202020204" pitchFamily="34" charset="0"/>
                <a:cs typeface="Arial" panose="020B0604020202020204" pitchFamily="34" charset="0"/>
              </a:rPr>
              <a:t>Disease trends source: Cancer Surveillance On-Line, Public Health Agency of Canada, http://dsol-smed.phac-aspc.gc.ca/dsol-smed/cancer/index_e.html.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2116CD6B-ECB4-7B86-E501-6FBFA4D85CA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87042" name="Rectangle 6">
            <a:extLst>
              <a:ext uri="{FF2B5EF4-FFF2-40B4-BE49-F238E27FC236}">
                <a16:creationId xmlns:a16="http://schemas.microsoft.com/office/drawing/2014/main" id="{47CC7980-417B-76EA-B4E8-E12780C4C7B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87043" name="Rectangle 7">
            <a:extLst>
              <a:ext uri="{FF2B5EF4-FFF2-40B4-BE49-F238E27FC236}">
                <a16:creationId xmlns:a16="http://schemas.microsoft.com/office/drawing/2014/main" id="{FBFA28C8-A7CC-8372-6767-042BE89747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04282DF-77B8-BF43-9FAE-C91BB23DD6A5}" type="slidenum">
              <a:rPr lang="en-US" altLang="tr-TR">
                <a:latin typeface="Times" pitchFamily="18" charset="0"/>
                <a:ea typeface="MS PGothic" panose="020B0600070205080204" pitchFamily="34" charset="-128"/>
              </a:rPr>
              <a:pPr/>
              <a:t>53</a:t>
            </a:fld>
            <a:endParaRPr lang="en-US" altLang="tr-TR">
              <a:latin typeface="Times" pitchFamily="18" charset="0"/>
              <a:ea typeface="MS PGothic" panose="020B0600070205080204" pitchFamily="34" charset="-128"/>
            </a:endParaRPr>
          </a:p>
        </p:txBody>
      </p:sp>
      <p:sp>
        <p:nvSpPr>
          <p:cNvPr id="87044" name="Rectangle 2">
            <a:extLst>
              <a:ext uri="{FF2B5EF4-FFF2-40B4-BE49-F238E27FC236}">
                <a16:creationId xmlns:a16="http://schemas.microsoft.com/office/drawing/2014/main" id="{FD09CCD7-C785-C9BF-35D9-A6510DDB94D3}"/>
              </a:ext>
            </a:extLst>
          </p:cNvPr>
          <p:cNvSpPr>
            <a:spLocks noChangeArrowheads="1" noTextEdit="1"/>
          </p:cNvSpPr>
          <p:nvPr>
            <p:ph type="sldImg"/>
          </p:nvPr>
        </p:nvSpPr>
        <p:spPr>
          <a:ln/>
        </p:spPr>
      </p:sp>
      <p:sp>
        <p:nvSpPr>
          <p:cNvPr id="87045" name="Rectangle 3">
            <a:extLst>
              <a:ext uri="{FF2B5EF4-FFF2-40B4-BE49-F238E27FC236}">
                <a16:creationId xmlns:a16="http://schemas.microsoft.com/office/drawing/2014/main" id="{22752DAB-C6C6-E1CD-A71A-8518925E96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tr-TR">
              <a:latin typeface="Times"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ayt Görüntüsü Yer Tutucusu 1">
            <a:extLst>
              <a:ext uri="{FF2B5EF4-FFF2-40B4-BE49-F238E27FC236}">
                <a16:creationId xmlns:a16="http://schemas.microsoft.com/office/drawing/2014/main" id="{C8919E01-E430-2816-68F9-A83BF49A3819}"/>
              </a:ext>
            </a:extLst>
          </p:cNvPr>
          <p:cNvSpPr>
            <a:spLocks noGrp="1" noRot="1" noChangeAspect="1" noChangeArrowheads="1" noTextEdit="1"/>
          </p:cNvSpPr>
          <p:nvPr>
            <p:ph type="sldImg"/>
          </p:nvPr>
        </p:nvSpPr>
        <p:spPr>
          <a:ln/>
        </p:spPr>
      </p:sp>
      <p:sp>
        <p:nvSpPr>
          <p:cNvPr id="89090" name="Not Yer Tutucusu 2">
            <a:extLst>
              <a:ext uri="{FF2B5EF4-FFF2-40B4-BE49-F238E27FC236}">
                <a16:creationId xmlns:a16="http://schemas.microsoft.com/office/drawing/2014/main" id="{49743698-C411-1BE9-1345-F6F6729DA8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tr-TR" altLang="tr-TR">
                <a:latin typeface="Arial" panose="020B0604020202020204" pitchFamily="34" charset="0"/>
              </a:rPr>
              <a:t>Tobacco</a:t>
            </a:r>
          </a:p>
          <a:p>
            <a:r>
              <a:rPr lang="en-US" altLang="tr-TR">
                <a:latin typeface="Arial" panose="020B0604020202020204" pitchFamily="34" charset="0"/>
              </a:rPr>
              <a:t>Cigarette, cigar,  and pipe smoking have been linked to more than a dozen types of cancer, including lung, mouth, bladder, colon, and kidney cancers. Chewing tobacco and snuff increase the risk of oral cancer, and second-hand smoke increases the risk of lung cancer.</a:t>
            </a:r>
            <a:endParaRPr lang="tr-TR" altLang="tr-TR">
              <a:latin typeface="Arial" panose="020B0604020202020204" pitchFamily="34" charset="0"/>
            </a:endParaRPr>
          </a:p>
          <a:p>
            <a:r>
              <a:rPr lang="tr-TR" altLang="tr-TR">
                <a:latin typeface="Arial" panose="020B0604020202020204" pitchFamily="34" charset="0"/>
              </a:rPr>
              <a:t>Here you can see the percent of males and females who smoke cigarette. For males it is abut %50 percent in Turkey and below %20 percent for women</a:t>
            </a:r>
          </a:p>
          <a:p>
            <a:endParaRPr lang="tr-TR" altLang="tr-TR">
              <a:latin typeface="Arial" panose="020B0604020202020204" pitchFamily="34" charset="0"/>
            </a:endParaRPr>
          </a:p>
        </p:txBody>
      </p:sp>
      <p:sp>
        <p:nvSpPr>
          <p:cNvPr id="89091" name="Slayt Numarası Yer Tutucusu 3">
            <a:extLst>
              <a:ext uri="{FF2B5EF4-FFF2-40B4-BE49-F238E27FC236}">
                <a16:creationId xmlns:a16="http://schemas.microsoft.com/office/drawing/2014/main" id="{5474E1F7-ADC5-9CEA-5286-F1B6814616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7EFEE65-C8E4-9449-A9B9-0894B3848DCA}" type="slidenum">
              <a:rPr lang="tr-TR" altLang="tr-TR"/>
              <a:pPr/>
              <a:t>54</a:t>
            </a:fld>
            <a:endParaRPr lang="tr-TR" altLang="tr-T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47D675E6-38E7-6231-DC8C-03CFB4322A6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sz="1100">
                <a:latin typeface="Arial" panose="020B0604020202020204" pitchFamily="34" charset="0"/>
                <a:ea typeface="MS PGothic" panose="020B0600070205080204" pitchFamily="34" charset="-128"/>
              </a:rPr>
              <a:t>National Cancer Institute</a:t>
            </a:r>
            <a:endParaRPr lang="en-US" altLang="tr-TR" sz="1100" b="1">
              <a:latin typeface="Arial" panose="020B0604020202020204" pitchFamily="34" charset="0"/>
              <a:ea typeface="MS PGothic" panose="020B0600070205080204" pitchFamily="34" charset="-128"/>
            </a:endParaRPr>
          </a:p>
          <a:p>
            <a:pPr fontAlgn="base">
              <a:spcBef>
                <a:spcPct val="0"/>
              </a:spcBef>
              <a:spcAft>
                <a:spcPct val="0"/>
              </a:spcAft>
            </a:pPr>
            <a:r>
              <a:rPr lang="en-US" altLang="tr-TR" b="1">
                <a:latin typeface="Arial" panose="020B0604020202020204" pitchFamily="34" charset="0"/>
                <a:ea typeface="MS PGothic" panose="020B0600070205080204" pitchFamily="34" charset="-128"/>
              </a:rPr>
              <a:t>Understanding Cancer and Related Topics  </a:t>
            </a:r>
          </a:p>
          <a:p>
            <a:pPr fontAlgn="base">
              <a:spcBef>
                <a:spcPct val="0"/>
              </a:spcBef>
              <a:spcAft>
                <a:spcPct val="0"/>
              </a:spcAft>
            </a:pPr>
            <a:r>
              <a:rPr lang="en-US" altLang="tr-TR" sz="1400" b="1">
                <a:solidFill>
                  <a:srgbClr val="000000"/>
                </a:solidFill>
                <a:latin typeface="Arial" panose="020B0604020202020204" pitchFamily="34" charset="0"/>
                <a:ea typeface="MS PGothic" panose="020B0600070205080204" pitchFamily="34" charset="-128"/>
              </a:rPr>
              <a:t>Understanding Cancer and the Environment</a:t>
            </a:r>
          </a:p>
        </p:txBody>
      </p:sp>
      <p:sp>
        <p:nvSpPr>
          <p:cNvPr id="103426" name="Rectangle 6">
            <a:extLst>
              <a:ext uri="{FF2B5EF4-FFF2-40B4-BE49-F238E27FC236}">
                <a16:creationId xmlns:a16="http://schemas.microsoft.com/office/drawing/2014/main" id="{16C1A79F-8EE1-A498-8846-B038088E36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tr-TR">
                <a:latin typeface="Times" pitchFamily="18" charset="0"/>
                <a:ea typeface="MS PGothic" panose="020B0600070205080204" pitchFamily="34" charset="-128"/>
              </a:rPr>
              <a:t>NCI Web site: http://cancer.gov/cancertopics/understandingcancer</a:t>
            </a:r>
          </a:p>
        </p:txBody>
      </p:sp>
      <p:sp>
        <p:nvSpPr>
          <p:cNvPr id="103427" name="Rectangle 7">
            <a:extLst>
              <a:ext uri="{FF2B5EF4-FFF2-40B4-BE49-F238E27FC236}">
                <a16:creationId xmlns:a16="http://schemas.microsoft.com/office/drawing/2014/main" id="{8DE90D3B-1850-8D17-7238-5E6A6ECF8A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3309205-1D02-1748-8896-AE6F33B34213}" type="slidenum">
              <a:rPr lang="en-US" altLang="tr-TR">
                <a:latin typeface="Times" pitchFamily="18" charset="0"/>
                <a:ea typeface="MS PGothic" panose="020B0600070205080204" pitchFamily="34" charset="-128"/>
              </a:rPr>
              <a:pPr/>
              <a:t>67</a:t>
            </a:fld>
            <a:endParaRPr lang="en-US" altLang="tr-TR">
              <a:latin typeface="Times" pitchFamily="18" charset="0"/>
              <a:ea typeface="MS PGothic" panose="020B0600070205080204" pitchFamily="34" charset="-128"/>
            </a:endParaRPr>
          </a:p>
        </p:txBody>
      </p:sp>
      <p:sp>
        <p:nvSpPr>
          <p:cNvPr id="103428" name="Rectangle 2">
            <a:extLst>
              <a:ext uri="{FF2B5EF4-FFF2-40B4-BE49-F238E27FC236}">
                <a16:creationId xmlns:a16="http://schemas.microsoft.com/office/drawing/2014/main" id="{3C1C81B6-347B-27CB-A4C8-5A22DBBD3658}"/>
              </a:ext>
            </a:extLst>
          </p:cNvPr>
          <p:cNvSpPr>
            <a:spLocks noChangeArrowheads="1" noTextEdit="1"/>
          </p:cNvSpPr>
          <p:nvPr>
            <p:ph type="sldImg"/>
          </p:nvPr>
        </p:nvSpPr>
        <p:spPr>
          <a:ln/>
        </p:spPr>
      </p:sp>
      <p:sp>
        <p:nvSpPr>
          <p:cNvPr id="103429" name="Rectangle 3">
            <a:extLst>
              <a:ext uri="{FF2B5EF4-FFF2-40B4-BE49-F238E27FC236}">
                <a16:creationId xmlns:a16="http://schemas.microsoft.com/office/drawing/2014/main" id="{6B345B9C-0805-9958-EE20-3FB09316D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tr-TR">
                <a:latin typeface="Times" pitchFamily="18" charset="0"/>
              </a:rPr>
              <a:t>While it is prudent to be aware of environmental exposures to carcinogens, it is also wise to minimize exposures to “avoidable” risk factors.  Three major avoidable factors linked to cancer deaths involve poor behavior choices, so choose well: eliminate use of tobacco products, use alcohol in moderation, and make better dietary choices.   If good behavior choices in these three areas prevailed, approximately half of all cancer deaths could be prevented.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143000" y="1122363"/>
            <a:ext cx="6858000" cy="2387600"/>
          </a:xfrm>
        </p:spPr>
        <p:txBody>
          <a:bodyPr anchor="b"/>
          <a:lstStyle>
            <a:lvl1pPr algn="ctr">
              <a:defRPr sz="4500"/>
            </a:lvl1pPr>
          </a:lstStyle>
          <a:p>
            <a:r>
              <a:rPr lang="tr-TR"/>
              <a:t>Asıl başlık stili için tıklatın</a:t>
            </a:r>
          </a:p>
        </p:txBody>
      </p:sp>
      <p:sp>
        <p:nvSpPr>
          <p:cNvPr id="3" name="Alt Başlık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0E118DC9-F65B-6FA4-542D-82370C9E730F}"/>
              </a:ext>
            </a:extLst>
          </p:cNvPr>
          <p:cNvSpPr>
            <a:spLocks noGrp="1"/>
          </p:cNvSpPr>
          <p:nvPr>
            <p:ph type="dt" sz="half" idx="10"/>
          </p:nvPr>
        </p:nvSpPr>
        <p:spPr/>
        <p:txBody>
          <a:bodyPr/>
          <a:lstStyle>
            <a:lvl1pPr>
              <a:defRPr/>
            </a:lvl1pPr>
          </a:lstStyle>
          <a:p>
            <a:pPr>
              <a:defRPr/>
            </a:pPr>
            <a:endParaRPr lang="tr-TR"/>
          </a:p>
        </p:txBody>
      </p:sp>
      <p:sp>
        <p:nvSpPr>
          <p:cNvPr id="5" name="Altbilgi Yer Tutucusu 4">
            <a:extLst>
              <a:ext uri="{FF2B5EF4-FFF2-40B4-BE49-F238E27FC236}">
                <a16:creationId xmlns:a16="http://schemas.microsoft.com/office/drawing/2014/main" id="{24DDB054-C553-EA29-0C5E-72D53BA1228B}"/>
              </a:ext>
            </a:extLst>
          </p:cNvPr>
          <p:cNvSpPr>
            <a:spLocks noGrp="1"/>
          </p:cNvSpPr>
          <p:nvPr>
            <p:ph type="ftr" sz="quarter" idx="11"/>
          </p:nvPr>
        </p:nvSpPr>
        <p:spPr/>
        <p:txBody>
          <a:bodyPr/>
          <a:lstStyle>
            <a:lvl1pPr>
              <a:defRPr/>
            </a:lvl1pPr>
          </a:lstStyle>
          <a:p>
            <a:pPr>
              <a:defRPr/>
            </a:pPr>
            <a:endParaRPr lang="tr-TR"/>
          </a:p>
        </p:txBody>
      </p:sp>
      <p:sp>
        <p:nvSpPr>
          <p:cNvPr id="6" name="Slayt Numarası Yer Tutucusu 5">
            <a:extLst>
              <a:ext uri="{FF2B5EF4-FFF2-40B4-BE49-F238E27FC236}">
                <a16:creationId xmlns:a16="http://schemas.microsoft.com/office/drawing/2014/main" id="{136A85DB-E863-266C-8095-03C503DD464B}"/>
              </a:ext>
            </a:extLst>
          </p:cNvPr>
          <p:cNvSpPr>
            <a:spLocks noGrp="1"/>
          </p:cNvSpPr>
          <p:nvPr>
            <p:ph type="sldNum" sz="quarter" idx="12"/>
          </p:nvPr>
        </p:nvSpPr>
        <p:spPr/>
        <p:txBody>
          <a:bodyPr/>
          <a:lstStyle>
            <a:lvl1pPr>
              <a:defRPr/>
            </a:lvl1pPr>
          </a:lstStyle>
          <a:p>
            <a:fld id="{8D3721A2-B3AE-1148-AFF5-E63C5AD6C87E}" type="slidenum">
              <a:rPr lang="tr-TR" altLang="tr-TR"/>
              <a:pPr/>
              <a:t>‹#›</a:t>
            </a:fld>
            <a:endParaRPr lang="tr-TR" altLang="tr-TR"/>
          </a:p>
        </p:txBody>
      </p:sp>
    </p:spTree>
    <p:extLst>
      <p:ext uri="{BB962C8B-B14F-4D97-AF65-F5344CB8AC3E}">
        <p14:creationId xmlns:p14="http://schemas.microsoft.com/office/powerpoint/2010/main" val="199917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CE5A39B-30D6-07D4-4DD4-AC15A918BE13}"/>
              </a:ext>
            </a:extLst>
          </p:cNvPr>
          <p:cNvSpPr>
            <a:spLocks noGrp="1"/>
          </p:cNvSpPr>
          <p:nvPr>
            <p:ph type="dt" sz="half" idx="10"/>
          </p:nvPr>
        </p:nvSpPr>
        <p:spPr/>
        <p:txBody>
          <a:bodyPr/>
          <a:lstStyle>
            <a:lvl1pPr>
              <a:defRPr/>
            </a:lvl1pPr>
          </a:lstStyle>
          <a:p>
            <a:pPr>
              <a:defRPr/>
            </a:pPr>
            <a:endParaRPr lang="tr-TR"/>
          </a:p>
        </p:txBody>
      </p:sp>
      <p:sp>
        <p:nvSpPr>
          <p:cNvPr id="5" name="Altbilgi Yer Tutucusu 4">
            <a:extLst>
              <a:ext uri="{FF2B5EF4-FFF2-40B4-BE49-F238E27FC236}">
                <a16:creationId xmlns:a16="http://schemas.microsoft.com/office/drawing/2014/main" id="{277079A1-D53F-347A-C1A1-CDB2B0BA9B52}"/>
              </a:ext>
            </a:extLst>
          </p:cNvPr>
          <p:cNvSpPr>
            <a:spLocks noGrp="1"/>
          </p:cNvSpPr>
          <p:nvPr>
            <p:ph type="ftr" sz="quarter" idx="11"/>
          </p:nvPr>
        </p:nvSpPr>
        <p:spPr/>
        <p:txBody>
          <a:bodyPr/>
          <a:lstStyle>
            <a:lvl1pPr>
              <a:defRPr/>
            </a:lvl1pPr>
          </a:lstStyle>
          <a:p>
            <a:pPr>
              <a:defRPr/>
            </a:pPr>
            <a:endParaRPr lang="tr-TR"/>
          </a:p>
        </p:txBody>
      </p:sp>
      <p:sp>
        <p:nvSpPr>
          <p:cNvPr id="6" name="Slayt Numarası Yer Tutucusu 5">
            <a:extLst>
              <a:ext uri="{FF2B5EF4-FFF2-40B4-BE49-F238E27FC236}">
                <a16:creationId xmlns:a16="http://schemas.microsoft.com/office/drawing/2014/main" id="{4F887166-247E-C91D-FB26-6440C313A7C0}"/>
              </a:ext>
            </a:extLst>
          </p:cNvPr>
          <p:cNvSpPr>
            <a:spLocks noGrp="1"/>
          </p:cNvSpPr>
          <p:nvPr>
            <p:ph type="sldNum" sz="quarter" idx="12"/>
          </p:nvPr>
        </p:nvSpPr>
        <p:spPr/>
        <p:txBody>
          <a:bodyPr/>
          <a:lstStyle>
            <a:lvl1pPr>
              <a:defRPr/>
            </a:lvl1pPr>
          </a:lstStyle>
          <a:p>
            <a:fld id="{334C8A0A-3975-7345-8822-54EA3A7200B7}" type="slidenum">
              <a:rPr lang="tr-TR" altLang="tr-TR"/>
              <a:pPr/>
              <a:t>‹#›</a:t>
            </a:fld>
            <a:endParaRPr lang="tr-TR" altLang="tr-TR"/>
          </a:p>
        </p:txBody>
      </p:sp>
    </p:spTree>
    <p:extLst>
      <p:ext uri="{BB962C8B-B14F-4D97-AF65-F5344CB8AC3E}">
        <p14:creationId xmlns:p14="http://schemas.microsoft.com/office/powerpoint/2010/main" val="2603045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623888" y="1709739"/>
            <a:ext cx="7886700" cy="2852737"/>
          </a:xfrm>
        </p:spPr>
        <p:txBody>
          <a:bodyPr anchor="b"/>
          <a:lstStyle>
            <a:lvl1pPr>
              <a:defRPr sz="4500"/>
            </a:lvl1pPr>
          </a:lstStyle>
          <a:p>
            <a:r>
              <a:rPr lang="tr-TR"/>
              <a:t>Asıl başlık stili için tıklatın</a:t>
            </a:r>
          </a:p>
        </p:txBody>
      </p:sp>
      <p:sp>
        <p:nvSpPr>
          <p:cNvPr id="3" name="Metin Yer Tutucusu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Asıl metin stillerini düzenle</a:t>
            </a:r>
          </a:p>
        </p:txBody>
      </p:sp>
      <p:sp>
        <p:nvSpPr>
          <p:cNvPr id="4" name="Veri Yer Tutucusu 3">
            <a:extLst>
              <a:ext uri="{FF2B5EF4-FFF2-40B4-BE49-F238E27FC236}">
                <a16:creationId xmlns:a16="http://schemas.microsoft.com/office/drawing/2014/main" id="{0BF2D3EF-D470-A63E-6E0B-8F7253879FB1}"/>
              </a:ext>
            </a:extLst>
          </p:cNvPr>
          <p:cNvSpPr>
            <a:spLocks noGrp="1"/>
          </p:cNvSpPr>
          <p:nvPr>
            <p:ph type="dt" sz="half" idx="10"/>
          </p:nvPr>
        </p:nvSpPr>
        <p:spPr/>
        <p:txBody>
          <a:bodyPr/>
          <a:lstStyle>
            <a:lvl1pPr>
              <a:defRPr/>
            </a:lvl1pPr>
          </a:lstStyle>
          <a:p>
            <a:pPr>
              <a:defRPr/>
            </a:pPr>
            <a:endParaRPr lang="tr-TR"/>
          </a:p>
        </p:txBody>
      </p:sp>
      <p:sp>
        <p:nvSpPr>
          <p:cNvPr id="5" name="Altbilgi Yer Tutucusu 4">
            <a:extLst>
              <a:ext uri="{FF2B5EF4-FFF2-40B4-BE49-F238E27FC236}">
                <a16:creationId xmlns:a16="http://schemas.microsoft.com/office/drawing/2014/main" id="{1553B7E3-5CB9-E17F-AF1B-0327BA43763D}"/>
              </a:ext>
            </a:extLst>
          </p:cNvPr>
          <p:cNvSpPr>
            <a:spLocks noGrp="1"/>
          </p:cNvSpPr>
          <p:nvPr>
            <p:ph type="ftr" sz="quarter" idx="11"/>
          </p:nvPr>
        </p:nvSpPr>
        <p:spPr/>
        <p:txBody>
          <a:bodyPr/>
          <a:lstStyle>
            <a:lvl1pPr>
              <a:defRPr/>
            </a:lvl1pPr>
          </a:lstStyle>
          <a:p>
            <a:pPr>
              <a:defRPr/>
            </a:pPr>
            <a:endParaRPr lang="tr-TR"/>
          </a:p>
        </p:txBody>
      </p:sp>
      <p:sp>
        <p:nvSpPr>
          <p:cNvPr id="6" name="Slayt Numarası Yer Tutucusu 5">
            <a:extLst>
              <a:ext uri="{FF2B5EF4-FFF2-40B4-BE49-F238E27FC236}">
                <a16:creationId xmlns:a16="http://schemas.microsoft.com/office/drawing/2014/main" id="{736A0007-6A9C-2C62-67E8-CC1D16967D92}"/>
              </a:ext>
            </a:extLst>
          </p:cNvPr>
          <p:cNvSpPr>
            <a:spLocks noGrp="1"/>
          </p:cNvSpPr>
          <p:nvPr>
            <p:ph type="sldNum" sz="quarter" idx="12"/>
          </p:nvPr>
        </p:nvSpPr>
        <p:spPr/>
        <p:txBody>
          <a:bodyPr/>
          <a:lstStyle>
            <a:lvl1pPr>
              <a:defRPr/>
            </a:lvl1pPr>
          </a:lstStyle>
          <a:p>
            <a:fld id="{2323C9D1-D702-124F-B76A-255057E3A710}" type="slidenum">
              <a:rPr lang="tr-TR" altLang="tr-TR"/>
              <a:pPr/>
              <a:t>‹#›</a:t>
            </a:fld>
            <a:endParaRPr lang="tr-TR" altLang="tr-TR"/>
          </a:p>
        </p:txBody>
      </p:sp>
    </p:spTree>
    <p:extLst>
      <p:ext uri="{BB962C8B-B14F-4D97-AF65-F5344CB8AC3E}">
        <p14:creationId xmlns:p14="http://schemas.microsoft.com/office/powerpoint/2010/main" val="166154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628650" y="1825625"/>
            <a:ext cx="38862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29150" y="1825625"/>
            <a:ext cx="38862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3">
            <a:extLst>
              <a:ext uri="{FF2B5EF4-FFF2-40B4-BE49-F238E27FC236}">
                <a16:creationId xmlns:a16="http://schemas.microsoft.com/office/drawing/2014/main" id="{A95D9E3C-EA76-3C02-E5E1-A021F666E0BB}"/>
              </a:ext>
            </a:extLst>
          </p:cNvPr>
          <p:cNvSpPr>
            <a:spLocks noGrp="1"/>
          </p:cNvSpPr>
          <p:nvPr>
            <p:ph type="dt" sz="half" idx="10"/>
          </p:nvPr>
        </p:nvSpPr>
        <p:spPr/>
        <p:txBody>
          <a:bodyPr/>
          <a:lstStyle>
            <a:lvl1pPr>
              <a:defRPr/>
            </a:lvl1pPr>
          </a:lstStyle>
          <a:p>
            <a:pPr>
              <a:defRPr/>
            </a:pPr>
            <a:endParaRPr lang="tr-TR"/>
          </a:p>
        </p:txBody>
      </p:sp>
      <p:sp>
        <p:nvSpPr>
          <p:cNvPr id="6" name="Altbilgi Yer Tutucusu 4">
            <a:extLst>
              <a:ext uri="{FF2B5EF4-FFF2-40B4-BE49-F238E27FC236}">
                <a16:creationId xmlns:a16="http://schemas.microsoft.com/office/drawing/2014/main" id="{34A1E55B-A295-CBEF-B41C-63C0DD044E56}"/>
              </a:ext>
            </a:extLst>
          </p:cNvPr>
          <p:cNvSpPr>
            <a:spLocks noGrp="1"/>
          </p:cNvSpPr>
          <p:nvPr>
            <p:ph type="ftr" sz="quarter" idx="11"/>
          </p:nvPr>
        </p:nvSpPr>
        <p:spPr/>
        <p:txBody>
          <a:bodyPr/>
          <a:lstStyle>
            <a:lvl1pPr>
              <a:defRPr/>
            </a:lvl1pPr>
          </a:lstStyle>
          <a:p>
            <a:pPr>
              <a:defRPr/>
            </a:pPr>
            <a:endParaRPr lang="tr-TR"/>
          </a:p>
        </p:txBody>
      </p:sp>
      <p:sp>
        <p:nvSpPr>
          <p:cNvPr id="7" name="Slayt Numarası Yer Tutucusu 5">
            <a:extLst>
              <a:ext uri="{FF2B5EF4-FFF2-40B4-BE49-F238E27FC236}">
                <a16:creationId xmlns:a16="http://schemas.microsoft.com/office/drawing/2014/main" id="{6503A886-906E-18AA-706C-90A43D091083}"/>
              </a:ext>
            </a:extLst>
          </p:cNvPr>
          <p:cNvSpPr>
            <a:spLocks noGrp="1"/>
          </p:cNvSpPr>
          <p:nvPr>
            <p:ph type="sldNum" sz="quarter" idx="12"/>
          </p:nvPr>
        </p:nvSpPr>
        <p:spPr/>
        <p:txBody>
          <a:bodyPr/>
          <a:lstStyle>
            <a:lvl1pPr>
              <a:defRPr/>
            </a:lvl1pPr>
          </a:lstStyle>
          <a:p>
            <a:fld id="{5B073519-3EE0-D24B-9783-6DA6FADC0002}" type="slidenum">
              <a:rPr lang="tr-TR" altLang="tr-TR"/>
              <a:pPr/>
              <a:t>‹#›</a:t>
            </a:fld>
            <a:endParaRPr lang="tr-TR" altLang="tr-TR"/>
          </a:p>
        </p:txBody>
      </p:sp>
    </p:spTree>
    <p:extLst>
      <p:ext uri="{BB962C8B-B14F-4D97-AF65-F5344CB8AC3E}">
        <p14:creationId xmlns:p14="http://schemas.microsoft.com/office/powerpoint/2010/main" val="359859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629841" y="365126"/>
            <a:ext cx="7886700" cy="1325563"/>
          </a:xfrm>
        </p:spPr>
        <p:txBody>
          <a:bodyPr/>
          <a:lstStyle/>
          <a:p>
            <a:r>
              <a:rPr lang="tr-TR"/>
              <a:t>Asıl başlık stili için tıklatın</a:t>
            </a:r>
          </a:p>
        </p:txBody>
      </p:sp>
      <p:sp>
        <p:nvSpPr>
          <p:cNvPr id="3" name="Metin Yer Tutucusu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a:t>
            </a:r>
          </a:p>
        </p:txBody>
      </p:sp>
      <p:sp>
        <p:nvSpPr>
          <p:cNvPr id="4" name="İçerik Yer Tutucusu 3"/>
          <p:cNvSpPr>
            <a:spLocks noGrp="1"/>
          </p:cNvSpPr>
          <p:nvPr>
            <p:ph sz="half" idx="2"/>
          </p:nvPr>
        </p:nvSpPr>
        <p:spPr>
          <a:xfrm>
            <a:off x="629842" y="2505075"/>
            <a:ext cx="3868340"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Asıl metin stillerini düzenle</a:t>
            </a:r>
          </a:p>
        </p:txBody>
      </p:sp>
      <p:sp>
        <p:nvSpPr>
          <p:cNvPr id="6" name="İçerik Yer Tutucusu 5"/>
          <p:cNvSpPr>
            <a:spLocks noGrp="1"/>
          </p:cNvSpPr>
          <p:nvPr>
            <p:ph sz="quarter" idx="4"/>
          </p:nvPr>
        </p:nvSpPr>
        <p:spPr>
          <a:xfrm>
            <a:off x="4629150" y="2505075"/>
            <a:ext cx="3887391"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3">
            <a:extLst>
              <a:ext uri="{FF2B5EF4-FFF2-40B4-BE49-F238E27FC236}">
                <a16:creationId xmlns:a16="http://schemas.microsoft.com/office/drawing/2014/main" id="{BEF2D3C4-8085-3E92-3DDA-404E9FE2C644}"/>
              </a:ext>
            </a:extLst>
          </p:cNvPr>
          <p:cNvSpPr>
            <a:spLocks noGrp="1"/>
          </p:cNvSpPr>
          <p:nvPr>
            <p:ph type="dt" sz="half" idx="10"/>
          </p:nvPr>
        </p:nvSpPr>
        <p:spPr/>
        <p:txBody>
          <a:bodyPr/>
          <a:lstStyle>
            <a:lvl1pPr>
              <a:defRPr/>
            </a:lvl1pPr>
          </a:lstStyle>
          <a:p>
            <a:pPr>
              <a:defRPr/>
            </a:pPr>
            <a:endParaRPr lang="tr-TR"/>
          </a:p>
        </p:txBody>
      </p:sp>
      <p:sp>
        <p:nvSpPr>
          <p:cNvPr id="8" name="Altbilgi Yer Tutucusu 4">
            <a:extLst>
              <a:ext uri="{FF2B5EF4-FFF2-40B4-BE49-F238E27FC236}">
                <a16:creationId xmlns:a16="http://schemas.microsoft.com/office/drawing/2014/main" id="{17A0A193-A3FE-E26A-AFF2-3FB2F5C00E39}"/>
              </a:ext>
            </a:extLst>
          </p:cNvPr>
          <p:cNvSpPr>
            <a:spLocks noGrp="1"/>
          </p:cNvSpPr>
          <p:nvPr>
            <p:ph type="ftr" sz="quarter" idx="11"/>
          </p:nvPr>
        </p:nvSpPr>
        <p:spPr/>
        <p:txBody>
          <a:bodyPr/>
          <a:lstStyle>
            <a:lvl1pPr>
              <a:defRPr/>
            </a:lvl1pPr>
          </a:lstStyle>
          <a:p>
            <a:pPr>
              <a:defRPr/>
            </a:pPr>
            <a:endParaRPr lang="tr-TR"/>
          </a:p>
        </p:txBody>
      </p:sp>
      <p:sp>
        <p:nvSpPr>
          <p:cNvPr id="9" name="Slayt Numarası Yer Tutucusu 5">
            <a:extLst>
              <a:ext uri="{FF2B5EF4-FFF2-40B4-BE49-F238E27FC236}">
                <a16:creationId xmlns:a16="http://schemas.microsoft.com/office/drawing/2014/main" id="{BF1E6C3B-0795-BB2A-62C1-83455CE1350E}"/>
              </a:ext>
            </a:extLst>
          </p:cNvPr>
          <p:cNvSpPr>
            <a:spLocks noGrp="1"/>
          </p:cNvSpPr>
          <p:nvPr>
            <p:ph type="sldNum" sz="quarter" idx="12"/>
          </p:nvPr>
        </p:nvSpPr>
        <p:spPr/>
        <p:txBody>
          <a:bodyPr/>
          <a:lstStyle>
            <a:lvl1pPr>
              <a:defRPr/>
            </a:lvl1pPr>
          </a:lstStyle>
          <a:p>
            <a:fld id="{B96EA1E8-21C4-7644-AAEE-B49ACEFEDF77}" type="slidenum">
              <a:rPr lang="tr-TR" altLang="tr-TR"/>
              <a:pPr/>
              <a:t>‹#›</a:t>
            </a:fld>
            <a:endParaRPr lang="tr-TR" altLang="tr-TR"/>
          </a:p>
        </p:txBody>
      </p:sp>
    </p:spTree>
    <p:extLst>
      <p:ext uri="{BB962C8B-B14F-4D97-AF65-F5344CB8AC3E}">
        <p14:creationId xmlns:p14="http://schemas.microsoft.com/office/powerpoint/2010/main" val="60388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3">
            <a:extLst>
              <a:ext uri="{FF2B5EF4-FFF2-40B4-BE49-F238E27FC236}">
                <a16:creationId xmlns:a16="http://schemas.microsoft.com/office/drawing/2014/main" id="{B7F8FCD3-4EAE-7B6F-6AC0-BB1F07B59AFC}"/>
              </a:ext>
            </a:extLst>
          </p:cNvPr>
          <p:cNvSpPr>
            <a:spLocks noGrp="1"/>
          </p:cNvSpPr>
          <p:nvPr>
            <p:ph type="dt" sz="half" idx="10"/>
          </p:nvPr>
        </p:nvSpPr>
        <p:spPr/>
        <p:txBody>
          <a:bodyPr/>
          <a:lstStyle>
            <a:lvl1pPr>
              <a:defRPr/>
            </a:lvl1pPr>
          </a:lstStyle>
          <a:p>
            <a:pPr>
              <a:defRPr/>
            </a:pPr>
            <a:endParaRPr lang="tr-TR"/>
          </a:p>
        </p:txBody>
      </p:sp>
      <p:sp>
        <p:nvSpPr>
          <p:cNvPr id="4" name="Altbilgi Yer Tutucusu 4">
            <a:extLst>
              <a:ext uri="{FF2B5EF4-FFF2-40B4-BE49-F238E27FC236}">
                <a16:creationId xmlns:a16="http://schemas.microsoft.com/office/drawing/2014/main" id="{E0A59D2C-4FF8-5943-3CD0-D81C5F639045}"/>
              </a:ext>
            </a:extLst>
          </p:cNvPr>
          <p:cNvSpPr>
            <a:spLocks noGrp="1"/>
          </p:cNvSpPr>
          <p:nvPr>
            <p:ph type="ftr" sz="quarter" idx="11"/>
          </p:nvPr>
        </p:nvSpPr>
        <p:spPr/>
        <p:txBody>
          <a:bodyPr/>
          <a:lstStyle>
            <a:lvl1pPr>
              <a:defRPr/>
            </a:lvl1pPr>
          </a:lstStyle>
          <a:p>
            <a:pPr>
              <a:defRPr/>
            </a:pPr>
            <a:endParaRPr lang="tr-TR"/>
          </a:p>
        </p:txBody>
      </p:sp>
      <p:sp>
        <p:nvSpPr>
          <p:cNvPr id="5" name="Slayt Numarası Yer Tutucusu 5">
            <a:extLst>
              <a:ext uri="{FF2B5EF4-FFF2-40B4-BE49-F238E27FC236}">
                <a16:creationId xmlns:a16="http://schemas.microsoft.com/office/drawing/2014/main" id="{F95BAF05-9167-CEC1-8294-EBDF57E3F429}"/>
              </a:ext>
            </a:extLst>
          </p:cNvPr>
          <p:cNvSpPr>
            <a:spLocks noGrp="1"/>
          </p:cNvSpPr>
          <p:nvPr>
            <p:ph type="sldNum" sz="quarter" idx="12"/>
          </p:nvPr>
        </p:nvSpPr>
        <p:spPr/>
        <p:txBody>
          <a:bodyPr/>
          <a:lstStyle>
            <a:lvl1pPr>
              <a:defRPr/>
            </a:lvl1pPr>
          </a:lstStyle>
          <a:p>
            <a:fld id="{8D9CFD20-C94B-F84C-BA38-EDCF19F4B2BD}" type="slidenum">
              <a:rPr lang="tr-TR" altLang="tr-TR"/>
              <a:pPr/>
              <a:t>‹#›</a:t>
            </a:fld>
            <a:endParaRPr lang="tr-TR" altLang="tr-TR"/>
          </a:p>
        </p:txBody>
      </p:sp>
    </p:spTree>
    <p:extLst>
      <p:ext uri="{BB962C8B-B14F-4D97-AF65-F5344CB8AC3E}">
        <p14:creationId xmlns:p14="http://schemas.microsoft.com/office/powerpoint/2010/main" val="384642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a:extLst>
              <a:ext uri="{FF2B5EF4-FFF2-40B4-BE49-F238E27FC236}">
                <a16:creationId xmlns:a16="http://schemas.microsoft.com/office/drawing/2014/main" id="{0D2525BD-7832-8203-E597-7DE72ACB08C4}"/>
              </a:ext>
            </a:extLst>
          </p:cNvPr>
          <p:cNvSpPr>
            <a:spLocks noGrp="1"/>
          </p:cNvSpPr>
          <p:nvPr>
            <p:ph type="dt" sz="half" idx="10"/>
          </p:nvPr>
        </p:nvSpPr>
        <p:spPr/>
        <p:txBody>
          <a:bodyPr/>
          <a:lstStyle>
            <a:lvl1pPr>
              <a:defRPr/>
            </a:lvl1pPr>
          </a:lstStyle>
          <a:p>
            <a:pPr>
              <a:defRPr/>
            </a:pPr>
            <a:endParaRPr lang="tr-TR"/>
          </a:p>
        </p:txBody>
      </p:sp>
      <p:sp>
        <p:nvSpPr>
          <p:cNvPr id="3" name="Altbilgi Yer Tutucusu 4">
            <a:extLst>
              <a:ext uri="{FF2B5EF4-FFF2-40B4-BE49-F238E27FC236}">
                <a16:creationId xmlns:a16="http://schemas.microsoft.com/office/drawing/2014/main" id="{B09B0E43-6E5E-7043-60B1-C8EB9329919C}"/>
              </a:ext>
            </a:extLst>
          </p:cNvPr>
          <p:cNvSpPr>
            <a:spLocks noGrp="1"/>
          </p:cNvSpPr>
          <p:nvPr>
            <p:ph type="ftr" sz="quarter" idx="11"/>
          </p:nvPr>
        </p:nvSpPr>
        <p:spPr/>
        <p:txBody>
          <a:bodyPr/>
          <a:lstStyle>
            <a:lvl1pPr>
              <a:defRPr/>
            </a:lvl1pPr>
          </a:lstStyle>
          <a:p>
            <a:pPr>
              <a:defRPr/>
            </a:pPr>
            <a:endParaRPr lang="tr-TR"/>
          </a:p>
        </p:txBody>
      </p:sp>
      <p:sp>
        <p:nvSpPr>
          <p:cNvPr id="4" name="Slayt Numarası Yer Tutucusu 5">
            <a:extLst>
              <a:ext uri="{FF2B5EF4-FFF2-40B4-BE49-F238E27FC236}">
                <a16:creationId xmlns:a16="http://schemas.microsoft.com/office/drawing/2014/main" id="{5A30F92A-D893-8E3C-2B72-24B5BD2E1372}"/>
              </a:ext>
            </a:extLst>
          </p:cNvPr>
          <p:cNvSpPr>
            <a:spLocks noGrp="1"/>
          </p:cNvSpPr>
          <p:nvPr>
            <p:ph type="sldNum" sz="quarter" idx="12"/>
          </p:nvPr>
        </p:nvSpPr>
        <p:spPr/>
        <p:txBody>
          <a:bodyPr/>
          <a:lstStyle>
            <a:lvl1pPr>
              <a:defRPr/>
            </a:lvl1pPr>
          </a:lstStyle>
          <a:p>
            <a:fld id="{F5B0DA43-A132-4540-8130-5DF8FA47BE96}" type="slidenum">
              <a:rPr lang="tr-TR" altLang="tr-TR"/>
              <a:pPr/>
              <a:t>‹#›</a:t>
            </a:fld>
            <a:endParaRPr lang="tr-TR" altLang="tr-TR"/>
          </a:p>
        </p:txBody>
      </p:sp>
    </p:spTree>
    <p:extLst>
      <p:ext uri="{BB962C8B-B14F-4D97-AF65-F5344CB8AC3E}">
        <p14:creationId xmlns:p14="http://schemas.microsoft.com/office/powerpoint/2010/main" val="3527605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629841" y="457200"/>
            <a:ext cx="2949178" cy="1600200"/>
          </a:xfrm>
        </p:spPr>
        <p:txBody>
          <a:bodyPr anchor="b"/>
          <a:lstStyle>
            <a:lvl1pPr>
              <a:defRPr sz="2400"/>
            </a:lvl1pPr>
          </a:lstStyle>
          <a:p>
            <a:r>
              <a:rPr lang="tr-TR"/>
              <a:t>Asıl başlık stili için tıklatın</a:t>
            </a:r>
          </a:p>
        </p:txBody>
      </p:sp>
      <p:sp>
        <p:nvSpPr>
          <p:cNvPr id="3" name="İçerik Yer Tutucusu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Asıl metin stillerini düzenle</a:t>
            </a:r>
          </a:p>
        </p:txBody>
      </p:sp>
      <p:sp>
        <p:nvSpPr>
          <p:cNvPr id="5" name="Veri Yer Tutucusu 3">
            <a:extLst>
              <a:ext uri="{FF2B5EF4-FFF2-40B4-BE49-F238E27FC236}">
                <a16:creationId xmlns:a16="http://schemas.microsoft.com/office/drawing/2014/main" id="{E2C97AB4-B20B-49D7-F402-5D34EB95369C}"/>
              </a:ext>
            </a:extLst>
          </p:cNvPr>
          <p:cNvSpPr>
            <a:spLocks noGrp="1"/>
          </p:cNvSpPr>
          <p:nvPr>
            <p:ph type="dt" sz="half" idx="10"/>
          </p:nvPr>
        </p:nvSpPr>
        <p:spPr/>
        <p:txBody>
          <a:bodyPr/>
          <a:lstStyle>
            <a:lvl1pPr>
              <a:defRPr/>
            </a:lvl1pPr>
          </a:lstStyle>
          <a:p>
            <a:pPr>
              <a:defRPr/>
            </a:pPr>
            <a:endParaRPr lang="tr-TR"/>
          </a:p>
        </p:txBody>
      </p:sp>
      <p:sp>
        <p:nvSpPr>
          <p:cNvPr id="6" name="Altbilgi Yer Tutucusu 4">
            <a:extLst>
              <a:ext uri="{FF2B5EF4-FFF2-40B4-BE49-F238E27FC236}">
                <a16:creationId xmlns:a16="http://schemas.microsoft.com/office/drawing/2014/main" id="{32C110D5-89B2-061D-3DEE-DC4B41E2034D}"/>
              </a:ext>
            </a:extLst>
          </p:cNvPr>
          <p:cNvSpPr>
            <a:spLocks noGrp="1"/>
          </p:cNvSpPr>
          <p:nvPr>
            <p:ph type="ftr" sz="quarter" idx="11"/>
          </p:nvPr>
        </p:nvSpPr>
        <p:spPr/>
        <p:txBody>
          <a:bodyPr/>
          <a:lstStyle>
            <a:lvl1pPr>
              <a:defRPr/>
            </a:lvl1pPr>
          </a:lstStyle>
          <a:p>
            <a:pPr>
              <a:defRPr/>
            </a:pPr>
            <a:endParaRPr lang="tr-TR"/>
          </a:p>
        </p:txBody>
      </p:sp>
      <p:sp>
        <p:nvSpPr>
          <p:cNvPr id="7" name="Slayt Numarası Yer Tutucusu 5">
            <a:extLst>
              <a:ext uri="{FF2B5EF4-FFF2-40B4-BE49-F238E27FC236}">
                <a16:creationId xmlns:a16="http://schemas.microsoft.com/office/drawing/2014/main" id="{250D5FF2-C54F-2331-E5C9-5BF44A40CCC8}"/>
              </a:ext>
            </a:extLst>
          </p:cNvPr>
          <p:cNvSpPr>
            <a:spLocks noGrp="1"/>
          </p:cNvSpPr>
          <p:nvPr>
            <p:ph type="sldNum" sz="quarter" idx="12"/>
          </p:nvPr>
        </p:nvSpPr>
        <p:spPr/>
        <p:txBody>
          <a:bodyPr/>
          <a:lstStyle>
            <a:lvl1pPr>
              <a:defRPr/>
            </a:lvl1pPr>
          </a:lstStyle>
          <a:p>
            <a:fld id="{4B83CF8A-36D9-0345-89A5-E4DBB89CC3D5}" type="slidenum">
              <a:rPr lang="tr-TR" altLang="tr-TR"/>
              <a:pPr/>
              <a:t>‹#›</a:t>
            </a:fld>
            <a:endParaRPr lang="tr-TR" altLang="tr-TR"/>
          </a:p>
        </p:txBody>
      </p:sp>
    </p:spTree>
    <p:extLst>
      <p:ext uri="{BB962C8B-B14F-4D97-AF65-F5344CB8AC3E}">
        <p14:creationId xmlns:p14="http://schemas.microsoft.com/office/powerpoint/2010/main" val="3641580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629841" y="457200"/>
            <a:ext cx="2949178" cy="1600200"/>
          </a:xfrm>
        </p:spPr>
        <p:txBody>
          <a:bodyPr anchor="b"/>
          <a:lstStyle>
            <a:lvl1pPr>
              <a:defRPr sz="2400"/>
            </a:lvl1pPr>
          </a:lstStyle>
          <a:p>
            <a:r>
              <a:rPr lang="tr-TR"/>
              <a:t>Asıl başlık stili için tıklatın</a:t>
            </a:r>
          </a:p>
        </p:txBody>
      </p:sp>
      <p:sp>
        <p:nvSpPr>
          <p:cNvPr id="3" name="Resim Yer Tutucusu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tr-TR" noProof="0"/>
          </a:p>
        </p:txBody>
      </p:sp>
      <p:sp>
        <p:nvSpPr>
          <p:cNvPr id="4" name="Metin Yer Tutucus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Asıl metin stillerini düzenle</a:t>
            </a:r>
          </a:p>
        </p:txBody>
      </p:sp>
      <p:sp>
        <p:nvSpPr>
          <p:cNvPr id="5" name="Veri Yer Tutucusu 3">
            <a:extLst>
              <a:ext uri="{FF2B5EF4-FFF2-40B4-BE49-F238E27FC236}">
                <a16:creationId xmlns:a16="http://schemas.microsoft.com/office/drawing/2014/main" id="{6CEF9E2E-0560-76C2-85A9-7F1C8F6C6E03}"/>
              </a:ext>
            </a:extLst>
          </p:cNvPr>
          <p:cNvSpPr>
            <a:spLocks noGrp="1"/>
          </p:cNvSpPr>
          <p:nvPr>
            <p:ph type="dt" sz="half" idx="10"/>
          </p:nvPr>
        </p:nvSpPr>
        <p:spPr/>
        <p:txBody>
          <a:bodyPr/>
          <a:lstStyle>
            <a:lvl1pPr>
              <a:defRPr/>
            </a:lvl1pPr>
          </a:lstStyle>
          <a:p>
            <a:pPr>
              <a:defRPr/>
            </a:pPr>
            <a:endParaRPr lang="tr-TR"/>
          </a:p>
        </p:txBody>
      </p:sp>
      <p:sp>
        <p:nvSpPr>
          <p:cNvPr id="6" name="Altbilgi Yer Tutucusu 4">
            <a:extLst>
              <a:ext uri="{FF2B5EF4-FFF2-40B4-BE49-F238E27FC236}">
                <a16:creationId xmlns:a16="http://schemas.microsoft.com/office/drawing/2014/main" id="{04BAE2AF-DEB7-6738-9719-FC8A9D89098B}"/>
              </a:ext>
            </a:extLst>
          </p:cNvPr>
          <p:cNvSpPr>
            <a:spLocks noGrp="1"/>
          </p:cNvSpPr>
          <p:nvPr>
            <p:ph type="ftr" sz="quarter" idx="11"/>
          </p:nvPr>
        </p:nvSpPr>
        <p:spPr/>
        <p:txBody>
          <a:bodyPr/>
          <a:lstStyle>
            <a:lvl1pPr>
              <a:defRPr/>
            </a:lvl1pPr>
          </a:lstStyle>
          <a:p>
            <a:pPr>
              <a:defRPr/>
            </a:pPr>
            <a:endParaRPr lang="tr-TR"/>
          </a:p>
        </p:txBody>
      </p:sp>
      <p:sp>
        <p:nvSpPr>
          <p:cNvPr id="7" name="Slayt Numarası Yer Tutucusu 5">
            <a:extLst>
              <a:ext uri="{FF2B5EF4-FFF2-40B4-BE49-F238E27FC236}">
                <a16:creationId xmlns:a16="http://schemas.microsoft.com/office/drawing/2014/main" id="{D8FB12F8-F5DD-151B-35CE-D90B6AE3E993}"/>
              </a:ext>
            </a:extLst>
          </p:cNvPr>
          <p:cNvSpPr>
            <a:spLocks noGrp="1"/>
          </p:cNvSpPr>
          <p:nvPr>
            <p:ph type="sldNum" sz="quarter" idx="12"/>
          </p:nvPr>
        </p:nvSpPr>
        <p:spPr/>
        <p:txBody>
          <a:bodyPr/>
          <a:lstStyle>
            <a:lvl1pPr>
              <a:defRPr/>
            </a:lvl1pPr>
          </a:lstStyle>
          <a:p>
            <a:fld id="{EF8D28F9-4AA4-F349-94EE-A7D07CB55406}" type="slidenum">
              <a:rPr lang="tr-TR" altLang="tr-TR"/>
              <a:pPr/>
              <a:t>‹#›</a:t>
            </a:fld>
            <a:endParaRPr lang="tr-TR" altLang="tr-TR"/>
          </a:p>
        </p:txBody>
      </p:sp>
    </p:spTree>
    <p:extLst>
      <p:ext uri="{BB962C8B-B14F-4D97-AF65-F5344CB8AC3E}">
        <p14:creationId xmlns:p14="http://schemas.microsoft.com/office/powerpoint/2010/main" val="938740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2AEBF31-5199-C800-B31A-3D9D4229FA22}"/>
              </a:ext>
            </a:extLst>
          </p:cNvPr>
          <p:cNvSpPr>
            <a:spLocks noGrp="1"/>
          </p:cNvSpPr>
          <p:nvPr>
            <p:ph type="dt" sz="half" idx="10"/>
          </p:nvPr>
        </p:nvSpPr>
        <p:spPr/>
        <p:txBody>
          <a:bodyPr/>
          <a:lstStyle>
            <a:lvl1pPr>
              <a:defRPr/>
            </a:lvl1pPr>
          </a:lstStyle>
          <a:p>
            <a:pPr>
              <a:defRPr/>
            </a:pPr>
            <a:endParaRPr lang="tr-TR"/>
          </a:p>
        </p:txBody>
      </p:sp>
      <p:sp>
        <p:nvSpPr>
          <p:cNvPr id="5" name="Altbilgi Yer Tutucusu 4">
            <a:extLst>
              <a:ext uri="{FF2B5EF4-FFF2-40B4-BE49-F238E27FC236}">
                <a16:creationId xmlns:a16="http://schemas.microsoft.com/office/drawing/2014/main" id="{5B6F6904-D6ED-B75B-8EBD-D104275B23A2}"/>
              </a:ext>
            </a:extLst>
          </p:cNvPr>
          <p:cNvSpPr>
            <a:spLocks noGrp="1"/>
          </p:cNvSpPr>
          <p:nvPr>
            <p:ph type="ftr" sz="quarter" idx="11"/>
          </p:nvPr>
        </p:nvSpPr>
        <p:spPr/>
        <p:txBody>
          <a:bodyPr/>
          <a:lstStyle>
            <a:lvl1pPr>
              <a:defRPr/>
            </a:lvl1pPr>
          </a:lstStyle>
          <a:p>
            <a:pPr>
              <a:defRPr/>
            </a:pPr>
            <a:endParaRPr lang="tr-TR"/>
          </a:p>
        </p:txBody>
      </p:sp>
      <p:sp>
        <p:nvSpPr>
          <p:cNvPr id="6" name="Slayt Numarası Yer Tutucusu 5">
            <a:extLst>
              <a:ext uri="{FF2B5EF4-FFF2-40B4-BE49-F238E27FC236}">
                <a16:creationId xmlns:a16="http://schemas.microsoft.com/office/drawing/2014/main" id="{74295192-2371-E63C-9B34-53D18552409C}"/>
              </a:ext>
            </a:extLst>
          </p:cNvPr>
          <p:cNvSpPr>
            <a:spLocks noGrp="1"/>
          </p:cNvSpPr>
          <p:nvPr>
            <p:ph type="sldNum" sz="quarter" idx="12"/>
          </p:nvPr>
        </p:nvSpPr>
        <p:spPr/>
        <p:txBody>
          <a:bodyPr/>
          <a:lstStyle>
            <a:lvl1pPr>
              <a:defRPr/>
            </a:lvl1pPr>
          </a:lstStyle>
          <a:p>
            <a:fld id="{53E87DC1-6D43-0A43-B76C-68BE5D388EEE}" type="slidenum">
              <a:rPr lang="tr-TR" altLang="tr-TR"/>
              <a:pPr/>
              <a:t>‹#›</a:t>
            </a:fld>
            <a:endParaRPr lang="tr-TR" altLang="tr-TR"/>
          </a:p>
        </p:txBody>
      </p:sp>
    </p:spTree>
    <p:extLst>
      <p:ext uri="{BB962C8B-B14F-4D97-AF65-F5344CB8AC3E}">
        <p14:creationId xmlns:p14="http://schemas.microsoft.com/office/powerpoint/2010/main" val="3670769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543675" y="365125"/>
            <a:ext cx="1971675"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628650" y="365125"/>
            <a:ext cx="58007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C80F193-A022-B63E-7744-8E22373110F3}"/>
              </a:ext>
            </a:extLst>
          </p:cNvPr>
          <p:cNvSpPr>
            <a:spLocks noGrp="1"/>
          </p:cNvSpPr>
          <p:nvPr>
            <p:ph type="dt" sz="half" idx="10"/>
          </p:nvPr>
        </p:nvSpPr>
        <p:spPr/>
        <p:txBody>
          <a:bodyPr/>
          <a:lstStyle>
            <a:lvl1pPr>
              <a:defRPr/>
            </a:lvl1pPr>
          </a:lstStyle>
          <a:p>
            <a:pPr>
              <a:defRPr/>
            </a:pPr>
            <a:endParaRPr lang="tr-TR"/>
          </a:p>
        </p:txBody>
      </p:sp>
      <p:sp>
        <p:nvSpPr>
          <p:cNvPr id="5" name="Altbilgi Yer Tutucusu 4">
            <a:extLst>
              <a:ext uri="{FF2B5EF4-FFF2-40B4-BE49-F238E27FC236}">
                <a16:creationId xmlns:a16="http://schemas.microsoft.com/office/drawing/2014/main" id="{077ADDFC-FE1D-1173-F007-A76D0322DEC8}"/>
              </a:ext>
            </a:extLst>
          </p:cNvPr>
          <p:cNvSpPr>
            <a:spLocks noGrp="1"/>
          </p:cNvSpPr>
          <p:nvPr>
            <p:ph type="ftr" sz="quarter" idx="11"/>
          </p:nvPr>
        </p:nvSpPr>
        <p:spPr/>
        <p:txBody>
          <a:bodyPr/>
          <a:lstStyle>
            <a:lvl1pPr>
              <a:defRPr/>
            </a:lvl1pPr>
          </a:lstStyle>
          <a:p>
            <a:pPr>
              <a:defRPr/>
            </a:pPr>
            <a:endParaRPr lang="tr-TR"/>
          </a:p>
        </p:txBody>
      </p:sp>
      <p:sp>
        <p:nvSpPr>
          <p:cNvPr id="6" name="Slayt Numarası Yer Tutucusu 5">
            <a:extLst>
              <a:ext uri="{FF2B5EF4-FFF2-40B4-BE49-F238E27FC236}">
                <a16:creationId xmlns:a16="http://schemas.microsoft.com/office/drawing/2014/main" id="{3D20C17B-F30A-2448-FF3E-44DFAE5653AC}"/>
              </a:ext>
            </a:extLst>
          </p:cNvPr>
          <p:cNvSpPr>
            <a:spLocks noGrp="1"/>
          </p:cNvSpPr>
          <p:nvPr>
            <p:ph type="sldNum" sz="quarter" idx="12"/>
          </p:nvPr>
        </p:nvSpPr>
        <p:spPr/>
        <p:txBody>
          <a:bodyPr/>
          <a:lstStyle>
            <a:lvl1pPr>
              <a:defRPr/>
            </a:lvl1pPr>
          </a:lstStyle>
          <a:p>
            <a:fld id="{8C3D745E-7FB2-F640-8939-8125EE2F09D9}" type="slidenum">
              <a:rPr lang="tr-TR" altLang="tr-TR"/>
              <a:pPr/>
              <a:t>‹#›</a:t>
            </a:fld>
            <a:endParaRPr lang="tr-TR" altLang="tr-TR"/>
          </a:p>
        </p:txBody>
      </p:sp>
    </p:spTree>
    <p:extLst>
      <p:ext uri="{BB962C8B-B14F-4D97-AF65-F5344CB8AC3E}">
        <p14:creationId xmlns:p14="http://schemas.microsoft.com/office/powerpoint/2010/main" val="399341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cSld name="Başlık, Grafik ve Metin">
    <p:spTree>
      <p:nvGrpSpPr>
        <p:cNvPr id="1" name=""/>
        <p:cNvGrpSpPr/>
        <p:nvPr/>
      </p:nvGrpSpPr>
      <p:grpSpPr>
        <a:xfrm>
          <a:off x="0" y="0"/>
          <a:ext cx="0" cy="0"/>
          <a:chOff x="0" y="0"/>
          <a:chExt cx="0" cy="0"/>
        </a:xfrm>
      </p:grpSpPr>
      <p:sp>
        <p:nvSpPr>
          <p:cNvPr id="2" name="Başlık 1"/>
          <p:cNvSpPr>
            <a:spLocks noGrp="1"/>
          </p:cNvSpPr>
          <p:nvPr>
            <p:ph type="title"/>
          </p:nvPr>
        </p:nvSpPr>
        <p:spPr>
          <a:xfrm>
            <a:off x="228600" y="457200"/>
            <a:ext cx="7772400" cy="1143000"/>
          </a:xfrm>
        </p:spPr>
        <p:txBody>
          <a:bodyPr/>
          <a:lstStyle/>
          <a:p>
            <a:r>
              <a:rPr lang="tr-TR"/>
              <a:t>Asıl başlık stili için tıklatın</a:t>
            </a:r>
          </a:p>
        </p:txBody>
      </p:sp>
      <p:sp>
        <p:nvSpPr>
          <p:cNvPr id="3" name="Grafik Yer Tutucusu 2"/>
          <p:cNvSpPr>
            <a:spLocks noGrp="1"/>
          </p:cNvSpPr>
          <p:nvPr>
            <p:ph type="chart" sz="half" idx="1"/>
          </p:nvPr>
        </p:nvSpPr>
        <p:spPr>
          <a:xfrm>
            <a:off x="685800" y="1981200"/>
            <a:ext cx="3810000" cy="4114800"/>
          </a:xfrm>
        </p:spPr>
        <p:txBody>
          <a:bodyPr rtlCol="0">
            <a:normAutofit/>
          </a:bodyPr>
          <a:lstStyle/>
          <a:p>
            <a:pPr lvl="0"/>
            <a:endParaRPr lang="tr-TR" noProof="0"/>
          </a:p>
        </p:txBody>
      </p:sp>
      <p:sp>
        <p:nvSpPr>
          <p:cNvPr id="4" name="Metin Yer Tutucusu 3"/>
          <p:cNvSpPr>
            <a:spLocks noGrp="1"/>
          </p:cNvSpPr>
          <p:nvPr>
            <p:ph type="body" sz="half" idx="2"/>
          </p:nvPr>
        </p:nvSpPr>
        <p:spPr>
          <a:xfrm>
            <a:off x="4648200" y="1981200"/>
            <a:ext cx="3810000" cy="41148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a:extLst>
              <a:ext uri="{FF2B5EF4-FFF2-40B4-BE49-F238E27FC236}">
                <a16:creationId xmlns:a16="http://schemas.microsoft.com/office/drawing/2014/main" id="{1364B7A8-9086-092A-AC09-C914A39342FF}"/>
              </a:ext>
            </a:extLst>
          </p:cNvPr>
          <p:cNvSpPr>
            <a:spLocks noGrp="1" noChangeArrowheads="1"/>
          </p:cNvSpPr>
          <p:nvPr>
            <p:ph type="dt" sz="half" idx="10"/>
          </p:nvPr>
        </p:nvSpPr>
        <p:spPr>
          <a:xfrm>
            <a:off x="457200" y="6245225"/>
            <a:ext cx="2133600" cy="476250"/>
          </a:xfrm>
        </p:spPr>
        <p:txBody>
          <a:bodyPr/>
          <a:lstStyle>
            <a:lvl1pPr>
              <a:defRPr/>
            </a:lvl1pPr>
          </a:lstStyle>
          <a:p>
            <a:pPr>
              <a:defRPr/>
            </a:pPr>
            <a:endParaRPr lang="en-US" altLang="tr-TR"/>
          </a:p>
        </p:txBody>
      </p:sp>
      <p:sp>
        <p:nvSpPr>
          <p:cNvPr id="6" name="Rectangle 5">
            <a:extLst>
              <a:ext uri="{FF2B5EF4-FFF2-40B4-BE49-F238E27FC236}">
                <a16:creationId xmlns:a16="http://schemas.microsoft.com/office/drawing/2014/main" id="{F363EB3A-5F01-9DA5-065C-3140A66DC23A}"/>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tr-TR"/>
          </a:p>
        </p:txBody>
      </p:sp>
      <p:sp>
        <p:nvSpPr>
          <p:cNvPr id="7" name="Rectangle 6">
            <a:extLst>
              <a:ext uri="{FF2B5EF4-FFF2-40B4-BE49-F238E27FC236}">
                <a16:creationId xmlns:a16="http://schemas.microsoft.com/office/drawing/2014/main" id="{40263C2F-D15B-07B0-7BD9-DE35812C0565}"/>
              </a:ext>
            </a:extLst>
          </p:cNvPr>
          <p:cNvSpPr>
            <a:spLocks noGrp="1" noChangeArrowheads="1"/>
          </p:cNvSpPr>
          <p:nvPr>
            <p:ph type="sldNum" sz="quarter" idx="12"/>
          </p:nvPr>
        </p:nvSpPr>
        <p:spPr>
          <a:xfrm>
            <a:off x="6553200" y="6245225"/>
            <a:ext cx="2133600" cy="476250"/>
          </a:xfrm>
        </p:spPr>
        <p:txBody>
          <a:bodyPr/>
          <a:lstStyle>
            <a:lvl1pPr>
              <a:defRPr/>
            </a:lvl1pPr>
          </a:lstStyle>
          <a:p>
            <a:fld id="{C314056E-6D9D-714B-BD43-443F6F9848A6}" type="slidenum">
              <a:rPr lang="en-US" altLang="tr-TR"/>
              <a:pPr/>
              <a:t>‹#›</a:t>
            </a:fld>
            <a:endParaRPr lang="en-US" altLang="tr-TR"/>
          </a:p>
        </p:txBody>
      </p:sp>
    </p:spTree>
    <p:extLst>
      <p:ext uri="{BB962C8B-B14F-4D97-AF65-F5344CB8AC3E}">
        <p14:creationId xmlns:p14="http://schemas.microsoft.com/office/powerpoint/2010/main" val="410829195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Başlık, Metin ve Grafik">
    <p:spTree>
      <p:nvGrpSpPr>
        <p:cNvPr id="1" name=""/>
        <p:cNvGrpSpPr/>
        <p:nvPr/>
      </p:nvGrpSpPr>
      <p:grpSpPr>
        <a:xfrm>
          <a:off x="0" y="0"/>
          <a:ext cx="0" cy="0"/>
          <a:chOff x="0" y="0"/>
          <a:chExt cx="0" cy="0"/>
        </a:xfrm>
      </p:grpSpPr>
      <p:sp>
        <p:nvSpPr>
          <p:cNvPr id="2" name="Başlık 1"/>
          <p:cNvSpPr>
            <a:spLocks noGrp="1"/>
          </p:cNvSpPr>
          <p:nvPr>
            <p:ph type="title"/>
          </p:nvPr>
        </p:nvSpPr>
        <p:spPr>
          <a:xfrm>
            <a:off x="228600" y="457200"/>
            <a:ext cx="7772400" cy="1143000"/>
          </a:xfrm>
        </p:spPr>
        <p:txBody>
          <a:bodyPr/>
          <a:lstStyle/>
          <a:p>
            <a:r>
              <a:rPr lang="tr-TR"/>
              <a:t>Asıl başlık stili için tıklatın</a:t>
            </a:r>
          </a:p>
        </p:txBody>
      </p:sp>
      <p:sp>
        <p:nvSpPr>
          <p:cNvPr id="3" name="Metin Yer Tutucusu 2"/>
          <p:cNvSpPr>
            <a:spLocks noGrp="1"/>
          </p:cNvSpPr>
          <p:nvPr>
            <p:ph type="body" sz="half" idx="1"/>
          </p:nvPr>
        </p:nvSpPr>
        <p:spPr>
          <a:xfrm>
            <a:off x="685800" y="1981200"/>
            <a:ext cx="3810000" cy="41148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Grafik Yer Tutucusu 3"/>
          <p:cNvSpPr>
            <a:spLocks noGrp="1"/>
          </p:cNvSpPr>
          <p:nvPr>
            <p:ph type="chart" sz="half" idx="2"/>
          </p:nvPr>
        </p:nvSpPr>
        <p:spPr>
          <a:xfrm>
            <a:off x="4648200" y="1981200"/>
            <a:ext cx="3810000" cy="4114800"/>
          </a:xfrm>
        </p:spPr>
        <p:txBody>
          <a:bodyPr rtlCol="0">
            <a:normAutofit/>
          </a:bodyPr>
          <a:lstStyle/>
          <a:p>
            <a:pPr lvl="0"/>
            <a:endParaRPr lang="tr-TR" noProof="0"/>
          </a:p>
        </p:txBody>
      </p:sp>
      <p:sp>
        <p:nvSpPr>
          <p:cNvPr id="5" name="Rectangle 4">
            <a:extLst>
              <a:ext uri="{FF2B5EF4-FFF2-40B4-BE49-F238E27FC236}">
                <a16:creationId xmlns:a16="http://schemas.microsoft.com/office/drawing/2014/main" id="{D2A837A2-AC2A-5899-F97F-5CCD0CF1A79D}"/>
              </a:ext>
            </a:extLst>
          </p:cNvPr>
          <p:cNvSpPr>
            <a:spLocks noGrp="1" noChangeArrowheads="1"/>
          </p:cNvSpPr>
          <p:nvPr>
            <p:ph type="dt" sz="half" idx="10"/>
          </p:nvPr>
        </p:nvSpPr>
        <p:spPr>
          <a:xfrm>
            <a:off x="457200" y="6245225"/>
            <a:ext cx="2133600" cy="476250"/>
          </a:xfrm>
        </p:spPr>
        <p:txBody>
          <a:bodyPr/>
          <a:lstStyle>
            <a:lvl1pPr>
              <a:defRPr/>
            </a:lvl1pPr>
          </a:lstStyle>
          <a:p>
            <a:pPr>
              <a:defRPr/>
            </a:pPr>
            <a:endParaRPr lang="en-US" altLang="tr-TR"/>
          </a:p>
        </p:txBody>
      </p:sp>
      <p:sp>
        <p:nvSpPr>
          <p:cNvPr id="6" name="Rectangle 5">
            <a:extLst>
              <a:ext uri="{FF2B5EF4-FFF2-40B4-BE49-F238E27FC236}">
                <a16:creationId xmlns:a16="http://schemas.microsoft.com/office/drawing/2014/main" id="{FC40A44D-8262-E48A-13B7-D923E2899D89}"/>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tr-TR"/>
          </a:p>
        </p:txBody>
      </p:sp>
      <p:sp>
        <p:nvSpPr>
          <p:cNvPr id="7" name="Rectangle 6">
            <a:extLst>
              <a:ext uri="{FF2B5EF4-FFF2-40B4-BE49-F238E27FC236}">
                <a16:creationId xmlns:a16="http://schemas.microsoft.com/office/drawing/2014/main" id="{C0E5EA05-59FC-CE9F-0A8B-FE4C462A0C74}"/>
              </a:ext>
            </a:extLst>
          </p:cNvPr>
          <p:cNvSpPr>
            <a:spLocks noGrp="1" noChangeArrowheads="1"/>
          </p:cNvSpPr>
          <p:nvPr>
            <p:ph type="sldNum" sz="quarter" idx="12"/>
          </p:nvPr>
        </p:nvSpPr>
        <p:spPr>
          <a:xfrm>
            <a:off x="6553200" y="6245225"/>
            <a:ext cx="2133600" cy="476250"/>
          </a:xfrm>
        </p:spPr>
        <p:txBody>
          <a:bodyPr/>
          <a:lstStyle>
            <a:lvl1pPr>
              <a:defRPr/>
            </a:lvl1pPr>
          </a:lstStyle>
          <a:p>
            <a:fld id="{5BBCE2E5-0076-804B-86E2-C48887E58561}" type="slidenum">
              <a:rPr lang="en-US" altLang="tr-TR"/>
              <a:pPr/>
              <a:t>‹#›</a:t>
            </a:fld>
            <a:endParaRPr lang="en-US" altLang="tr-TR"/>
          </a:p>
        </p:txBody>
      </p:sp>
    </p:spTree>
    <p:extLst>
      <p:ext uri="{BB962C8B-B14F-4D97-AF65-F5344CB8AC3E}">
        <p14:creationId xmlns:p14="http://schemas.microsoft.com/office/powerpoint/2010/main" val="373942821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p>
            <a:r>
              <a:rPr lang="tr-TR"/>
              <a:t>Asıl başlık stili için tıklatın</a:t>
            </a:r>
          </a:p>
        </p:txBody>
      </p:sp>
      <p:sp>
        <p:nvSpPr>
          <p:cNvPr id="3" name="2 Metin Yer Tutucusu"/>
          <p:cNvSpPr>
            <a:spLocks noGrp="1"/>
          </p:cNvSpPr>
          <p:nvPr>
            <p:ph type="body" sz="half" idx="1"/>
          </p:nvPr>
        </p:nvSpPr>
        <p:spPr>
          <a:xfrm>
            <a:off x="457200" y="1600200"/>
            <a:ext cx="4038600" cy="4525963"/>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a:extLst>
              <a:ext uri="{FF2B5EF4-FFF2-40B4-BE49-F238E27FC236}">
                <a16:creationId xmlns:a16="http://schemas.microsoft.com/office/drawing/2014/main" id="{34075837-F4AC-E420-60CF-EB822AE86406}"/>
              </a:ext>
            </a:extLst>
          </p:cNvPr>
          <p:cNvSpPr>
            <a:spLocks noGrp="1" noChangeArrowheads="1"/>
          </p:cNvSpPr>
          <p:nvPr>
            <p:ph type="dt" sz="half" idx="10"/>
          </p:nvPr>
        </p:nvSpPr>
        <p:spPr>
          <a:xfrm>
            <a:off x="457200" y="6245225"/>
            <a:ext cx="2133600" cy="476250"/>
          </a:xfrm>
        </p:spPr>
        <p:txBody>
          <a:bodyPr/>
          <a:lstStyle>
            <a:lvl1pPr>
              <a:defRPr/>
            </a:lvl1pPr>
          </a:lstStyle>
          <a:p>
            <a:pPr>
              <a:defRPr/>
            </a:pPr>
            <a:endParaRPr lang="tr-TR"/>
          </a:p>
        </p:txBody>
      </p:sp>
      <p:sp>
        <p:nvSpPr>
          <p:cNvPr id="6" name="Rectangle 5">
            <a:extLst>
              <a:ext uri="{FF2B5EF4-FFF2-40B4-BE49-F238E27FC236}">
                <a16:creationId xmlns:a16="http://schemas.microsoft.com/office/drawing/2014/main" id="{309C1FC6-B860-0A66-B57A-491033A359D0}"/>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tr-TR"/>
          </a:p>
        </p:txBody>
      </p:sp>
      <p:sp>
        <p:nvSpPr>
          <p:cNvPr id="7" name="Rectangle 6">
            <a:extLst>
              <a:ext uri="{FF2B5EF4-FFF2-40B4-BE49-F238E27FC236}">
                <a16:creationId xmlns:a16="http://schemas.microsoft.com/office/drawing/2014/main" id="{7F29D52B-C3EF-2F84-DDDB-5DE82B7228D9}"/>
              </a:ext>
            </a:extLst>
          </p:cNvPr>
          <p:cNvSpPr>
            <a:spLocks noGrp="1" noChangeArrowheads="1"/>
          </p:cNvSpPr>
          <p:nvPr>
            <p:ph type="sldNum" sz="quarter" idx="12"/>
          </p:nvPr>
        </p:nvSpPr>
        <p:spPr>
          <a:xfrm>
            <a:off x="6553200" y="6245225"/>
            <a:ext cx="2133600" cy="476250"/>
          </a:xfrm>
        </p:spPr>
        <p:txBody>
          <a:bodyPr/>
          <a:lstStyle>
            <a:lvl1pPr>
              <a:defRPr/>
            </a:lvl1pPr>
          </a:lstStyle>
          <a:p>
            <a:fld id="{469452B2-FA0A-AC4A-946B-D7D9D539C0E9}" type="slidenum">
              <a:rPr lang="tr-TR" altLang="tr-TR"/>
              <a:pPr/>
              <a:t>‹#›</a:t>
            </a:fld>
            <a:endParaRPr lang="tr-TR" altLang="tr-TR"/>
          </a:p>
        </p:txBody>
      </p:sp>
    </p:spTree>
    <p:extLst>
      <p:ext uri="{BB962C8B-B14F-4D97-AF65-F5344CB8AC3E}">
        <p14:creationId xmlns:p14="http://schemas.microsoft.com/office/powerpoint/2010/main" val="1405385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aşlık Yer Tutucusu 1">
            <a:extLst>
              <a:ext uri="{FF2B5EF4-FFF2-40B4-BE49-F238E27FC236}">
                <a16:creationId xmlns:a16="http://schemas.microsoft.com/office/drawing/2014/main" id="{483BA463-40CE-A9AD-9264-56280372E964}"/>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a:t>Asıl başlık stili için tıklatın</a:t>
            </a:r>
          </a:p>
        </p:txBody>
      </p:sp>
      <p:sp>
        <p:nvSpPr>
          <p:cNvPr id="1027" name="Metin Yer Tutucusu 2">
            <a:extLst>
              <a:ext uri="{FF2B5EF4-FFF2-40B4-BE49-F238E27FC236}">
                <a16:creationId xmlns:a16="http://schemas.microsoft.com/office/drawing/2014/main" id="{EE61E4B2-FF51-4BE6-A4D7-14324258BAA2}"/>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a:t>Asıl metin stillerini düzenle</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p>
        </p:txBody>
      </p:sp>
      <p:sp>
        <p:nvSpPr>
          <p:cNvPr id="4" name="Veri Yer Tutucusu 3">
            <a:extLst>
              <a:ext uri="{FF2B5EF4-FFF2-40B4-BE49-F238E27FC236}">
                <a16:creationId xmlns:a16="http://schemas.microsoft.com/office/drawing/2014/main" id="{6435DD56-6552-514D-86AD-54AE135F3FA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tr-TR"/>
          </a:p>
        </p:txBody>
      </p:sp>
      <p:sp>
        <p:nvSpPr>
          <p:cNvPr id="5" name="Altbilgi Yer Tutucusu 4">
            <a:extLst>
              <a:ext uri="{FF2B5EF4-FFF2-40B4-BE49-F238E27FC236}">
                <a16:creationId xmlns:a16="http://schemas.microsoft.com/office/drawing/2014/main" id="{C266699D-9F23-D644-8B9D-3FC2D556B51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endParaRPr lang="tr-TR"/>
          </a:p>
        </p:txBody>
      </p:sp>
      <p:sp>
        <p:nvSpPr>
          <p:cNvPr id="6" name="Slayt Numarası Yer Tutucusu 5">
            <a:extLst>
              <a:ext uri="{FF2B5EF4-FFF2-40B4-BE49-F238E27FC236}">
                <a16:creationId xmlns:a16="http://schemas.microsoft.com/office/drawing/2014/main" id="{C2DEBE77-CD32-3243-80EE-66BCDB717103}"/>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4E9043DD-A3B6-0645-A42F-CC9871FCEDE3}" type="slidenum">
              <a:rPr lang="tr-TR" altLang="tr-TR"/>
              <a:pPr/>
              <a:t>‹#›</a:t>
            </a:fld>
            <a:endParaRPr lang="tr-TR" altLang="tr-TR"/>
          </a:p>
        </p:txBody>
      </p:sp>
    </p:spTree>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 id="2147484103" r:id="rId12"/>
    <p:sldLayoutId id="2147484104" r:id="rId13"/>
    <p:sldLayoutId id="2147484105" r:id="rId14"/>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tr-T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39.jpeg"/><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hyperlink" Target="#Chromium"/><Relationship Id="rId13" Type="http://schemas.openxmlformats.org/officeDocument/2006/relationships/hyperlink" Target="#Other"/><Relationship Id="rId3" Type="http://schemas.openxmlformats.org/officeDocument/2006/relationships/hyperlink" Target="#Arsenic"/><Relationship Id="rId7" Type="http://schemas.openxmlformats.org/officeDocument/2006/relationships/hyperlink" Target="#Polonium"/><Relationship Id="rId12" Type="http://schemas.openxmlformats.org/officeDocument/2006/relationships/hyperlink" Target="#Acrolein"/><Relationship Id="rId2" Type="http://schemas.openxmlformats.org/officeDocument/2006/relationships/hyperlink" Target="#Tar"/><Relationship Id="rId1" Type="http://schemas.openxmlformats.org/officeDocument/2006/relationships/slideLayout" Target="../slideLayouts/slideLayout2.xml"/><Relationship Id="rId6" Type="http://schemas.openxmlformats.org/officeDocument/2006/relationships/hyperlink" Target="#Formaldehyde"/><Relationship Id="rId11" Type="http://schemas.openxmlformats.org/officeDocument/2006/relationships/hyperlink" Target="#Nitrosamines"/><Relationship Id="rId5" Type="http://schemas.openxmlformats.org/officeDocument/2006/relationships/hyperlink" Target="#Cadmium"/><Relationship Id="rId10" Type="http://schemas.openxmlformats.org/officeDocument/2006/relationships/hyperlink" Target="#PAH"/><Relationship Id="rId4" Type="http://schemas.openxmlformats.org/officeDocument/2006/relationships/hyperlink" Target="#Benzene"/><Relationship Id="rId9" Type="http://schemas.openxmlformats.org/officeDocument/2006/relationships/hyperlink" Target="#BDE"/></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https://monographs.iarc.who.int/list-of-classifications/" TargetMode="External"/><Relationship Id="rId2" Type="http://schemas.openxmlformats.org/officeDocument/2006/relationships/hyperlink" Target="http://www.niehs.nih.gov/" TargetMode="External"/><Relationship Id="rId1" Type="http://schemas.openxmlformats.org/officeDocument/2006/relationships/slideLayout" Target="../slideLayouts/slideLayout2.xml"/><Relationship Id="rId6" Type="http://schemas.openxmlformats.org/officeDocument/2006/relationships/hyperlink" Target="https://www.nih.gov/about-nih/what-we-do/nih-almanac/national-cancer-institute-nci" TargetMode="External"/><Relationship Id="rId5" Type="http://schemas.openxmlformats.org/officeDocument/2006/relationships/hyperlink" Target="http://globocan.iarc.fr/Default.aspx" TargetMode="External"/><Relationship Id="rId4" Type="http://schemas.openxmlformats.org/officeDocument/2006/relationships/hyperlink" Target="http://www.who.in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1B4DB213-9DA9-CDB6-D251-08E642666416}"/>
              </a:ext>
            </a:extLst>
          </p:cNvPr>
          <p:cNvSpPr>
            <a:spLocks noGrp="1" noChangeArrowheads="1"/>
          </p:cNvSpPr>
          <p:nvPr>
            <p:ph type="ctrTitle"/>
          </p:nvPr>
        </p:nvSpPr>
        <p:spPr>
          <a:xfrm>
            <a:off x="3276600" y="1484313"/>
            <a:ext cx="5108575" cy="3419475"/>
          </a:xfrm>
          <a:ln w="12700">
            <a:solidFill>
              <a:schemeClr val="accent1"/>
            </a:solidFill>
            <a:miter lim="800000"/>
            <a:headEnd/>
            <a:tailEnd/>
          </a:ln>
        </p:spPr>
        <p:txBody>
          <a:bodyPr/>
          <a:lstStyle/>
          <a:p>
            <a:pPr eaLnBrk="1" hangingPunct="1"/>
            <a:r>
              <a:rPr lang="tr-TR" altLang="tr-TR">
                <a:solidFill>
                  <a:srgbClr val="FF0000"/>
                </a:solidFill>
              </a:rPr>
              <a:t>CANCER </a:t>
            </a:r>
            <a:r>
              <a:rPr lang="en-US" altLang="tr-TR">
                <a:solidFill>
                  <a:srgbClr val="FF0000"/>
                </a:solidFill>
              </a:rPr>
              <a:t>&amp;</a:t>
            </a:r>
            <a:br>
              <a:rPr lang="tr-TR" altLang="tr-TR">
                <a:solidFill>
                  <a:srgbClr val="FF0000"/>
                </a:solidFill>
              </a:rPr>
            </a:br>
            <a:r>
              <a:rPr lang="tr-TR" altLang="tr-TR">
                <a:solidFill>
                  <a:srgbClr val="FF0000"/>
                </a:solidFill>
              </a:rPr>
              <a:t> </a:t>
            </a:r>
            <a:br>
              <a:rPr lang="tr-TR" altLang="tr-TR">
                <a:solidFill>
                  <a:srgbClr val="FF0000"/>
                </a:solidFill>
              </a:rPr>
            </a:br>
            <a:r>
              <a:rPr lang="tr-TR" altLang="tr-TR">
                <a:solidFill>
                  <a:srgbClr val="FF0000"/>
                </a:solidFill>
              </a:rPr>
              <a:t>PREDISPOSING FACTORS</a:t>
            </a:r>
          </a:p>
        </p:txBody>
      </p:sp>
      <p:sp>
        <p:nvSpPr>
          <p:cNvPr id="18434" name="Rectangle 3">
            <a:extLst>
              <a:ext uri="{FF2B5EF4-FFF2-40B4-BE49-F238E27FC236}">
                <a16:creationId xmlns:a16="http://schemas.microsoft.com/office/drawing/2014/main" id="{85D8FE65-D7CF-52A4-9F9E-C9695B03344D}"/>
              </a:ext>
            </a:extLst>
          </p:cNvPr>
          <p:cNvSpPr>
            <a:spLocks noGrp="1" noChangeArrowheads="1"/>
          </p:cNvSpPr>
          <p:nvPr>
            <p:ph type="subTitle" idx="1"/>
          </p:nvPr>
        </p:nvSpPr>
        <p:spPr>
          <a:xfrm>
            <a:off x="684213" y="5013325"/>
            <a:ext cx="4824412" cy="1536700"/>
          </a:xfrm>
          <a:ln>
            <a:solidFill>
              <a:srgbClr val="FF3300"/>
            </a:solidFill>
            <a:miter lim="800000"/>
            <a:headEnd/>
            <a:tailEnd/>
          </a:ln>
        </p:spPr>
        <p:txBody>
          <a:bodyPr/>
          <a:lstStyle/>
          <a:p>
            <a:pPr algn="l" eaLnBrk="1" hangingPunct="1"/>
            <a:endParaRPr lang="tr-TR" altLang="tr-TR"/>
          </a:p>
          <a:p>
            <a:pPr algn="l" eaLnBrk="1" hangingPunct="1"/>
            <a:endParaRPr lang="tr-TR" altLang="tr-TR"/>
          </a:p>
          <a:p>
            <a:pPr algn="l" eaLnBrk="1" hangingPunct="1"/>
            <a:endParaRPr lang="tr-TR" altLang="tr-TR"/>
          </a:p>
          <a:p>
            <a:pPr eaLnBrk="1" hangingPunct="1"/>
            <a:r>
              <a:rPr lang="tr-TR" altLang="tr-TR" sz="2000">
                <a:solidFill>
                  <a:srgbClr val="0070C0"/>
                </a:solidFill>
              </a:rPr>
              <a:t>Prof. Dr. Ş. Bilge Gürsel</a:t>
            </a:r>
          </a:p>
          <a:p>
            <a:pPr algn="l" eaLnBrk="1" hangingPunct="1"/>
            <a:endParaRPr lang="tr-TR" altLang="tr-TR"/>
          </a:p>
        </p:txBody>
      </p:sp>
      <p:pic>
        <p:nvPicPr>
          <p:cNvPr id="18435" name="Picture 5" descr="23">
            <a:extLst>
              <a:ext uri="{FF2B5EF4-FFF2-40B4-BE49-F238E27FC236}">
                <a16:creationId xmlns:a16="http://schemas.microsoft.com/office/drawing/2014/main" id="{428160FD-A906-2594-1A55-C88923430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089025"/>
            <a:ext cx="2543175"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Dikdörtgen 4">
            <a:extLst>
              <a:ext uri="{FF2B5EF4-FFF2-40B4-BE49-F238E27FC236}">
                <a16:creationId xmlns:a16="http://schemas.microsoft.com/office/drawing/2014/main" id="{07F76330-41F6-62A1-A042-BB4EAEEF4E1A}"/>
              </a:ext>
            </a:extLst>
          </p:cNvPr>
          <p:cNvSpPr>
            <a:spLocks noChangeArrowheads="1"/>
          </p:cNvSpPr>
          <p:nvPr/>
        </p:nvSpPr>
        <p:spPr bwMode="auto">
          <a:xfrm>
            <a:off x="6516688" y="260350"/>
            <a:ext cx="2108200" cy="1944688"/>
          </a:xfrm>
          <a:prstGeom prst="rect">
            <a:avLst/>
          </a:prstGeom>
          <a:blipFill dpi="0" rotWithShape="1">
            <a:blip r:embed="rId3"/>
            <a:srcRect/>
            <a:stretch>
              <a:fillRect/>
            </a:stretch>
          </a:blipFill>
          <a:ln w="25400" algn="ctr">
            <a:solidFill>
              <a:srgbClr val="FFFFFF"/>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tr-TR" altLang="tr-TR">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F3ED6402-13BC-5780-E938-1AA1C4AE57FC}"/>
              </a:ext>
            </a:extLst>
          </p:cNvPr>
          <p:cNvSpPr>
            <a:spLocks noGrp="1"/>
          </p:cNvSpPr>
          <p:nvPr>
            <p:ph type="title"/>
          </p:nvPr>
        </p:nvSpPr>
        <p:spPr/>
        <p:txBody>
          <a:bodyPr/>
          <a:lstStyle/>
          <a:p>
            <a:pPr eaLnBrk="1" hangingPunct="1"/>
            <a:r>
              <a:rPr lang="tr-TR" altLang="tr-TR" sz="3200">
                <a:solidFill>
                  <a:srgbClr val="FF0000"/>
                </a:solidFill>
              </a:rPr>
              <a:t>OBJECTIVES</a:t>
            </a:r>
          </a:p>
        </p:txBody>
      </p:sp>
      <p:sp>
        <p:nvSpPr>
          <p:cNvPr id="3075" name="Rectangle 3">
            <a:extLst>
              <a:ext uri="{FF2B5EF4-FFF2-40B4-BE49-F238E27FC236}">
                <a16:creationId xmlns:a16="http://schemas.microsoft.com/office/drawing/2014/main" id="{5EBBFF64-76E2-F94B-80F1-792AA226A65D}"/>
              </a:ext>
            </a:extLst>
          </p:cNvPr>
          <p:cNvSpPr>
            <a:spLocks noGrp="1" noChangeArrowheads="1"/>
          </p:cNvSpPr>
          <p:nvPr>
            <p:ph idx="1"/>
          </p:nvPr>
        </p:nvSpPr>
        <p:spPr>
          <a:xfrm>
            <a:off x="428625" y="1357313"/>
            <a:ext cx="8229600" cy="5143500"/>
          </a:xfrm>
        </p:spPr>
        <p:txBody>
          <a:bodyPr rtlCol="0">
            <a:normAutofit/>
          </a:bodyPr>
          <a:lstStyle/>
          <a:p>
            <a:pPr marL="0" indent="0" eaLnBrk="1" fontAlgn="auto" hangingPunct="1">
              <a:spcAft>
                <a:spcPts val="0"/>
              </a:spcAft>
              <a:buFontTx/>
              <a:buNone/>
              <a:defRPr/>
            </a:pPr>
            <a:endParaRPr lang="en-GB" altLang="tr-TR" sz="2400" dirty="0"/>
          </a:p>
          <a:p>
            <a:pPr eaLnBrk="1" fontAlgn="auto" hangingPunct="1">
              <a:spcAft>
                <a:spcPts val="0"/>
              </a:spcAft>
              <a:defRPr/>
            </a:pPr>
            <a:r>
              <a:rPr lang="en-GB" altLang="tr-TR" sz="2400" dirty="0">
                <a:solidFill>
                  <a:srgbClr val="FF0000"/>
                </a:solidFill>
              </a:rPr>
              <a:t>Geographical</a:t>
            </a:r>
            <a:r>
              <a:rPr lang="en-GB" altLang="tr-TR" sz="2400" dirty="0"/>
              <a:t> and </a:t>
            </a:r>
            <a:r>
              <a:rPr lang="en-GB" altLang="tr-TR" sz="2400" dirty="0">
                <a:solidFill>
                  <a:srgbClr val="92D050"/>
                </a:solidFill>
              </a:rPr>
              <a:t>environmental</a:t>
            </a:r>
            <a:r>
              <a:rPr lang="en-GB" altLang="tr-TR" sz="2400" dirty="0"/>
              <a:t> factors which affect  emergence of malignant </a:t>
            </a:r>
            <a:r>
              <a:rPr lang="en-GB" altLang="tr-TR" sz="2400" dirty="0" err="1"/>
              <a:t>tumors</a:t>
            </a:r>
            <a:r>
              <a:rPr lang="en-GB" altLang="tr-TR" sz="2400" dirty="0"/>
              <a:t>,</a:t>
            </a:r>
          </a:p>
          <a:p>
            <a:pPr eaLnBrk="1" fontAlgn="auto" hangingPunct="1">
              <a:spcAft>
                <a:spcPts val="0"/>
              </a:spcAft>
              <a:defRPr/>
            </a:pPr>
            <a:endParaRPr lang="en-GB" altLang="tr-TR" sz="2400" dirty="0"/>
          </a:p>
          <a:p>
            <a:pPr eaLnBrk="1" fontAlgn="auto" hangingPunct="1">
              <a:spcAft>
                <a:spcPts val="0"/>
              </a:spcAft>
              <a:defRPr/>
            </a:pPr>
            <a:r>
              <a:rPr lang="en-GB" altLang="tr-TR" sz="2400" dirty="0"/>
              <a:t> </a:t>
            </a:r>
            <a:r>
              <a:rPr lang="en-GB" altLang="tr-TR" sz="2400" dirty="0">
                <a:solidFill>
                  <a:srgbClr val="FF0000"/>
                </a:solidFill>
              </a:rPr>
              <a:t>Carcinogenic mechanism </a:t>
            </a:r>
            <a:r>
              <a:rPr lang="en-GB" altLang="tr-TR" sz="2400" dirty="0"/>
              <a:t>of chemical agents</a:t>
            </a:r>
            <a:endParaRPr lang="en-GB" altLang="tr-TR" sz="2400" dirty="0">
              <a:solidFill>
                <a:schemeClr val="accent6">
                  <a:lumMod val="40000"/>
                  <a:lumOff val="60000"/>
                </a:schemeClr>
              </a:solidFill>
            </a:endParaRPr>
          </a:p>
          <a:p>
            <a:pPr eaLnBrk="1" fontAlgn="auto" hangingPunct="1">
              <a:spcAft>
                <a:spcPts val="0"/>
              </a:spcAft>
              <a:defRPr/>
            </a:pPr>
            <a:endParaRPr lang="en-GB" altLang="tr-TR" sz="2400" dirty="0">
              <a:solidFill>
                <a:schemeClr val="accent6">
                  <a:lumMod val="40000"/>
                  <a:lumOff val="60000"/>
                </a:schemeClr>
              </a:solidFill>
            </a:endParaRPr>
          </a:p>
          <a:p>
            <a:pPr eaLnBrk="1" fontAlgn="auto" hangingPunct="1">
              <a:spcAft>
                <a:spcPts val="0"/>
              </a:spcAft>
              <a:defRPr/>
            </a:pPr>
            <a:r>
              <a:rPr lang="en-GB" altLang="tr-TR" sz="2400" dirty="0">
                <a:solidFill>
                  <a:srgbClr val="FFC000"/>
                </a:solidFill>
              </a:rPr>
              <a:t>Occupational</a:t>
            </a:r>
            <a:r>
              <a:rPr lang="en-GB" altLang="tr-TR" sz="2400" dirty="0"/>
              <a:t> carcinogens and prevalent occupational cancer types</a:t>
            </a:r>
          </a:p>
          <a:p>
            <a:pPr eaLnBrk="1" fontAlgn="auto" hangingPunct="1">
              <a:spcAft>
                <a:spcPts val="0"/>
              </a:spcAft>
              <a:defRPr/>
            </a:pPr>
            <a:endParaRPr lang="en-GB" altLang="tr-TR" sz="2400" dirty="0"/>
          </a:p>
          <a:p>
            <a:pPr eaLnBrk="1" fontAlgn="auto" hangingPunct="1">
              <a:spcAft>
                <a:spcPts val="0"/>
              </a:spcAft>
              <a:defRPr/>
            </a:pPr>
            <a:r>
              <a:rPr lang="en-GB" altLang="tr-TR" sz="2400" dirty="0"/>
              <a:t>Relation between </a:t>
            </a:r>
            <a:r>
              <a:rPr lang="en-GB" altLang="tr-TR" sz="2400" dirty="0">
                <a:solidFill>
                  <a:srgbClr val="FF33CC"/>
                </a:solidFill>
              </a:rPr>
              <a:t>tobacco</a:t>
            </a:r>
            <a:r>
              <a:rPr lang="en-GB" altLang="tr-TR" sz="2400" dirty="0"/>
              <a:t> and cancer</a:t>
            </a:r>
          </a:p>
          <a:p>
            <a:pPr eaLnBrk="1" fontAlgn="auto" hangingPunct="1">
              <a:spcAft>
                <a:spcPts val="0"/>
              </a:spcAft>
              <a:defRPr/>
            </a:pPr>
            <a:endParaRPr lang="en-GB" altLang="tr-TR" sz="2400" dirty="0"/>
          </a:p>
          <a:p>
            <a:pPr eaLnBrk="1" fontAlgn="auto" hangingPunct="1">
              <a:spcAft>
                <a:spcPts val="0"/>
              </a:spcAft>
              <a:defRPr/>
            </a:pPr>
            <a:r>
              <a:rPr lang="en-GB" altLang="tr-TR" sz="2400" dirty="0">
                <a:solidFill>
                  <a:srgbClr val="FF0000"/>
                </a:solidFill>
              </a:rPr>
              <a:t>Carcinogenic effect</a:t>
            </a:r>
            <a:r>
              <a:rPr lang="en-GB" altLang="tr-TR" sz="2400" dirty="0"/>
              <a:t> of radiation </a:t>
            </a:r>
          </a:p>
          <a:p>
            <a:pPr eaLnBrk="1" fontAlgn="auto" hangingPunct="1">
              <a:spcAft>
                <a:spcPts val="0"/>
              </a:spcAft>
              <a:defRPr/>
            </a:pPr>
            <a:endParaRPr lang="en-GB" altLang="tr-T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3F8DA9EC-1F0E-AFD5-4532-DAD62CF7F49B}"/>
              </a:ext>
            </a:extLst>
          </p:cNvPr>
          <p:cNvSpPr>
            <a:spLocks noGrp="1"/>
          </p:cNvSpPr>
          <p:nvPr>
            <p:ph type="title"/>
          </p:nvPr>
        </p:nvSpPr>
        <p:spPr/>
        <p:txBody>
          <a:bodyPr/>
          <a:lstStyle/>
          <a:p>
            <a:pPr eaLnBrk="1" hangingPunct="1"/>
            <a:r>
              <a:rPr lang="en-US" altLang="tr-TR">
                <a:solidFill>
                  <a:srgbClr val="FF3300"/>
                </a:solidFill>
              </a:rPr>
              <a:t>What Causes Cancer?</a:t>
            </a:r>
          </a:p>
        </p:txBody>
      </p:sp>
      <p:pic>
        <p:nvPicPr>
          <p:cNvPr id="20482" name="Picture 12" descr="j0227630">
            <a:extLst>
              <a:ext uri="{FF2B5EF4-FFF2-40B4-BE49-F238E27FC236}">
                <a16:creationId xmlns:a16="http://schemas.microsoft.com/office/drawing/2014/main" id="{D2735C8C-18EB-5887-578D-76595720D8B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0" y="2640013"/>
            <a:ext cx="3505200" cy="2306637"/>
          </a:xfrm>
          <a:noFill/>
        </p:spPr>
      </p:pic>
      <p:pic>
        <p:nvPicPr>
          <p:cNvPr id="20483" name="Picture 6" descr="j0180911[1]">
            <a:extLst>
              <a:ext uri="{FF2B5EF4-FFF2-40B4-BE49-F238E27FC236}">
                <a16:creationId xmlns:a16="http://schemas.microsoft.com/office/drawing/2014/main" id="{DC684583-3AD5-580F-0EB1-F81D0750907A}"/>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581400" y="1676400"/>
            <a:ext cx="2600325" cy="4114800"/>
          </a:xfrm>
          <a:noFill/>
        </p:spPr>
      </p:pic>
      <p:pic>
        <p:nvPicPr>
          <p:cNvPr id="20484" name="Picture 7" descr="j0178828">
            <a:extLst>
              <a:ext uri="{FF2B5EF4-FFF2-40B4-BE49-F238E27FC236}">
                <a16:creationId xmlns:a16="http://schemas.microsoft.com/office/drawing/2014/main" id="{134DB062-4CF3-A3C4-9C51-3B6DEE96A6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0300" y="2667000"/>
            <a:ext cx="293370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2" name="Text Box 8">
            <a:extLst>
              <a:ext uri="{FF2B5EF4-FFF2-40B4-BE49-F238E27FC236}">
                <a16:creationId xmlns:a16="http://schemas.microsoft.com/office/drawing/2014/main" id="{CBB43475-2BBB-164C-B8A9-B63591E78AC8}"/>
              </a:ext>
            </a:extLst>
          </p:cNvPr>
          <p:cNvSpPr txBox="1">
            <a:spLocks noChangeArrowheads="1"/>
          </p:cNvSpPr>
          <p:nvPr/>
        </p:nvSpPr>
        <p:spPr bwMode="auto">
          <a:xfrm>
            <a:off x="609600" y="5181600"/>
            <a:ext cx="2133600" cy="519113"/>
          </a:xfrm>
          <a:prstGeom prst="rect">
            <a:avLst/>
          </a:prstGeom>
          <a:noFill/>
          <a:ln>
            <a:noFill/>
          </a:ln>
          <a:effectLst/>
        </p:spPr>
        <p:txBody>
          <a:bodyPr anchor="b">
            <a:spAutoFit/>
          </a:bodyPr>
          <a:lstStyle/>
          <a:p>
            <a:pPr algn="ctr" eaLnBrk="1" fontAlgn="auto" hangingPunct="1">
              <a:spcBef>
                <a:spcPct val="50000"/>
              </a:spcBef>
              <a:spcAft>
                <a:spcPts val="0"/>
              </a:spcAft>
              <a:defRPr/>
            </a:pPr>
            <a:r>
              <a:rPr lang="en-US" altLang="tr-TR" sz="2800">
                <a:effectLst>
                  <a:outerShdw blurRad="38100" dist="38100" dir="2700000" algn="tl">
                    <a:srgbClr val="000000"/>
                  </a:outerShdw>
                </a:effectLst>
                <a:latin typeface="Tahoma" pitchFamily="34" charset="0"/>
              </a:rPr>
              <a:t>Lifestyle</a:t>
            </a:r>
          </a:p>
        </p:txBody>
      </p:sp>
      <p:sp>
        <p:nvSpPr>
          <p:cNvPr id="72713" name="Text Box 9">
            <a:extLst>
              <a:ext uri="{FF2B5EF4-FFF2-40B4-BE49-F238E27FC236}">
                <a16:creationId xmlns:a16="http://schemas.microsoft.com/office/drawing/2014/main" id="{7FCE2458-0454-F342-92B6-8A9A46E3490B}"/>
              </a:ext>
            </a:extLst>
          </p:cNvPr>
          <p:cNvSpPr txBox="1">
            <a:spLocks noChangeArrowheads="1"/>
          </p:cNvSpPr>
          <p:nvPr/>
        </p:nvSpPr>
        <p:spPr bwMode="auto">
          <a:xfrm>
            <a:off x="3581400" y="6019800"/>
            <a:ext cx="2590800" cy="519113"/>
          </a:xfrm>
          <a:prstGeom prst="rect">
            <a:avLst/>
          </a:prstGeom>
          <a:noFill/>
          <a:ln>
            <a:noFill/>
          </a:ln>
          <a:effectLst/>
        </p:spPr>
        <p:txBody>
          <a:bodyPr anchor="b">
            <a:spAutoFit/>
          </a:bodyPr>
          <a:lstStyle/>
          <a:p>
            <a:pPr algn="ctr" eaLnBrk="1" fontAlgn="auto" hangingPunct="1">
              <a:spcBef>
                <a:spcPct val="50000"/>
              </a:spcBef>
              <a:spcAft>
                <a:spcPts val="0"/>
              </a:spcAft>
              <a:defRPr/>
            </a:pPr>
            <a:r>
              <a:rPr lang="en-US" altLang="tr-TR" sz="2800">
                <a:effectLst>
                  <a:outerShdw blurRad="38100" dist="38100" dir="2700000" algn="tl">
                    <a:srgbClr val="000000"/>
                  </a:outerShdw>
                </a:effectLst>
                <a:latin typeface="Tahoma" pitchFamily="34" charset="0"/>
              </a:rPr>
              <a:t>Environment</a:t>
            </a:r>
          </a:p>
        </p:txBody>
      </p:sp>
      <p:sp>
        <p:nvSpPr>
          <p:cNvPr id="72714" name="Text Box 10">
            <a:extLst>
              <a:ext uri="{FF2B5EF4-FFF2-40B4-BE49-F238E27FC236}">
                <a16:creationId xmlns:a16="http://schemas.microsoft.com/office/drawing/2014/main" id="{8F524FF9-46E1-5543-9B26-18FE41D1F801}"/>
              </a:ext>
            </a:extLst>
          </p:cNvPr>
          <p:cNvSpPr txBox="1">
            <a:spLocks noChangeArrowheads="1"/>
          </p:cNvSpPr>
          <p:nvPr/>
        </p:nvSpPr>
        <p:spPr bwMode="auto">
          <a:xfrm>
            <a:off x="6172200" y="4846638"/>
            <a:ext cx="2590800" cy="519112"/>
          </a:xfrm>
          <a:prstGeom prst="rect">
            <a:avLst/>
          </a:prstGeom>
          <a:noFill/>
          <a:ln>
            <a:noFill/>
          </a:ln>
          <a:effectLst/>
        </p:spPr>
        <p:txBody>
          <a:bodyPr anchor="b">
            <a:spAutoFit/>
          </a:bodyPr>
          <a:lstStyle/>
          <a:p>
            <a:pPr algn="ctr" eaLnBrk="1" fontAlgn="auto" hangingPunct="1">
              <a:spcBef>
                <a:spcPct val="50000"/>
              </a:spcBef>
              <a:spcAft>
                <a:spcPts val="0"/>
              </a:spcAft>
              <a:defRPr/>
            </a:pPr>
            <a:r>
              <a:rPr lang="en-US" altLang="tr-TR" sz="2800">
                <a:effectLst>
                  <a:outerShdw blurRad="38100" dist="38100" dir="2700000" algn="tl">
                    <a:srgbClr val="000000"/>
                  </a:outerShdw>
                </a:effectLst>
                <a:latin typeface="Tahoma" pitchFamily="34" charset="0"/>
              </a:rPr>
              <a:t>Family History</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026">
            <a:extLst>
              <a:ext uri="{FF2B5EF4-FFF2-40B4-BE49-F238E27FC236}">
                <a16:creationId xmlns:a16="http://schemas.microsoft.com/office/drawing/2014/main" id="{BFFA1F1D-4D3A-FCA9-FFCE-AA5CE9F94F3B}"/>
              </a:ext>
            </a:extLst>
          </p:cNvPr>
          <p:cNvSpPr>
            <a:spLocks noGrp="1"/>
          </p:cNvSpPr>
          <p:nvPr>
            <p:ph type="title"/>
          </p:nvPr>
        </p:nvSpPr>
        <p:spPr>
          <a:xfrm>
            <a:off x="966788" y="549275"/>
            <a:ext cx="7772400" cy="1143000"/>
          </a:xfrm>
        </p:spPr>
        <p:txBody>
          <a:bodyPr/>
          <a:lstStyle/>
          <a:p>
            <a:pPr eaLnBrk="1" hangingPunct="1"/>
            <a:r>
              <a:rPr lang="en-US" altLang="tr-TR">
                <a:solidFill>
                  <a:srgbClr val="FF3300"/>
                </a:solidFill>
              </a:rPr>
              <a:t>Lifestyle Risks</a:t>
            </a:r>
          </a:p>
        </p:txBody>
      </p:sp>
      <p:sp>
        <p:nvSpPr>
          <p:cNvPr id="22530" name="Rectangle 1028">
            <a:extLst>
              <a:ext uri="{FF2B5EF4-FFF2-40B4-BE49-F238E27FC236}">
                <a16:creationId xmlns:a16="http://schemas.microsoft.com/office/drawing/2014/main" id="{4759C10E-E82B-C9C1-C92C-DAD51ECC6CA3}"/>
              </a:ext>
            </a:extLst>
          </p:cNvPr>
          <p:cNvSpPr>
            <a:spLocks noGrp="1"/>
          </p:cNvSpPr>
          <p:nvPr>
            <p:ph type="body" sz="half" idx="2"/>
          </p:nvPr>
        </p:nvSpPr>
        <p:spPr>
          <a:xfrm>
            <a:off x="3200400" y="1905000"/>
            <a:ext cx="3810000" cy="4648200"/>
          </a:xfrm>
        </p:spPr>
        <p:txBody>
          <a:bodyPr/>
          <a:lstStyle/>
          <a:p>
            <a:pPr eaLnBrk="1" hangingPunct="1"/>
            <a:r>
              <a:rPr lang="en-US" altLang="tr-TR" sz="2400"/>
              <a:t>Smoking</a:t>
            </a:r>
          </a:p>
          <a:p>
            <a:pPr eaLnBrk="1" hangingPunct="1"/>
            <a:endParaRPr lang="en-US" altLang="tr-TR" sz="2400"/>
          </a:p>
          <a:p>
            <a:pPr eaLnBrk="1" hangingPunct="1"/>
            <a:r>
              <a:rPr lang="en-US" altLang="tr-TR" sz="2400"/>
              <a:t>Diet high fat and low in fruits and vegetables</a:t>
            </a:r>
          </a:p>
          <a:p>
            <a:pPr eaLnBrk="1" hangingPunct="1"/>
            <a:endParaRPr lang="en-US" altLang="tr-TR" sz="2400"/>
          </a:p>
          <a:p>
            <a:pPr eaLnBrk="1" hangingPunct="1"/>
            <a:r>
              <a:rPr lang="en-US" altLang="tr-TR" sz="2400"/>
              <a:t>Lack of exercise </a:t>
            </a:r>
          </a:p>
          <a:p>
            <a:pPr eaLnBrk="1" hangingPunct="1">
              <a:buFont typeface="Wingdings" pitchFamily="2" charset="2"/>
              <a:buNone/>
            </a:pPr>
            <a:endParaRPr lang="en-US" altLang="tr-TR" sz="2400"/>
          </a:p>
          <a:p>
            <a:pPr eaLnBrk="1" hangingPunct="1"/>
            <a:r>
              <a:rPr lang="en-US" altLang="tr-TR" sz="2400"/>
              <a:t>Unprotected exposure to the sun, (UV) rays</a:t>
            </a:r>
          </a:p>
          <a:p>
            <a:pPr eaLnBrk="1" hangingPunct="1">
              <a:buFont typeface="Wingdings" pitchFamily="2" charset="2"/>
              <a:buNone/>
            </a:pPr>
            <a:endParaRPr lang="en-US" altLang="tr-TR" sz="2400"/>
          </a:p>
          <a:p>
            <a:pPr eaLnBrk="1" hangingPunct="1"/>
            <a:r>
              <a:rPr lang="en-US" altLang="tr-TR" sz="2400"/>
              <a:t>Obesity</a:t>
            </a:r>
          </a:p>
          <a:p>
            <a:pPr eaLnBrk="1" hangingPunct="1"/>
            <a:endParaRPr lang="en-US" altLang="tr-TR" sz="2400"/>
          </a:p>
        </p:txBody>
      </p:sp>
      <p:pic>
        <p:nvPicPr>
          <p:cNvPr id="22531" name="Picture 1034" descr="PH01944J">
            <a:extLst>
              <a:ext uri="{FF2B5EF4-FFF2-40B4-BE49-F238E27FC236}">
                <a16:creationId xmlns:a16="http://schemas.microsoft.com/office/drawing/2014/main" id="{84F50D90-9493-5DD2-35B2-8B17CE18B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848225"/>
            <a:ext cx="2438400"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1035" descr="PH02832J">
            <a:extLst>
              <a:ext uri="{FF2B5EF4-FFF2-40B4-BE49-F238E27FC236}">
                <a16:creationId xmlns:a16="http://schemas.microsoft.com/office/drawing/2014/main" id="{026B437F-5AB2-A2E0-96D7-096179A2E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2057400"/>
            <a:ext cx="170973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036" descr="j0178821">
            <a:extLst>
              <a:ext uri="{FF2B5EF4-FFF2-40B4-BE49-F238E27FC236}">
                <a16:creationId xmlns:a16="http://schemas.microsoft.com/office/drawing/2014/main" id="{02E405F7-71D0-374A-5507-E08E28EB76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1905000"/>
            <a:ext cx="15208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Başlık 1">
            <a:extLst>
              <a:ext uri="{FF2B5EF4-FFF2-40B4-BE49-F238E27FC236}">
                <a16:creationId xmlns:a16="http://schemas.microsoft.com/office/drawing/2014/main" id="{07B42973-8E1A-9980-C2DB-A74676295770}"/>
              </a:ext>
            </a:extLst>
          </p:cNvPr>
          <p:cNvSpPr>
            <a:spLocks noGrp="1"/>
          </p:cNvSpPr>
          <p:nvPr>
            <p:ph type="title"/>
          </p:nvPr>
        </p:nvSpPr>
        <p:spPr/>
        <p:txBody>
          <a:bodyPr/>
          <a:lstStyle/>
          <a:p>
            <a:pPr eaLnBrk="1" hangingPunct="1"/>
            <a:r>
              <a:rPr lang="tr-TR" altLang="tr-TR" sz="3200">
                <a:solidFill>
                  <a:srgbClr val="FF0000"/>
                </a:solidFill>
              </a:rPr>
              <a:t>Human Impact on the Environment and the Environment Impact on Human</a:t>
            </a:r>
          </a:p>
        </p:txBody>
      </p:sp>
      <p:sp>
        <p:nvSpPr>
          <p:cNvPr id="24578" name="İçerik Yer Tutucusu 2">
            <a:extLst>
              <a:ext uri="{FF2B5EF4-FFF2-40B4-BE49-F238E27FC236}">
                <a16:creationId xmlns:a16="http://schemas.microsoft.com/office/drawing/2014/main" id="{D0900B8F-7559-C6D3-CF55-092FC118A948}"/>
              </a:ext>
            </a:extLst>
          </p:cNvPr>
          <p:cNvSpPr>
            <a:spLocks noGrp="1"/>
          </p:cNvSpPr>
          <p:nvPr>
            <p:ph idx="1"/>
          </p:nvPr>
        </p:nvSpPr>
        <p:spPr>
          <a:xfrm>
            <a:off x="457200" y="1773238"/>
            <a:ext cx="8229600" cy="4352925"/>
          </a:xfrm>
        </p:spPr>
        <p:txBody>
          <a:bodyPr/>
          <a:lstStyle/>
          <a:p>
            <a:pPr eaLnBrk="1" hangingPunct="1"/>
            <a:endParaRPr lang="tr-TR" altLang="tr-TR"/>
          </a:p>
        </p:txBody>
      </p:sp>
      <p:pic>
        <p:nvPicPr>
          <p:cNvPr id="24579" name="Picture 2">
            <a:extLst>
              <a:ext uri="{FF2B5EF4-FFF2-40B4-BE49-F238E27FC236}">
                <a16:creationId xmlns:a16="http://schemas.microsoft.com/office/drawing/2014/main" id="{28308956-F1AF-B720-3047-1E4C2667E5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628775"/>
            <a:ext cx="5976938"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Başlık 1">
            <a:extLst>
              <a:ext uri="{FF2B5EF4-FFF2-40B4-BE49-F238E27FC236}">
                <a16:creationId xmlns:a16="http://schemas.microsoft.com/office/drawing/2014/main" id="{BEB6A5AA-FAEB-6E74-D1F0-A5675718C862}"/>
              </a:ext>
            </a:extLst>
          </p:cNvPr>
          <p:cNvSpPr>
            <a:spLocks noGrp="1"/>
          </p:cNvSpPr>
          <p:nvPr>
            <p:ph type="title"/>
          </p:nvPr>
        </p:nvSpPr>
        <p:spPr/>
        <p:txBody>
          <a:bodyPr/>
          <a:lstStyle/>
          <a:p>
            <a:pPr eaLnBrk="1" hangingPunct="1"/>
            <a:endParaRPr lang="tr-TR" altLang="tr-TR"/>
          </a:p>
        </p:txBody>
      </p:sp>
      <p:sp>
        <p:nvSpPr>
          <p:cNvPr id="25602" name="İçerik Yer Tutucusu 2">
            <a:extLst>
              <a:ext uri="{FF2B5EF4-FFF2-40B4-BE49-F238E27FC236}">
                <a16:creationId xmlns:a16="http://schemas.microsoft.com/office/drawing/2014/main" id="{F4C47066-C6B9-40F9-E308-ABD0F811002C}"/>
              </a:ext>
            </a:extLst>
          </p:cNvPr>
          <p:cNvSpPr>
            <a:spLocks noGrp="1"/>
          </p:cNvSpPr>
          <p:nvPr>
            <p:ph idx="1"/>
          </p:nvPr>
        </p:nvSpPr>
        <p:spPr/>
        <p:txBody>
          <a:bodyPr/>
          <a:lstStyle/>
          <a:p>
            <a:pPr eaLnBrk="1" hangingPunct="1"/>
            <a:endParaRPr lang="tr-TR" altLang="tr-TR"/>
          </a:p>
        </p:txBody>
      </p:sp>
      <p:pic>
        <p:nvPicPr>
          <p:cNvPr id="25603" name="Picture 2">
            <a:extLst>
              <a:ext uri="{FF2B5EF4-FFF2-40B4-BE49-F238E27FC236}">
                <a16:creationId xmlns:a16="http://schemas.microsoft.com/office/drawing/2014/main" id="{E91D5E6E-A120-B7D3-BBD5-29E0AF43F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836613"/>
            <a:ext cx="4741863"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BA0AF430-E93D-2B56-5109-F9CB28AF61C9}"/>
              </a:ext>
            </a:extLst>
          </p:cNvPr>
          <p:cNvSpPr>
            <a:spLocks noGrp="1"/>
          </p:cNvSpPr>
          <p:nvPr>
            <p:ph type="title"/>
          </p:nvPr>
        </p:nvSpPr>
        <p:spPr/>
        <p:txBody>
          <a:bodyPr/>
          <a:lstStyle/>
          <a:p>
            <a:pPr eaLnBrk="1" hangingPunct="1"/>
            <a:r>
              <a:rPr lang="en-US" altLang="tr-TR">
                <a:solidFill>
                  <a:srgbClr val="FF3300"/>
                </a:solidFill>
              </a:rPr>
              <a:t>Environmental Risks</a:t>
            </a:r>
          </a:p>
        </p:txBody>
      </p:sp>
      <p:sp>
        <p:nvSpPr>
          <p:cNvPr id="16387" name="Rectangle 3">
            <a:extLst>
              <a:ext uri="{FF2B5EF4-FFF2-40B4-BE49-F238E27FC236}">
                <a16:creationId xmlns:a16="http://schemas.microsoft.com/office/drawing/2014/main" id="{912B88C5-18DF-DD47-8390-631FA3DDEC7D}"/>
              </a:ext>
            </a:extLst>
          </p:cNvPr>
          <p:cNvSpPr>
            <a:spLocks noGrp="1" noChangeArrowheads="1"/>
          </p:cNvSpPr>
          <p:nvPr>
            <p:ph type="body" sz="half" idx="1"/>
          </p:nvPr>
        </p:nvSpPr>
        <p:spPr/>
        <p:txBody>
          <a:bodyPr rtlCol="0">
            <a:normAutofit fontScale="77500" lnSpcReduction="20000"/>
          </a:bodyPr>
          <a:lstStyle/>
          <a:p>
            <a:pPr eaLnBrk="1" hangingPunct="1">
              <a:defRPr/>
            </a:pPr>
            <a:endParaRPr lang="en-US" altLang="tr-TR" sz="2400" dirty="0"/>
          </a:p>
          <a:p>
            <a:pPr eaLnBrk="1" hangingPunct="1">
              <a:defRPr/>
            </a:pPr>
            <a:r>
              <a:rPr lang="en-US" altLang="tr-TR" sz="2800" dirty="0"/>
              <a:t>Second hand smoke</a:t>
            </a:r>
            <a:br>
              <a:rPr lang="en-US" altLang="tr-TR" sz="2800" dirty="0"/>
            </a:br>
            <a:endParaRPr lang="en-US" altLang="tr-TR" sz="2800" dirty="0"/>
          </a:p>
          <a:p>
            <a:pPr eaLnBrk="1" hangingPunct="1">
              <a:defRPr/>
            </a:pPr>
            <a:r>
              <a:rPr lang="en-US" altLang="tr-TR" sz="2800" dirty="0"/>
              <a:t>Air pollution</a:t>
            </a:r>
            <a:br>
              <a:rPr lang="en-US" altLang="tr-TR" sz="2800" dirty="0"/>
            </a:br>
            <a:endParaRPr lang="en-US" altLang="tr-TR" sz="2800" dirty="0"/>
          </a:p>
          <a:p>
            <a:pPr eaLnBrk="1" hangingPunct="1">
              <a:defRPr/>
            </a:pPr>
            <a:r>
              <a:rPr lang="en-US" altLang="tr-TR" sz="2800" dirty="0"/>
              <a:t>Industrial pollution</a:t>
            </a:r>
            <a:br>
              <a:rPr lang="en-US" altLang="tr-TR" sz="2800" dirty="0"/>
            </a:br>
            <a:endParaRPr lang="en-US" altLang="tr-TR" sz="2800" dirty="0"/>
          </a:p>
          <a:p>
            <a:pPr eaLnBrk="1" hangingPunct="1">
              <a:defRPr/>
            </a:pPr>
            <a:r>
              <a:rPr lang="en-US" altLang="tr-TR" sz="2800" dirty="0"/>
              <a:t>Chemical exposures</a:t>
            </a:r>
            <a:endParaRPr lang="tr-TR" altLang="tr-TR" sz="2800" dirty="0"/>
          </a:p>
          <a:p>
            <a:pPr eaLnBrk="1" hangingPunct="1">
              <a:defRPr/>
            </a:pPr>
            <a:endParaRPr lang="tr-TR" altLang="tr-TR" sz="2800" dirty="0"/>
          </a:p>
          <a:p>
            <a:pPr eaLnBrk="1" hangingPunct="1">
              <a:defRPr/>
            </a:pPr>
            <a:r>
              <a:rPr lang="en-US" altLang="tr-TR" sz="2800" dirty="0"/>
              <a:t>Researchers have estimated that between 2 and 8 percent of cancers can be attributed to workplace exposures. </a:t>
            </a:r>
          </a:p>
          <a:p>
            <a:pPr eaLnBrk="1" hangingPunct="1">
              <a:buFont typeface="Wingdings" panose="05000000000000000000" pitchFamily="2" charset="2"/>
              <a:buNone/>
              <a:defRPr/>
            </a:pPr>
            <a:r>
              <a:rPr lang="en-US" altLang="tr-TR" sz="2800" dirty="0"/>
              <a:t>    </a:t>
            </a:r>
          </a:p>
          <a:p>
            <a:pPr eaLnBrk="1" hangingPunct="1">
              <a:defRPr/>
            </a:pPr>
            <a:endParaRPr lang="en-US" altLang="tr-TR" sz="2800" dirty="0"/>
          </a:p>
        </p:txBody>
      </p:sp>
      <p:pic>
        <p:nvPicPr>
          <p:cNvPr id="26627" name="Picture 5" descr="j0227705">
            <a:extLst>
              <a:ext uri="{FF2B5EF4-FFF2-40B4-BE49-F238E27FC236}">
                <a16:creationId xmlns:a16="http://schemas.microsoft.com/office/drawing/2014/main" id="{1C944677-3E6E-A2FB-0E7A-17DC3E7600F9}"/>
              </a:ext>
            </a:extLst>
          </p:cNvPr>
          <p:cNvPicPr>
            <a:picLocks noGrp="1" noChangeAspect="1" noChangeArrowheads="1"/>
          </p:cNvPicPr>
          <p:nvPr>
            <p:ph type="chart" sz="half" idx="2"/>
          </p:nvPr>
        </p:nvPicPr>
        <p:blipFill>
          <a:blip r:embed="rId3">
            <a:extLst>
              <a:ext uri="{28A0092B-C50C-407E-A947-70E740481C1C}">
                <a14:useLocalDpi xmlns:a14="http://schemas.microsoft.com/office/drawing/2010/main" val="0"/>
              </a:ext>
            </a:extLst>
          </a:blip>
          <a:srcRect/>
          <a:stretch>
            <a:fillRect/>
          </a:stretch>
        </p:blipFill>
        <p:spPr>
          <a:xfrm>
            <a:off x="4419600" y="2147888"/>
            <a:ext cx="4495800" cy="2871787"/>
          </a:xfrm>
          <a:noFill/>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050">
            <a:extLst>
              <a:ext uri="{FF2B5EF4-FFF2-40B4-BE49-F238E27FC236}">
                <a16:creationId xmlns:a16="http://schemas.microsoft.com/office/drawing/2014/main" id="{3258967F-CAA9-3CE1-9B63-2A7C9CC9256E}"/>
              </a:ext>
            </a:extLst>
          </p:cNvPr>
          <p:cNvSpPr>
            <a:spLocks noGrp="1"/>
          </p:cNvSpPr>
          <p:nvPr>
            <p:ph type="title"/>
          </p:nvPr>
        </p:nvSpPr>
        <p:spPr>
          <a:xfrm>
            <a:off x="468313" y="333375"/>
            <a:ext cx="7532687" cy="809625"/>
          </a:xfrm>
        </p:spPr>
        <p:txBody>
          <a:bodyPr/>
          <a:lstStyle/>
          <a:p>
            <a:pPr eaLnBrk="1" hangingPunct="1"/>
            <a:r>
              <a:rPr lang="en-US" altLang="tr-TR">
                <a:solidFill>
                  <a:srgbClr val="FF3300"/>
                </a:solidFill>
              </a:rPr>
              <a:t>Inherited Risks</a:t>
            </a:r>
          </a:p>
        </p:txBody>
      </p:sp>
      <p:pic>
        <p:nvPicPr>
          <p:cNvPr id="28674" name="Picture 2057" descr="j0316850">
            <a:extLst>
              <a:ext uri="{FF2B5EF4-FFF2-40B4-BE49-F238E27FC236}">
                <a16:creationId xmlns:a16="http://schemas.microsoft.com/office/drawing/2014/main" id="{182D6A34-3B39-E60F-CA24-B8BAA47DADEA}"/>
              </a:ext>
            </a:extLst>
          </p:cNvPr>
          <p:cNvPicPr>
            <a:picLocks noGrp="1" noChangeAspect="1" noChangeArrowheads="1"/>
          </p:cNvPicPr>
          <p:nvPr>
            <p:ph type="chart" sz="half" idx="1"/>
          </p:nvPr>
        </p:nvPicPr>
        <p:blipFill>
          <a:blip r:embed="rId3">
            <a:extLst>
              <a:ext uri="{28A0092B-C50C-407E-A947-70E740481C1C}">
                <a14:useLocalDpi xmlns:a14="http://schemas.microsoft.com/office/drawing/2010/main" val="0"/>
              </a:ext>
            </a:extLst>
          </a:blip>
          <a:srcRect/>
          <a:stretch>
            <a:fillRect/>
          </a:stretch>
        </p:blipFill>
        <p:spPr>
          <a:xfrm>
            <a:off x="744538" y="1752600"/>
            <a:ext cx="3194050" cy="4876800"/>
          </a:xfrm>
          <a:noFill/>
        </p:spPr>
      </p:pic>
      <p:sp>
        <p:nvSpPr>
          <p:cNvPr id="34819" name="Rectangle 2051">
            <a:extLst>
              <a:ext uri="{FF2B5EF4-FFF2-40B4-BE49-F238E27FC236}">
                <a16:creationId xmlns:a16="http://schemas.microsoft.com/office/drawing/2014/main" id="{54F29EAC-03DC-F444-BAB5-F47DF587261C}"/>
              </a:ext>
            </a:extLst>
          </p:cNvPr>
          <p:cNvSpPr>
            <a:spLocks noGrp="1" noChangeArrowheads="1"/>
          </p:cNvSpPr>
          <p:nvPr>
            <p:ph type="body" sz="half" idx="2"/>
          </p:nvPr>
        </p:nvSpPr>
        <p:spPr>
          <a:xfrm>
            <a:off x="4648200" y="1371600"/>
            <a:ext cx="3810000" cy="4114800"/>
          </a:xfrm>
        </p:spPr>
        <p:txBody>
          <a:bodyPr rtlCol="0">
            <a:normAutofit lnSpcReduction="10000"/>
          </a:bodyPr>
          <a:lstStyle/>
          <a:p>
            <a:pPr eaLnBrk="1" fontAlgn="auto" hangingPunct="1">
              <a:spcAft>
                <a:spcPts val="0"/>
              </a:spcAft>
              <a:defRPr/>
            </a:pPr>
            <a:r>
              <a:rPr lang="en-US" altLang="tr-TR" sz="2400" b="1"/>
              <a:t>Less than 15% of cancers are inherited</a:t>
            </a:r>
          </a:p>
          <a:p>
            <a:pPr eaLnBrk="1" fontAlgn="auto" hangingPunct="1">
              <a:spcAft>
                <a:spcPts val="0"/>
              </a:spcAft>
              <a:defRPr/>
            </a:pPr>
            <a:r>
              <a:rPr lang="en-US" altLang="tr-TR" sz="2400" b="1"/>
              <a:t>Gene mutations are linked to some inherited cancers</a:t>
            </a:r>
          </a:p>
          <a:p>
            <a:pPr eaLnBrk="1" fontAlgn="auto" hangingPunct="1">
              <a:spcAft>
                <a:spcPts val="0"/>
              </a:spcAft>
              <a:defRPr/>
            </a:pPr>
            <a:r>
              <a:rPr lang="en-US" altLang="tr-TR" sz="2400" b="1"/>
              <a:t>Cancers that may be caused by inherited  gene mutations are:</a:t>
            </a:r>
          </a:p>
          <a:p>
            <a:pPr lvl="1" eaLnBrk="1" fontAlgn="auto" hangingPunct="1">
              <a:spcAft>
                <a:spcPts val="0"/>
              </a:spcAft>
              <a:defRPr/>
            </a:pPr>
            <a:r>
              <a:rPr lang="en-US" altLang="tr-TR" sz="2400" b="1"/>
              <a:t>Colon cancer</a:t>
            </a:r>
          </a:p>
          <a:p>
            <a:pPr lvl="1" eaLnBrk="1" fontAlgn="auto" hangingPunct="1">
              <a:spcAft>
                <a:spcPts val="0"/>
              </a:spcAft>
              <a:defRPr/>
            </a:pPr>
            <a:r>
              <a:rPr lang="en-US" altLang="tr-TR" sz="2400" b="1"/>
              <a:t>Breast cancer</a:t>
            </a:r>
          </a:p>
          <a:p>
            <a:pPr lvl="1" eaLnBrk="1" fontAlgn="auto" hangingPunct="1">
              <a:spcAft>
                <a:spcPts val="0"/>
              </a:spcAft>
              <a:defRPr/>
            </a:pPr>
            <a:r>
              <a:rPr lang="en-US" altLang="tr-TR" sz="2400" b="1"/>
              <a:t>Ovarian</a:t>
            </a:r>
          </a:p>
          <a:p>
            <a:pPr lvl="1" eaLnBrk="1" fontAlgn="auto" hangingPunct="1">
              <a:spcAft>
                <a:spcPts val="0"/>
              </a:spcAft>
              <a:defRPr/>
            </a:pPr>
            <a:r>
              <a:rPr lang="en-US" altLang="tr-TR" sz="2400" b="1"/>
              <a:t>Prostate cancer</a:t>
            </a:r>
          </a:p>
          <a:p>
            <a:pPr lvl="1" eaLnBrk="1" fontAlgn="auto" hangingPunct="1">
              <a:spcAft>
                <a:spcPts val="0"/>
              </a:spcAft>
              <a:defRPr/>
            </a:pPr>
            <a:r>
              <a:rPr lang="en-US" altLang="tr-TR" sz="2400" b="1"/>
              <a:t>Skin cancer</a:t>
            </a:r>
          </a:p>
          <a:p>
            <a:pPr lvl="1" eaLnBrk="1" fontAlgn="auto" hangingPunct="1">
              <a:spcAft>
                <a:spcPts val="0"/>
              </a:spcAft>
              <a:defRPr/>
            </a:pPr>
            <a:endParaRPr lang="en-US" altLang="tr-TR" sz="2400" b="1"/>
          </a:p>
          <a:p>
            <a:pPr eaLnBrk="1" fontAlgn="auto" hangingPunct="1">
              <a:spcAft>
                <a:spcPts val="0"/>
              </a:spcAft>
              <a:defRPr/>
            </a:pPr>
            <a:endParaRPr lang="en-US" altLang="tr-TR" sz="2400" b="1"/>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6694DEB3-54FE-4076-9C16-E65CA40B1556}"/>
              </a:ext>
            </a:extLst>
          </p:cNvPr>
          <p:cNvSpPr>
            <a:spLocks noGrp="1"/>
          </p:cNvSpPr>
          <p:nvPr>
            <p:ph type="title"/>
          </p:nvPr>
        </p:nvSpPr>
        <p:spPr>
          <a:xfrm>
            <a:off x="457200" y="274638"/>
            <a:ext cx="8229600" cy="817562"/>
          </a:xfrm>
        </p:spPr>
        <p:txBody>
          <a:bodyPr/>
          <a:lstStyle/>
          <a:p>
            <a:pPr eaLnBrk="1" hangingPunct="1"/>
            <a:r>
              <a:rPr lang="tr-TR" altLang="tr-TR" sz="3200">
                <a:solidFill>
                  <a:schemeClr val="hlink"/>
                </a:solidFill>
              </a:rPr>
              <a:t>            </a:t>
            </a:r>
            <a:r>
              <a:rPr lang="tr-TR" altLang="tr-TR" sz="3200">
                <a:solidFill>
                  <a:srgbClr val="FF3300"/>
                </a:solidFill>
              </a:rPr>
              <a:t>ENVIRONMENT AND CANCER</a:t>
            </a:r>
          </a:p>
        </p:txBody>
      </p:sp>
      <p:sp>
        <p:nvSpPr>
          <p:cNvPr id="30722" name="Rectangle 3">
            <a:extLst>
              <a:ext uri="{FF2B5EF4-FFF2-40B4-BE49-F238E27FC236}">
                <a16:creationId xmlns:a16="http://schemas.microsoft.com/office/drawing/2014/main" id="{3895D705-E135-6F9D-87C0-3F09FC7C2A39}"/>
              </a:ext>
            </a:extLst>
          </p:cNvPr>
          <p:cNvSpPr>
            <a:spLocks noGrp="1"/>
          </p:cNvSpPr>
          <p:nvPr>
            <p:ph idx="1"/>
          </p:nvPr>
        </p:nvSpPr>
        <p:spPr>
          <a:xfrm>
            <a:off x="539750" y="1773238"/>
            <a:ext cx="8007350" cy="4191000"/>
          </a:xfrm>
        </p:spPr>
        <p:txBody>
          <a:bodyPr/>
          <a:lstStyle/>
          <a:p>
            <a:pPr eaLnBrk="1" hangingPunct="1"/>
            <a:r>
              <a:rPr lang="tr-TR" altLang="tr-TR" sz="2800"/>
              <a:t>%27 of deaths are due to cancer in developped countries</a:t>
            </a:r>
          </a:p>
          <a:p>
            <a:pPr eaLnBrk="1" hangingPunct="1"/>
            <a:r>
              <a:rPr lang="tr-TR" altLang="tr-TR" sz="2800"/>
              <a:t>In developped countries lifetime cancer risk is 30%</a:t>
            </a:r>
          </a:p>
          <a:p>
            <a:pPr eaLnBrk="1" hangingPunct="1"/>
            <a:r>
              <a:rPr lang="tr-TR" altLang="tr-TR" sz="2800"/>
              <a:t>85-95% of cancers are due to environmental factors</a:t>
            </a:r>
            <a:endParaRPr lang="tr-TR" altLang="tr-TR" sz="280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Başlık 1">
            <a:extLst>
              <a:ext uri="{FF2B5EF4-FFF2-40B4-BE49-F238E27FC236}">
                <a16:creationId xmlns:a16="http://schemas.microsoft.com/office/drawing/2014/main" id="{137071C6-5040-A74C-B8EE-E82EAA4443A6}"/>
              </a:ext>
            </a:extLst>
          </p:cNvPr>
          <p:cNvSpPr>
            <a:spLocks noGrp="1"/>
          </p:cNvSpPr>
          <p:nvPr>
            <p:ph type="title"/>
          </p:nvPr>
        </p:nvSpPr>
        <p:spPr>
          <a:xfrm>
            <a:off x="457200" y="549275"/>
            <a:ext cx="8229600" cy="868363"/>
          </a:xfrm>
        </p:spPr>
        <p:txBody>
          <a:bodyPr rtlCol="0">
            <a:normAutofit fontScale="90000"/>
          </a:bodyPr>
          <a:lstStyle/>
          <a:p>
            <a:pPr eaLnBrk="1" fontAlgn="auto" hangingPunct="1">
              <a:spcAft>
                <a:spcPts val="0"/>
              </a:spcAft>
              <a:defRPr/>
            </a:pPr>
            <a:r>
              <a:rPr lang="en-US" altLang="tr-TR" sz="3600" dirty="0">
                <a:solidFill>
                  <a:srgbClr val="FF0000"/>
                </a:solidFill>
              </a:rPr>
              <a:t>Avoidable  Factors</a:t>
            </a:r>
            <a:br>
              <a:rPr lang="en-US" altLang="tr-TR" dirty="0"/>
            </a:br>
            <a:endParaRPr lang="tr-TR" altLang="tr-TR" dirty="0"/>
          </a:p>
        </p:txBody>
      </p:sp>
      <p:pic>
        <p:nvPicPr>
          <p:cNvPr id="31746" name="Picture 102" descr="3">
            <a:extLst>
              <a:ext uri="{FF2B5EF4-FFF2-40B4-BE49-F238E27FC236}">
                <a16:creationId xmlns:a16="http://schemas.microsoft.com/office/drawing/2014/main" id="{C7B841F2-DE8D-C739-C6A3-038C4B6B6F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8313" y="1484313"/>
            <a:ext cx="7912100" cy="4824412"/>
          </a:xfrm>
          <a:noFill/>
        </p:spPr>
      </p:pic>
      <p:sp>
        <p:nvSpPr>
          <p:cNvPr id="43012" name="Rectangle 103">
            <a:extLst>
              <a:ext uri="{FF2B5EF4-FFF2-40B4-BE49-F238E27FC236}">
                <a16:creationId xmlns:a16="http://schemas.microsoft.com/office/drawing/2014/main" id="{64B150C1-F08C-724B-B76F-3787C1A0E95A}"/>
              </a:ext>
            </a:extLst>
          </p:cNvPr>
          <p:cNvSpPr>
            <a:spLocks noChangeArrowheads="1"/>
          </p:cNvSpPr>
          <p:nvPr/>
        </p:nvSpPr>
        <p:spPr bwMode="auto">
          <a:xfrm>
            <a:off x="3995738" y="1484313"/>
            <a:ext cx="4818062" cy="3065462"/>
          </a:xfrm>
          <a:prstGeom prst="rect">
            <a:avLst/>
          </a:prstGeom>
          <a:solidFill>
            <a:schemeClr val="bg1">
              <a:lumMod val="75000"/>
            </a:schemeClr>
          </a:solidFill>
          <a:ln w="25400">
            <a:noFill/>
            <a:miter lim="800000"/>
            <a:headEnd/>
            <a:tailEnd type="none" w="sm" len="sm"/>
          </a:ln>
        </p:spPr>
        <p:txBody>
          <a:bodyPr lIns="0" tIns="0" rIns="0" bIns="0">
            <a:spAutoFit/>
          </a:bodyPr>
          <a:lstStyle/>
          <a:p>
            <a:pPr eaLnBrk="1" fontAlgn="auto" hangingPunct="1">
              <a:lnSpc>
                <a:spcPts val="1900"/>
              </a:lnSpc>
              <a:spcBef>
                <a:spcPts val="0"/>
              </a:spcBef>
              <a:spcAft>
                <a:spcPts val="0"/>
              </a:spcAft>
              <a:tabLst>
                <a:tab pos="228600" algn="l"/>
                <a:tab pos="2803525" algn="l"/>
              </a:tabLst>
              <a:defRPr/>
            </a:pPr>
            <a:r>
              <a:rPr lang="en-US" altLang="tr-TR" sz="2000" b="1" dirty="0">
                <a:latin typeface="+mn-lt"/>
                <a:ea typeface="MS PGothic" pitchFamily="34" charset="-128"/>
              </a:rPr>
              <a:t>Proportion of Cancer Deaths Linked to Avoidable Risk Factors</a:t>
            </a:r>
          </a:p>
          <a:p>
            <a:pPr eaLnBrk="1" fontAlgn="auto" hangingPunct="1">
              <a:lnSpc>
                <a:spcPts val="1900"/>
              </a:lnSpc>
              <a:spcBef>
                <a:spcPts val="600"/>
              </a:spcBef>
              <a:spcAft>
                <a:spcPts val="0"/>
              </a:spcAft>
              <a:tabLst>
                <a:tab pos="228600" algn="l"/>
                <a:tab pos="2803525" algn="l"/>
              </a:tabLst>
              <a:defRPr/>
            </a:pPr>
            <a:r>
              <a:rPr lang="en-US" altLang="tr-TR" b="1" dirty="0">
                <a:latin typeface="+mn-lt"/>
                <a:ea typeface="MS PGothic" pitchFamily="34" charset="-128"/>
              </a:rPr>
              <a:t>Tobacco	29–31 percent</a:t>
            </a:r>
          </a:p>
          <a:p>
            <a:pPr eaLnBrk="1" fontAlgn="auto" hangingPunct="1">
              <a:lnSpc>
                <a:spcPts val="2300"/>
              </a:lnSpc>
              <a:spcBef>
                <a:spcPts val="0"/>
              </a:spcBef>
              <a:spcAft>
                <a:spcPts val="0"/>
              </a:spcAft>
              <a:tabLst>
                <a:tab pos="228600" algn="l"/>
                <a:tab pos="2803525" algn="l"/>
              </a:tabLst>
              <a:defRPr/>
            </a:pPr>
            <a:r>
              <a:rPr lang="en-US" altLang="tr-TR" b="1" dirty="0">
                <a:latin typeface="+mn-lt"/>
                <a:ea typeface="MS PGothic" pitchFamily="34" charset="-128"/>
              </a:rPr>
              <a:t>Diet	20–50 percent</a:t>
            </a:r>
          </a:p>
          <a:p>
            <a:pPr eaLnBrk="1" fontAlgn="auto" hangingPunct="1">
              <a:lnSpc>
                <a:spcPts val="2200"/>
              </a:lnSpc>
              <a:spcBef>
                <a:spcPts val="0"/>
              </a:spcBef>
              <a:spcAft>
                <a:spcPts val="0"/>
              </a:spcAft>
              <a:tabLst>
                <a:tab pos="228600" algn="l"/>
                <a:tab pos="2803525" algn="l"/>
              </a:tabLst>
              <a:defRPr/>
            </a:pPr>
            <a:r>
              <a:rPr lang="en-US" altLang="tr-TR" b="1" dirty="0">
                <a:latin typeface="+mn-lt"/>
                <a:ea typeface="MS PGothic" pitchFamily="34" charset="-128"/>
              </a:rPr>
              <a:t>Infections:</a:t>
            </a:r>
          </a:p>
          <a:p>
            <a:pPr eaLnBrk="1" fontAlgn="auto" hangingPunct="1">
              <a:lnSpc>
                <a:spcPts val="1600"/>
              </a:lnSpc>
              <a:spcBef>
                <a:spcPts val="0"/>
              </a:spcBef>
              <a:spcAft>
                <a:spcPts val="0"/>
              </a:spcAft>
              <a:tabLst>
                <a:tab pos="228600" algn="l"/>
                <a:tab pos="2803525" algn="l"/>
              </a:tabLst>
              <a:defRPr/>
            </a:pPr>
            <a:r>
              <a:rPr lang="en-US" altLang="tr-TR" b="1" dirty="0">
                <a:latin typeface="+mn-lt"/>
                <a:ea typeface="MS PGothic" pitchFamily="34" charset="-128"/>
              </a:rPr>
              <a:t>	bacteria, viruses	10–20 percent</a:t>
            </a:r>
          </a:p>
          <a:p>
            <a:pPr eaLnBrk="1" fontAlgn="auto" hangingPunct="1">
              <a:lnSpc>
                <a:spcPts val="1900"/>
              </a:lnSpc>
              <a:spcBef>
                <a:spcPts val="300"/>
              </a:spcBef>
              <a:spcAft>
                <a:spcPts val="0"/>
              </a:spcAft>
              <a:tabLst>
                <a:tab pos="228600" algn="l"/>
                <a:tab pos="2803525" algn="l"/>
              </a:tabLst>
              <a:defRPr/>
            </a:pPr>
            <a:r>
              <a:rPr lang="en-US" altLang="tr-TR" b="1" dirty="0">
                <a:latin typeface="+mn-lt"/>
                <a:ea typeface="MS PGothic" pitchFamily="34" charset="-128"/>
              </a:rPr>
              <a:t>Ionizing and UV light	  5–7 percent</a:t>
            </a:r>
          </a:p>
          <a:p>
            <a:pPr eaLnBrk="1" fontAlgn="auto" hangingPunct="1">
              <a:lnSpc>
                <a:spcPts val="1900"/>
              </a:lnSpc>
              <a:spcBef>
                <a:spcPts val="300"/>
              </a:spcBef>
              <a:spcAft>
                <a:spcPts val="0"/>
              </a:spcAft>
              <a:tabLst>
                <a:tab pos="228600" algn="l"/>
                <a:tab pos="2803525" algn="l"/>
              </a:tabLst>
              <a:defRPr/>
            </a:pPr>
            <a:r>
              <a:rPr lang="en-US" altLang="tr-TR" b="1" dirty="0">
                <a:latin typeface="+mn-lt"/>
                <a:ea typeface="MS PGothic" pitchFamily="34" charset="-128"/>
              </a:rPr>
              <a:t>Occupation	  2–4 percent</a:t>
            </a:r>
          </a:p>
          <a:p>
            <a:pPr eaLnBrk="1" fontAlgn="auto" hangingPunct="1">
              <a:lnSpc>
                <a:spcPts val="1900"/>
              </a:lnSpc>
              <a:spcBef>
                <a:spcPts val="400"/>
              </a:spcBef>
              <a:spcAft>
                <a:spcPts val="0"/>
              </a:spcAft>
              <a:tabLst>
                <a:tab pos="228600" algn="l"/>
                <a:tab pos="2803525" algn="l"/>
              </a:tabLst>
              <a:defRPr/>
            </a:pPr>
            <a:r>
              <a:rPr lang="en-US" altLang="tr-TR" b="1" dirty="0">
                <a:latin typeface="+mn-lt"/>
                <a:ea typeface="MS PGothic" pitchFamily="34" charset="-128"/>
              </a:rPr>
              <a:t>Pollution:</a:t>
            </a:r>
          </a:p>
          <a:p>
            <a:pPr eaLnBrk="1" fontAlgn="auto" hangingPunct="1">
              <a:lnSpc>
                <a:spcPts val="1600"/>
              </a:lnSpc>
              <a:spcBef>
                <a:spcPts val="0"/>
              </a:spcBef>
              <a:spcAft>
                <a:spcPts val="0"/>
              </a:spcAft>
              <a:tabLst>
                <a:tab pos="228600" algn="l"/>
                <a:tab pos="2803525" algn="l"/>
              </a:tabLst>
              <a:defRPr/>
            </a:pPr>
            <a:r>
              <a:rPr lang="en-US" altLang="tr-TR" b="1" dirty="0">
                <a:latin typeface="+mn-lt"/>
                <a:ea typeface="MS PGothic" pitchFamily="34" charset="-128"/>
              </a:rPr>
              <a:t>	air, water, food	  1–5 percent</a:t>
            </a:r>
          </a:p>
          <a:p>
            <a:pPr eaLnBrk="1" fontAlgn="auto" hangingPunct="1">
              <a:lnSpc>
                <a:spcPts val="1300"/>
              </a:lnSpc>
              <a:spcBef>
                <a:spcPts val="600"/>
              </a:spcBef>
              <a:spcAft>
                <a:spcPts val="0"/>
              </a:spcAft>
              <a:tabLst>
                <a:tab pos="228600" algn="l"/>
                <a:tab pos="2803525" algn="l"/>
              </a:tabLst>
              <a:defRPr/>
            </a:pPr>
            <a:r>
              <a:rPr lang="en-US" altLang="tr-TR" sz="1200" b="1" dirty="0">
                <a:latin typeface="+mn-lt"/>
                <a:ea typeface="MS PGothic" pitchFamily="34" charset="-128"/>
              </a:rPr>
              <a:t>Source: Doll R. (UK data) Recent Results in </a:t>
            </a:r>
            <a:br>
              <a:rPr lang="en-US" altLang="tr-TR" sz="1200" b="1" dirty="0">
                <a:latin typeface="+mn-lt"/>
                <a:ea typeface="MS PGothic" pitchFamily="34" charset="-128"/>
              </a:rPr>
            </a:br>
            <a:r>
              <a:rPr lang="en-US" altLang="tr-TR" sz="1200" b="1" dirty="0">
                <a:latin typeface="+mn-lt"/>
                <a:ea typeface="MS PGothic" pitchFamily="34" charset="-128"/>
              </a:rPr>
              <a:t>Cancer Research 1998; 154:3-21.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22C6A621-881A-21F9-77BC-E873A0321752}"/>
              </a:ext>
            </a:extLst>
          </p:cNvPr>
          <p:cNvSpPr>
            <a:spLocks noGrp="1"/>
          </p:cNvSpPr>
          <p:nvPr>
            <p:ph type="title"/>
          </p:nvPr>
        </p:nvSpPr>
        <p:spPr/>
        <p:txBody>
          <a:bodyPr/>
          <a:lstStyle/>
          <a:p>
            <a:pPr eaLnBrk="1" hangingPunct="1"/>
            <a:r>
              <a:rPr lang="tr-TR" altLang="tr-TR" sz="2800">
                <a:solidFill>
                  <a:schemeClr val="hlink"/>
                </a:solidFill>
              </a:rPr>
              <a:t>REASONS SUPPORTING ENVIRONMENTAL FACTORS IN CANCER ETIOLOGY</a:t>
            </a:r>
          </a:p>
        </p:txBody>
      </p:sp>
      <p:sp>
        <p:nvSpPr>
          <p:cNvPr id="32770" name="Rectangle 3">
            <a:extLst>
              <a:ext uri="{FF2B5EF4-FFF2-40B4-BE49-F238E27FC236}">
                <a16:creationId xmlns:a16="http://schemas.microsoft.com/office/drawing/2014/main" id="{4880259D-32E1-5A84-2AC3-31BC4EBB07BE}"/>
              </a:ext>
            </a:extLst>
          </p:cNvPr>
          <p:cNvSpPr>
            <a:spLocks noGrp="1"/>
          </p:cNvSpPr>
          <p:nvPr>
            <p:ph idx="1"/>
          </p:nvPr>
        </p:nvSpPr>
        <p:spPr>
          <a:xfrm>
            <a:off x="428625" y="1500188"/>
            <a:ext cx="8229600" cy="4929187"/>
          </a:xfrm>
        </p:spPr>
        <p:txBody>
          <a:bodyPr/>
          <a:lstStyle/>
          <a:p>
            <a:pPr eaLnBrk="1" hangingPunct="1"/>
            <a:r>
              <a:rPr lang="tr-TR" altLang="tr-TR" sz="2800"/>
              <a:t>Dominance of certain cancer types in certain populations</a:t>
            </a:r>
          </a:p>
          <a:p>
            <a:pPr eaLnBrk="1" hangingPunct="1"/>
            <a:endParaRPr lang="tr-TR" altLang="tr-TR" sz="2800"/>
          </a:p>
          <a:p>
            <a:pPr eaLnBrk="1" hangingPunct="1"/>
            <a:r>
              <a:rPr lang="tr-TR" altLang="tr-TR" sz="2800"/>
              <a:t>Incidence change in migrated populations  </a:t>
            </a:r>
          </a:p>
          <a:p>
            <a:pPr eaLnBrk="1" hangingPunct="1"/>
            <a:endParaRPr lang="tr-TR" altLang="tr-TR" sz="2800"/>
          </a:p>
          <a:p>
            <a:pPr eaLnBrk="1" hangingPunct="1"/>
            <a:r>
              <a:rPr lang="tr-TR" altLang="tr-TR" sz="2800"/>
              <a:t>Incidence change by time</a:t>
            </a:r>
          </a:p>
          <a:p>
            <a:pPr eaLnBrk="1" hangingPunct="1"/>
            <a:endParaRPr lang="tr-TR" altLang="tr-TR" sz="2800"/>
          </a:p>
          <a:p>
            <a:pPr eaLnBrk="1" hangingPunct="1"/>
            <a:r>
              <a:rPr lang="tr-TR" altLang="tr-TR" sz="2800"/>
              <a:t>Increase in incidence of certain cancers after exposure to certain agents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2 İçerik Yer Tutucusu">
            <a:extLst>
              <a:ext uri="{FF2B5EF4-FFF2-40B4-BE49-F238E27FC236}">
                <a16:creationId xmlns:a16="http://schemas.microsoft.com/office/drawing/2014/main" id="{B4818244-0DF0-4F15-C4DF-FE105700AB75}"/>
              </a:ext>
            </a:extLst>
          </p:cNvPr>
          <p:cNvSpPr>
            <a:spLocks noGrp="1"/>
          </p:cNvSpPr>
          <p:nvPr>
            <p:ph idx="1"/>
          </p:nvPr>
        </p:nvSpPr>
        <p:spPr>
          <a:xfrm>
            <a:off x="500063" y="500063"/>
            <a:ext cx="8401050" cy="5929312"/>
          </a:xfrm>
        </p:spPr>
        <p:txBody>
          <a:bodyPr/>
          <a:lstStyle/>
          <a:p>
            <a:pPr eaLnBrk="1" hangingPunct="1"/>
            <a:r>
              <a:rPr lang="en-US" altLang="tr-TR" sz="2800"/>
              <a:t>There is clear discrimination of incidence and death rates between specific cancer types all around the world</a:t>
            </a:r>
          </a:p>
          <a:p>
            <a:pPr eaLnBrk="1" hangingPunct="1"/>
            <a:endParaRPr lang="en-US" altLang="tr-TR" sz="2800"/>
          </a:p>
          <a:p>
            <a:pPr eaLnBrk="1" hangingPunct="1"/>
            <a:r>
              <a:rPr lang="en-US" altLang="tr-TR" sz="2800"/>
              <a:t>Racial susceptibility cannot be excluded.</a:t>
            </a:r>
          </a:p>
          <a:p>
            <a:pPr eaLnBrk="1" hangingPunct="1"/>
            <a:r>
              <a:rPr lang="en-US" altLang="tr-TR" sz="2800"/>
              <a:t>It is believed that most of the geographic diferences are due to environmental reasons</a:t>
            </a:r>
          </a:p>
          <a:p>
            <a:pPr eaLnBrk="1" hangingPunct="1"/>
            <a:endParaRPr lang="en-US" altLang="tr-TR" sz="2800"/>
          </a:p>
          <a:p>
            <a:pPr eaLnBrk="1" hangingPunct="1"/>
            <a:r>
              <a:rPr lang="en-US" altLang="tr-TR" sz="2800"/>
              <a:t>This effect can be seen in comparison of mortality rates between Japanese emigrants to the USA and children born to these families in the USA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51" descr="4">
            <a:extLst>
              <a:ext uri="{FF2B5EF4-FFF2-40B4-BE49-F238E27FC236}">
                <a16:creationId xmlns:a16="http://schemas.microsoft.com/office/drawing/2014/main" id="{3DA2BA2E-13B8-A58B-82B3-ADD572431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8438" y="1447800"/>
            <a:ext cx="620077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Rectangle 2">
            <a:extLst>
              <a:ext uri="{FF2B5EF4-FFF2-40B4-BE49-F238E27FC236}">
                <a16:creationId xmlns:a16="http://schemas.microsoft.com/office/drawing/2014/main" id="{258A0119-8FA4-3D22-2923-88644154DA77}"/>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Influencing Rates and Risks</a:t>
            </a:r>
          </a:p>
        </p:txBody>
      </p:sp>
      <p:sp>
        <p:nvSpPr>
          <p:cNvPr id="35843" name="Rectangle 43">
            <a:extLst>
              <a:ext uri="{FF2B5EF4-FFF2-40B4-BE49-F238E27FC236}">
                <a16:creationId xmlns:a16="http://schemas.microsoft.com/office/drawing/2014/main" id="{9207BB37-06B8-A7A0-CC11-38CC1F24770D}"/>
              </a:ext>
            </a:extLst>
          </p:cNvPr>
          <p:cNvSpPr>
            <a:spLocks noChangeArrowheads="1"/>
          </p:cNvSpPr>
          <p:nvPr/>
        </p:nvSpPr>
        <p:spPr bwMode="auto">
          <a:xfrm>
            <a:off x="2047875" y="4130675"/>
            <a:ext cx="11080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r" eaLnBrk="1" hangingPunct="1">
              <a:lnSpc>
                <a:spcPts val="1500"/>
              </a:lnSpc>
              <a:spcBef>
                <a:spcPct val="0"/>
              </a:spcBef>
              <a:buFontTx/>
              <a:buNone/>
            </a:pPr>
            <a:r>
              <a:rPr lang="en-US" altLang="tr-TR" sz="1400" b="1">
                <a:latin typeface="Arial" panose="020B0604020202020204" pitchFamily="34" charset="0"/>
                <a:ea typeface="MS PGothic" panose="020B0600070205080204" pitchFamily="34" charset="-128"/>
              </a:rPr>
              <a:t>Japanese males born in Japan</a:t>
            </a:r>
          </a:p>
          <a:p>
            <a:pPr algn="r" eaLnBrk="1" hangingPunct="1">
              <a:lnSpc>
                <a:spcPts val="1500"/>
              </a:lnSpc>
              <a:spcBef>
                <a:spcPts val="400"/>
              </a:spcBef>
              <a:buFontTx/>
              <a:buNone/>
            </a:pPr>
            <a:r>
              <a:rPr lang="en-US" altLang="tr-TR" sz="1400" b="1">
                <a:latin typeface="Arial" panose="020B0604020202020204" pitchFamily="34" charset="0"/>
                <a:ea typeface="MS PGothic" panose="020B0600070205080204" pitchFamily="34" charset="-128"/>
              </a:rPr>
              <a:t>69.3</a:t>
            </a:r>
          </a:p>
        </p:txBody>
      </p:sp>
      <p:sp>
        <p:nvSpPr>
          <p:cNvPr id="35844" name="Rectangle 44">
            <a:extLst>
              <a:ext uri="{FF2B5EF4-FFF2-40B4-BE49-F238E27FC236}">
                <a16:creationId xmlns:a16="http://schemas.microsoft.com/office/drawing/2014/main" id="{131585B6-7F4E-79C2-30CF-10066E88F48D}"/>
              </a:ext>
            </a:extLst>
          </p:cNvPr>
          <p:cNvSpPr>
            <a:spLocks noChangeArrowheads="1"/>
          </p:cNvSpPr>
          <p:nvPr/>
        </p:nvSpPr>
        <p:spPr bwMode="auto">
          <a:xfrm>
            <a:off x="5481638" y="1174750"/>
            <a:ext cx="1474787"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ts val="1900"/>
              </a:lnSpc>
              <a:spcBef>
                <a:spcPct val="0"/>
              </a:spcBef>
              <a:buFontTx/>
              <a:buNone/>
            </a:pPr>
            <a:r>
              <a:rPr lang="en-US" altLang="tr-TR" sz="1800" b="1">
                <a:latin typeface="Arial" panose="020B0604020202020204" pitchFamily="34" charset="0"/>
                <a:ea typeface="MS PGothic" panose="020B0600070205080204" pitchFamily="34" charset="-128"/>
              </a:rPr>
              <a:t>United States</a:t>
            </a:r>
          </a:p>
        </p:txBody>
      </p:sp>
      <p:sp>
        <p:nvSpPr>
          <p:cNvPr id="35845" name="Rectangle 45">
            <a:extLst>
              <a:ext uri="{FF2B5EF4-FFF2-40B4-BE49-F238E27FC236}">
                <a16:creationId xmlns:a16="http://schemas.microsoft.com/office/drawing/2014/main" id="{620AE4B8-76BD-6CD7-ED58-7E48E1301FE3}"/>
              </a:ext>
            </a:extLst>
          </p:cNvPr>
          <p:cNvSpPr>
            <a:spLocks noChangeArrowheads="1"/>
          </p:cNvSpPr>
          <p:nvPr/>
        </p:nvSpPr>
        <p:spPr bwMode="auto">
          <a:xfrm>
            <a:off x="30163" y="1544638"/>
            <a:ext cx="293528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*Annual incidence rate per 100,000</a:t>
            </a:r>
          </a:p>
        </p:txBody>
      </p:sp>
      <p:sp>
        <p:nvSpPr>
          <p:cNvPr id="35846" name="Rectangle 46">
            <a:extLst>
              <a:ext uri="{FF2B5EF4-FFF2-40B4-BE49-F238E27FC236}">
                <a16:creationId xmlns:a16="http://schemas.microsoft.com/office/drawing/2014/main" id="{7518EA11-6631-249E-AE7E-568D62662106}"/>
              </a:ext>
            </a:extLst>
          </p:cNvPr>
          <p:cNvSpPr>
            <a:spLocks noChangeArrowheads="1"/>
          </p:cNvSpPr>
          <p:nvPr/>
        </p:nvSpPr>
        <p:spPr bwMode="auto">
          <a:xfrm>
            <a:off x="2516188" y="782638"/>
            <a:ext cx="41036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900"/>
              </a:lnSpc>
              <a:spcBef>
                <a:spcPct val="0"/>
              </a:spcBef>
              <a:buFontTx/>
              <a:buNone/>
            </a:pPr>
            <a:r>
              <a:rPr lang="en-US" altLang="tr-TR" sz="2000" b="1">
                <a:latin typeface="Arial" panose="020B0604020202020204" pitchFamily="34" charset="0"/>
                <a:ea typeface="MS PGothic" panose="020B0600070205080204" pitchFamily="34" charset="-128"/>
              </a:rPr>
              <a:t>New Cases of Colorectal  Cancer*</a:t>
            </a:r>
          </a:p>
        </p:txBody>
      </p:sp>
      <p:sp>
        <p:nvSpPr>
          <p:cNvPr id="35847" name="Rectangle 47">
            <a:extLst>
              <a:ext uri="{FF2B5EF4-FFF2-40B4-BE49-F238E27FC236}">
                <a16:creationId xmlns:a16="http://schemas.microsoft.com/office/drawing/2014/main" id="{B8215AFF-19EB-424E-03D0-D1C172B88787}"/>
              </a:ext>
            </a:extLst>
          </p:cNvPr>
          <p:cNvSpPr>
            <a:spLocks noChangeArrowheads="1"/>
          </p:cNvSpPr>
          <p:nvPr/>
        </p:nvSpPr>
        <p:spPr bwMode="auto">
          <a:xfrm>
            <a:off x="3778250" y="1174750"/>
            <a:ext cx="666750"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ts val="1900"/>
              </a:lnSpc>
              <a:spcBef>
                <a:spcPct val="0"/>
              </a:spcBef>
              <a:buFontTx/>
              <a:buNone/>
            </a:pPr>
            <a:r>
              <a:rPr lang="en-US" altLang="tr-TR" sz="1800" b="1">
                <a:latin typeface="Arial" panose="020B0604020202020204" pitchFamily="34" charset="0"/>
                <a:ea typeface="MS PGothic" panose="020B0600070205080204" pitchFamily="34" charset="-128"/>
              </a:rPr>
              <a:t>Japan</a:t>
            </a:r>
          </a:p>
        </p:txBody>
      </p:sp>
      <p:sp>
        <p:nvSpPr>
          <p:cNvPr id="35848" name="Rectangle 48">
            <a:extLst>
              <a:ext uri="{FF2B5EF4-FFF2-40B4-BE49-F238E27FC236}">
                <a16:creationId xmlns:a16="http://schemas.microsoft.com/office/drawing/2014/main" id="{55339609-C8DE-18F7-533D-EE145F07EF7C}"/>
              </a:ext>
            </a:extLst>
          </p:cNvPr>
          <p:cNvSpPr>
            <a:spLocks noChangeArrowheads="1"/>
          </p:cNvSpPr>
          <p:nvPr/>
        </p:nvSpPr>
        <p:spPr bwMode="auto">
          <a:xfrm>
            <a:off x="6680200" y="3722688"/>
            <a:ext cx="998538"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ts val="1500"/>
              </a:lnSpc>
              <a:spcBef>
                <a:spcPct val="0"/>
              </a:spcBef>
              <a:buFontTx/>
              <a:buNone/>
            </a:pPr>
            <a:r>
              <a:rPr lang="en-US" altLang="tr-TR" sz="1400" b="1">
                <a:latin typeface="Arial" panose="020B0604020202020204" pitchFamily="34" charset="0"/>
                <a:ea typeface="MS PGothic" panose="020B0600070205080204" pitchFamily="34" charset="-128"/>
              </a:rPr>
              <a:t>Japanese females </a:t>
            </a:r>
            <a:br>
              <a:rPr lang="en-US" altLang="tr-TR" sz="1400" b="1">
                <a:latin typeface="Arial" panose="020B0604020202020204" pitchFamily="34" charset="0"/>
                <a:ea typeface="MS PGothic" panose="020B0600070205080204" pitchFamily="34" charset="-128"/>
              </a:rPr>
            </a:br>
            <a:r>
              <a:rPr lang="en-US" altLang="tr-TR" sz="1400" b="1">
                <a:latin typeface="Arial" panose="020B0604020202020204" pitchFamily="34" charset="0"/>
                <a:ea typeface="MS PGothic" panose="020B0600070205080204" pitchFamily="34" charset="-128"/>
              </a:rPr>
              <a:t>born </a:t>
            </a:r>
            <a:br>
              <a:rPr lang="en-US" altLang="tr-TR" sz="1400" b="1">
                <a:latin typeface="Arial" panose="020B0604020202020204" pitchFamily="34" charset="0"/>
                <a:ea typeface="MS PGothic" panose="020B0600070205080204" pitchFamily="34" charset="-128"/>
              </a:rPr>
            </a:br>
            <a:r>
              <a:rPr lang="en-US" altLang="tr-TR" sz="1400" b="1">
                <a:latin typeface="Arial" panose="020B0604020202020204" pitchFamily="34" charset="0"/>
                <a:ea typeface="MS PGothic" panose="020B0600070205080204" pitchFamily="34" charset="-128"/>
              </a:rPr>
              <a:t>in U.S. </a:t>
            </a:r>
          </a:p>
          <a:p>
            <a:pPr eaLnBrk="1" hangingPunct="1">
              <a:lnSpc>
                <a:spcPts val="1500"/>
              </a:lnSpc>
              <a:spcBef>
                <a:spcPts val="400"/>
              </a:spcBef>
              <a:buFontTx/>
              <a:buNone/>
            </a:pPr>
            <a:r>
              <a:rPr lang="en-US" altLang="tr-TR" sz="1400" b="1">
                <a:latin typeface="Arial" panose="020B0604020202020204" pitchFamily="34" charset="0"/>
                <a:ea typeface="MS PGothic" panose="020B0600070205080204" pitchFamily="34" charset="-128"/>
              </a:rPr>
              <a:t>90.1</a:t>
            </a:r>
          </a:p>
        </p:txBody>
      </p:sp>
      <p:sp>
        <p:nvSpPr>
          <p:cNvPr id="35849" name="Rectangle 49">
            <a:extLst>
              <a:ext uri="{FF2B5EF4-FFF2-40B4-BE49-F238E27FC236}">
                <a16:creationId xmlns:a16="http://schemas.microsoft.com/office/drawing/2014/main" id="{68B83042-9977-1EF4-3A85-A3E56321D60B}"/>
              </a:ext>
            </a:extLst>
          </p:cNvPr>
          <p:cNvSpPr>
            <a:spLocks noChangeArrowheads="1"/>
          </p:cNvSpPr>
          <p:nvPr/>
        </p:nvSpPr>
        <p:spPr bwMode="auto">
          <a:xfrm>
            <a:off x="4224338" y="4130675"/>
            <a:ext cx="12509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ts val="1500"/>
              </a:lnSpc>
              <a:spcBef>
                <a:spcPct val="0"/>
              </a:spcBef>
              <a:buFontTx/>
              <a:buNone/>
            </a:pPr>
            <a:r>
              <a:rPr lang="en-US" altLang="tr-TR" sz="1400" b="1">
                <a:latin typeface="Arial" panose="020B0604020202020204" pitchFamily="34" charset="0"/>
                <a:ea typeface="MS PGothic" panose="020B0600070205080204" pitchFamily="34" charset="-128"/>
              </a:rPr>
              <a:t>Japanese females born in Japan </a:t>
            </a:r>
          </a:p>
          <a:p>
            <a:pPr eaLnBrk="1" hangingPunct="1">
              <a:lnSpc>
                <a:spcPts val="1500"/>
              </a:lnSpc>
              <a:spcBef>
                <a:spcPts val="400"/>
              </a:spcBef>
              <a:buFontTx/>
              <a:buNone/>
            </a:pPr>
            <a:r>
              <a:rPr lang="en-US" altLang="tr-TR" sz="1400" b="1">
                <a:latin typeface="Arial" panose="020B0604020202020204" pitchFamily="34" charset="0"/>
                <a:ea typeface="MS PGothic" panose="020B0600070205080204" pitchFamily="34" charset="-128"/>
              </a:rPr>
              <a:t>63.5</a:t>
            </a:r>
          </a:p>
        </p:txBody>
      </p:sp>
      <p:sp>
        <p:nvSpPr>
          <p:cNvPr id="35850" name="Rectangle 50">
            <a:extLst>
              <a:ext uri="{FF2B5EF4-FFF2-40B4-BE49-F238E27FC236}">
                <a16:creationId xmlns:a16="http://schemas.microsoft.com/office/drawing/2014/main" id="{8FA47CB8-81B2-0614-CC81-565148A2C082}"/>
              </a:ext>
            </a:extLst>
          </p:cNvPr>
          <p:cNvSpPr>
            <a:spLocks noChangeArrowheads="1"/>
          </p:cNvSpPr>
          <p:nvPr/>
        </p:nvSpPr>
        <p:spPr bwMode="auto">
          <a:xfrm>
            <a:off x="4468813" y="3219450"/>
            <a:ext cx="1128712"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r" eaLnBrk="1" hangingPunct="1">
              <a:lnSpc>
                <a:spcPts val="1500"/>
              </a:lnSpc>
              <a:spcBef>
                <a:spcPct val="0"/>
              </a:spcBef>
              <a:buFontTx/>
              <a:buNone/>
            </a:pPr>
            <a:r>
              <a:rPr lang="en-US" altLang="tr-TR" sz="1400" b="1">
                <a:latin typeface="Arial" panose="020B0604020202020204" pitchFamily="34" charset="0"/>
                <a:ea typeface="MS PGothic" panose="020B0600070205080204" pitchFamily="34" charset="-128"/>
              </a:rPr>
              <a:t>Japanese males born in U.S.</a:t>
            </a:r>
          </a:p>
          <a:p>
            <a:pPr algn="r" eaLnBrk="1" hangingPunct="1">
              <a:lnSpc>
                <a:spcPts val="1500"/>
              </a:lnSpc>
              <a:spcBef>
                <a:spcPts val="400"/>
              </a:spcBef>
              <a:buFontTx/>
              <a:buNone/>
            </a:pPr>
            <a:r>
              <a:rPr lang="en-US" altLang="tr-TR" sz="1400" b="1">
                <a:latin typeface="Arial" panose="020B0604020202020204" pitchFamily="34" charset="0"/>
                <a:ea typeface="MS PGothic" panose="020B0600070205080204" pitchFamily="34" charset="-128"/>
              </a:rPr>
              <a:t>142.5</a:t>
            </a:r>
          </a:p>
        </p:txBody>
      </p:sp>
      <p:sp>
        <p:nvSpPr>
          <p:cNvPr id="35851" name="Line 52">
            <a:extLst>
              <a:ext uri="{FF2B5EF4-FFF2-40B4-BE49-F238E27FC236}">
                <a16:creationId xmlns:a16="http://schemas.microsoft.com/office/drawing/2014/main" id="{EE226C7F-BB0B-E777-9796-5754328C6ABC}"/>
              </a:ext>
            </a:extLst>
          </p:cNvPr>
          <p:cNvSpPr>
            <a:spLocks noChangeShapeType="1"/>
          </p:cNvSpPr>
          <p:nvPr/>
        </p:nvSpPr>
        <p:spPr bwMode="auto">
          <a:xfrm>
            <a:off x="4508500" y="1309688"/>
            <a:ext cx="874713" cy="0"/>
          </a:xfrm>
          <a:prstGeom prst="line">
            <a:avLst/>
          </a:prstGeom>
          <a:noFill/>
          <a:ln w="25400">
            <a:solidFill>
              <a:schemeClr val="bg1"/>
            </a:solidFill>
            <a:round/>
            <a:headEnd/>
            <a:tailEnd type="triangle" w="sm" len="sm"/>
          </a:ln>
          <a:extLst>
            <a:ext uri="{909E8E84-426E-40DD-AFC4-6F175D3DCCD1}">
              <a14:hiddenFill xmlns:a14="http://schemas.microsoft.com/office/drawing/2010/main">
                <a:noFill/>
              </a14:hiddenFill>
            </a:ext>
          </a:extLst>
        </p:spPr>
        <p:txBody>
          <a:bodyPr lIns="0" tIns="0" rIns="0" bIns="0" anchor="ctr">
            <a:spAutoFit/>
          </a:bodyPr>
          <a:lstStyle/>
          <a:p>
            <a:endParaRPr lang="tr-TR"/>
          </a:p>
        </p:txBody>
      </p:sp>
      <p:sp>
        <p:nvSpPr>
          <p:cNvPr id="35852" name="Dikdörtgen 1">
            <a:extLst>
              <a:ext uri="{FF2B5EF4-FFF2-40B4-BE49-F238E27FC236}">
                <a16:creationId xmlns:a16="http://schemas.microsoft.com/office/drawing/2014/main" id="{AAC8E268-3335-EA9C-2622-168D9D6DAC04}"/>
              </a:ext>
            </a:extLst>
          </p:cNvPr>
          <p:cNvSpPr>
            <a:spLocks noChangeArrowheads="1"/>
          </p:cNvSpPr>
          <p:nvPr/>
        </p:nvSpPr>
        <p:spPr bwMode="auto">
          <a:xfrm>
            <a:off x="176213" y="5697538"/>
            <a:ext cx="87836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tr-TR">
                <a:latin typeface="Times" pitchFamily="18" charset="0"/>
              </a:rPr>
              <a:t>So scientists study what exposures or characteristics differ between Japanese immigrants and their descendants in the U.S. to better understand the environmental factors that may be influencing their colon cancer rates and risks</a:t>
            </a:r>
            <a:endParaRPr lang="tr-TR" altLang="tr-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257E711-3EF0-7182-8238-9B063A72C1AC}"/>
              </a:ext>
            </a:extLst>
          </p:cNvPr>
          <p:cNvSpPr>
            <a:spLocks noGrp="1"/>
          </p:cNvSpPr>
          <p:nvPr>
            <p:ph type="title"/>
          </p:nvPr>
        </p:nvSpPr>
        <p:spPr>
          <a:xfrm>
            <a:off x="457200" y="274638"/>
            <a:ext cx="8229600" cy="931862"/>
          </a:xfrm>
        </p:spPr>
        <p:txBody>
          <a:bodyPr/>
          <a:lstStyle/>
          <a:p>
            <a:pPr eaLnBrk="1" hangingPunct="1"/>
            <a:r>
              <a:rPr lang="tr-TR" altLang="tr-TR" sz="3200">
                <a:solidFill>
                  <a:srgbClr val="FF3300"/>
                </a:solidFill>
              </a:rPr>
              <a:t>CARCINOGENES</a:t>
            </a:r>
          </a:p>
        </p:txBody>
      </p:sp>
      <p:sp>
        <p:nvSpPr>
          <p:cNvPr id="34819" name="Rectangle 3">
            <a:extLst>
              <a:ext uri="{FF2B5EF4-FFF2-40B4-BE49-F238E27FC236}">
                <a16:creationId xmlns:a16="http://schemas.microsoft.com/office/drawing/2014/main" id="{CB47C78F-845C-5746-AAD0-109F256F85A1}"/>
              </a:ext>
            </a:extLst>
          </p:cNvPr>
          <p:cNvSpPr>
            <a:spLocks noGrp="1" noChangeArrowheads="1"/>
          </p:cNvSpPr>
          <p:nvPr>
            <p:ph idx="1"/>
          </p:nvPr>
        </p:nvSpPr>
        <p:spPr>
          <a:xfrm>
            <a:off x="468313" y="1557338"/>
            <a:ext cx="8054975" cy="4953000"/>
          </a:xfrm>
        </p:spPr>
        <p:txBody>
          <a:bodyPr rtlCol="0">
            <a:normAutofit/>
          </a:bodyPr>
          <a:lstStyle/>
          <a:p>
            <a:pPr eaLnBrk="1" fontAlgn="auto" hangingPunct="1">
              <a:spcAft>
                <a:spcPts val="0"/>
              </a:spcAft>
              <a:defRPr/>
            </a:pPr>
            <a:r>
              <a:rPr lang="en-US" altLang="tr-TR" sz="2800" dirty="0"/>
              <a:t>The substances which increase the cancer incidence in experimental animals when contacted to them</a:t>
            </a:r>
          </a:p>
          <a:p>
            <a:pPr marL="0" indent="0" eaLnBrk="1" fontAlgn="auto" hangingPunct="1">
              <a:spcAft>
                <a:spcPts val="0"/>
              </a:spcAft>
              <a:buFontTx/>
              <a:buNone/>
              <a:defRPr/>
            </a:pPr>
            <a:endParaRPr lang="en-US" altLang="tr-TR" sz="2800" dirty="0"/>
          </a:p>
          <a:p>
            <a:pPr eaLnBrk="1" fontAlgn="auto" hangingPunct="1">
              <a:spcAft>
                <a:spcPts val="0"/>
              </a:spcAft>
              <a:defRPr/>
            </a:pPr>
            <a:r>
              <a:rPr lang="en-US" altLang="tr-TR" sz="2800" dirty="0"/>
              <a:t>1775, Percival Pott first time demonstrated the role of environmental chemicals in cancer. Increased risk of scrotal cancer in chimney sweeps was defined. Years later the carcinogenic  in it   is defined as polycyclic aromatic hydrocarbons agent.</a:t>
            </a:r>
            <a:endParaRPr lang="en-US" altLang="tr-T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1 Başlık">
            <a:extLst>
              <a:ext uri="{FF2B5EF4-FFF2-40B4-BE49-F238E27FC236}">
                <a16:creationId xmlns:a16="http://schemas.microsoft.com/office/drawing/2014/main" id="{A05BDC91-88A6-B922-792B-9C6F717E2147}"/>
              </a:ext>
            </a:extLst>
          </p:cNvPr>
          <p:cNvSpPr>
            <a:spLocks noGrp="1"/>
          </p:cNvSpPr>
          <p:nvPr>
            <p:ph type="title"/>
          </p:nvPr>
        </p:nvSpPr>
        <p:spPr>
          <a:xfrm>
            <a:off x="457200" y="274638"/>
            <a:ext cx="8229600" cy="1511300"/>
          </a:xfrm>
        </p:spPr>
        <p:txBody>
          <a:bodyPr/>
          <a:lstStyle/>
          <a:p>
            <a:pPr eaLnBrk="1" hangingPunct="1"/>
            <a:r>
              <a:rPr lang="tr-TR" altLang="tr-TR" sz="3200">
                <a:solidFill>
                  <a:srgbClr val="FF0000"/>
                </a:solidFill>
              </a:rPr>
              <a:t>Agents that can be carcinogenic IARC(The International Agency for Research on Cancer) categorization</a:t>
            </a:r>
          </a:p>
        </p:txBody>
      </p:sp>
      <p:sp>
        <p:nvSpPr>
          <p:cNvPr id="39938" name="7 Metin kutusu">
            <a:extLst>
              <a:ext uri="{FF2B5EF4-FFF2-40B4-BE49-F238E27FC236}">
                <a16:creationId xmlns:a16="http://schemas.microsoft.com/office/drawing/2014/main" id="{19B1F581-C446-BA5F-0885-9D6E481AE7D3}"/>
              </a:ext>
            </a:extLst>
          </p:cNvPr>
          <p:cNvSpPr txBox="1">
            <a:spLocks noChangeArrowheads="1"/>
          </p:cNvSpPr>
          <p:nvPr/>
        </p:nvSpPr>
        <p:spPr bwMode="auto">
          <a:xfrm>
            <a:off x="2987824" y="6245225"/>
            <a:ext cx="58308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tr-TR" altLang="tr-TR" sz="1600" dirty="0" err="1">
                <a:latin typeface="Arial" panose="020B0604020202020204" pitchFamily="34" charset="0"/>
              </a:rPr>
              <a:t>https</a:t>
            </a:r>
            <a:r>
              <a:rPr lang="tr-TR" altLang="tr-TR" sz="1600" dirty="0">
                <a:latin typeface="Arial" panose="020B0604020202020204" pitchFamily="34" charset="0"/>
              </a:rPr>
              <a:t>://</a:t>
            </a:r>
            <a:r>
              <a:rPr lang="tr-TR" altLang="tr-TR" sz="1600" dirty="0" err="1">
                <a:latin typeface="Arial" panose="020B0604020202020204" pitchFamily="34" charset="0"/>
              </a:rPr>
              <a:t>monographs.iarc.who.int</a:t>
            </a:r>
            <a:r>
              <a:rPr lang="tr-TR" altLang="tr-TR" sz="1600" dirty="0">
                <a:latin typeface="Arial" panose="020B0604020202020204" pitchFamily="34" charset="0"/>
              </a:rPr>
              <a:t>/</a:t>
            </a:r>
            <a:r>
              <a:rPr lang="tr-TR" altLang="tr-TR" sz="1600" dirty="0" err="1">
                <a:latin typeface="Arial" panose="020B0604020202020204" pitchFamily="34" charset="0"/>
              </a:rPr>
              <a:t>agents-classified-by-the-iarc</a:t>
            </a:r>
            <a:r>
              <a:rPr lang="tr-TR" altLang="tr-TR" sz="1600" dirty="0">
                <a:latin typeface="Arial" panose="020B0604020202020204" pitchFamily="34" charset="0"/>
              </a:rPr>
              <a:t>/</a:t>
            </a:r>
          </a:p>
        </p:txBody>
      </p:sp>
      <p:pic>
        <p:nvPicPr>
          <p:cNvPr id="4" name="İçerik Yer Tutucusu 3" descr="metin, ekran görüntüsü, yazı tipi içeren bir resim&#10;&#10;Yapay zeka tarafından oluşturulmuş içerik yanlış olabilir.">
            <a:extLst>
              <a:ext uri="{FF2B5EF4-FFF2-40B4-BE49-F238E27FC236}">
                <a16:creationId xmlns:a16="http://schemas.microsoft.com/office/drawing/2014/main" id="{97DCBF82-83B5-C897-ECA9-7FEE985028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8650" y="1963939"/>
            <a:ext cx="7886700" cy="4074709"/>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93D73F-AEAE-745C-4B45-CB4EC24358D3}"/>
              </a:ext>
            </a:extLst>
          </p:cNvPr>
          <p:cNvSpPr>
            <a:spLocks noGrp="1"/>
          </p:cNvSpPr>
          <p:nvPr>
            <p:ph type="title"/>
          </p:nvPr>
        </p:nvSpPr>
        <p:spPr/>
        <p:txBody>
          <a:bodyPr/>
          <a:lstStyle/>
          <a:p>
            <a:endParaRPr lang="tr-TR"/>
          </a:p>
        </p:txBody>
      </p:sp>
      <p:pic>
        <p:nvPicPr>
          <p:cNvPr id="5" name="İçerik Yer Tutucusu 4" descr="metin, ekran görüntüsü, sayı, numara, yazı tipi içeren bir resim&#10;&#10;Yapay zeka tarafından oluşturulmuş içerik yanlış olabilir.">
            <a:extLst>
              <a:ext uri="{FF2B5EF4-FFF2-40B4-BE49-F238E27FC236}">
                <a16:creationId xmlns:a16="http://schemas.microsoft.com/office/drawing/2014/main" id="{6DEC7D8C-9345-F835-CCDA-CB59E44175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4392" y="393886"/>
            <a:ext cx="7195897" cy="5966656"/>
          </a:xfrm>
        </p:spPr>
      </p:pic>
    </p:spTree>
    <p:extLst>
      <p:ext uri="{BB962C8B-B14F-4D97-AF65-F5344CB8AC3E}">
        <p14:creationId xmlns:p14="http://schemas.microsoft.com/office/powerpoint/2010/main" val="116317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F71AD4C5-CD8C-C0CB-DEC6-377196220387}"/>
              </a:ext>
            </a:extLst>
          </p:cNvPr>
          <p:cNvSpPr>
            <a:spLocks noGrp="1"/>
          </p:cNvSpPr>
          <p:nvPr>
            <p:ph type="title"/>
          </p:nvPr>
        </p:nvSpPr>
        <p:spPr/>
        <p:txBody>
          <a:bodyPr/>
          <a:lstStyle/>
          <a:p>
            <a:pPr eaLnBrk="1" hangingPunct="1"/>
            <a:r>
              <a:rPr lang="en-US" altLang="tr-TR" sz="3600">
                <a:solidFill>
                  <a:srgbClr val="FF0000"/>
                </a:solidFill>
              </a:rPr>
              <a:t>How do carcinogens enter the body?</a:t>
            </a:r>
          </a:p>
        </p:txBody>
      </p:sp>
      <p:sp>
        <p:nvSpPr>
          <p:cNvPr id="41986" name="Rectangle 3">
            <a:extLst>
              <a:ext uri="{FF2B5EF4-FFF2-40B4-BE49-F238E27FC236}">
                <a16:creationId xmlns:a16="http://schemas.microsoft.com/office/drawing/2014/main" id="{ECE50D16-FA6F-4C8B-0AAD-0A529124328E}"/>
              </a:ext>
            </a:extLst>
          </p:cNvPr>
          <p:cNvSpPr>
            <a:spLocks noGrp="1"/>
          </p:cNvSpPr>
          <p:nvPr>
            <p:ph idx="1"/>
          </p:nvPr>
        </p:nvSpPr>
        <p:spPr/>
        <p:txBody>
          <a:bodyPr/>
          <a:lstStyle/>
          <a:p>
            <a:pPr eaLnBrk="1" hangingPunct="1">
              <a:buFont typeface="Monotype Sorts" pitchFamily="2" charset="2"/>
              <a:buChar char="_"/>
            </a:pPr>
            <a:r>
              <a:rPr lang="en-US" altLang="tr-TR">
                <a:solidFill>
                  <a:schemeClr val="tx2"/>
                </a:solidFill>
              </a:rPr>
              <a:t>Skin absorption.  Many solvents and other chemicals go directly through the skin.</a:t>
            </a:r>
          </a:p>
          <a:p>
            <a:pPr eaLnBrk="1" hangingPunct="1">
              <a:buFont typeface="Monotype Sorts" pitchFamily="2" charset="2"/>
              <a:buChar char="_"/>
            </a:pPr>
            <a:r>
              <a:rPr lang="en-US" altLang="tr-TR">
                <a:solidFill>
                  <a:schemeClr val="tx2"/>
                </a:solidFill>
              </a:rPr>
              <a:t>Ingestion.  Swallowing of a carcinogen.</a:t>
            </a:r>
          </a:p>
          <a:p>
            <a:pPr eaLnBrk="1" hangingPunct="1">
              <a:buFont typeface="Monotype Sorts" pitchFamily="2" charset="2"/>
              <a:buChar char="_"/>
            </a:pPr>
            <a:r>
              <a:rPr lang="en-US" altLang="tr-TR">
                <a:solidFill>
                  <a:schemeClr val="tx2"/>
                </a:solidFill>
              </a:rPr>
              <a:t>Inhalation.  Breathing gases, fumes and vapors is the most common form of exposure.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Başlık 1">
            <a:extLst>
              <a:ext uri="{FF2B5EF4-FFF2-40B4-BE49-F238E27FC236}">
                <a16:creationId xmlns:a16="http://schemas.microsoft.com/office/drawing/2014/main" id="{5DDFD492-B377-35FC-FDCE-B6B62FACD9C3}"/>
              </a:ext>
            </a:extLst>
          </p:cNvPr>
          <p:cNvSpPr>
            <a:spLocks noGrp="1"/>
          </p:cNvSpPr>
          <p:nvPr>
            <p:ph type="title"/>
          </p:nvPr>
        </p:nvSpPr>
        <p:spPr/>
        <p:txBody>
          <a:bodyPr/>
          <a:lstStyle/>
          <a:p>
            <a:pPr eaLnBrk="1" hangingPunct="1"/>
            <a:endParaRPr lang="tr-TR" altLang="tr-TR"/>
          </a:p>
        </p:txBody>
      </p:sp>
      <p:sp>
        <p:nvSpPr>
          <p:cNvPr id="44034" name="İçerik Yer Tutucusu 2">
            <a:extLst>
              <a:ext uri="{FF2B5EF4-FFF2-40B4-BE49-F238E27FC236}">
                <a16:creationId xmlns:a16="http://schemas.microsoft.com/office/drawing/2014/main" id="{FA9DCD79-1331-6F44-402F-C0CAD1106C41}"/>
              </a:ext>
            </a:extLst>
          </p:cNvPr>
          <p:cNvSpPr>
            <a:spLocks noGrp="1"/>
          </p:cNvSpPr>
          <p:nvPr>
            <p:ph sz="half" idx="1"/>
          </p:nvPr>
        </p:nvSpPr>
        <p:spPr>
          <a:xfrm>
            <a:off x="628650" y="5516563"/>
            <a:ext cx="7662863" cy="936625"/>
          </a:xfrm>
        </p:spPr>
        <p:txBody>
          <a:bodyPr/>
          <a:lstStyle/>
          <a:p>
            <a:pPr eaLnBrk="1" hangingPunct="1"/>
            <a:r>
              <a:rPr lang="en-US" altLang="tr-TR" sz="1100"/>
              <a:t>About 20 ingredients in pesticides have been found to cause cancer in animals. Studies of people with high exposure to pesticides--farmers, crop duster pilots, pesticide manufacturers--have shown higher rates of blood and lymphatic system cancers in these people, as well as melanoma and cancers of the lip, stomach, brain, lung, and prostate.</a:t>
            </a:r>
            <a:endParaRPr lang="tr-TR" altLang="tr-TR" sz="1100"/>
          </a:p>
        </p:txBody>
      </p:sp>
      <p:sp>
        <p:nvSpPr>
          <p:cNvPr id="44035" name="İçerik Yer Tutucusu 3">
            <a:extLst>
              <a:ext uri="{FF2B5EF4-FFF2-40B4-BE49-F238E27FC236}">
                <a16:creationId xmlns:a16="http://schemas.microsoft.com/office/drawing/2014/main" id="{5F065277-0ED4-4D16-249F-286827A2EB57}"/>
              </a:ext>
            </a:extLst>
          </p:cNvPr>
          <p:cNvSpPr>
            <a:spLocks noGrp="1"/>
          </p:cNvSpPr>
          <p:nvPr>
            <p:ph sz="half" idx="2"/>
          </p:nvPr>
        </p:nvSpPr>
        <p:spPr/>
        <p:txBody>
          <a:bodyPr/>
          <a:lstStyle/>
          <a:p>
            <a:pPr eaLnBrk="1" hangingPunct="1"/>
            <a:endParaRPr lang="tr-TR" altLang="tr-TR"/>
          </a:p>
        </p:txBody>
      </p:sp>
      <p:pic>
        <p:nvPicPr>
          <p:cNvPr id="44036" name="Picture 2">
            <a:extLst>
              <a:ext uri="{FF2B5EF4-FFF2-40B4-BE49-F238E27FC236}">
                <a16:creationId xmlns:a16="http://schemas.microsoft.com/office/drawing/2014/main" id="{7811F20F-E914-DDA5-BF48-852AE49F1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549275"/>
            <a:ext cx="7319963" cy="47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30B08467-020D-FE7D-7DCC-51DE4268125B}"/>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Solvents</a:t>
            </a:r>
          </a:p>
        </p:txBody>
      </p:sp>
      <p:pic>
        <p:nvPicPr>
          <p:cNvPr id="46082" name="Picture 3" descr="32">
            <a:extLst>
              <a:ext uri="{FF2B5EF4-FFF2-40B4-BE49-F238E27FC236}">
                <a16:creationId xmlns:a16="http://schemas.microsoft.com/office/drawing/2014/main" id="{D362F180-862E-3B85-333C-D7B738ED6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089025"/>
            <a:ext cx="5832475"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Dikdörtgen 1">
            <a:extLst>
              <a:ext uri="{FF2B5EF4-FFF2-40B4-BE49-F238E27FC236}">
                <a16:creationId xmlns:a16="http://schemas.microsoft.com/office/drawing/2014/main" id="{B3092D3D-19D3-B407-762A-1AE472E25288}"/>
              </a:ext>
            </a:extLst>
          </p:cNvPr>
          <p:cNvSpPr>
            <a:spLocks noChangeArrowheads="1"/>
          </p:cNvSpPr>
          <p:nvPr/>
        </p:nvSpPr>
        <p:spPr bwMode="auto">
          <a:xfrm>
            <a:off x="6084888" y="765175"/>
            <a:ext cx="2735262"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tr-TR" sz="1800">
                <a:latin typeface="Times" pitchFamily="18" charset="0"/>
              </a:rPr>
              <a:t>Solvents are used in </a:t>
            </a:r>
            <a:r>
              <a:rPr lang="en-US" altLang="tr-TR" sz="1800">
                <a:solidFill>
                  <a:srgbClr val="FF0000"/>
                </a:solidFill>
                <a:latin typeface="Times" pitchFamily="18" charset="0"/>
              </a:rPr>
              <a:t>paint removers</a:t>
            </a:r>
            <a:r>
              <a:rPr lang="en-US" altLang="tr-TR" sz="1800">
                <a:latin typeface="Times" pitchFamily="18" charset="0"/>
              </a:rPr>
              <a:t>, grease removers, paint thinners, and dry cleaning. The solvents benzene, carbon tetrachloride, chloroform, and methylene chloride have been linked to human cancer.</a:t>
            </a:r>
          </a:p>
          <a:p>
            <a:pPr eaLnBrk="1" hangingPunct="1">
              <a:lnSpc>
                <a:spcPct val="100000"/>
              </a:lnSpc>
              <a:spcBef>
                <a:spcPct val="0"/>
              </a:spcBef>
              <a:buFontTx/>
              <a:buNone/>
            </a:pPr>
            <a:r>
              <a:rPr lang="en-US" altLang="tr-TR" sz="1800">
                <a:latin typeface="Times" pitchFamily="18" charset="0"/>
              </a:rPr>
              <a:t>The strongest evidence linking a solvent to cancer involves </a:t>
            </a:r>
            <a:r>
              <a:rPr lang="en-US" altLang="tr-TR" sz="1800">
                <a:solidFill>
                  <a:srgbClr val="FF0000"/>
                </a:solidFill>
                <a:latin typeface="Times" pitchFamily="18" charset="0"/>
              </a:rPr>
              <a:t>benzene</a:t>
            </a:r>
            <a:r>
              <a:rPr lang="en-US" altLang="tr-TR" sz="1800">
                <a:latin typeface="Times" pitchFamily="18" charset="0"/>
              </a:rPr>
              <a:t>, which is also found in cigarette smoke and gasoline. It increases the risk of </a:t>
            </a:r>
            <a:r>
              <a:rPr lang="en-US" altLang="tr-TR" sz="1800">
                <a:solidFill>
                  <a:srgbClr val="FF0000"/>
                </a:solidFill>
                <a:latin typeface="Times" pitchFamily="18" charset="0"/>
              </a:rPr>
              <a:t>leukemia.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2D763-C191-B9AA-92BE-E7DD99D85E7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98D65F7-7A32-D01C-B1FC-F7DD774B8ED3}"/>
              </a:ext>
            </a:extLst>
          </p:cNvPr>
          <p:cNvSpPr>
            <a:spLocks noGrp="1"/>
          </p:cNvSpPr>
          <p:nvPr>
            <p:ph type="title"/>
          </p:nvPr>
        </p:nvSpPr>
        <p:spPr/>
        <p:txBody>
          <a:bodyPr/>
          <a:lstStyle/>
          <a:p>
            <a:pPr algn="ctr"/>
            <a:r>
              <a:rPr lang="tr-TR" dirty="0">
                <a:solidFill>
                  <a:srgbClr val="FF0000"/>
                </a:solidFill>
              </a:rPr>
              <a:t>BENZENE</a:t>
            </a:r>
          </a:p>
        </p:txBody>
      </p:sp>
      <p:pic>
        <p:nvPicPr>
          <p:cNvPr id="6" name="İçerik Yer Tutucusu 5" descr="metin, yazı tipi, ekran görüntüsü, doküman, belge içeren bir resim&#10;&#10;Yapay zeka tarafından oluşturulmuş içerik yanlış olabilir.">
            <a:extLst>
              <a:ext uri="{FF2B5EF4-FFF2-40B4-BE49-F238E27FC236}">
                <a16:creationId xmlns:a16="http://schemas.microsoft.com/office/drawing/2014/main" id="{3E142243-94D3-E616-6E16-70DA3985C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576" y="1556792"/>
            <a:ext cx="7886700" cy="2360986"/>
          </a:xfrm>
        </p:spPr>
      </p:pic>
      <p:pic>
        <p:nvPicPr>
          <p:cNvPr id="9" name="Resim 8" descr="metin, ekran görüntüsü, yazı tipi, cebir içeren bir resim&#10;&#10;Yapay zeka tarafından oluşturulmuş içerik yanlış olabilir.">
            <a:extLst>
              <a:ext uri="{FF2B5EF4-FFF2-40B4-BE49-F238E27FC236}">
                <a16:creationId xmlns:a16="http://schemas.microsoft.com/office/drawing/2014/main" id="{717DDC63-1EF1-9E34-CB18-A2E7FE1BC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3934673"/>
            <a:ext cx="7772400" cy="2372221"/>
          </a:xfrm>
          <a:prstGeom prst="rect">
            <a:avLst/>
          </a:prstGeom>
        </p:spPr>
      </p:pic>
      <p:pic>
        <p:nvPicPr>
          <p:cNvPr id="11" name="Resim 10">
            <a:extLst>
              <a:ext uri="{FF2B5EF4-FFF2-40B4-BE49-F238E27FC236}">
                <a16:creationId xmlns:a16="http://schemas.microsoft.com/office/drawing/2014/main" id="{9C277E0C-7F77-B7D1-C9D8-DDF689DD35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352" y="6492875"/>
            <a:ext cx="1066800" cy="292100"/>
          </a:xfrm>
          <a:prstGeom prst="rect">
            <a:avLst/>
          </a:prstGeom>
        </p:spPr>
      </p:pic>
    </p:spTree>
    <p:extLst>
      <p:ext uri="{BB962C8B-B14F-4D97-AF65-F5344CB8AC3E}">
        <p14:creationId xmlns:p14="http://schemas.microsoft.com/office/powerpoint/2010/main" val="541211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4E9C126D-DA36-99CC-EE35-4B7E71194C9E}"/>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Dioxins</a:t>
            </a:r>
          </a:p>
        </p:txBody>
      </p:sp>
      <p:pic>
        <p:nvPicPr>
          <p:cNvPr id="48130" name="Picture 3" descr="34">
            <a:extLst>
              <a:ext uri="{FF2B5EF4-FFF2-40B4-BE49-F238E27FC236}">
                <a16:creationId xmlns:a16="http://schemas.microsoft.com/office/drawing/2014/main" id="{0B379432-426F-491E-7EA3-7A4257391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033463"/>
            <a:ext cx="53165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Dikdörtgen 1">
            <a:extLst>
              <a:ext uri="{FF2B5EF4-FFF2-40B4-BE49-F238E27FC236}">
                <a16:creationId xmlns:a16="http://schemas.microsoft.com/office/drawing/2014/main" id="{A1F8C489-D05B-AB4C-8F44-0EE56CD2F085}"/>
              </a:ext>
            </a:extLst>
          </p:cNvPr>
          <p:cNvSpPr>
            <a:spLocks noChangeArrowheads="1"/>
          </p:cNvSpPr>
          <p:nvPr/>
        </p:nvSpPr>
        <p:spPr bwMode="auto">
          <a:xfrm>
            <a:off x="5784850" y="1268413"/>
            <a:ext cx="310832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defRPr/>
            </a:pPr>
            <a:r>
              <a:rPr lang="en-US" altLang="tr-TR" sz="2000" dirty="0">
                <a:solidFill>
                  <a:schemeClr val="accent1">
                    <a:lumMod val="75000"/>
                  </a:schemeClr>
                </a:solidFill>
                <a:latin typeface="Times" pitchFamily="2" charset="0"/>
              </a:rPr>
              <a:t>Dioxins</a:t>
            </a:r>
            <a:r>
              <a:rPr lang="en-US" altLang="tr-TR" sz="2000" dirty="0">
                <a:latin typeface="Times" pitchFamily="2" charset="0"/>
              </a:rPr>
              <a:t> are byproducts of </a:t>
            </a:r>
            <a:r>
              <a:rPr lang="en-US" altLang="tr-TR" sz="2000" dirty="0">
                <a:solidFill>
                  <a:srgbClr val="C00000"/>
                </a:solidFill>
                <a:latin typeface="Times" pitchFamily="2" charset="0"/>
              </a:rPr>
              <a:t>paper bleaching</a:t>
            </a:r>
            <a:r>
              <a:rPr lang="en-US" altLang="tr-TR" sz="2000" dirty="0">
                <a:latin typeface="Times" pitchFamily="2" charset="0"/>
              </a:rPr>
              <a:t>, smelting, and waste incineration. They are widespread in the environment because they </a:t>
            </a:r>
            <a:r>
              <a:rPr lang="en-US" altLang="tr-TR" sz="2000" dirty="0">
                <a:solidFill>
                  <a:srgbClr val="FF0000"/>
                </a:solidFill>
                <a:latin typeface="Times" pitchFamily="2" charset="0"/>
              </a:rPr>
              <a:t>break down very slowly.</a:t>
            </a:r>
            <a:r>
              <a:rPr lang="en-US" altLang="tr-TR" sz="2000" dirty="0">
                <a:latin typeface="Times" pitchFamily="2" charset="0"/>
              </a:rPr>
              <a:t> </a:t>
            </a:r>
            <a:r>
              <a:rPr lang="en-US" altLang="tr-TR" sz="2000" dirty="0">
                <a:solidFill>
                  <a:srgbClr val="00B050"/>
                </a:solidFill>
                <a:latin typeface="Times" pitchFamily="2" charset="0"/>
              </a:rPr>
              <a:t>They also accumulate in fat cells. </a:t>
            </a:r>
            <a:r>
              <a:rPr lang="en-US" altLang="tr-TR" sz="2000" dirty="0">
                <a:solidFill>
                  <a:srgbClr val="7030A0"/>
                </a:solidFill>
                <a:latin typeface="Times" pitchFamily="2" charset="0"/>
              </a:rPr>
              <a:t>Most of our exposure to dioxins comes from eating dairy products, fish, and meat.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C90249-63FC-6AD9-EC4D-F051E4BC0D6B}"/>
              </a:ext>
            </a:extLst>
          </p:cNvPr>
          <p:cNvSpPr>
            <a:spLocks noGrp="1"/>
          </p:cNvSpPr>
          <p:nvPr>
            <p:ph type="title"/>
          </p:nvPr>
        </p:nvSpPr>
        <p:spPr/>
        <p:txBody>
          <a:bodyPr/>
          <a:lstStyle/>
          <a:p>
            <a:pPr algn="ctr"/>
            <a:r>
              <a:rPr lang="tr-TR" dirty="0">
                <a:solidFill>
                  <a:srgbClr val="FF0000"/>
                </a:solidFill>
              </a:rPr>
              <a:t>DİOXİNS</a:t>
            </a:r>
          </a:p>
        </p:txBody>
      </p:sp>
      <p:pic>
        <p:nvPicPr>
          <p:cNvPr id="8" name="İçerik Yer Tutucusu 7" descr="metin, ekran görüntüsü, yazı tipi, doküman, belge içeren bir resim&#10;&#10;Yapay zeka tarafından oluşturulmuş içerik yanlış olabilir.">
            <a:extLst>
              <a:ext uri="{FF2B5EF4-FFF2-40B4-BE49-F238E27FC236}">
                <a16:creationId xmlns:a16="http://schemas.microsoft.com/office/drawing/2014/main" id="{67A949ED-EA35-64AB-D27A-FC7E620FF3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282160"/>
            <a:ext cx="7886700" cy="3438267"/>
          </a:xfrm>
        </p:spPr>
      </p:pic>
      <p:pic>
        <p:nvPicPr>
          <p:cNvPr id="10" name="Resim 9" descr="yazı tipi, grafik, logo, grafik tasarım içeren bir resim&#10;&#10;Yapay zeka tarafından oluşturulmuş içerik yanlış olabilir.">
            <a:extLst>
              <a:ext uri="{FF2B5EF4-FFF2-40B4-BE49-F238E27FC236}">
                <a16:creationId xmlns:a16="http://schemas.microsoft.com/office/drawing/2014/main" id="{57AB7D3E-94FD-E704-6333-704CF554E9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312" y="6007099"/>
            <a:ext cx="1600200" cy="609600"/>
          </a:xfrm>
          <a:prstGeom prst="rect">
            <a:avLst/>
          </a:prstGeom>
        </p:spPr>
      </p:pic>
      <p:sp>
        <p:nvSpPr>
          <p:cNvPr id="12" name="Metin kutusu 11">
            <a:extLst>
              <a:ext uri="{FF2B5EF4-FFF2-40B4-BE49-F238E27FC236}">
                <a16:creationId xmlns:a16="http://schemas.microsoft.com/office/drawing/2014/main" id="{1931B600-30A2-390B-CA90-16AEC93628CE}"/>
              </a:ext>
            </a:extLst>
          </p:cNvPr>
          <p:cNvSpPr txBox="1"/>
          <p:nvPr/>
        </p:nvSpPr>
        <p:spPr>
          <a:xfrm>
            <a:off x="1187624" y="1635829"/>
            <a:ext cx="5940152" cy="646331"/>
          </a:xfrm>
          <a:prstGeom prst="rect">
            <a:avLst/>
          </a:prstGeom>
          <a:noFill/>
        </p:spPr>
        <p:txBody>
          <a:bodyPr wrap="square">
            <a:spAutoFit/>
          </a:bodyPr>
          <a:lstStyle/>
          <a:p>
            <a:r>
              <a:rPr lang="tr-TR" b="0" i="0" u="none" strike="noStrike" dirty="0" err="1">
                <a:solidFill>
                  <a:srgbClr val="3C4245"/>
                </a:solidFill>
                <a:effectLst/>
                <a:latin typeface="Noto Sans" panose="020B0502040504020204" pitchFamily="34" charset="0"/>
              </a:rPr>
              <a:t>Their</a:t>
            </a:r>
            <a:r>
              <a:rPr lang="tr-TR" b="0" i="0" u="none" strike="noStrike" dirty="0">
                <a:solidFill>
                  <a:srgbClr val="3C4245"/>
                </a:solidFill>
                <a:effectLst/>
                <a:latin typeface="Noto Sans" panose="020B0502040504020204" pitchFamily="34" charset="0"/>
              </a:rPr>
              <a:t> </a:t>
            </a:r>
            <a:r>
              <a:rPr lang="tr-TR" b="0" i="0" u="none" strike="noStrike" dirty="0" err="1">
                <a:solidFill>
                  <a:srgbClr val="3C4245"/>
                </a:solidFill>
                <a:effectLst/>
                <a:latin typeface="Noto Sans" panose="020B0502040504020204" pitchFamily="34" charset="0"/>
              </a:rPr>
              <a:t>half</a:t>
            </a:r>
            <a:r>
              <a:rPr lang="tr-TR" b="0" i="0" u="none" strike="noStrike" dirty="0">
                <a:solidFill>
                  <a:srgbClr val="3C4245"/>
                </a:solidFill>
                <a:effectLst/>
                <a:latin typeface="Noto Sans" panose="020B0502040504020204" pitchFamily="34" charset="0"/>
              </a:rPr>
              <a:t>-life in </a:t>
            </a:r>
            <a:r>
              <a:rPr lang="tr-TR" b="0" i="0" u="none" strike="noStrike" dirty="0" err="1">
                <a:solidFill>
                  <a:srgbClr val="3C4245"/>
                </a:solidFill>
                <a:effectLst/>
                <a:latin typeface="Noto Sans" panose="020B0502040504020204" pitchFamily="34" charset="0"/>
              </a:rPr>
              <a:t>the</a:t>
            </a:r>
            <a:r>
              <a:rPr lang="tr-TR" b="0" i="0" u="none" strike="noStrike" dirty="0">
                <a:solidFill>
                  <a:srgbClr val="3C4245"/>
                </a:solidFill>
                <a:effectLst/>
                <a:latin typeface="Noto Sans" panose="020B0502040504020204" pitchFamily="34" charset="0"/>
              </a:rPr>
              <a:t> body is </a:t>
            </a:r>
            <a:r>
              <a:rPr lang="tr-TR" b="0" i="0" u="none" strike="noStrike" dirty="0" err="1">
                <a:solidFill>
                  <a:srgbClr val="3C4245"/>
                </a:solidFill>
                <a:effectLst/>
                <a:latin typeface="Noto Sans" panose="020B0502040504020204" pitchFamily="34" charset="0"/>
              </a:rPr>
              <a:t>estimated</a:t>
            </a:r>
            <a:r>
              <a:rPr lang="tr-TR" b="0" i="0" u="none" strike="noStrike" dirty="0">
                <a:solidFill>
                  <a:srgbClr val="3C4245"/>
                </a:solidFill>
                <a:effectLst/>
                <a:latin typeface="Noto Sans" panose="020B0502040504020204" pitchFamily="34" charset="0"/>
              </a:rPr>
              <a:t> </a:t>
            </a:r>
            <a:r>
              <a:rPr lang="tr-TR" b="0" i="0" u="none" strike="noStrike" dirty="0" err="1">
                <a:solidFill>
                  <a:srgbClr val="3C4245"/>
                </a:solidFill>
                <a:effectLst/>
                <a:latin typeface="Noto Sans" panose="020B0502040504020204" pitchFamily="34" charset="0"/>
              </a:rPr>
              <a:t>to</a:t>
            </a:r>
            <a:r>
              <a:rPr lang="tr-TR" b="0" i="0" u="none" strike="noStrike" dirty="0">
                <a:solidFill>
                  <a:srgbClr val="3C4245"/>
                </a:solidFill>
                <a:effectLst/>
                <a:latin typeface="Noto Sans" panose="020B0502040504020204" pitchFamily="34" charset="0"/>
              </a:rPr>
              <a:t> be 7 </a:t>
            </a:r>
            <a:r>
              <a:rPr lang="tr-TR" b="0" i="0" u="none" strike="noStrike" dirty="0" err="1">
                <a:solidFill>
                  <a:srgbClr val="3C4245"/>
                </a:solidFill>
                <a:effectLst/>
                <a:latin typeface="Noto Sans" panose="020B0502040504020204" pitchFamily="34" charset="0"/>
              </a:rPr>
              <a:t>to</a:t>
            </a:r>
            <a:r>
              <a:rPr lang="tr-TR" b="0" i="0" u="none" strike="noStrike" dirty="0">
                <a:solidFill>
                  <a:srgbClr val="3C4245"/>
                </a:solidFill>
                <a:effectLst/>
                <a:latin typeface="Noto Sans" panose="020B0502040504020204" pitchFamily="34" charset="0"/>
              </a:rPr>
              <a:t> 11 </a:t>
            </a:r>
            <a:r>
              <a:rPr lang="tr-TR" b="0" i="0" u="none" strike="noStrike" dirty="0" err="1">
                <a:solidFill>
                  <a:srgbClr val="3C4245"/>
                </a:solidFill>
                <a:effectLst/>
                <a:latin typeface="Noto Sans" panose="020B0502040504020204" pitchFamily="34" charset="0"/>
              </a:rPr>
              <a:t>years</a:t>
            </a:r>
            <a:r>
              <a:rPr lang="tr-TR" b="0" i="0" u="none" strike="noStrike" dirty="0">
                <a:solidFill>
                  <a:srgbClr val="3C4245"/>
                </a:solidFill>
                <a:effectLst/>
                <a:latin typeface="Noto Sans" panose="020B0502040504020204" pitchFamily="34" charset="0"/>
              </a:rPr>
              <a:t>. </a:t>
            </a:r>
            <a:endParaRPr lang="tr-TR" dirty="0"/>
          </a:p>
        </p:txBody>
      </p:sp>
    </p:spTree>
    <p:extLst>
      <p:ext uri="{BB962C8B-B14F-4D97-AF65-F5344CB8AC3E}">
        <p14:creationId xmlns:p14="http://schemas.microsoft.com/office/powerpoint/2010/main" val="2661864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554583DA-8752-1FB0-822C-4D1EC235057B}"/>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Polycyclic Aromatic Hydrocarbons </a:t>
            </a:r>
          </a:p>
        </p:txBody>
      </p:sp>
      <p:pic>
        <p:nvPicPr>
          <p:cNvPr id="50178" name="Picture 3" descr="35">
            <a:extLst>
              <a:ext uri="{FF2B5EF4-FFF2-40B4-BE49-F238E27FC236}">
                <a16:creationId xmlns:a16="http://schemas.microsoft.com/office/drawing/2014/main" id="{ECC27333-5D82-D851-8009-07A03E588F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928688"/>
            <a:ext cx="3170238"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Dikdörtgen 1">
            <a:extLst>
              <a:ext uri="{FF2B5EF4-FFF2-40B4-BE49-F238E27FC236}">
                <a16:creationId xmlns:a16="http://schemas.microsoft.com/office/drawing/2014/main" id="{A46524A0-5494-A4BB-488D-1857DAD0DE2E}"/>
              </a:ext>
            </a:extLst>
          </p:cNvPr>
          <p:cNvSpPr>
            <a:spLocks noChangeArrowheads="1"/>
          </p:cNvSpPr>
          <p:nvPr/>
        </p:nvSpPr>
        <p:spPr bwMode="auto">
          <a:xfrm>
            <a:off x="5003800" y="928688"/>
            <a:ext cx="30972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tr-TR" sz="1800">
                <a:latin typeface="Times" pitchFamily="18" charset="0"/>
              </a:rPr>
              <a:t>These compounds (known as </a:t>
            </a:r>
            <a:r>
              <a:rPr lang="en-US" altLang="tr-TR" sz="1800">
                <a:solidFill>
                  <a:srgbClr val="C00000"/>
                </a:solidFill>
                <a:latin typeface="Times" pitchFamily="18" charset="0"/>
              </a:rPr>
              <a:t>PAHs)</a:t>
            </a:r>
            <a:r>
              <a:rPr lang="en-US" altLang="tr-TR" sz="1800">
                <a:latin typeface="Times" pitchFamily="18" charset="0"/>
              </a:rPr>
              <a:t> come from </a:t>
            </a:r>
            <a:r>
              <a:rPr lang="en-US" altLang="tr-TR" sz="1800">
                <a:solidFill>
                  <a:srgbClr val="C00000"/>
                </a:solidFill>
                <a:latin typeface="Times" pitchFamily="18" charset="0"/>
              </a:rPr>
              <a:t>the burning of carbon-based material. They </a:t>
            </a:r>
            <a:r>
              <a:rPr lang="en-US" altLang="tr-TR" sz="1800">
                <a:latin typeface="Times" pitchFamily="18" charset="0"/>
              </a:rPr>
              <a:t>are found in wood smoke, car exhaust, cigarette smoke, and </a:t>
            </a:r>
            <a:r>
              <a:rPr lang="en-US" altLang="tr-TR" sz="1800">
                <a:solidFill>
                  <a:srgbClr val="00B050"/>
                </a:solidFill>
                <a:latin typeface="Times" pitchFamily="18" charset="0"/>
              </a:rPr>
              <a:t>charcoal-grilled foods</a:t>
            </a:r>
            <a:r>
              <a:rPr lang="en-US" altLang="tr-TR" sz="1800">
                <a:latin typeface="Times" pitchFamily="18" charset="0"/>
              </a:rPr>
              <a:t>. Sausages and roasted coffees may also contain PAHs. These compounds have been linked to increased risks </a:t>
            </a:r>
            <a:r>
              <a:rPr lang="en-US" altLang="tr-TR" sz="1800">
                <a:solidFill>
                  <a:srgbClr val="C00000"/>
                </a:solidFill>
                <a:latin typeface="Times" pitchFamily="18" charset="0"/>
              </a:rPr>
              <a:t>of lung, skin, and urinary cancers</a:t>
            </a:r>
            <a:endParaRPr lang="tr-TR" altLang="tr-TR" sz="1800">
              <a:solidFill>
                <a:srgbClr val="C0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06B6F44-CAFC-1DB5-EBD2-F1F5E9276374}"/>
              </a:ext>
            </a:extLst>
          </p:cNvPr>
          <p:cNvSpPr>
            <a:spLocks noGrp="1"/>
          </p:cNvSpPr>
          <p:nvPr>
            <p:ph type="title"/>
          </p:nvPr>
        </p:nvSpPr>
        <p:spPr/>
        <p:txBody>
          <a:bodyPr/>
          <a:lstStyle/>
          <a:p>
            <a:pPr algn="ctr"/>
            <a:r>
              <a:rPr lang="tr-TR" dirty="0" err="1">
                <a:solidFill>
                  <a:srgbClr val="FF0000"/>
                </a:solidFill>
              </a:rPr>
              <a:t>PAHs</a:t>
            </a:r>
            <a:endParaRPr lang="tr-TR" dirty="0">
              <a:solidFill>
                <a:srgbClr val="FF0000"/>
              </a:solidFill>
            </a:endParaRPr>
          </a:p>
        </p:txBody>
      </p:sp>
      <p:pic>
        <p:nvPicPr>
          <p:cNvPr id="5" name="İçerik Yer Tutucusu 4" descr="metin, ekran görüntüsü, yazı tipi, sayı, numara içeren bir resim&#10;&#10;Yapay zeka tarafından oluşturulmuş içerik yanlış olabilir.">
            <a:extLst>
              <a:ext uri="{FF2B5EF4-FFF2-40B4-BE49-F238E27FC236}">
                <a16:creationId xmlns:a16="http://schemas.microsoft.com/office/drawing/2014/main" id="{4AB7FF70-8AA3-DA18-A390-FCA590D1AC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9592" y="1253331"/>
            <a:ext cx="7038130" cy="4351338"/>
          </a:xfrm>
        </p:spPr>
      </p:pic>
      <p:pic>
        <p:nvPicPr>
          <p:cNvPr id="7" name="Resim 6" descr="metin, yazı tipi, beyaz, tipografi içeren bir resim&#10;&#10;Yapay zeka tarafından oluşturulmuş içerik yanlış olabilir.">
            <a:extLst>
              <a:ext uri="{FF2B5EF4-FFF2-40B4-BE49-F238E27FC236}">
                <a16:creationId xmlns:a16="http://schemas.microsoft.com/office/drawing/2014/main" id="{3B709F89-CC9F-071E-F11D-C060000F4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8104" y="6226175"/>
            <a:ext cx="3467100" cy="533400"/>
          </a:xfrm>
          <a:prstGeom prst="rect">
            <a:avLst/>
          </a:prstGeom>
        </p:spPr>
      </p:pic>
    </p:spTree>
    <p:extLst>
      <p:ext uri="{BB962C8B-B14F-4D97-AF65-F5344CB8AC3E}">
        <p14:creationId xmlns:p14="http://schemas.microsoft.com/office/powerpoint/2010/main" val="1636222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059D66B0-C988-1FFC-41F0-2C7C408EE05E}"/>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Other Carcinogens: Vinyl Chloride </a:t>
            </a:r>
          </a:p>
        </p:txBody>
      </p:sp>
      <p:pic>
        <p:nvPicPr>
          <p:cNvPr id="52226" name="Picture 4" descr="37">
            <a:extLst>
              <a:ext uri="{FF2B5EF4-FFF2-40B4-BE49-F238E27FC236}">
                <a16:creationId xmlns:a16="http://schemas.microsoft.com/office/drawing/2014/main" id="{0B414733-6F9F-B4E6-50C5-B4A35AF63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641350"/>
            <a:ext cx="7204075"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Dikdörtgen 1">
            <a:extLst>
              <a:ext uri="{FF2B5EF4-FFF2-40B4-BE49-F238E27FC236}">
                <a16:creationId xmlns:a16="http://schemas.microsoft.com/office/drawing/2014/main" id="{39148AA2-B7B9-807C-DA57-91C109C9A1AF}"/>
              </a:ext>
            </a:extLst>
          </p:cNvPr>
          <p:cNvSpPr>
            <a:spLocks noChangeArrowheads="1"/>
          </p:cNvSpPr>
          <p:nvPr/>
        </p:nvSpPr>
        <p:spPr bwMode="auto">
          <a:xfrm>
            <a:off x="395288" y="5313363"/>
            <a:ext cx="87487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tr-TR" sz="1800">
                <a:solidFill>
                  <a:srgbClr val="FF0000"/>
                </a:solidFill>
                <a:latin typeface="Times" pitchFamily="18" charset="0"/>
              </a:rPr>
              <a:t>Vinyl chloride is used in the plastics industry </a:t>
            </a:r>
            <a:r>
              <a:rPr lang="en-US" altLang="tr-TR" sz="1800">
                <a:latin typeface="Times" pitchFamily="18" charset="0"/>
              </a:rPr>
              <a:t>and has been associated with lung cancer and with </a:t>
            </a:r>
            <a:r>
              <a:rPr lang="en-US" altLang="tr-TR" sz="1800">
                <a:solidFill>
                  <a:srgbClr val="FF0000"/>
                </a:solidFill>
                <a:latin typeface="Times" pitchFamily="18" charset="0"/>
              </a:rPr>
              <a:t>angiosarcomas </a:t>
            </a:r>
            <a:r>
              <a:rPr lang="en-US" altLang="tr-TR" sz="1800">
                <a:latin typeface="Times" pitchFamily="18" charset="0"/>
              </a:rPr>
              <a:t>(blood-vessel tumors) of the liver and brain. </a:t>
            </a:r>
            <a:r>
              <a:rPr lang="en-US" altLang="tr-TR" sz="1800">
                <a:solidFill>
                  <a:srgbClr val="002060"/>
                </a:solidFill>
                <a:latin typeface="Times" pitchFamily="18" charset="0"/>
              </a:rPr>
              <a:t>Most people are not routinely exposed to vinyl chloride unless they work in plastics manufacturing plants</a:t>
            </a:r>
            <a:r>
              <a:rPr lang="en-US" altLang="tr-TR" sz="1800">
                <a:latin typeface="Times" pitchFamily="18" charset="0"/>
              </a:rPr>
              <a:t>. People who live close to such plants also may be exposed through contaminated air.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5DE345-0137-93F2-28B9-6905EA47FA57}"/>
              </a:ext>
            </a:extLst>
          </p:cNvPr>
          <p:cNvSpPr>
            <a:spLocks noGrp="1"/>
          </p:cNvSpPr>
          <p:nvPr>
            <p:ph type="title"/>
          </p:nvPr>
        </p:nvSpPr>
        <p:spPr/>
        <p:txBody>
          <a:bodyPr/>
          <a:lstStyle/>
          <a:p>
            <a:pPr algn="ctr"/>
            <a:r>
              <a:rPr lang="tr-TR" dirty="0">
                <a:solidFill>
                  <a:srgbClr val="FF0000"/>
                </a:solidFill>
              </a:rPr>
              <a:t>VINYL CHLORIDE</a:t>
            </a:r>
          </a:p>
        </p:txBody>
      </p:sp>
      <p:pic>
        <p:nvPicPr>
          <p:cNvPr id="5" name="İçerik Yer Tutucusu 4" descr="metin, yazı tipi, cebir, makbuz içeren bir resim&#10;&#10;Yapay zeka tarafından oluşturulmuş içerik yanlış olabilir.">
            <a:extLst>
              <a:ext uri="{FF2B5EF4-FFF2-40B4-BE49-F238E27FC236}">
                <a16:creationId xmlns:a16="http://schemas.microsoft.com/office/drawing/2014/main" id="{31AC87D6-2B9C-E86F-200D-47819DB51E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2213447"/>
            <a:ext cx="7886700" cy="1734461"/>
          </a:xfrm>
        </p:spPr>
      </p:pic>
      <p:pic>
        <p:nvPicPr>
          <p:cNvPr id="7" name="Resim 6">
            <a:extLst>
              <a:ext uri="{FF2B5EF4-FFF2-40B4-BE49-F238E27FC236}">
                <a16:creationId xmlns:a16="http://schemas.microsoft.com/office/drawing/2014/main" id="{4815960A-AA44-1F8A-2E95-4212BCC32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3931862"/>
            <a:ext cx="4677931" cy="535714"/>
          </a:xfrm>
          <a:prstGeom prst="rect">
            <a:avLst/>
          </a:prstGeom>
        </p:spPr>
      </p:pic>
      <p:pic>
        <p:nvPicPr>
          <p:cNvPr id="9" name="Resim 8" descr="metin, yazı tipi, ekran görüntüsü, çizgi içeren bir resim&#10;&#10;Yapay zeka tarafından oluşturulmuş içerik yanlış olabilir.">
            <a:extLst>
              <a:ext uri="{FF2B5EF4-FFF2-40B4-BE49-F238E27FC236}">
                <a16:creationId xmlns:a16="http://schemas.microsoft.com/office/drawing/2014/main" id="{86287F29-CE79-CD19-720D-E14B1326E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5976" y="5895975"/>
            <a:ext cx="4368800" cy="596900"/>
          </a:xfrm>
          <a:prstGeom prst="rect">
            <a:avLst/>
          </a:prstGeom>
        </p:spPr>
      </p:pic>
    </p:spTree>
    <p:extLst>
      <p:ext uri="{BB962C8B-B14F-4D97-AF65-F5344CB8AC3E}">
        <p14:creationId xmlns:p14="http://schemas.microsoft.com/office/powerpoint/2010/main" val="109452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12" descr="38">
            <a:extLst>
              <a:ext uri="{FF2B5EF4-FFF2-40B4-BE49-F238E27FC236}">
                <a16:creationId xmlns:a16="http://schemas.microsoft.com/office/drawing/2014/main" id="{04E6B5B7-C316-93E3-63B9-D5F334C9E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501" y="899627"/>
            <a:ext cx="4491948" cy="424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4" name="Rectangle 2">
            <a:extLst>
              <a:ext uri="{FF2B5EF4-FFF2-40B4-BE49-F238E27FC236}">
                <a16:creationId xmlns:a16="http://schemas.microsoft.com/office/drawing/2014/main" id="{146FC0D8-8C8E-E6D1-0A20-6E4010463111}"/>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latin typeface="Arial" panose="020B0604020202020204" pitchFamily="34" charset="0"/>
                <a:ea typeface="MS PGothic" panose="020B0600070205080204" pitchFamily="34" charset="-128"/>
              </a:rPr>
              <a:t>Other Carcinogens: Benzidine</a:t>
            </a:r>
          </a:p>
        </p:txBody>
      </p:sp>
      <p:sp>
        <p:nvSpPr>
          <p:cNvPr id="54275" name="Rectangle 5">
            <a:extLst>
              <a:ext uri="{FF2B5EF4-FFF2-40B4-BE49-F238E27FC236}">
                <a16:creationId xmlns:a16="http://schemas.microsoft.com/office/drawing/2014/main" id="{E5B2C4EF-B632-E3EB-0E4B-F0333A2F71FE}"/>
              </a:ext>
            </a:extLst>
          </p:cNvPr>
          <p:cNvSpPr>
            <a:spLocks noChangeArrowheads="1"/>
          </p:cNvSpPr>
          <p:nvPr/>
        </p:nvSpPr>
        <p:spPr bwMode="auto">
          <a:xfrm>
            <a:off x="2498270" y="605836"/>
            <a:ext cx="1393825"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ts val="1900"/>
              </a:lnSpc>
              <a:spcBef>
                <a:spcPct val="0"/>
              </a:spcBef>
              <a:buFontTx/>
              <a:buNone/>
            </a:pPr>
            <a:r>
              <a:rPr lang="en-US" altLang="tr-TR" sz="1800" b="1" dirty="0">
                <a:latin typeface="Arial" panose="020B0604020202020204" pitchFamily="34" charset="0"/>
                <a:ea typeface="MS PGothic" panose="020B0600070205080204" pitchFamily="34" charset="-128"/>
              </a:rPr>
              <a:t>Work station</a:t>
            </a:r>
          </a:p>
        </p:txBody>
      </p:sp>
      <p:sp>
        <p:nvSpPr>
          <p:cNvPr id="54276" name="Rectangle 6">
            <a:extLst>
              <a:ext uri="{FF2B5EF4-FFF2-40B4-BE49-F238E27FC236}">
                <a16:creationId xmlns:a16="http://schemas.microsoft.com/office/drawing/2014/main" id="{C9C07558-909C-75A5-CFC1-4816EE721572}"/>
              </a:ext>
            </a:extLst>
          </p:cNvPr>
          <p:cNvSpPr>
            <a:spLocks noChangeArrowheads="1"/>
          </p:cNvSpPr>
          <p:nvPr/>
        </p:nvSpPr>
        <p:spPr bwMode="auto">
          <a:xfrm>
            <a:off x="4348163" y="4238625"/>
            <a:ext cx="12700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400"/>
              </a:lnSpc>
              <a:spcBef>
                <a:spcPct val="0"/>
              </a:spcBef>
              <a:buFontTx/>
              <a:buNone/>
            </a:pPr>
            <a:r>
              <a:rPr lang="en-US" altLang="tr-TR" sz="1400" b="1">
                <a:latin typeface="Arial" panose="020B0604020202020204" pitchFamily="34" charset="0"/>
                <a:ea typeface="MS PGothic" panose="020B0600070205080204" pitchFamily="34" charset="-128"/>
              </a:rPr>
              <a:t>Bulk container</a:t>
            </a:r>
          </a:p>
        </p:txBody>
      </p:sp>
      <p:sp>
        <p:nvSpPr>
          <p:cNvPr id="54277" name="Rectangle 7">
            <a:extLst>
              <a:ext uri="{FF2B5EF4-FFF2-40B4-BE49-F238E27FC236}">
                <a16:creationId xmlns:a16="http://schemas.microsoft.com/office/drawing/2014/main" id="{A7CFA4C4-875B-DEBD-307E-3C91CFE0FCA7}"/>
              </a:ext>
            </a:extLst>
          </p:cNvPr>
          <p:cNvSpPr>
            <a:spLocks noChangeArrowheads="1"/>
          </p:cNvSpPr>
          <p:nvPr/>
        </p:nvSpPr>
        <p:spPr bwMode="auto">
          <a:xfrm>
            <a:off x="2784475" y="3916363"/>
            <a:ext cx="1019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400"/>
              </a:lnSpc>
              <a:spcBef>
                <a:spcPct val="0"/>
              </a:spcBef>
              <a:buFontTx/>
              <a:buNone/>
            </a:pPr>
            <a:r>
              <a:rPr lang="en-US" altLang="tr-TR" sz="1200" b="1">
                <a:latin typeface="Arial" panose="020B0604020202020204" pitchFamily="34" charset="0"/>
                <a:ea typeface="MS PGothic" panose="020B0600070205080204" pitchFamily="34" charset="-128"/>
              </a:rPr>
              <a:t>Process container</a:t>
            </a:r>
          </a:p>
        </p:txBody>
      </p:sp>
      <p:sp>
        <p:nvSpPr>
          <p:cNvPr id="54278" name="Rectangle 8">
            <a:extLst>
              <a:ext uri="{FF2B5EF4-FFF2-40B4-BE49-F238E27FC236}">
                <a16:creationId xmlns:a16="http://schemas.microsoft.com/office/drawing/2014/main" id="{6A27F26D-7A50-3D67-FD8F-88DC597B1A7C}"/>
              </a:ext>
            </a:extLst>
          </p:cNvPr>
          <p:cNvSpPr>
            <a:spLocks noChangeArrowheads="1"/>
          </p:cNvSpPr>
          <p:nvPr/>
        </p:nvSpPr>
        <p:spPr bwMode="auto">
          <a:xfrm>
            <a:off x="3841750" y="2690813"/>
            <a:ext cx="649288"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wrap="none"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900"/>
              </a:lnSpc>
              <a:spcBef>
                <a:spcPct val="0"/>
              </a:spcBef>
              <a:buFontTx/>
              <a:buNone/>
            </a:pPr>
            <a:r>
              <a:rPr lang="en-US" altLang="tr-TR" sz="1200" b="1">
                <a:latin typeface="Arial" panose="020B0604020202020204" pitchFamily="34" charset="0"/>
                <a:ea typeface="MS PGothic" panose="020B0600070205080204" pitchFamily="34" charset="-128"/>
              </a:rPr>
              <a:t>Dye dust</a:t>
            </a:r>
          </a:p>
        </p:txBody>
      </p:sp>
      <p:sp>
        <p:nvSpPr>
          <p:cNvPr id="54279" name="Dikdörtgen 1">
            <a:extLst>
              <a:ext uri="{FF2B5EF4-FFF2-40B4-BE49-F238E27FC236}">
                <a16:creationId xmlns:a16="http://schemas.microsoft.com/office/drawing/2014/main" id="{5C048325-318E-F092-B807-B30430A9EC08}"/>
              </a:ext>
            </a:extLst>
          </p:cNvPr>
          <p:cNvSpPr>
            <a:spLocks noChangeArrowheads="1"/>
          </p:cNvSpPr>
          <p:nvPr/>
        </p:nvSpPr>
        <p:spPr bwMode="auto">
          <a:xfrm>
            <a:off x="5618163" y="981075"/>
            <a:ext cx="28416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tr-TR" sz="1800">
                <a:latin typeface="Times" pitchFamily="18" charset="0"/>
              </a:rPr>
              <a:t>Benzidine has been known to be associated with cancer since the 1920s. It is used in the production of dyes for paper, </a:t>
            </a:r>
            <a:r>
              <a:rPr lang="en-US" altLang="tr-TR" sz="1800">
                <a:solidFill>
                  <a:srgbClr val="FF0000"/>
                </a:solidFill>
                <a:latin typeface="Times" pitchFamily="18" charset="0"/>
              </a:rPr>
              <a:t>textiles, and leather. </a:t>
            </a:r>
          </a:p>
        </p:txBody>
      </p:sp>
      <p:pic>
        <p:nvPicPr>
          <p:cNvPr id="5" name="Resim 4" descr="metin, yazı tipi, cebir içeren bir resim&#10;&#10;Yapay zeka tarafından oluşturulmuş içerik yanlış olabilir.">
            <a:extLst>
              <a:ext uri="{FF2B5EF4-FFF2-40B4-BE49-F238E27FC236}">
                <a16:creationId xmlns:a16="http://schemas.microsoft.com/office/drawing/2014/main" id="{5380BF0F-73C4-FCF4-9209-EA84D43C00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600" y="5183511"/>
            <a:ext cx="7772400" cy="17075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2" descr="36">
            <a:extLst>
              <a:ext uri="{FF2B5EF4-FFF2-40B4-BE49-F238E27FC236}">
                <a16:creationId xmlns:a16="http://schemas.microsoft.com/office/drawing/2014/main" id="{0C1F52B1-054B-D112-D48F-76F97CCD1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641350"/>
            <a:ext cx="7394575" cy="523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Rectangle 4">
            <a:extLst>
              <a:ext uri="{FF2B5EF4-FFF2-40B4-BE49-F238E27FC236}">
                <a16:creationId xmlns:a16="http://schemas.microsoft.com/office/drawing/2014/main" id="{2B534172-A3AD-484F-A591-442F468760D5}"/>
              </a:ext>
            </a:extLst>
          </p:cNvPr>
          <p:cNvSpPr>
            <a:spLocks noChangeArrowheads="1"/>
          </p:cNvSpPr>
          <p:nvPr/>
        </p:nvSpPr>
        <p:spPr bwMode="auto">
          <a:xfrm>
            <a:off x="827088" y="836613"/>
            <a:ext cx="5905500" cy="5835650"/>
          </a:xfrm>
          <a:prstGeom prst="rect">
            <a:avLst/>
          </a:prstGeom>
          <a:solidFill>
            <a:schemeClr val="bg1">
              <a:lumMod val="75000"/>
            </a:schemeClr>
          </a:solidFill>
          <a:ln w="25400">
            <a:noFill/>
            <a:miter lim="800000"/>
            <a:headEnd/>
            <a:tailEnd type="none" w="sm" len="sm"/>
          </a:ln>
        </p:spPr>
        <p:txBody>
          <a:bodyPr lIns="0" tIns="0" rIns="0" bIns="0">
            <a:spAutoFit/>
          </a:bodyPr>
          <a:lstStyle/>
          <a:p>
            <a:pPr eaLnBrk="1" fontAlgn="auto" hangingPunct="1">
              <a:lnSpc>
                <a:spcPts val="1900"/>
              </a:lnSpc>
              <a:spcBef>
                <a:spcPts val="0"/>
              </a:spcBef>
              <a:spcAft>
                <a:spcPts val="0"/>
              </a:spcAft>
              <a:tabLst>
                <a:tab pos="973138" algn="l"/>
                <a:tab pos="2571750" algn="l"/>
                <a:tab pos="4632325" algn="l"/>
              </a:tabLst>
              <a:defRPr/>
            </a:pPr>
            <a:r>
              <a:rPr lang="en-US" altLang="tr-TR" b="1" dirty="0">
                <a:latin typeface="+mn-lt"/>
                <a:ea typeface="MS PGothic" pitchFamily="34" charset="-128"/>
              </a:rPr>
              <a:t>Metal	Cancers	Present in	Human Carcinogen?</a:t>
            </a:r>
          </a:p>
          <a:p>
            <a:pPr eaLnBrk="1" fontAlgn="auto" hangingPunct="1">
              <a:lnSpc>
                <a:spcPts val="1400"/>
              </a:lnSpc>
              <a:spcBef>
                <a:spcPts val="0"/>
              </a:spcBef>
              <a:spcAft>
                <a:spcPts val="0"/>
              </a:spcAft>
              <a:tabLst>
                <a:tab pos="973138" algn="l"/>
                <a:tab pos="2571750" algn="l"/>
                <a:tab pos="4632325" algn="l"/>
              </a:tabLst>
              <a:defRPr/>
            </a:pPr>
            <a:r>
              <a:rPr lang="en-US" altLang="tr-TR" b="1" dirty="0">
                <a:latin typeface="+mn-lt"/>
                <a:ea typeface="MS PGothic" pitchFamily="34" charset="-128"/>
              </a:rPr>
              <a:t>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Arsenic	Skin, lung, bladder,	Wood preservatives,	Yes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kidney, liver	glass, pesticides	</a:t>
            </a:r>
          </a:p>
          <a:p>
            <a:pPr eaLnBrk="1" fontAlgn="auto" hangingPunct="1">
              <a:lnSpc>
                <a:spcPts val="1300"/>
              </a:lnSpc>
              <a:spcBef>
                <a:spcPts val="0"/>
              </a:spcBef>
              <a:spcAft>
                <a:spcPts val="0"/>
              </a:spcAft>
              <a:tabLst>
                <a:tab pos="973138" algn="l"/>
                <a:tab pos="2571750" algn="l"/>
                <a:tab pos="4632325" algn="l"/>
              </a:tabLst>
              <a:defRPr/>
            </a:pPr>
            <a:endParaRPr lang="en-US" altLang="tr-TR" sz="1200" b="1" dirty="0">
              <a:latin typeface="+mn-lt"/>
              <a:ea typeface="MS PGothic" pitchFamily="34" charset="-128"/>
            </a:endParaRP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Beryllium	Lung	Nuclear weapons,	Yes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rocket fuel, ceramics,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glass, plastic,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a:t>
            </a:r>
            <a:r>
              <a:rPr lang="en-US" altLang="tr-TR" sz="1200" b="1" dirty="0" err="1">
                <a:latin typeface="+mn-lt"/>
                <a:ea typeface="MS PGothic" pitchFamily="34" charset="-128"/>
              </a:rPr>
              <a:t>fiberoptic</a:t>
            </a:r>
            <a:r>
              <a:rPr lang="en-US" altLang="tr-TR" sz="1200" b="1" dirty="0">
                <a:latin typeface="+mn-lt"/>
                <a:ea typeface="MS PGothic" pitchFamily="34" charset="-128"/>
              </a:rPr>
              <a:t> products	</a:t>
            </a:r>
          </a:p>
          <a:p>
            <a:pPr eaLnBrk="1" fontAlgn="auto" hangingPunct="1">
              <a:lnSpc>
                <a:spcPts val="1000"/>
              </a:lnSpc>
              <a:spcBef>
                <a:spcPts val="0"/>
              </a:spcBef>
              <a:spcAft>
                <a:spcPts val="0"/>
              </a:spcAft>
              <a:tabLst>
                <a:tab pos="973138" algn="l"/>
                <a:tab pos="2571750" algn="l"/>
                <a:tab pos="4632325" algn="l"/>
              </a:tabLst>
              <a:defRPr/>
            </a:pPr>
            <a:endParaRPr lang="en-US" altLang="tr-TR" sz="1200" b="1" dirty="0">
              <a:latin typeface="+mn-lt"/>
              <a:ea typeface="MS PGothic" pitchFamily="34" charset="-128"/>
            </a:endParaRP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Cadmium	Lung	Metal coatings,	Yes</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plastic products,</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batteries, fungicides	</a:t>
            </a:r>
          </a:p>
          <a:p>
            <a:pPr eaLnBrk="1" fontAlgn="auto" hangingPunct="1">
              <a:lnSpc>
                <a:spcPts val="1000"/>
              </a:lnSpc>
              <a:spcBef>
                <a:spcPts val="0"/>
              </a:spcBef>
              <a:spcAft>
                <a:spcPts val="0"/>
              </a:spcAft>
              <a:tabLst>
                <a:tab pos="973138" algn="l"/>
                <a:tab pos="2571750" algn="l"/>
                <a:tab pos="4632325" algn="l"/>
              </a:tabLst>
              <a:defRPr/>
            </a:pPr>
            <a:endParaRPr lang="en-US" altLang="tr-TR" sz="1200" b="1" dirty="0">
              <a:latin typeface="+mn-lt"/>
              <a:ea typeface="MS PGothic" pitchFamily="34" charset="-128"/>
            </a:endParaRP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Chromium	Lung	Automotive parts,	Yes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floor covering, paper,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cement, asphalt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roofing; anti-corrosive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metal plating	</a:t>
            </a:r>
          </a:p>
          <a:p>
            <a:pPr eaLnBrk="1" fontAlgn="auto" hangingPunct="1">
              <a:lnSpc>
                <a:spcPts val="1000"/>
              </a:lnSpc>
              <a:spcBef>
                <a:spcPts val="0"/>
              </a:spcBef>
              <a:spcAft>
                <a:spcPts val="0"/>
              </a:spcAft>
              <a:tabLst>
                <a:tab pos="973138" algn="l"/>
                <a:tab pos="2571750" algn="l"/>
                <a:tab pos="4632325" algn="l"/>
              </a:tabLst>
              <a:defRPr/>
            </a:pPr>
            <a:endParaRPr lang="en-US" altLang="tr-TR" sz="1200" b="1" dirty="0">
              <a:latin typeface="+mn-lt"/>
              <a:ea typeface="MS PGothic" pitchFamily="34" charset="-128"/>
            </a:endParaRP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Lead	Kidney, brain	Cotton dyes, metal 	Probable carcinogen</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coating, drier in paints,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varnishes and pigment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inks, certain plastics,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specialty glass </a:t>
            </a:r>
          </a:p>
          <a:p>
            <a:pPr eaLnBrk="1" fontAlgn="auto" hangingPunct="1">
              <a:lnSpc>
                <a:spcPts val="9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Nickel	Nasal cavity, lung	Steel, dental fillings, 	Nickel metal: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copper and brass, 	Probable carcinogen</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permanent magnets,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storage batteries, 	Nickel compounds:	</a:t>
            </a:r>
          </a:p>
          <a:p>
            <a:pPr eaLnBrk="1" fontAlgn="auto" hangingPunct="1">
              <a:lnSpc>
                <a:spcPts val="1300"/>
              </a:lnSpc>
              <a:spcBef>
                <a:spcPts val="0"/>
              </a:spcBef>
              <a:spcAft>
                <a:spcPts val="0"/>
              </a:spcAft>
              <a:tabLst>
                <a:tab pos="973138" algn="l"/>
                <a:tab pos="2571750" algn="l"/>
                <a:tab pos="4632325" algn="l"/>
              </a:tabLst>
              <a:defRPr/>
            </a:pPr>
            <a:r>
              <a:rPr lang="en-US" altLang="tr-TR" sz="1200" b="1" dirty="0">
                <a:latin typeface="+mn-lt"/>
                <a:ea typeface="MS PGothic" pitchFamily="34" charset="-128"/>
              </a:rPr>
              <a:t>		glazes	Yes	</a:t>
            </a:r>
          </a:p>
        </p:txBody>
      </p:sp>
      <p:sp>
        <p:nvSpPr>
          <p:cNvPr id="56323" name="Rectangle 2">
            <a:extLst>
              <a:ext uri="{FF2B5EF4-FFF2-40B4-BE49-F238E27FC236}">
                <a16:creationId xmlns:a16="http://schemas.microsoft.com/office/drawing/2014/main" id="{BCFCF5E9-6C99-7DF1-8EE5-425F49277B48}"/>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solidFill>
                  <a:srgbClr val="FF0000"/>
                </a:solidFill>
                <a:latin typeface="Arial" panose="020B0604020202020204" pitchFamily="34" charset="0"/>
                <a:ea typeface="MS PGothic" panose="020B0600070205080204" pitchFamily="34" charset="-128"/>
              </a:rPr>
              <a:t>Other Carcinogens: Metals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Başlık 1">
            <a:extLst>
              <a:ext uri="{FF2B5EF4-FFF2-40B4-BE49-F238E27FC236}">
                <a16:creationId xmlns:a16="http://schemas.microsoft.com/office/drawing/2014/main" id="{98EDC24B-2A0B-6551-CA1C-2F5CEFD4EE5E}"/>
              </a:ext>
            </a:extLst>
          </p:cNvPr>
          <p:cNvSpPr>
            <a:spLocks noGrp="1"/>
          </p:cNvSpPr>
          <p:nvPr>
            <p:ph type="title"/>
          </p:nvPr>
        </p:nvSpPr>
        <p:spPr/>
        <p:txBody>
          <a:bodyPr/>
          <a:lstStyle/>
          <a:p>
            <a:pPr eaLnBrk="1" hangingPunct="1"/>
            <a:r>
              <a:rPr lang="en-US" altLang="tr-TR">
                <a:solidFill>
                  <a:srgbClr val="FF0000"/>
                </a:solidFill>
              </a:rPr>
              <a:t>Occupational cancer</a:t>
            </a:r>
          </a:p>
        </p:txBody>
      </p:sp>
      <p:sp>
        <p:nvSpPr>
          <p:cNvPr id="58370" name="İçerik Yer Tutucusu 2">
            <a:extLst>
              <a:ext uri="{FF2B5EF4-FFF2-40B4-BE49-F238E27FC236}">
                <a16:creationId xmlns:a16="http://schemas.microsoft.com/office/drawing/2014/main" id="{86D425C4-4CD7-CE35-E9B8-3FEA9B9A7709}"/>
              </a:ext>
            </a:extLst>
          </p:cNvPr>
          <p:cNvSpPr>
            <a:spLocks noGrp="1"/>
          </p:cNvSpPr>
          <p:nvPr>
            <p:ph idx="1"/>
          </p:nvPr>
        </p:nvSpPr>
        <p:spPr/>
        <p:txBody>
          <a:bodyPr/>
          <a:lstStyle/>
          <a:p>
            <a:pPr eaLnBrk="1" hangingPunct="1"/>
            <a:r>
              <a:rPr lang="en-US" altLang="tr-TR" sz="2400"/>
              <a:t>Occupational cancer can arise from exposure to many substances or from certain occupational circumstances such as:</a:t>
            </a:r>
          </a:p>
          <a:p>
            <a:pPr eaLnBrk="1" hangingPunct="1"/>
            <a:endParaRPr lang="en-US" altLang="tr-TR" sz="2400"/>
          </a:p>
          <a:p>
            <a:pPr eaLnBrk="1" hangingPunct="1"/>
            <a:r>
              <a:rPr lang="en-US" altLang="tr-TR" sz="2400"/>
              <a:t> asbestos fibers (colorectal, larynx, lung, ovary, pharynx, stomach cancers, mesothelioma)</a:t>
            </a:r>
          </a:p>
          <a:p>
            <a:pPr eaLnBrk="1" hangingPunct="1"/>
            <a:endParaRPr lang="en-US" altLang="tr-TR" sz="2400"/>
          </a:p>
          <a:p>
            <a:pPr eaLnBrk="1" hangingPunct="1"/>
            <a:r>
              <a:rPr lang="en-US" altLang="tr-TR" sz="2400"/>
              <a:t>• wood dusts (nasopharynx, Sino nasal cancers)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Başlık 1">
            <a:extLst>
              <a:ext uri="{FF2B5EF4-FFF2-40B4-BE49-F238E27FC236}">
                <a16:creationId xmlns:a16="http://schemas.microsoft.com/office/drawing/2014/main" id="{92AEFAC3-B1C0-3599-212E-0B4306B743AA}"/>
              </a:ext>
            </a:extLst>
          </p:cNvPr>
          <p:cNvSpPr>
            <a:spLocks noGrp="1"/>
          </p:cNvSpPr>
          <p:nvPr>
            <p:ph type="title"/>
          </p:nvPr>
        </p:nvSpPr>
        <p:spPr/>
        <p:txBody>
          <a:bodyPr/>
          <a:lstStyle/>
          <a:p>
            <a:pPr eaLnBrk="1" hangingPunct="1"/>
            <a:r>
              <a:rPr lang="tr-TR" altLang="tr-TR">
                <a:solidFill>
                  <a:srgbClr val="FF0000"/>
                </a:solidFill>
              </a:rPr>
              <a:t>Occupational cancer 2</a:t>
            </a:r>
            <a:endParaRPr lang="tr-TR" altLang="tr-TR"/>
          </a:p>
        </p:txBody>
      </p:sp>
      <p:sp>
        <p:nvSpPr>
          <p:cNvPr id="59394" name="İçerik Yer Tutucusu 2">
            <a:extLst>
              <a:ext uri="{FF2B5EF4-FFF2-40B4-BE49-F238E27FC236}">
                <a16:creationId xmlns:a16="http://schemas.microsoft.com/office/drawing/2014/main" id="{507F59D7-712A-C1B1-5B67-C27C4AED1C82}"/>
              </a:ext>
            </a:extLst>
          </p:cNvPr>
          <p:cNvSpPr>
            <a:spLocks noGrp="1"/>
          </p:cNvSpPr>
          <p:nvPr>
            <p:ph idx="1"/>
          </p:nvPr>
        </p:nvSpPr>
        <p:spPr/>
        <p:txBody>
          <a:bodyPr/>
          <a:lstStyle/>
          <a:p>
            <a:pPr eaLnBrk="1" hangingPunct="1"/>
            <a:r>
              <a:rPr lang="en-US" altLang="tr-TR"/>
              <a:t>• </a:t>
            </a:r>
            <a:r>
              <a:rPr lang="en-US" altLang="tr-TR" sz="2800"/>
              <a:t>UV radiation from sunlight (skin cancers)</a:t>
            </a:r>
          </a:p>
          <a:p>
            <a:pPr eaLnBrk="1" hangingPunct="1"/>
            <a:r>
              <a:rPr lang="en-US" altLang="tr-TR" sz="2800"/>
              <a:t>• metalworking fluids and mineral oils (bladder, lung, Sino nasal,  skin cancers)</a:t>
            </a:r>
          </a:p>
          <a:p>
            <a:pPr eaLnBrk="1" hangingPunct="1"/>
            <a:r>
              <a:rPr lang="en-US" altLang="tr-TR" sz="2800"/>
              <a:t>• silica dust (lung cancer)</a:t>
            </a:r>
          </a:p>
          <a:p>
            <a:pPr eaLnBrk="1" hangingPunct="1"/>
            <a:r>
              <a:rPr lang="en-US" altLang="tr-TR" sz="2800"/>
              <a:t>• diesel engine exhaust (bladder, lung cancers)</a:t>
            </a:r>
          </a:p>
          <a:p>
            <a:pPr eaLnBrk="1" hangingPunct="1"/>
            <a:r>
              <a:rPr lang="en-US" altLang="tr-TR" sz="2800"/>
              <a:t>• coal tars and pitches (non-melanoma skin cancer)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Başlık 1">
            <a:extLst>
              <a:ext uri="{FF2B5EF4-FFF2-40B4-BE49-F238E27FC236}">
                <a16:creationId xmlns:a16="http://schemas.microsoft.com/office/drawing/2014/main" id="{7AAA2137-E8EA-22EB-28DD-3EFDA0C950DA}"/>
              </a:ext>
            </a:extLst>
          </p:cNvPr>
          <p:cNvSpPr>
            <a:spLocks noGrp="1"/>
          </p:cNvSpPr>
          <p:nvPr>
            <p:ph type="title"/>
          </p:nvPr>
        </p:nvSpPr>
        <p:spPr/>
        <p:txBody>
          <a:bodyPr/>
          <a:lstStyle/>
          <a:p>
            <a:pPr eaLnBrk="1" hangingPunct="1"/>
            <a:r>
              <a:rPr lang="tr-TR" altLang="tr-TR">
                <a:solidFill>
                  <a:srgbClr val="FF0000"/>
                </a:solidFill>
              </a:rPr>
              <a:t>Occupational cancer 3</a:t>
            </a:r>
            <a:endParaRPr lang="tr-TR" altLang="tr-TR"/>
          </a:p>
        </p:txBody>
      </p:sp>
      <p:sp>
        <p:nvSpPr>
          <p:cNvPr id="3" name="İçerik Yer Tutucusu 2">
            <a:extLst>
              <a:ext uri="{FF2B5EF4-FFF2-40B4-BE49-F238E27FC236}">
                <a16:creationId xmlns:a16="http://schemas.microsoft.com/office/drawing/2014/main" id="{224D630A-2943-2244-A3B5-9B66F848A995}"/>
              </a:ext>
            </a:extLst>
          </p:cNvPr>
          <p:cNvSpPr>
            <a:spLocks noGrp="1"/>
          </p:cNvSpPr>
          <p:nvPr>
            <p:ph idx="1"/>
          </p:nvPr>
        </p:nvSpPr>
        <p:spPr/>
        <p:txBody>
          <a:bodyPr rtlCol="0">
            <a:normAutofit/>
          </a:bodyPr>
          <a:lstStyle/>
          <a:p>
            <a:pPr marL="0" indent="0" eaLnBrk="1" fontAlgn="auto" hangingPunct="1">
              <a:spcAft>
                <a:spcPts val="0"/>
              </a:spcAft>
              <a:buFontTx/>
              <a:buNone/>
              <a:defRPr/>
            </a:pPr>
            <a:r>
              <a:rPr lang="tr-TR" sz="2400" dirty="0"/>
              <a:t>• </a:t>
            </a:r>
            <a:r>
              <a:rPr lang="en-US" sz="2400" dirty="0"/>
              <a:t>work as a painter (bladder, lung)</a:t>
            </a:r>
          </a:p>
          <a:p>
            <a:pPr marL="0" indent="0" eaLnBrk="1" fontAlgn="auto" hangingPunct="1">
              <a:spcAft>
                <a:spcPts val="0"/>
              </a:spcAft>
              <a:buFontTx/>
              <a:buNone/>
              <a:defRPr/>
            </a:pPr>
            <a:endParaRPr lang="en-US" sz="2400" dirty="0"/>
          </a:p>
          <a:p>
            <a:pPr eaLnBrk="1" fontAlgn="auto" hangingPunct="1">
              <a:spcAft>
                <a:spcPts val="0"/>
              </a:spcAft>
              <a:defRPr/>
            </a:pPr>
            <a:r>
              <a:rPr lang="en-US" sz="2400" dirty="0"/>
              <a:t>work as a welder (lung cancer, melanoma of the eye)</a:t>
            </a:r>
          </a:p>
          <a:p>
            <a:pPr eaLnBrk="1" fontAlgn="auto" hangingPunct="1">
              <a:spcAft>
                <a:spcPts val="0"/>
              </a:spcAft>
              <a:defRPr/>
            </a:pPr>
            <a:endParaRPr lang="en-US" sz="2400" dirty="0"/>
          </a:p>
          <a:p>
            <a:pPr eaLnBrk="1" fontAlgn="auto" hangingPunct="1">
              <a:spcAft>
                <a:spcPts val="0"/>
              </a:spcAft>
              <a:defRPr/>
            </a:pPr>
            <a:r>
              <a:rPr lang="en-US" sz="2400" dirty="0"/>
              <a:t> shift (night) work (breast cancer).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Başlık 1">
            <a:extLst>
              <a:ext uri="{FF2B5EF4-FFF2-40B4-BE49-F238E27FC236}">
                <a16:creationId xmlns:a16="http://schemas.microsoft.com/office/drawing/2014/main" id="{2D334FBA-54A7-5840-9B0C-F7C25578E206}"/>
              </a:ext>
            </a:extLst>
          </p:cNvPr>
          <p:cNvSpPr>
            <a:spLocks noGrp="1"/>
          </p:cNvSpPr>
          <p:nvPr>
            <p:ph type="title"/>
          </p:nvPr>
        </p:nvSpPr>
        <p:spPr>
          <a:xfrm>
            <a:off x="457200" y="274638"/>
            <a:ext cx="8229600" cy="777875"/>
          </a:xfrm>
        </p:spPr>
        <p:txBody>
          <a:bodyPr rtlCol="0">
            <a:normAutofit fontScale="90000"/>
          </a:bodyPr>
          <a:lstStyle/>
          <a:p>
            <a:pPr eaLnBrk="1" fontAlgn="auto" hangingPunct="1">
              <a:spcAft>
                <a:spcPts val="0"/>
              </a:spcAft>
              <a:defRPr/>
            </a:pPr>
            <a:r>
              <a:rPr lang="tr-TR" altLang="tr-TR" sz="3600" dirty="0" err="1">
                <a:solidFill>
                  <a:srgbClr val="FF3300"/>
                </a:solidFill>
              </a:rPr>
              <a:t>Liver</a:t>
            </a:r>
            <a:r>
              <a:rPr lang="tr-TR" altLang="tr-TR" sz="3600" dirty="0">
                <a:solidFill>
                  <a:srgbClr val="FF3300"/>
                </a:solidFill>
              </a:rPr>
              <a:t> </a:t>
            </a:r>
            <a:r>
              <a:rPr lang="tr-TR" altLang="tr-TR" sz="3600" dirty="0" err="1">
                <a:solidFill>
                  <a:srgbClr val="FF3300"/>
                </a:solidFill>
              </a:rPr>
              <a:t>Cancer</a:t>
            </a:r>
            <a:r>
              <a:rPr lang="tr-TR" altLang="tr-TR" sz="3600" dirty="0">
                <a:solidFill>
                  <a:srgbClr val="FF3300"/>
                </a:solidFill>
              </a:rPr>
              <a:t>: </a:t>
            </a:r>
            <a:r>
              <a:rPr lang="tr-TR" altLang="tr-TR" sz="3600" dirty="0" err="1">
                <a:solidFill>
                  <a:srgbClr val="FF3300"/>
                </a:solidFill>
              </a:rPr>
              <a:t>Documented</a:t>
            </a:r>
            <a:r>
              <a:rPr lang="tr-TR" altLang="tr-TR" sz="3600" dirty="0">
                <a:solidFill>
                  <a:srgbClr val="FF3300"/>
                </a:solidFill>
              </a:rPr>
              <a:t> Links</a:t>
            </a:r>
            <a:br>
              <a:rPr lang="tr-TR" altLang="tr-TR" dirty="0"/>
            </a:br>
            <a:endParaRPr lang="tr-TR" altLang="tr-TR" dirty="0"/>
          </a:p>
        </p:txBody>
      </p:sp>
      <p:sp>
        <p:nvSpPr>
          <p:cNvPr id="65539" name="İçerik Yer Tutucusu 2">
            <a:extLst>
              <a:ext uri="{FF2B5EF4-FFF2-40B4-BE49-F238E27FC236}">
                <a16:creationId xmlns:a16="http://schemas.microsoft.com/office/drawing/2014/main" id="{B5AD9A50-8180-8C49-A046-C81ADFFF2250}"/>
              </a:ext>
            </a:extLst>
          </p:cNvPr>
          <p:cNvSpPr>
            <a:spLocks noGrp="1"/>
          </p:cNvSpPr>
          <p:nvPr>
            <p:ph idx="1"/>
          </p:nvPr>
        </p:nvSpPr>
        <p:spPr>
          <a:xfrm>
            <a:off x="457200" y="1125538"/>
            <a:ext cx="8229600" cy="5000625"/>
          </a:xfrm>
        </p:spPr>
        <p:txBody>
          <a:bodyPr rtlCol="0">
            <a:normAutofit lnSpcReduction="10000"/>
          </a:bodyPr>
          <a:lstStyle/>
          <a:p>
            <a:pPr marL="0" indent="0" eaLnBrk="1" fontAlgn="auto" hangingPunct="1">
              <a:spcAft>
                <a:spcPts val="0"/>
              </a:spcAft>
              <a:buFontTx/>
              <a:buNone/>
              <a:defRPr/>
            </a:pPr>
            <a:r>
              <a:rPr lang="tr-TR" altLang="tr-TR" sz="2000"/>
              <a:t>• </a:t>
            </a:r>
            <a:r>
              <a:rPr lang="tr-TR" altLang="tr-TR" sz="2000">
                <a:solidFill>
                  <a:srgbClr val="FF3300"/>
                </a:solidFill>
              </a:rPr>
              <a:t>Aflatoxin B1 </a:t>
            </a:r>
            <a:r>
              <a:rPr lang="tr-TR" altLang="tr-TR" sz="2000"/>
              <a:t>(Aflatoxins) [Strong]</a:t>
            </a:r>
          </a:p>
          <a:p>
            <a:pPr marL="0" indent="0" eaLnBrk="1" fontAlgn="auto" hangingPunct="1">
              <a:spcAft>
                <a:spcPts val="0"/>
              </a:spcAft>
              <a:buFontTx/>
              <a:buNone/>
              <a:defRPr/>
            </a:pPr>
            <a:r>
              <a:rPr lang="tr-TR" altLang="tr-TR" sz="2000"/>
              <a:t>• Androgens [Strong]</a:t>
            </a:r>
          </a:p>
          <a:p>
            <a:pPr marL="0" indent="0" eaLnBrk="1" fontAlgn="auto" hangingPunct="1">
              <a:spcAft>
                <a:spcPts val="0"/>
              </a:spcAft>
              <a:buFontTx/>
              <a:buNone/>
              <a:defRPr/>
            </a:pPr>
            <a:r>
              <a:rPr lang="tr-TR" altLang="tr-TR" sz="2000"/>
              <a:t>• ethyl alcohol (ethanol) [Strong]</a:t>
            </a:r>
          </a:p>
          <a:p>
            <a:pPr marL="0" indent="0" eaLnBrk="1" fontAlgn="auto" hangingPunct="1">
              <a:spcAft>
                <a:spcPts val="0"/>
              </a:spcAft>
              <a:buFontTx/>
              <a:buNone/>
              <a:defRPr/>
            </a:pPr>
            <a:r>
              <a:rPr lang="tr-TR" altLang="tr-TR" sz="2000"/>
              <a:t>• Hydrocarbons [Strong]</a:t>
            </a:r>
          </a:p>
          <a:p>
            <a:pPr marL="0" indent="0" eaLnBrk="1" fontAlgn="auto" hangingPunct="1">
              <a:spcAft>
                <a:spcPts val="0"/>
              </a:spcAft>
              <a:buFontTx/>
              <a:buNone/>
              <a:defRPr/>
            </a:pPr>
            <a:r>
              <a:rPr lang="tr-TR" altLang="tr-TR" sz="2000"/>
              <a:t>• N-nitrosodimethylamine [Strong]</a:t>
            </a:r>
          </a:p>
          <a:p>
            <a:pPr marL="0" indent="0" eaLnBrk="1" fontAlgn="auto" hangingPunct="1">
              <a:spcAft>
                <a:spcPts val="0"/>
              </a:spcAft>
              <a:buFontTx/>
              <a:buNone/>
              <a:defRPr/>
            </a:pPr>
            <a:r>
              <a:rPr lang="tr-TR" altLang="tr-TR" sz="2000"/>
              <a:t>• arsenic [Good]</a:t>
            </a:r>
          </a:p>
          <a:p>
            <a:pPr marL="0" indent="0" eaLnBrk="1" fontAlgn="auto" hangingPunct="1">
              <a:spcAft>
                <a:spcPts val="0"/>
              </a:spcAft>
              <a:buFontTx/>
              <a:buNone/>
              <a:defRPr/>
            </a:pPr>
            <a:r>
              <a:rPr lang="tr-TR" altLang="tr-TR" sz="2000"/>
              <a:t>• captafol [Good]</a:t>
            </a:r>
          </a:p>
          <a:p>
            <a:pPr marL="0" indent="0" eaLnBrk="1" fontAlgn="auto" hangingPunct="1">
              <a:spcAft>
                <a:spcPts val="0"/>
              </a:spcAft>
              <a:buFontTx/>
              <a:buNone/>
              <a:defRPr/>
            </a:pPr>
            <a:r>
              <a:rPr lang="tr-TR" altLang="tr-TR" sz="2000"/>
              <a:t>• PCBs[Good]</a:t>
            </a:r>
          </a:p>
          <a:p>
            <a:pPr marL="0" indent="0" eaLnBrk="1" fontAlgn="auto" hangingPunct="1">
              <a:spcAft>
                <a:spcPts val="0"/>
              </a:spcAft>
              <a:buFontTx/>
              <a:buNone/>
              <a:defRPr/>
            </a:pPr>
            <a:r>
              <a:rPr lang="tr-TR" altLang="tr-TR" sz="2000"/>
              <a:t>• thorium dioxide (Thorostat) [Good]</a:t>
            </a:r>
          </a:p>
          <a:p>
            <a:pPr marL="0" indent="0" eaLnBrk="1" fontAlgn="auto" hangingPunct="1">
              <a:spcAft>
                <a:spcPts val="0"/>
              </a:spcAft>
              <a:buFontTx/>
              <a:buNone/>
              <a:defRPr/>
            </a:pPr>
            <a:r>
              <a:rPr lang="tr-TR" altLang="tr-TR" sz="2000"/>
              <a:t>• trichloroethylene (TCE) [Good]</a:t>
            </a:r>
          </a:p>
          <a:p>
            <a:pPr marL="0" indent="0" eaLnBrk="1" fontAlgn="auto" hangingPunct="1">
              <a:spcAft>
                <a:spcPts val="0"/>
              </a:spcAft>
              <a:buFontTx/>
              <a:buNone/>
              <a:defRPr/>
            </a:pPr>
            <a:r>
              <a:rPr lang="tr-TR" altLang="tr-TR" sz="2000"/>
              <a:t>• vinyl chloride [Good]</a:t>
            </a:r>
          </a:p>
          <a:p>
            <a:pPr marL="0" indent="0" eaLnBrk="1" fontAlgn="auto" hangingPunct="1">
              <a:spcAft>
                <a:spcPts val="0"/>
              </a:spcAft>
              <a:buFontTx/>
              <a:buNone/>
              <a:defRPr/>
            </a:pPr>
            <a:endParaRPr lang="tr-TR" altLang="tr-TR" sz="2000"/>
          </a:p>
          <a:p>
            <a:pPr marL="0" indent="0" eaLnBrk="1" fontAlgn="auto" hangingPunct="1">
              <a:spcAft>
                <a:spcPts val="0"/>
              </a:spcAft>
              <a:buFontTx/>
              <a:buNone/>
              <a:defRPr/>
            </a:pPr>
            <a:r>
              <a:rPr lang="tr-TR" altLang="tr-TR" sz="1800">
                <a:solidFill>
                  <a:srgbClr val="92D050"/>
                </a:solidFill>
              </a:rPr>
              <a:t>Source: Solomon G, Schettler T, Janssen S. “CHE Toxicant and Disease Database.” Accessed 3-22 06:http://database.healthandenvironment.org/.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2">
            <a:extLst>
              <a:ext uri="{FF2B5EF4-FFF2-40B4-BE49-F238E27FC236}">
                <a16:creationId xmlns:a16="http://schemas.microsoft.com/office/drawing/2014/main" id="{E6F7E894-5F9C-8BD7-146C-7C8BF1F66BF0}"/>
              </a:ext>
            </a:extLst>
          </p:cNvPr>
          <p:cNvSpPr txBox="1">
            <a:spLocks noChangeArrowheads="1"/>
          </p:cNvSpPr>
          <p:nvPr/>
        </p:nvSpPr>
        <p:spPr bwMode="auto">
          <a:xfrm>
            <a:off x="1776413" y="2667000"/>
            <a:ext cx="5768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CA" altLang="tr-TR" sz="2800" u="sng">
                <a:solidFill>
                  <a:srgbClr val="FF3300"/>
                </a:solidFill>
                <a:latin typeface="Arial" panose="020B0604020202020204" pitchFamily="34" charset="0"/>
              </a:rPr>
              <a:t>Thyroid Cancer: Documented Links</a:t>
            </a:r>
          </a:p>
        </p:txBody>
      </p:sp>
      <p:sp>
        <p:nvSpPr>
          <p:cNvPr id="295939" name="Rectangle 3">
            <a:extLst>
              <a:ext uri="{FF2B5EF4-FFF2-40B4-BE49-F238E27FC236}">
                <a16:creationId xmlns:a16="http://schemas.microsoft.com/office/drawing/2014/main" id="{7E974E91-878F-044C-B788-D0948AD45B7A}"/>
              </a:ext>
            </a:extLst>
          </p:cNvPr>
          <p:cNvSpPr>
            <a:spLocks noGrp="1" noChangeArrowheads="1"/>
          </p:cNvSpPr>
          <p:nvPr>
            <p:ph idx="1"/>
          </p:nvPr>
        </p:nvSpPr>
        <p:spPr>
          <a:xfrm>
            <a:off x="1981200" y="3505200"/>
            <a:ext cx="5562600" cy="1939925"/>
          </a:xfrm>
        </p:spPr>
        <p:txBody>
          <a:bodyPr rtlCol="0">
            <a:normAutofit/>
          </a:bodyPr>
          <a:lstStyle/>
          <a:p>
            <a:pPr eaLnBrk="1" fontAlgn="auto" hangingPunct="1">
              <a:spcAft>
                <a:spcPts val="0"/>
              </a:spcAft>
              <a:defRPr/>
            </a:pPr>
            <a:r>
              <a:rPr lang="en-CA" sz="2400" dirty="0">
                <a:solidFill>
                  <a:schemeClr val="accent2">
                    <a:lumMod val="60000"/>
                    <a:lumOff val="40000"/>
                  </a:schemeClr>
                </a:solidFill>
              </a:rPr>
              <a:t>Ionizing radiation </a:t>
            </a:r>
            <a:r>
              <a:rPr lang="en-CA" sz="2400" dirty="0">
                <a:solidFill>
                  <a:schemeClr val="folHlink"/>
                </a:solidFill>
              </a:rPr>
              <a:t>[Strong]</a:t>
            </a:r>
          </a:p>
          <a:p>
            <a:pPr eaLnBrk="1" fontAlgn="auto" hangingPunct="1">
              <a:spcAft>
                <a:spcPts val="0"/>
              </a:spcAft>
              <a:defRPr/>
            </a:pPr>
            <a:r>
              <a:rPr lang="en-CA" sz="2400" dirty="0">
                <a:solidFill>
                  <a:schemeClr val="folHlink"/>
                </a:solidFill>
              </a:rPr>
              <a:t>ethylene </a:t>
            </a:r>
            <a:r>
              <a:rPr lang="en-CA" sz="2400" dirty="0" err="1">
                <a:solidFill>
                  <a:schemeClr val="folHlink"/>
                </a:solidFill>
              </a:rPr>
              <a:t>thiourea</a:t>
            </a:r>
            <a:r>
              <a:rPr lang="en-CA" sz="2400" dirty="0">
                <a:solidFill>
                  <a:schemeClr val="folHlink"/>
                </a:solidFill>
              </a:rPr>
              <a:t> (ETU) [Good]</a:t>
            </a:r>
          </a:p>
        </p:txBody>
      </p:sp>
      <p:sp>
        <p:nvSpPr>
          <p:cNvPr id="62467" name="Text Box 4">
            <a:extLst>
              <a:ext uri="{FF2B5EF4-FFF2-40B4-BE49-F238E27FC236}">
                <a16:creationId xmlns:a16="http://schemas.microsoft.com/office/drawing/2014/main" id="{A5A36855-5947-D15C-E064-B7E921C4A231}"/>
              </a:ext>
            </a:extLst>
          </p:cNvPr>
          <p:cNvSpPr txBox="1">
            <a:spLocks noChangeArrowheads="1"/>
          </p:cNvSpPr>
          <p:nvPr/>
        </p:nvSpPr>
        <p:spPr bwMode="auto">
          <a:xfrm>
            <a:off x="2058988" y="1524000"/>
            <a:ext cx="39354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50838" indent="-350838">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CA" altLang="tr-TR" sz="2800">
                <a:solidFill>
                  <a:srgbClr val="B760F9"/>
                </a:solidFill>
                <a:latin typeface="Arial" panose="020B0604020202020204" pitchFamily="34" charset="0"/>
                <a:sym typeface="Wingdings" pitchFamily="2" charset="2"/>
              </a:rPr>
              <a:t>	</a:t>
            </a:r>
            <a:r>
              <a:rPr lang="en-CA" altLang="tr-TR" sz="2800">
                <a:solidFill>
                  <a:srgbClr val="00B0F0"/>
                </a:solidFill>
                <a:latin typeface="Arial" panose="020B0604020202020204" pitchFamily="34" charset="0"/>
              </a:rPr>
              <a:t>UV radiation</a:t>
            </a:r>
            <a:r>
              <a:rPr lang="en-CA" altLang="tr-TR" sz="2800">
                <a:solidFill>
                  <a:srgbClr val="B760F9"/>
                </a:solidFill>
                <a:latin typeface="Arial" panose="020B0604020202020204" pitchFamily="34" charset="0"/>
              </a:rPr>
              <a:t> [Strong] </a:t>
            </a:r>
          </a:p>
          <a:p>
            <a:pPr algn="ctr" eaLnBrk="1" hangingPunct="1">
              <a:lnSpc>
                <a:spcPct val="100000"/>
              </a:lnSpc>
              <a:spcBef>
                <a:spcPct val="0"/>
              </a:spcBef>
              <a:buFontTx/>
              <a:buNone/>
            </a:pPr>
            <a:endParaRPr lang="en-CA" altLang="tr-TR" sz="2800" b="1">
              <a:solidFill>
                <a:srgbClr val="B760F9"/>
              </a:solidFill>
              <a:latin typeface="Arial" panose="020B0604020202020204" pitchFamily="34" charset="0"/>
            </a:endParaRPr>
          </a:p>
        </p:txBody>
      </p:sp>
      <p:sp>
        <p:nvSpPr>
          <p:cNvPr id="62468" name="Text Box 5">
            <a:extLst>
              <a:ext uri="{FF2B5EF4-FFF2-40B4-BE49-F238E27FC236}">
                <a16:creationId xmlns:a16="http://schemas.microsoft.com/office/drawing/2014/main" id="{4E0856B9-E3F4-92EB-7A12-7AC14F76DAD6}"/>
              </a:ext>
            </a:extLst>
          </p:cNvPr>
          <p:cNvSpPr txBox="1">
            <a:spLocks noChangeArrowheads="1"/>
          </p:cNvSpPr>
          <p:nvPr/>
        </p:nvSpPr>
        <p:spPr bwMode="auto">
          <a:xfrm>
            <a:off x="2109788" y="852488"/>
            <a:ext cx="5045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CA" altLang="tr-TR" sz="2800" u="sng">
                <a:solidFill>
                  <a:srgbClr val="FF3300"/>
                </a:solidFill>
                <a:latin typeface="Arial" panose="020B0604020202020204" pitchFamily="34" charset="0"/>
              </a:rPr>
              <a:t>Melanoma: Documented Links</a:t>
            </a:r>
          </a:p>
        </p:txBody>
      </p:sp>
      <p:sp>
        <p:nvSpPr>
          <p:cNvPr id="62469" name="Text Box 6">
            <a:extLst>
              <a:ext uri="{FF2B5EF4-FFF2-40B4-BE49-F238E27FC236}">
                <a16:creationId xmlns:a16="http://schemas.microsoft.com/office/drawing/2014/main" id="{6883347F-421C-E9CC-D895-D10D2DC68F0F}"/>
              </a:ext>
            </a:extLst>
          </p:cNvPr>
          <p:cNvSpPr txBox="1">
            <a:spLocks noChangeArrowheads="1"/>
          </p:cNvSpPr>
          <p:nvPr/>
        </p:nvSpPr>
        <p:spPr bwMode="auto">
          <a:xfrm>
            <a:off x="1327150" y="6184900"/>
            <a:ext cx="6934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CA" altLang="tr-TR" sz="1600">
                <a:solidFill>
                  <a:srgbClr val="B760F9"/>
                </a:solidFill>
                <a:latin typeface="Arial" panose="020B0604020202020204" pitchFamily="34" charset="0"/>
              </a:rPr>
              <a:t>Source:  Solomon G, Schettler T, Janssen S. “CHE Toxicant and Disease Database.” Accessed 3-22-06: http://database.healthandenvironment.org/.</a:t>
            </a:r>
            <a:endParaRPr lang="en-CA" altLang="tr-TR" sz="1600" b="1">
              <a:solidFill>
                <a:srgbClr val="B760F9"/>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2">
            <a:extLst>
              <a:ext uri="{FF2B5EF4-FFF2-40B4-BE49-F238E27FC236}">
                <a16:creationId xmlns:a16="http://schemas.microsoft.com/office/drawing/2014/main" id="{978DEA8A-308E-B969-CCB8-EB6DD361256F}"/>
              </a:ext>
            </a:extLst>
          </p:cNvPr>
          <p:cNvSpPr txBox="1">
            <a:spLocks noChangeArrowheads="1"/>
          </p:cNvSpPr>
          <p:nvPr/>
        </p:nvSpPr>
        <p:spPr bwMode="auto">
          <a:xfrm>
            <a:off x="727075" y="381000"/>
            <a:ext cx="7516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CA" altLang="tr-TR" sz="2800" u="sng">
                <a:solidFill>
                  <a:srgbClr val="FF0000"/>
                </a:solidFill>
                <a:latin typeface="Arial" panose="020B0604020202020204" pitchFamily="34" charset="0"/>
              </a:rPr>
              <a:t>Non-Hodgkin’s Lymphoma: Documented Links</a:t>
            </a:r>
          </a:p>
        </p:txBody>
      </p:sp>
      <p:sp>
        <p:nvSpPr>
          <p:cNvPr id="67587" name="Rectangle 3">
            <a:extLst>
              <a:ext uri="{FF2B5EF4-FFF2-40B4-BE49-F238E27FC236}">
                <a16:creationId xmlns:a16="http://schemas.microsoft.com/office/drawing/2014/main" id="{8990352A-ECFF-F84B-91A5-6F342B5113CE}"/>
              </a:ext>
            </a:extLst>
          </p:cNvPr>
          <p:cNvSpPr>
            <a:spLocks noGrp="1" noChangeArrowheads="1"/>
          </p:cNvSpPr>
          <p:nvPr>
            <p:ph idx="1"/>
          </p:nvPr>
        </p:nvSpPr>
        <p:spPr>
          <a:xfrm>
            <a:off x="1219200" y="1066800"/>
            <a:ext cx="3124200" cy="4724400"/>
          </a:xfrm>
        </p:spPr>
        <p:txBody>
          <a:bodyPr rtlCol="0">
            <a:normAutofit/>
          </a:bodyPr>
          <a:lstStyle/>
          <a:p>
            <a:pPr eaLnBrk="1" fontAlgn="auto" hangingPunct="1">
              <a:spcBef>
                <a:spcPct val="15000"/>
              </a:spcBef>
              <a:spcAft>
                <a:spcPts val="0"/>
              </a:spcAft>
              <a:defRPr/>
            </a:pPr>
            <a:r>
              <a:rPr lang="en-CA" altLang="tr-TR" sz="1800" dirty="0">
                <a:solidFill>
                  <a:srgbClr val="7030A0"/>
                </a:solidFill>
              </a:rPr>
              <a:t>1,3-butadiene [Strong]</a:t>
            </a:r>
          </a:p>
          <a:p>
            <a:pPr eaLnBrk="1" fontAlgn="auto" hangingPunct="1">
              <a:spcBef>
                <a:spcPct val="15000"/>
              </a:spcBef>
              <a:spcAft>
                <a:spcPts val="0"/>
              </a:spcAft>
              <a:defRPr/>
            </a:pPr>
            <a:r>
              <a:rPr lang="en-CA" altLang="tr-TR" sz="1800" dirty="0">
                <a:solidFill>
                  <a:srgbClr val="7030A0"/>
                </a:solidFill>
              </a:rPr>
              <a:t>Benzene [Strong]</a:t>
            </a:r>
          </a:p>
          <a:p>
            <a:pPr eaLnBrk="1" fontAlgn="auto" hangingPunct="1">
              <a:spcBef>
                <a:spcPct val="15000"/>
              </a:spcBef>
              <a:spcAft>
                <a:spcPts val="0"/>
              </a:spcAft>
              <a:defRPr/>
            </a:pPr>
            <a:r>
              <a:rPr lang="en-CA" altLang="tr-TR" sz="1800" dirty="0">
                <a:solidFill>
                  <a:srgbClr val="7030A0"/>
                </a:solidFill>
              </a:rPr>
              <a:t>Dioxins/TCDD [Strong</a:t>
            </a:r>
            <a:r>
              <a:rPr lang="en-CA" altLang="tr-TR" sz="1800" dirty="0">
                <a:solidFill>
                  <a:schemeClr val="tx2">
                    <a:lumMod val="40000"/>
                    <a:lumOff val="60000"/>
                  </a:schemeClr>
                </a:solidFill>
              </a:rPr>
              <a:t>]</a:t>
            </a:r>
          </a:p>
          <a:p>
            <a:pPr eaLnBrk="1" fontAlgn="auto" hangingPunct="1">
              <a:spcBef>
                <a:spcPct val="15000"/>
              </a:spcBef>
              <a:spcAft>
                <a:spcPts val="0"/>
              </a:spcAft>
              <a:defRPr/>
            </a:pPr>
            <a:r>
              <a:rPr lang="en-CA" altLang="tr-TR" sz="1800" dirty="0"/>
              <a:t>2,4-D [Good]</a:t>
            </a:r>
          </a:p>
          <a:p>
            <a:pPr eaLnBrk="1" fontAlgn="auto" hangingPunct="1">
              <a:spcBef>
                <a:spcPct val="15000"/>
              </a:spcBef>
              <a:spcAft>
                <a:spcPts val="0"/>
              </a:spcAft>
              <a:defRPr/>
            </a:pPr>
            <a:r>
              <a:rPr lang="en-CA" altLang="tr-TR" sz="1800" dirty="0"/>
              <a:t>Agent Orange [Good]</a:t>
            </a:r>
          </a:p>
          <a:p>
            <a:pPr eaLnBrk="1" fontAlgn="auto" hangingPunct="1">
              <a:spcBef>
                <a:spcPct val="15000"/>
              </a:spcBef>
              <a:spcAft>
                <a:spcPts val="0"/>
              </a:spcAft>
              <a:defRPr/>
            </a:pPr>
            <a:r>
              <a:rPr lang="en-CA" altLang="tr-TR" sz="1800" dirty="0"/>
              <a:t>Aldrin [Good]</a:t>
            </a:r>
          </a:p>
          <a:p>
            <a:pPr eaLnBrk="1" fontAlgn="auto" hangingPunct="1">
              <a:spcBef>
                <a:spcPct val="15000"/>
              </a:spcBef>
              <a:spcAft>
                <a:spcPts val="0"/>
              </a:spcAft>
              <a:defRPr/>
            </a:pPr>
            <a:r>
              <a:rPr lang="en-CA" altLang="tr-TR" sz="1800" dirty="0"/>
              <a:t>Aromatic amines [Good]</a:t>
            </a:r>
          </a:p>
          <a:p>
            <a:pPr eaLnBrk="1" fontAlgn="auto" hangingPunct="1">
              <a:spcBef>
                <a:spcPct val="15000"/>
              </a:spcBef>
              <a:spcAft>
                <a:spcPts val="0"/>
              </a:spcAft>
              <a:defRPr/>
            </a:pPr>
            <a:r>
              <a:rPr lang="en-CA" altLang="tr-TR" sz="1800" dirty="0"/>
              <a:t>Carbon tetrachloride [Good]</a:t>
            </a:r>
          </a:p>
          <a:p>
            <a:pPr eaLnBrk="1" fontAlgn="auto" hangingPunct="1">
              <a:spcBef>
                <a:spcPct val="15000"/>
              </a:spcBef>
              <a:spcAft>
                <a:spcPts val="0"/>
              </a:spcAft>
              <a:defRPr/>
            </a:pPr>
            <a:r>
              <a:rPr lang="en-CA" altLang="tr-TR" sz="1800" dirty="0" err="1"/>
              <a:t>Chlorophenols</a:t>
            </a:r>
            <a:r>
              <a:rPr lang="en-CA" altLang="tr-TR" sz="1800" dirty="0"/>
              <a:t> [Good]</a:t>
            </a:r>
          </a:p>
          <a:p>
            <a:pPr eaLnBrk="1" fontAlgn="auto" hangingPunct="1">
              <a:spcBef>
                <a:spcPct val="15000"/>
              </a:spcBef>
              <a:spcAft>
                <a:spcPts val="0"/>
              </a:spcAft>
              <a:defRPr/>
            </a:pPr>
            <a:r>
              <a:rPr lang="en-CA" altLang="tr-TR" sz="1800" dirty="0"/>
              <a:t>Creosotes [Good]</a:t>
            </a:r>
          </a:p>
          <a:p>
            <a:pPr eaLnBrk="1" fontAlgn="auto" hangingPunct="1">
              <a:spcBef>
                <a:spcPct val="15000"/>
              </a:spcBef>
              <a:spcAft>
                <a:spcPts val="0"/>
              </a:spcAft>
              <a:defRPr/>
            </a:pPr>
            <a:r>
              <a:rPr lang="en-CA" altLang="tr-TR" sz="1800" dirty="0"/>
              <a:t>DDT/DDE [Good]</a:t>
            </a:r>
          </a:p>
          <a:p>
            <a:pPr eaLnBrk="1" fontAlgn="auto" hangingPunct="1">
              <a:spcBef>
                <a:spcPct val="15000"/>
              </a:spcBef>
              <a:spcAft>
                <a:spcPts val="0"/>
              </a:spcAft>
              <a:defRPr/>
            </a:pPr>
            <a:r>
              <a:rPr lang="en-CA" altLang="tr-TR" sz="1800" dirty="0" err="1"/>
              <a:t>Dicamba</a:t>
            </a:r>
            <a:r>
              <a:rPr lang="en-CA" altLang="tr-TR" sz="1800" dirty="0"/>
              <a:t> [Good]</a:t>
            </a:r>
          </a:p>
        </p:txBody>
      </p:sp>
      <p:sp>
        <p:nvSpPr>
          <p:cNvPr id="300036" name="Rectangle 4">
            <a:extLst>
              <a:ext uri="{FF2B5EF4-FFF2-40B4-BE49-F238E27FC236}">
                <a16:creationId xmlns:a16="http://schemas.microsoft.com/office/drawing/2014/main" id="{5634D940-4A96-FB42-B42B-1944E8C32C64}"/>
              </a:ext>
            </a:extLst>
          </p:cNvPr>
          <p:cNvSpPr>
            <a:spLocks noChangeArrowheads="1"/>
          </p:cNvSpPr>
          <p:nvPr/>
        </p:nvSpPr>
        <p:spPr bwMode="auto">
          <a:xfrm>
            <a:off x="4572000" y="762000"/>
            <a:ext cx="3733800" cy="5181600"/>
          </a:xfrm>
          <a:prstGeom prst="rect">
            <a:avLst/>
          </a:prstGeom>
          <a:noFill/>
          <a:ln w="9525">
            <a:noFill/>
            <a:miter lim="800000"/>
            <a:headEnd/>
            <a:tailEnd/>
          </a:ln>
          <a:effectLst/>
        </p:spPr>
        <p:txBody>
          <a:bodyPr/>
          <a:lstStyle/>
          <a:p>
            <a:pPr marL="342900" indent="-342900" eaLnBrk="1" fontAlgn="auto" hangingPunct="1">
              <a:spcBef>
                <a:spcPct val="15000"/>
              </a:spcBef>
              <a:spcAft>
                <a:spcPts val="0"/>
              </a:spcAft>
              <a:buClr>
                <a:srgbClr val="FF00FF"/>
              </a:buClr>
              <a:buSzPct val="65000"/>
              <a:buFont typeface="Wingdings" pitchFamily="2" charset="2"/>
              <a:buNone/>
              <a:defRPr/>
            </a:pPr>
            <a:endParaRPr lang="en-CA" sz="1600" dirty="0">
              <a:solidFill>
                <a:srgbClr val="B760F9"/>
              </a:solidFill>
              <a:effectLst>
                <a:outerShdw blurRad="38100" dist="38100" dir="2700000" algn="tl">
                  <a:srgbClr val="000000"/>
                </a:outerShdw>
              </a:effectLst>
              <a:latin typeface="Arial" charset="0"/>
              <a:cs typeface="Arial" pitchFamily="34" charset="0"/>
            </a:endParaRP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err="1">
                <a:latin typeface="Arial" charset="0"/>
                <a:cs typeface="Arial" pitchFamily="34" charset="0"/>
              </a:rPr>
              <a:t>Dichlorvos</a:t>
            </a:r>
            <a:r>
              <a:rPr lang="en-CA" dirty="0">
                <a:latin typeface="Arial" charset="0"/>
                <a:cs typeface="Arial" pitchFamily="34" charset="0"/>
              </a:rPr>
              <a:t>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Ionizing radiation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MCPA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err="1">
                <a:latin typeface="Arial" charset="0"/>
                <a:cs typeface="Arial" pitchFamily="34" charset="0"/>
              </a:rPr>
              <a:t>Organochlorine</a:t>
            </a:r>
            <a:r>
              <a:rPr lang="en-CA" dirty="0">
                <a:latin typeface="Arial" charset="0"/>
                <a:cs typeface="Arial" pitchFamily="34" charset="0"/>
              </a:rPr>
              <a:t> pesticides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Organophosphates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PCBs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err="1">
                <a:latin typeface="Arial" charset="0"/>
                <a:cs typeface="Arial" pitchFamily="34" charset="0"/>
              </a:rPr>
              <a:t>Phenoxyacetic</a:t>
            </a:r>
            <a:r>
              <a:rPr lang="en-CA" dirty="0">
                <a:latin typeface="Arial" charset="0"/>
                <a:cs typeface="Arial" pitchFamily="34" charset="0"/>
              </a:rPr>
              <a:t> acid herbicides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Solvents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err="1">
                <a:latin typeface="Arial" charset="0"/>
                <a:cs typeface="Arial" pitchFamily="34" charset="0"/>
              </a:rPr>
              <a:t>Tetrachloroethylene</a:t>
            </a:r>
            <a:r>
              <a:rPr lang="en-CA" dirty="0">
                <a:latin typeface="Arial" charset="0"/>
                <a:cs typeface="Arial" pitchFamily="34" charset="0"/>
              </a:rPr>
              <a:t> (PCE) [Good]</a:t>
            </a:r>
          </a:p>
          <a:p>
            <a:pPr marL="342900" indent="-342900" eaLnBrk="1" fontAlgn="auto" hangingPunct="1">
              <a:spcBef>
                <a:spcPct val="15000"/>
              </a:spcBef>
              <a:spcAft>
                <a:spcPts val="0"/>
              </a:spcAft>
              <a:buClr>
                <a:srgbClr val="FF00FF"/>
              </a:buClr>
              <a:buSzPct val="65000"/>
              <a:buFont typeface="Wingdings" pitchFamily="2" charset="2"/>
              <a:buChar char="n"/>
              <a:defRPr/>
            </a:pPr>
            <a:r>
              <a:rPr lang="en-CA" dirty="0">
                <a:latin typeface="Arial" charset="0"/>
                <a:cs typeface="Arial" pitchFamily="34" charset="0"/>
              </a:rPr>
              <a:t>Trichloroethylene (TCE</a:t>
            </a:r>
            <a:r>
              <a:rPr lang="en-CA" dirty="0">
                <a:solidFill>
                  <a:srgbClr val="FFFFFF"/>
                </a:solidFill>
                <a:latin typeface="Arial" charset="0"/>
                <a:cs typeface="Arial" pitchFamily="34" charset="0"/>
              </a:rPr>
              <a:t>) [Good]</a:t>
            </a:r>
            <a:endParaRPr lang="en-CA" sz="1600" dirty="0">
              <a:solidFill>
                <a:srgbClr val="FFFFFF"/>
              </a:solidFill>
              <a:latin typeface="Arial" charset="0"/>
              <a:cs typeface="Arial" pitchFamily="34" charset="0"/>
            </a:endParaRPr>
          </a:p>
        </p:txBody>
      </p:sp>
      <p:sp>
        <p:nvSpPr>
          <p:cNvPr id="64516" name="Text Box 5">
            <a:extLst>
              <a:ext uri="{FF2B5EF4-FFF2-40B4-BE49-F238E27FC236}">
                <a16:creationId xmlns:a16="http://schemas.microsoft.com/office/drawing/2014/main" id="{3486F6FB-1E1F-9446-DFA1-6F1D4963BDD5}"/>
              </a:ext>
            </a:extLst>
          </p:cNvPr>
          <p:cNvSpPr txBox="1">
            <a:spLocks noChangeArrowheads="1"/>
          </p:cNvSpPr>
          <p:nvPr/>
        </p:nvSpPr>
        <p:spPr bwMode="auto">
          <a:xfrm>
            <a:off x="1327150" y="6184900"/>
            <a:ext cx="6934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CA" altLang="tr-TR" sz="1600">
                <a:solidFill>
                  <a:srgbClr val="B760F9"/>
                </a:solidFill>
                <a:latin typeface="Arial" panose="020B0604020202020204" pitchFamily="34" charset="0"/>
              </a:rPr>
              <a:t>Source:  Solomon G, Schettler T, Janssen S. “CHE Toxicant and Disease Database.” Accessed 3-22-06: http://database.healthandenvironment.org/.</a:t>
            </a:r>
            <a:endParaRPr lang="en-CA" altLang="tr-TR" sz="1600" b="1">
              <a:solidFill>
                <a:srgbClr val="B760F9"/>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65E384E7-1B08-DF44-9000-B7B0C33EBF31}"/>
              </a:ext>
            </a:extLst>
          </p:cNvPr>
          <p:cNvSpPr>
            <a:spLocks noGrp="1" noChangeArrowheads="1"/>
          </p:cNvSpPr>
          <p:nvPr>
            <p:ph idx="1"/>
          </p:nvPr>
        </p:nvSpPr>
        <p:spPr>
          <a:xfrm>
            <a:off x="2590800" y="1295400"/>
            <a:ext cx="4343400" cy="4525963"/>
          </a:xfrm>
        </p:spPr>
        <p:txBody>
          <a:bodyPr rtlCol="0">
            <a:normAutofit/>
          </a:bodyPr>
          <a:lstStyle/>
          <a:p>
            <a:pPr eaLnBrk="1" fontAlgn="auto" hangingPunct="1">
              <a:lnSpc>
                <a:spcPct val="80000"/>
              </a:lnSpc>
              <a:spcAft>
                <a:spcPts val="0"/>
              </a:spcAft>
              <a:defRPr/>
            </a:pPr>
            <a:r>
              <a:rPr lang="en-CA" sz="2000" dirty="0">
                <a:solidFill>
                  <a:srgbClr val="FFC000"/>
                </a:solidFill>
              </a:rPr>
              <a:t>Active smoking [Strong]</a:t>
            </a:r>
          </a:p>
          <a:p>
            <a:pPr eaLnBrk="1" fontAlgn="auto" hangingPunct="1">
              <a:lnSpc>
                <a:spcPct val="80000"/>
              </a:lnSpc>
              <a:spcAft>
                <a:spcPts val="0"/>
              </a:spcAft>
              <a:defRPr/>
            </a:pPr>
            <a:r>
              <a:rPr lang="en-CA" sz="2000" dirty="0">
                <a:solidFill>
                  <a:schemeClr val="accent5">
                    <a:lumMod val="90000"/>
                  </a:schemeClr>
                </a:solidFill>
              </a:rPr>
              <a:t>Estrogens/DES [Strong]</a:t>
            </a:r>
          </a:p>
          <a:p>
            <a:pPr eaLnBrk="1" fontAlgn="auto" hangingPunct="1">
              <a:lnSpc>
                <a:spcPct val="80000"/>
              </a:lnSpc>
              <a:spcAft>
                <a:spcPts val="0"/>
              </a:spcAft>
              <a:defRPr/>
            </a:pPr>
            <a:r>
              <a:rPr lang="en-CA" sz="2000" dirty="0">
                <a:solidFill>
                  <a:schemeClr val="accent2">
                    <a:lumMod val="60000"/>
                    <a:lumOff val="40000"/>
                  </a:schemeClr>
                </a:solidFill>
              </a:rPr>
              <a:t>Ethyl alcohol (ethanol) [Strong]</a:t>
            </a:r>
          </a:p>
          <a:p>
            <a:pPr eaLnBrk="1" fontAlgn="auto" hangingPunct="1">
              <a:lnSpc>
                <a:spcPct val="80000"/>
              </a:lnSpc>
              <a:spcAft>
                <a:spcPts val="0"/>
              </a:spcAft>
              <a:defRPr/>
            </a:pPr>
            <a:r>
              <a:rPr lang="en-CA" sz="2000" dirty="0">
                <a:solidFill>
                  <a:srgbClr val="FF33CC"/>
                </a:solidFill>
              </a:rPr>
              <a:t>Ionizing radiation [Strong]</a:t>
            </a:r>
          </a:p>
          <a:p>
            <a:pPr eaLnBrk="1" fontAlgn="auto" hangingPunct="1">
              <a:lnSpc>
                <a:spcPct val="80000"/>
              </a:lnSpc>
              <a:spcAft>
                <a:spcPts val="0"/>
              </a:spcAft>
              <a:defRPr/>
            </a:pPr>
            <a:r>
              <a:rPr lang="en-CA" sz="2000" dirty="0"/>
              <a:t>Second</a:t>
            </a:r>
            <a:r>
              <a:rPr lang="tr-TR" sz="2000" dirty="0"/>
              <a:t> </a:t>
            </a:r>
            <a:r>
              <a:rPr lang="en-CA" sz="2000" dirty="0"/>
              <a:t>hand smoke [Strong?]</a:t>
            </a:r>
          </a:p>
          <a:p>
            <a:pPr eaLnBrk="1" fontAlgn="auto" hangingPunct="1">
              <a:lnSpc>
                <a:spcPct val="80000"/>
              </a:lnSpc>
              <a:spcAft>
                <a:spcPts val="0"/>
              </a:spcAft>
              <a:defRPr/>
            </a:pPr>
            <a:r>
              <a:rPr lang="en-CA" sz="2000" dirty="0"/>
              <a:t>Aromatic amines [Good]</a:t>
            </a:r>
          </a:p>
          <a:p>
            <a:pPr eaLnBrk="1" fontAlgn="auto" hangingPunct="1">
              <a:lnSpc>
                <a:spcPct val="80000"/>
              </a:lnSpc>
              <a:spcAft>
                <a:spcPts val="0"/>
              </a:spcAft>
              <a:defRPr/>
            </a:pPr>
            <a:r>
              <a:rPr lang="en-CA" sz="2000" dirty="0"/>
              <a:t>Ethylene oxide [Good]</a:t>
            </a:r>
          </a:p>
          <a:p>
            <a:pPr eaLnBrk="1" fontAlgn="auto" hangingPunct="1">
              <a:lnSpc>
                <a:spcPct val="80000"/>
              </a:lnSpc>
              <a:spcAft>
                <a:spcPts val="0"/>
              </a:spcAft>
              <a:defRPr/>
            </a:pPr>
            <a:r>
              <a:rPr lang="en-CA" sz="2000" dirty="0"/>
              <a:t>PAHs [Good]</a:t>
            </a:r>
          </a:p>
          <a:p>
            <a:pPr eaLnBrk="1" fontAlgn="auto" hangingPunct="1">
              <a:lnSpc>
                <a:spcPct val="80000"/>
              </a:lnSpc>
              <a:spcAft>
                <a:spcPts val="0"/>
              </a:spcAft>
              <a:defRPr/>
            </a:pPr>
            <a:r>
              <a:rPr lang="en-CA" sz="2000" dirty="0"/>
              <a:t>PCBs [Good]</a:t>
            </a:r>
          </a:p>
          <a:p>
            <a:pPr eaLnBrk="1" fontAlgn="auto" hangingPunct="1">
              <a:lnSpc>
                <a:spcPct val="80000"/>
              </a:lnSpc>
              <a:spcAft>
                <a:spcPts val="0"/>
              </a:spcAft>
              <a:defRPr/>
            </a:pPr>
            <a:r>
              <a:rPr lang="en-CA" sz="2000" dirty="0" err="1"/>
              <a:t>Progestins</a:t>
            </a:r>
            <a:r>
              <a:rPr lang="en-CA" sz="2000" dirty="0"/>
              <a:t> [Good]</a:t>
            </a:r>
          </a:p>
          <a:p>
            <a:pPr eaLnBrk="1" fontAlgn="auto" hangingPunct="1">
              <a:lnSpc>
                <a:spcPct val="80000"/>
              </a:lnSpc>
              <a:spcAft>
                <a:spcPts val="0"/>
              </a:spcAft>
              <a:defRPr/>
            </a:pPr>
            <a:r>
              <a:rPr lang="en-CA" sz="2000" dirty="0"/>
              <a:t>Solvents [Good]</a:t>
            </a:r>
          </a:p>
          <a:p>
            <a:pPr eaLnBrk="1" fontAlgn="auto" hangingPunct="1">
              <a:lnSpc>
                <a:spcPct val="80000"/>
              </a:lnSpc>
              <a:spcAft>
                <a:spcPts val="0"/>
              </a:spcAft>
              <a:defRPr/>
            </a:pPr>
            <a:r>
              <a:rPr lang="en-CA" sz="2000" dirty="0" err="1"/>
              <a:t>tetrachloroethylene</a:t>
            </a:r>
            <a:r>
              <a:rPr lang="en-CA" sz="2000" dirty="0"/>
              <a:t> (PCE) [Good] </a:t>
            </a:r>
          </a:p>
          <a:p>
            <a:pPr eaLnBrk="1" fontAlgn="auto" hangingPunct="1">
              <a:lnSpc>
                <a:spcPct val="80000"/>
              </a:lnSpc>
              <a:spcAft>
                <a:spcPts val="0"/>
              </a:spcAft>
              <a:buFont typeface="Wingdings" pitchFamily="2" charset="2"/>
              <a:buNone/>
              <a:defRPr/>
            </a:pPr>
            <a:endParaRPr lang="en-CA" sz="2000" dirty="0"/>
          </a:p>
        </p:txBody>
      </p:sp>
      <p:sp>
        <p:nvSpPr>
          <p:cNvPr id="66562" name="Text Box 3">
            <a:extLst>
              <a:ext uri="{FF2B5EF4-FFF2-40B4-BE49-F238E27FC236}">
                <a16:creationId xmlns:a16="http://schemas.microsoft.com/office/drawing/2014/main" id="{CA7DBFE3-8B3B-4960-23E6-FE46A1E6DC94}"/>
              </a:ext>
            </a:extLst>
          </p:cNvPr>
          <p:cNvSpPr txBox="1">
            <a:spLocks noChangeArrowheads="1"/>
          </p:cNvSpPr>
          <p:nvPr/>
        </p:nvSpPr>
        <p:spPr bwMode="auto">
          <a:xfrm>
            <a:off x="1755775" y="598488"/>
            <a:ext cx="5662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CA" altLang="tr-TR" sz="2800" u="sng">
                <a:solidFill>
                  <a:srgbClr val="FF3300"/>
                </a:solidFill>
                <a:latin typeface="Arial" panose="020B0604020202020204" pitchFamily="34" charset="0"/>
                <a:cs typeface="Arial" panose="020B0604020202020204" pitchFamily="34" charset="0"/>
              </a:rPr>
              <a:t>Breast Cancer: Documented Links</a:t>
            </a:r>
          </a:p>
        </p:txBody>
      </p:sp>
      <p:sp>
        <p:nvSpPr>
          <p:cNvPr id="66563" name="Text Box 4">
            <a:extLst>
              <a:ext uri="{FF2B5EF4-FFF2-40B4-BE49-F238E27FC236}">
                <a16:creationId xmlns:a16="http://schemas.microsoft.com/office/drawing/2014/main" id="{3C8A6BE6-4FA7-9BB0-8AD1-3618A8D949C0}"/>
              </a:ext>
            </a:extLst>
          </p:cNvPr>
          <p:cNvSpPr txBox="1">
            <a:spLocks noChangeArrowheads="1"/>
          </p:cNvSpPr>
          <p:nvPr/>
        </p:nvSpPr>
        <p:spPr bwMode="auto">
          <a:xfrm>
            <a:off x="1327150" y="6184900"/>
            <a:ext cx="6934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r>
              <a:rPr lang="en-CA" altLang="tr-TR" sz="1600">
                <a:solidFill>
                  <a:srgbClr val="B760F9"/>
                </a:solidFill>
                <a:latin typeface="Arial" panose="020B0604020202020204" pitchFamily="34" charset="0"/>
              </a:rPr>
              <a:t>Source:  Solomon G, Schettler T, Janssen S. “CHE Toxicant and Disease Database.” Accessed 3-22-06: http://database.healthandenvironment.org/.</a:t>
            </a:r>
            <a:endParaRPr lang="en-CA" altLang="tr-TR" sz="1600" b="1">
              <a:solidFill>
                <a:srgbClr val="B50069"/>
              </a:solidFill>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Başlık 1">
            <a:extLst>
              <a:ext uri="{FF2B5EF4-FFF2-40B4-BE49-F238E27FC236}">
                <a16:creationId xmlns:a16="http://schemas.microsoft.com/office/drawing/2014/main" id="{8F68020F-D963-5165-955F-69D9938C4396}"/>
              </a:ext>
            </a:extLst>
          </p:cNvPr>
          <p:cNvSpPr>
            <a:spLocks noGrp="1"/>
          </p:cNvSpPr>
          <p:nvPr>
            <p:ph type="title"/>
          </p:nvPr>
        </p:nvSpPr>
        <p:spPr/>
        <p:txBody>
          <a:bodyPr/>
          <a:lstStyle/>
          <a:p>
            <a:pPr eaLnBrk="1" hangingPunct="1"/>
            <a:r>
              <a:rPr lang="en-US" altLang="tr-TR" sz="2800">
                <a:solidFill>
                  <a:srgbClr val="FF0000"/>
                </a:solidFill>
              </a:rPr>
              <a:t>Childhood Brain Cancer: Documented Links</a:t>
            </a:r>
            <a:br>
              <a:rPr lang="en-US" altLang="tr-TR" sz="2800"/>
            </a:br>
            <a:endParaRPr lang="tr-TR" altLang="tr-TR" sz="2800"/>
          </a:p>
        </p:txBody>
      </p:sp>
      <p:sp>
        <p:nvSpPr>
          <p:cNvPr id="69635" name="İçerik Yer Tutucusu 2">
            <a:extLst>
              <a:ext uri="{FF2B5EF4-FFF2-40B4-BE49-F238E27FC236}">
                <a16:creationId xmlns:a16="http://schemas.microsoft.com/office/drawing/2014/main" id="{1302B55E-08AE-2E42-A28B-A8CF1422CA63}"/>
              </a:ext>
            </a:extLst>
          </p:cNvPr>
          <p:cNvSpPr>
            <a:spLocks noGrp="1"/>
          </p:cNvSpPr>
          <p:nvPr>
            <p:ph idx="1"/>
          </p:nvPr>
        </p:nvSpPr>
        <p:spPr/>
        <p:txBody>
          <a:bodyPr rtlCol="0">
            <a:normAutofit lnSpcReduction="10000"/>
          </a:bodyPr>
          <a:lstStyle/>
          <a:p>
            <a:pPr marL="0" indent="0" eaLnBrk="1" fontAlgn="auto" hangingPunct="1">
              <a:spcAft>
                <a:spcPts val="0"/>
              </a:spcAft>
              <a:buFontTx/>
              <a:buNone/>
              <a:defRPr/>
            </a:pPr>
            <a:r>
              <a:rPr lang="tr-TR" altLang="tr-TR" sz="2000" dirty="0"/>
              <a:t>• </a:t>
            </a:r>
            <a:r>
              <a:rPr lang="tr-TR" altLang="tr-TR" sz="2000" dirty="0" err="1">
                <a:solidFill>
                  <a:srgbClr val="FF0000"/>
                </a:solidFill>
              </a:rPr>
              <a:t>Ionizing</a:t>
            </a:r>
            <a:r>
              <a:rPr lang="tr-TR" altLang="tr-TR" sz="2000" dirty="0">
                <a:solidFill>
                  <a:srgbClr val="FF0000"/>
                </a:solidFill>
              </a:rPr>
              <a:t> </a:t>
            </a:r>
            <a:r>
              <a:rPr lang="tr-TR" altLang="tr-TR" sz="2000" dirty="0" err="1">
                <a:solidFill>
                  <a:srgbClr val="FF0000"/>
                </a:solidFill>
              </a:rPr>
              <a:t>radiation</a:t>
            </a:r>
            <a:r>
              <a:rPr lang="tr-TR" altLang="tr-TR" sz="2000" dirty="0">
                <a:solidFill>
                  <a:srgbClr val="FF0000"/>
                </a:solidFill>
              </a:rPr>
              <a:t> [</a:t>
            </a:r>
            <a:r>
              <a:rPr lang="tr-TR" altLang="tr-TR" sz="2000" dirty="0" err="1">
                <a:solidFill>
                  <a:srgbClr val="FF0000"/>
                </a:solidFill>
              </a:rPr>
              <a:t>Strong</a:t>
            </a:r>
            <a:r>
              <a:rPr lang="tr-TR" altLang="tr-TR" sz="2000" dirty="0">
                <a:solidFill>
                  <a:srgbClr val="FF0000"/>
                </a:solidFill>
              </a:rPr>
              <a:t>]</a:t>
            </a:r>
          </a:p>
          <a:p>
            <a:pPr marL="0" indent="0" eaLnBrk="1" fontAlgn="auto" hangingPunct="1">
              <a:spcAft>
                <a:spcPts val="0"/>
              </a:spcAft>
              <a:buFontTx/>
              <a:buNone/>
              <a:defRPr/>
            </a:pPr>
            <a:r>
              <a:rPr lang="tr-TR" altLang="tr-TR" sz="2000" dirty="0"/>
              <a:t>• </a:t>
            </a:r>
            <a:r>
              <a:rPr lang="tr-TR" altLang="tr-TR" sz="2000" dirty="0" err="1"/>
              <a:t>dichlorvos</a:t>
            </a:r>
            <a:r>
              <a:rPr lang="tr-TR" altLang="tr-TR" sz="2000" dirty="0"/>
              <a:t> [</a:t>
            </a:r>
            <a:r>
              <a:rPr lang="tr-TR" altLang="tr-TR" sz="2000" dirty="0" err="1"/>
              <a:t>Good</a:t>
            </a:r>
            <a:r>
              <a:rPr lang="tr-TR" altLang="tr-TR" sz="2000" dirty="0"/>
              <a:t>]</a:t>
            </a:r>
          </a:p>
          <a:p>
            <a:pPr marL="0" indent="0" eaLnBrk="1" fontAlgn="auto" hangingPunct="1">
              <a:spcAft>
                <a:spcPts val="0"/>
              </a:spcAft>
              <a:buFontTx/>
              <a:buNone/>
              <a:defRPr/>
            </a:pPr>
            <a:r>
              <a:rPr lang="tr-TR" altLang="tr-TR" sz="2000" dirty="0"/>
              <a:t>• </a:t>
            </a:r>
            <a:r>
              <a:rPr lang="tr-TR" altLang="tr-TR" sz="2000" dirty="0" err="1"/>
              <a:t>lindane</a:t>
            </a:r>
            <a:r>
              <a:rPr lang="tr-TR" altLang="tr-TR" sz="2000" dirty="0"/>
              <a:t> [</a:t>
            </a:r>
            <a:r>
              <a:rPr lang="tr-TR" altLang="tr-TR" sz="2000" dirty="0" err="1"/>
              <a:t>Good</a:t>
            </a:r>
            <a:r>
              <a:rPr lang="tr-TR" altLang="tr-TR" sz="2000" dirty="0"/>
              <a:t>]</a:t>
            </a:r>
          </a:p>
          <a:p>
            <a:pPr marL="0" indent="0" eaLnBrk="1" fontAlgn="auto" hangingPunct="1">
              <a:spcAft>
                <a:spcPts val="0"/>
              </a:spcAft>
              <a:buFontTx/>
              <a:buNone/>
              <a:defRPr/>
            </a:pPr>
            <a:r>
              <a:rPr lang="tr-TR" altLang="tr-TR" sz="2000" dirty="0"/>
              <a:t>• </a:t>
            </a:r>
            <a:r>
              <a:rPr lang="tr-TR" altLang="tr-TR" sz="2000" dirty="0" err="1"/>
              <a:t>Pesticides</a:t>
            </a:r>
            <a:r>
              <a:rPr lang="tr-TR" altLang="tr-TR" sz="2000" dirty="0"/>
              <a:t> [</a:t>
            </a:r>
            <a:r>
              <a:rPr lang="tr-TR" altLang="tr-TR" sz="2000" dirty="0" err="1"/>
              <a:t>Good</a:t>
            </a:r>
            <a:r>
              <a:rPr lang="tr-TR" altLang="tr-TR" sz="2000" dirty="0"/>
              <a:t>]</a:t>
            </a:r>
          </a:p>
          <a:p>
            <a:pPr marL="0" indent="0" eaLnBrk="1" fontAlgn="auto" hangingPunct="1">
              <a:spcAft>
                <a:spcPts val="0"/>
              </a:spcAft>
              <a:buFontTx/>
              <a:buNone/>
              <a:defRPr/>
            </a:pPr>
            <a:r>
              <a:rPr lang="tr-TR" altLang="tr-TR" sz="2000" dirty="0"/>
              <a:t>• Second-</a:t>
            </a:r>
            <a:r>
              <a:rPr lang="tr-TR" altLang="tr-TR" sz="2000" dirty="0" err="1"/>
              <a:t>hand</a:t>
            </a:r>
            <a:r>
              <a:rPr lang="tr-TR" altLang="tr-TR" sz="2000" dirty="0"/>
              <a:t> </a:t>
            </a:r>
            <a:r>
              <a:rPr lang="tr-TR" altLang="tr-TR" sz="2000" dirty="0" err="1"/>
              <a:t>smoke</a:t>
            </a:r>
            <a:r>
              <a:rPr lang="tr-TR" altLang="tr-TR" sz="2000" dirty="0"/>
              <a:t> [</a:t>
            </a:r>
            <a:r>
              <a:rPr lang="tr-TR" altLang="tr-TR" sz="2000" dirty="0" err="1"/>
              <a:t>Good</a:t>
            </a:r>
            <a:r>
              <a:rPr lang="tr-TR" altLang="tr-TR" sz="2000" dirty="0"/>
              <a:t>]</a:t>
            </a:r>
          </a:p>
          <a:p>
            <a:pPr marL="0" indent="0" eaLnBrk="1" fontAlgn="auto" hangingPunct="1">
              <a:spcAft>
                <a:spcPts val="0"/>
              </a:spcAft>
              <a:buFontTx/>
              <a:buNone/>
              <a:defRPr/>
            </a:pPr>
            <a:r>
              <a:rPr lang="tr-TR" altLang="tr-TR" sz="2000" dirty="0"/>
              <a:t>• </a:t>
            </a:r>
            <a:r>
              <a:rPr lang="tr-TR" altLang="tr-TR" sz="2000" dirty="0" err="1"/>
              <a:t>Solvents</a:t>
            </a:r>
            <a:r>
              <a:rPr lang="tr-TR" altLang="tr-TR" sz="2000" dirty="0"/>
              <a:t> [</a:t>
            </a:r>
            <a:r>
              <a:rPr lang="tr-TR" altLang="tr-TR" sz="2000" dirty="0" err="1"/>
              <a:t>Good</a:t>
            </a:r>
            <a:r>
              <a:rPr lang="tr-TR" altLang="tr-TR" sz="2000" dirty="0"/>
              <a:t>]</a:t>
            </a:r>
          </a:p>
          <a:p>
            <a:pPr marL="0" indent="0" eaLnBrk="1" fontAlgn="auto" hangingPunct="1">
              <a:spcAft>
                <a:spcPts val="0"/>
              </a:spcAft>
              <a:buFontTx/>
              <a:buNone/>
              <a:defRPr/>
            </a:pPr>
            <a:endParaRPr lang="tr-TR" altLang="tr-TR" sz="2000" dirty="0"/>
          </a:p>
          <a:p>
            <a:pPr marL="0" indent="0" eaLnBrk="1" fontAlgn="auto" hangingPunct="1">
              <a:spcAft>
                <a:spcPts val="0"/>
              </a:spcAft>
              <a:buFontTx/>
              <a:buNone/>
              <a:defRPr/>
            </a:pPr>
            <a:endParaRPr lang="tr-TR" altLang="tr-TR" sz="2000" dirty="0"/>
          </a:p>
          <a:p>
            <a:pPr marL="0" indent="0" eaLnBrk="1" fontAlgn="auto" hangingPunct="1">
              <a:spcAft>
                <a:spcPts val="0"/>
              </a:spcAft>
              <a:buFontTx/>
              <a:buNone/>
              <a:defRPr/>
            </a:pPr>
            <a:endParaRPr lang="tr-TR" altLang="tr-TR" sz="2000" dirty="0"/>
          </a:p>
          <a:p>
            <a:pPr marL="0" indent="0" eaLnBrk="1" fontAlgn="auto" hangingPunct="1">
              <a:spcAft>
                <a:spcPts val="0"/>
              </a:spcAft>
              <a:buFontTx/>
              <a:buNone/>
              <a:defRPr/>
            </a:pPr>
            <a:endParaRPr lang="tr-TR" altLang="tr-TR" sz="2000" dirty="0"/>
          </a:p>
          <a:p>
            <a:pPr marL="0" indent="0" eaLnBrk="1" fontAlgn="auto" hangingPunct="1">
              <a:spcAft>
                <a:spcPts val="0"/>
              </a:spcAft>
              <a:buFontTx/>
              <a:buNone/>
              <a:defRPr/>
            </a:pPr>
            <a:endParaRPr lang="tr-TR" altLang="tr-TR" sz="2000" dirty="0"/>
          </a:p>
          <a:p>
            <a:pPr marL="0" indent="0" eaLnBrk="1" fontAlgn="auto" hangingPunct="1">
              <a:spcAft>
                <a:spcPts val="0"/>
              </a:spcAft>
              <a:buFontTx/>
              <a:buNone/>
              <a:defRPr/>
            </a:pPr>
            <a:r>
              <a:rPr lang="tr-TR" altLang="tr-TR" sz="1400" dirty="0">
                <a:solidFill>
                  <a:srgbClr val="92D050"/>
                </a:solidFill>
              </a:rPr>
              <a:t>Source: Solomon G, </a:t>
            </a:r>
            <a:r>
              <a:rPr lang="tr-TR" altLang="tr-TR" sz="1400" dirty="0" err="1">
                <a:solidFill>
                  <a:srgbClr val="92D050"/>
                </a:solidFill>
              </a:rPr>
              <a:t>Schettler</a:t>
            </a:r>
            <a:r>
              <a:rPr lang="tr-TR" altLang="tr-TR" sz="1400" dirty="0">
                <a:solidFill>
                  <a:srgbClr val="92D050"/>
                </a:solidFill>
              </a:rPr>
              <a:t> T, </a:t>
            </a:r>
            <a:r>
              <a:rPr lang="tr-TR" altLang="tr-TR" sz="1400" dirty="0" err="1">
                <a:solidFill>
                  <a:srgbClr val="92D050"/>
                </a:solidFill>
              </a:rPr>
              <a:t>Janssen</a:t>
            </a:r>
            <a:r>
              <a:rPr lang="tr-TR" altLang="tr-TR" sz="1400" dirty="0">
                <a:solidFill>
                  <a:srgbClr val="92D050"/>
                </a:solidFill>
              </a:rPr>
              <a:t> S. “CHE </a:t>
            </a:r>
            <a:r>
              <a:rPr lang="tr-TR" altLang="tr-TR" sz="1400" dirty="0" err="1">
                <a:solidFill>
                  <a:srgbClr val="92D050"/>
                </a:solidFill>
              </a:rPr>
              <a:t>Toxicant</a:t>
            </a:r>
            <a:r>
              <a:rPr lang="tr-TR" altLang="tr-TR" sz="1400" dirty="0">
                <a:solidFill>
                  <a:srgbClr val="92D050"/>
                </a:solidFill>
              </a:rPr>
              <a:t> </a:t>
            </a:r>
            <a:r>
              <a:rPr lang="tr-TR" altLang="tr-TR" sz="1400" dirty="0" err="1">
                <a:solidFill>
                  <a:srgbClr val="92D050"/>
                </a:solidFill>
              </a:rPr>
              <a:t>and</a:t>
            </a:r>
            <a:r>
              <a:rPr lang="tr-TR" altLang="tr-TR" sz="1400" dirty="0">
                <a:solidFill>
                  <a:srgbClr val="92D050"/>
                </a:solidFill>
              </a:rPr>
              <a:t> </a:t>
            </a:r>
            <a:r>
              <a:rPr lang="tr-TR" altLang="tr-TR" sz="1400" dirty="0" err="1">
                <a:solidFill>
                  <a:srgbClr val="92D050"/>
                </a:solidFill>
              </a:rPr>
              <a:t>DiseaseDatabase</a:t>
            </a:r>
            <a:r>
              <a:rPr lang="tr-TR" altLang="tr-TR" sz="1400" dirty="0">
                <a:solidFill>
                  <a:srgbClr val="92D050"/>
                </a:solidFill>
              </a:rPr>
              <a:t>.” </a:t>
            </a:r>
            <a:r>
              <a:rPr lang="tr-TR" altLang="tr-TR" sz="1400" dirty="0" err="1">
                <a:solidFill>
                  <a:srgbClr val="92D050"/>
                </a:solidFill>
              </a:rPr>
              <a:t>Accessed</a:t>
            </a:r>
            <a:r>
              <a:rPr lang="tr-TR" altLang="tr-TR" sz="1400" dirty="0">
                <a:solidFill>
                  <a:srgbClr val="92D050"/>
                </a:solidFill>
              </a:rPr>
              <a:t> 3-22-06: http://database.healthandenvironment.org/.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Başlık 1">
            <a:extLst>
              <a:ext uri="{FF2B5EF4-FFF2-40B4-BE49-F238E27FC236}">
                <a16:creationId xmlns:a16="http://schemas.microsoft.com/office/drawing/2014/main" id="{D973F08C-661A-FFB3-824A-6DA8C2278BF7}"/>
              </a:ext>
            </a:extLst>
          </p:cNvPr>
          <p:cNvSpPr>
            <a:spLocks noGrp="1"/>
          </p:cNvSpPr>
          <p:nvPr>
            <p:ph type="title"/>
          </p:nvPr>
        </p:nvSpPr>
        <p:spPr/>
        <p:txBody>
          <a:bodyPr/>
          <a:lstStyle/>
          <a:p>
            <a:pPr eaLnBrk="1" hangingPunct="1"/>
            <a:r>
              <a:rPr lang="tr-TR" altLang="tr-TR" sz="2800">
                <a:solidFill>
                  <a:srgbClr val="FF0000"/>
                </a:solidFill>
              </a:rPr>
              <a:t>Childhood Leukemias: Documented Links</a:t>
            </a:r>
            <a:br>
              <a:rPr lang="tr-TR" altLang="tr-TR" sz="2800"/>
            </a:br>
            <a:endParaRPr lang="tr-TR" altLang="tr-TR" sz="2800"/>
          </a:p>
        </p:txBody>
      </p:sp>
      <p:sp>
        <p:nvSpPr>
          <p:cNvPr id="3" name="İçerik Yer Tutucusu 2">
            <a:extLst>
              <a:ext uri="{FF2B5EF4-FFF2-40B4-BE49-F238E27FC236}">
                <a16:creationId xmlns:a16="http://schemas.microsoft.com/office/drawing/2014/main" id="{78D83B02-771C-BD41-B5FB-AE7B18AFFE41}"/>
              </a:ext>
            </a:extLst>
          </p:cNvPr>
          <p:cNvSpPr>
            <a:spLocks noGrp="1"/>
          </p:cNvSpPr>
          <p:nvPr>
            <p:ph idx="1"/>
          </p:nvPr>
        </p:nvSpPr>
        <p:spPr/>
        <p:txBody>
          <a:bodyPr rtlCol="0">
            <a:normAutofit lnSpcReduction="10000"/>
          </a:bodyPr>
          <a:lstStyle/>
          <a:p>
            <a:pPr eaLnBrk="1" fontAlgn="auto" hangingPunct="1">
              <a:spcAft>
                <a:spcPts val="0"/>
              </a:spcAft>
              <a:defRPr/>
            </a:pPr>
            <a:r>
              <a:rPr lang="tr-TR" sz="1800" dirty="0"/>
              <a:t>• </a:t>
            </a:r>
            <a:r>
              <a:rPr lang="tr-TR" sz="1800" dirty="0">
                <a:solidFill>
                  <a:srgbClr val="7030A0"/>
                </a:solidFill>
              </a:rPr>
              <a:t>benzene [</a:t>
            </a:r>
            <a:r>
              <a:rPr lang="tr-TR" sz="1800" dirty="0" err="1">
                <a:solidFill>
                  <a:srgbClr val="7030A0"/>
                </a:solidFill>
              </a:rPr>
              <a:t>Strong</a:t>
            </a:r>
            <a:r>
              <a:rPr lang="tr-TR" sz="1800" dirty="0">
                <a:solidFill>
                  <a:srgbClr val="7030A0"/>
                </a:solidFill>
              </a:rPr>
              <a:t>]</a:t>
            </a:r>
          </a:p>
          <a:p>
            <a:pPr eaLnBrk="1" fontAlgn="auto" hangingPunct="1">
              <a:spcAft>
                <a:spcPts val="0"/>
              </a:spcAft>
              <a:defRPr/>
            </a:pPr>
            <a:r>
              <a:rPr lang="tr-TR" sz="1800" dirty="0">
                <a:solidFill>
                  <a:srgbClr val="7030A0"/>
                </a:solidFill>
              </a:rPr>
              <a:t>• </a:t>
            </a:r>
            <a:r>
              <a:rPr lang="tr-TR" sz="1800" dirty="0" err="1">
                <a:solidFill>
                  <a:srgbClr val="7030A0"/>
                </a:solidFill>
              </a:rPr>
              <a:t>Ionizing</a:t>
            </a:r>
            <a:r>
              <a:rPr lang="tr-TR" sz="1800" dirty="0">
                <a:solidFill>
                  <a:srgbClr val="7030A0"/>
                </a:solidFill>
              </a:rPr>
              <a:t> </a:t>
            </a:r>
            <a:r>
              <a:rPr lang="tr-TR" sz="1800" dirty="0" err="1">
                <a:solidFill>
                  <a:srgbClr val="7030A0"/>
                </a:solidFill>
              </a:rPr>
              <a:t>radiation</a:t>
            </a:r>
            <a:r>
              <a:rPr lang="tr-TR" sz="1800" dirty="0">
                <a:solidFill>
                  <a:srgbClr val="7030A0"/>
                </a:solidFill>
              </a:rPr>
              <a:t> [</a:t>
            </a:r>
            <a:r>
              <a:rPr lang="tr-TR" sz="1800" dirty="0" err="1">
                <a:solidFill>
                  <a:srgbClr val="7030A0"/>
                </a:solidFill>
              </a:rPr>
              <a:t>Strong</a:t>
            </a:r>
            <a:r>
              <a:rPr lang="tr-TR" sz="1800" dirty="0">
                <a:solidFill>
                  <a:srgbClr val="7030A0"/>
                </a:solidFill>
              </a:rPr>
              <a:t>]</a:t>
            </a:r>
          </a:p>
          <a:p>
            <a:pPr eaLnBrk="1" fontAlgn="auto" hangingPunct="1">
              <a:spcAft>
                <a:spcPts val="0"/>
              </a:spcAft>
              <a:defRPr/>
            </a:pPr>
            <a:r>
              <a:rPr lang="tr-TR" sz="1800" dirty="0"/>
              <a:t>• Agent </a:t>
            </a:r>
            <a:r>
              <a:rPr lang="tr-TR" sz="1800" dirty="0" err="1"/>
              <a:t>Orange</a:t>
            </a:r>
            <a:r>
              <a:rPr lang="tr-TR" sz="1800" dirty="0"/>
              <a:t> [</a:t>
            </a:r>
            <a:r>
              <a:rPr lang="tr-TR" sz="1800" dirty="0" err="1"/>
              <a:t>Good</a:t>
            </a:r>
            <a:r>
              <a:rPr lang="tr-TR" sz="1800" dirty="0"/>
              <a:t>]</a:t>
            </a:r>
          </a:p>
          <a:p>
            <a:pPr eaLnBrk="1" fontAlgn="auto" hangingPunct="1">
              <a:spcAft>
                <a:spcPts val="0"/>
              </a:spcAft>
              <a:defRPr/>
            </a:pPr>
            <a:r>
              <a:rPr lang="tr-TR" sz="1800" dirty="0"/>
              <a:t>• </a:t>
            </a:r>
            <a:r>
              <a:rPr lang="tr-TR" sz="1800" dirty="0" err="1"/>
              <a:t>carbon</a:t>
            </a:r>
            <a:r>
              <a:rPr lang="tr-TR" sz="1800" dirty="0"/>
              <a:t> </a:t>
            </a:r>
            <a:r>
              <a:rPr lang="tr-TR" sz="1800" dirty="0" err="1"/>
              <a:t>tetrachloride</a:t>
            </a:r>
            <a:r>
              <a:rPr lang="tr-TR" sz="1800" dirty="0"/>
              <a:t> [</a:t>
            </a:r>
            <a:r>
              <a:rPr lang="tr-TR" sz="1800" dirty="0" err="1"/>
              <a:t>Good</a:t>
            </a:r>
            <a:r>
              <a:rPr lang="tr-TR" sz="1800" dirty="0"/>
              <a:t>]</a:t>
            </a:r>
          </a:p>
          <a:p>
            <a:pPr eaLnBrk="1" fontAlgn="auto" hangingPunct="1">
              <a:spcAft>
                <a:spcPts val="0"/>
              </a:spcAft>
              <a:defRPr/>
            </a:pPr>
            <a:r>
              <a:rPr lang="tr-TR" sz="1800" dirty="0"/>
              <a:t>• </a:t>
            </a:r>
            <a:r>
              <a:rPr lang="tr-TR" sz="1800" dirty="0" err="1"/>
              <a:t>Chlorinated</a:t>
            </a:r>
            <a:r>
              <a:rPr lang="tr-TR" sz="1800" dirty="0"/>
              <a:t> </a:t>
            </a:r>
            <a:r>
              <a:rPr lang="tr-TR" sz="1800" dirty="0" err="1"/>
              <a:t>solvents</a:t>
            </a:r>
            <a:r>
              <a:rPr lang="tr-TR" sz="1800" dirty="0"/>
              <a:t> [</a:t>
            </a:r>
            <a:r>
              <a:rPr lang="tr-TR" sz="1800" dirty="0" err="1"/>
              <a:t>Good</a:t>
            </a:r>
            <a:r>
              <a:rPr lang="tr-TR" sz="1800" dirty="0"/>
              <a:t>]</a:t>
            </a:r>
          </a:p>
          <a:p>
            <a:pPr eaLnBrk="1" fontAlgn="auto" hangingPunct="1">
              <a:spcAft>
                <a:spcPts val="0"/>
              </a:spcAft>
              <a:defRPr/>
            </a:pPr>
            <a:r>
              <a:rPr lang="tr-TR" sz="1800" dirty="0"/>
              <a:t>• Metal </a:t>
            </a:r>
            <a:r>
              <a:rPr lang="tr-TR" sz="1800" dirty="0" err="1"/>
              <a:t>dusts</a:t>
            </a:r>
            <a:r>
              <a:rPr lang="tr-TR" sz="1800" dirty="0"/>
              <a:t> [</a:t>
            </a:r>
            <a:r>
              <a:rPr lang="tr-TR" sz="1800" dirty="0" err="1"/>
              <a:t>Good</a:t>
            </a:r>
            <a:r>
              <a:rPr lang="tr-TR" sz="1800" dirty="0"/>
              <a:t>]</a:t>
            </a:r>
          </a:p>
          <a:p>
            <a:pPr eaLnBrk="1" fontAlgn="auto" hangingPunct="1">
              <a:spcAft>
                <a:spcPts val="0"/>
              </a:spcAft>
              <a:defRPr/>
            </a:pPr>
            <a:r>
              <a:rPr lang="tr-TR" sz="1800" dirty="0"/>
              <a:t>• </a:t>
            </a:r>
            <a:r>
              <a:rPr lang="tr-TR" sz="1800" dirty="0" err="1"/>
              <a:t>Pesticides</a:t>
            </a:r>
            <a:r>
              <a:rPr lang="tr-TR" sz="1800" dirty="0"/>
              <a:t> [</a:t>
            </a:r>
            <a:r>
              <a:rPr lang="tr-TR" sz="1800" dirty="0" err="1"/>
              <a:t>Good</a:t>
            </a:r>
            <a:r>
              <a:rPr lang="tr-TR" sz="1800" dirty="0"/>
              <a:t>]</a:t>
            </a:r>
          </a:p>
          <a:p>
            <a:pPr eaLnBrk="1" fontAlgn="auto" hangingPunct="1">
              <a:spcAft>
                <a:spcPts val="0"/>
              </a:spcAft>
              <a:defRPr/>
            </a:pPr>
            <a:r>
              <a:rPr lang="tr-TR" sz="1800" dirty="0"/>
              <a:t>• </a:t>
            </a:r>
            <a:r>
              <a:rPr lang="tr-TR" sz="1800" dirty="0" err="1"/>
              <a:t>Secondhand</a:t>
            </a:r>
            <a:r>
              <a:rPr lang="tr-TR" sz="1800" dirty="0"/>
              <a:t> </a:t>
            </a:r>
            <a:r>
              <a:rPr lang="tr-TR" sz="1800" dirty="0" err="1"/>
              <a:t>smoke</a:t>
            </a:r>
            <a:r>
              <a:rPr lang="tr-TR" sz="1800" dirty="0"/>
              <a:t> [</a:t>
            </a:r>
            <a:r>
              <a:rPr lang="tr-TR" sz="1800" dirty="0" err="1"/>
              <a:t>Good</a:t>
            </a:r>
            <a:r>
              <a:rPr lang="tr-TR" sz="1800" dirty="0"/>
              <a:t>]</a:t>
            </a:r>
          </a:p>
          <a:p>
            <a:pPr eaLnBrk="1" fontAlgn="auto" hangingPunct="1">
              <a:spcAft>
                <a:spcPts val="0"/>
              </a:spcAft>
              <a:defRPr/>
            </a:pPr>
            <a:r>
              <a:rPr lang="tr-TR" sz="1800" dirty="0"/>
              <a:t>• </a:t>
            </a:r>
            <a:r>
              <a:rPr lang="tr-TR" sz="1800" dirty="0" err="1"/>
              <a:t>trichloroethylene</a:t>
            </a:r>
            <a:r>
              <a:rPr lang="tr-TR" sz="1800" dirty="0"/>
              <a:t> (TCE) [</a:t>
            </a:r>
            <a:r>
              <a:rPr lang="tr-TR" sz="1800" dirty="0" err="1"/>
              <a:t>Good</a:t>
            </a:r>
            <a:r>
              <a:rPr lang="tr-TR" sz="1800" dirty="0"/>
              <a:t>]</a:t>
            </a:r>
          </a:p>
          <a:p>
            <a:pPr eaLnBrk="1" fontAlgn="auto" hangingPunct="1">
              <a:spcAft>
                <a:spcPts val="0"/>
              </a:spcAft>
              <a:defRPr/>
            </a:pPr>
            <a:endParaRPr lang="tr-TR" sz="1800" dirty="0"/>
          </a:p>
          <a:p>
            <a:pPr eaLnBrk="1" fontAlgn="auto" hangingPunct="1">
              <a:spcAft>
                <a:spcPts val="0"/>
              </a:spcAft>
              <a:defRPr/>
            </a:pPr>
            <a:endParaRPr lang="tr-TR" sz="1800" dirty="0"/>
          </a:p>
          <a:p>
            <a:pPr eaLnBrk="1" fontAlgn="auto" hangingPunct="1">
              <a:spcAft>
                <a:spcPts val="0"/>
              </a:spcAft>
              <a:defRPr/>
            </a:pPr>
            <a:endParaRPr lang="tr-TR" sz="1800" dirty="0"/>
          </a:p>
          <a:p>
            <a:pPr marL="0" indent="0" eaLnBrk="1" fontAlgn="auto" hangingPunct="1">
              <a:spcAft>
                <a:spcPts val="0"/>
              </a:spcAft>
              <a:buFontTx/>
              <a:buNone/>
              <a:defRPr/>
            </a:pPr>
            <a:r>
              <a:rPr lang="tr-TR" sz="1600" dirty="0">
                <a:solidFill>
                  <a:srgbClr val="92D050"/>
                </a:solidFill>
              </a:rPr>
              <a:t>Source: Solomon G, </a:t>
            </a:r>
            <a:r>
              <a:rPr lang="tr-TR" sz="1600" dirty="0" err="1">
                <a:solidFill>
                  <a:srgbClr val="92D050"/>
                </a:solidFill>
              </a:rPr>
              <a:t>Schettler</a:t>
            </a:r>
            <a:r>
              <a:rPr lang="tr-TR" sz="1600" dirty="0">
                <a:solidFill>
                  <a:srgbClr val="92D050"/>
                </a:solidFill>
              </a:rPr>
              <a:t> T, </a:t>
            </a:r>
            <a:r>
              <a:rPr lang="tr-TR" sz="1600" dirty="0" err="1">
                <a:solidFill>
                  <a:srgbClr val="92D050"/>
                </a:solidFill>
              </a:rPr>
              <a:t>Janssen</a:t>
            </a:r>
            <a:r>
              <a:rPr lang="tr-TR" sz="1600" dirty="0">
                <a:solidFill>
                  <a:srgbClr val="92D050"/>
                </a:solidFill>
              </a:rPr>
              <a:t> S. “CHE </a:t>
            </a:r>
            <a:r>
              <a:rPr lang="tr-TR" sz="1600" dirty="0" err="1">
                <a:solidFill>
                  <a:srgbClr val="92D050"/>
                </a:solidFill>
              </a:rPr>
              <a:t>Toxicant</a:t>
            </a:r>
            <a:r>
              <a:rPr lang="tr-TR" sz="1600" dirty="0">
                <a:solidFill>
                  <a:srgbClr val="92D050"/>
                </a:solidFill>
              </a:rPr>
              <a:t> </a:t>
            </a:r>
            <a:r>
              <a:rPr lang="tr-TR" sz="1600" dirty="0" err="1">
                <a:solidFill>
                  <a:srgbClr val="92D050"/>
                </a:solidFill>
              </a:rPr>
              <a:t>and</a:t>
            </a:r>
            <a:r>
              <a:rPr lang="tr-TR" sz="1600" dirty="0">
                <a:solidFill>
                  <a:srgbClr val="92D050"/>
                </a:solidFill>
              </a:rPr>
              <a:t> </a:t>
            </a:r>
            <a:r>
              <a:rPr lang="tr-TR" sz="1600" dirty="0" err="1">
                <a:solidFill>
                  <a:srgbClr val="92D050"/>
                </a:solidFill>
              </a:rPr>
              <a:t>Disease</a:t>
            </a:r>
            <a:r>
              <a:rPr lang="tr-TR" sz="1600" dirty="0">
                <a:solidFill>
                  <a:srgbClr val="92D050"/>
                </a:solidFill>
              </a:rPr>
              <a:t> Database.” </a:t>
            </a:r>
            <a:r>
              <a:rPr lang="tr-TR" sz="1600" dirty="0" err="1">
                <a:solidFill>
                  <a:srgbClr val="92D050"/>
                </a:solidFill>
              </a:rPr>
              <a:t>Accessed</a:t>
            </a:r>
            <a:r>
              <a:rPr lang="tr-TR" sz="1600" dirty="0">
                <a:solidFill>
                  <a:srgbClr val="92D050"/>
                </a:solidFill>
              </a:rPr>
              <a:t> 3-22-06: http://database.healthandenvironment.org/.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İçerik Yer Tutucusu 3">
            <a:extLst>
              <a:ext uri="{FF2B5EF4-FFF2-40B4-BE49-F238E27FC236}">
                <a16:creationId xmlns:a16="http://schemas.microsoft.com/office/drawing/2014/main" id="{460651FA-4680-EB1F-777F-73BBEB3BAA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5288" y="476250"/>
            <a:ext cx="8256587" cy="5556250"/>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C69D89F2-D0C3-1749-AA0E-578D7A42857A}"/>
              </a:ext>
            </a:extLst>
          </p:cNvPr>
          <p:cNvSpPr>
            <a:spLocks noGrp="1" noChangeArrowheads="1"/>
          </p:cNvSpPr>
          <p:nvPr>
            <p:ph type="title"/>
          </p:nvPr>
        </p:nvSpPr>
        <p:spPr>
          <a:xfrm>
            <a:off x="692150" y="117475"/>
            <a:ext cx="7751763" cy="1254125"/>
          </a:xfrm>
        </p:spPr>
        <p:txBody>
          <a:bodyPr rtlCol="0">
            <a:normAutofit/>
          </a:bodyPr>
          <a:lstStyle/>
          <a:p>
            <a:pPr eaLnBrk="1" fontAlgn="auto" hangingPunct="1">
              <a:spcAft>
                <a:spcPts val="0"/>
              </a:spcAft>
              <a:defRPr/>
            </a:pPr>
            <a:r>
              <a:rPr lang="en-US" sz="2800" dirty="0">
                <a:solidFill>
                  <a:srgbClr val="FF0000"/>
                </a:solidFill>
                <a:effectLst>
                  <a:outerShdw blurRad="38100" dist="38100" dir="2700000" algn="tl">
                    <a:srgbClr val="C0C0C0"/>
                  </a:outerShdw>
                </a:effectLst>
                <a:latin typeface="Arial Rounded MT Bold" pitchFamily="34" charset="0"/>
              </a:rPr>
              <a:t>Classification of Carcinogens According to the Mode of Action</a:t>
            </a:r>
          </a:p>
        </p:txBody>
      </p:sp>
      <p:sp>
        <p:nvSpPr>
          <p:cNvPr id="120835" name="Rectangle 3">
            <a:extLst>
              <a:ext uri="{FF2B5EF4-FFF2-40B4-BE49-F238E27FC236}">
                <a16:creationId xmlns:a16="http://schemas.microsoft.com/office/drawing/2014/main" id="{6F8CE4F5-4745-E44B-AB7D-245FAE1C0943}"/>
              </a:ext>
            </a:extLst>
          </p:cNvPr>
          <p:cNvSpPr>
            <a:spLocks noGrp="1" noChangeArrowheads="1"/>
          </p:cNvSpPr>
          <p:nvPr>
            <p:ph idx="1"/>
          </p:nvPr>
        </p:nvSpPr>
        <p:spPr>
          <a:xfrm>
            <a:off x="914400" y="1433513"/>
            <a:ext cx="7543800" cy="3062287"/>
          </a:xfrm>
        </p:spPr>
        <p:txBody>
          <a:bodyPr rtlCol="0">
            <a:normAutofit/>
          </a:bodyPr>
          <a:lstStyle/>
          <a:p>
            <a:pPr marL="404813" indent="-404813" eaLnBrk="1" fontAlgn="auto" hangingPunct="1">
              <a:spcAft>
                <a:spcPts val="0"/>
              </a:spcAft>
              <a:buSzPct val="90000"/>
              <a:buFont typeface="Wingdings" pitchFamily="2" charset="2"/>
              <a:buNone/>
              <a:defRPr/>
            </a:pPr>
            <a:r>
              <a:rPr lang="en-US" sz="2400" dirty="0">
                <a:solidFill>
                  <a:srgbClr val="CC0000"/>
                </a:solidFill>
                <a:effectLst>
                  <a:outerShdw blurRad="38100" dist="38100" dir="2700000" algn="tl">
                    <a:srgbClr val="C0C0C0"/>
                  </a:outerShdw>
                </a:effectLst>
              </a:rPr>
              <a:t>GENOTOXIC</a:t>
            </a:r>
            <a:r>
              <a:rPr lang="en-US" sz="2400" dirty="0">
                <a:solidFill>
                  <a:schemeClr val="tx2"/>
                </a:solidFill>
                <a:effectLst>
                  <a:outerShdw blurRad="38100" dist="38100" dir="2700000" algn="tl">
                    <a:srgbClr val="C0C0C0"/>
                  </a:outerShdw>
                </a:effectLst>
              </a:rPr>
              <a:t>:</a:t>
            </a:r>
          </a:p>
          <a:p>
            <a:pPr marL="404813" indent="-404813" eaLnBrk="1" fontAlgn="auto" hangingPunct="1">
              <a:spcAft>
                <a:spcPts val="0"/>
              </a:spcAft>
              <a:buSzPct val="90000"/>
              <a:buFont typeface="Wingdings" pitchFamily="2" charset="2"/>
              <a:buChar char="§"/>
              <a:defRPr/>
            </a:pPr>
            <a:r>
              <a:rPr lang="en-US" sz="2400" dirty="0">
                <a:effectLst>
                  <a:outerShdw blurRad="38100" dist="38100" dir="2700000" algn="tl">
                    <a:srgbClr val="C0C0C0"/>
                  </a:outerShdw>
                </a:effectLst>
              </a:rPr>
              <a:t>DNA-reactive or DNA-reactive metabolites</a:t>
            </a:r>
          </a:p>
          <a:p>
            <a:pPr marL="404813" indent="-404813" eaLnBrk="1" fontAlgn="auto" hangingPunct="1">
              <a:spcAft>
                <a:spcPts val="0"/>
              </a:spcAft>
              <a:buSzPct val="90000"/>
              <a:buFont typeface="Wingdings" pitchFamily="2" charset="2"/>
              <a:buChar char="§"/>
              <a:defRPr/>
            </a:pPr>
            <a:r>
              <a:rPr lang="en-US" sz="2400" dirty="0">
                <a:effectLst>
                  <a:outerShdw blurRad="38100" dist="38100" dir="2700000" algn="tl">
                    <a:srgbClr val="C0C0C0"/>
                  </a:outerShdw>
                </a:effectLst>
              </a:rPr>
              <a:t>Direct interaction to alter chromosomal number/integrity</a:t>
            </a:r>
          </a:p>
          <a:p>
            <a:pPr marL="404813" indent="-404813" eaLnBrk="1" fontAlgn="auto" hangingPunct="1">
              <a:spcAft>
                <a:spcPts val="0"/>
              </a:spcAft>
              <a:buSzPct val="90000"/>
              <a:buFont typeface="Wingdings" pitchFamily="2" charset="2"/>
              <a:buChar char="§"/>
              <a:defRPr/>
            </a:pPr>
            <a:r>
              <a:rPr lang="en-US" sz="2400" dirty="0">
                <a:effectLst>
                  <a:outerShdw blurRad="38100" dist="38100" dir="2700000" algn="tl">
                    <a:srgbClr val="C0C0C0"/>
                  </a:outerShdw>
                </a:effectLst>
              </a:rPr>
              <a:t>May be mutagenic or </a:t>
            </a:r>
            <a:r>
              <a:rPr lang="en-US" sz="2400" dirty="0" err="1">
                <a:effectLst>
                  <a:outerShdw blurRad="38100" dist="38100" dir="2700000" algn="tl">
                    <a:srgbClr val="C0C0C0"/>
                  </a:outerShdw>
                </a:effectLst>
              </a:rPr>
              <a:t>cytotoxic</a:t>
            </a:r>
            <a:endParaRPr lang="en-US" sz="2400" dirty="0">
              <a:effectLst>
                <a:outerShdw blurRad="38100" dist="38100" dir="2700000" algn="tl">
                  <a:srgbClr val="C0C0C0"/>
                </a:outerShdw>
              </a:effectLst>
            </a:endParaRPr>
          </a:p>
          <a:p>
            <a:pPr marL="404813" indent="-404813" eaLnBrk="1" fontAlgn="auto" hangingPunct="1">
              <a:spcAft>
                <a:spcPts val="0"/>
              </a:spcAft>
              <a:buSzPct val="90000"/>
              <a:buFont typeface="Wingdings" pitchFamily="2" charset="2"/>
              <a:buChar char="§"/>
              <a:defRPr/>
            </a:pPr>
            <a:r>
              <a:rPr lang="en-US" sz="2400" dirty="0">
                <a:effectLst>
                  <a:outerShdw blurRad="38100" dist="38100" dir="2700000" algn="tl">
                    <a:srgbClr val="C0C0C0"/>
                  </a:outerShdw>
                </a:effectLst>
              </a:rPr>
              <a:t>Usually cause mutations in simple systems</a:t>
            </a:r>
          </a:p>
        </p:txBody>
      </p:sp>
      <p:graphicFrame>
        <p:nvGraphicFramePr>
          <p:cNvPr id="71683" name="Object 4">
            <a:extLst>
              <a:ext uri="{FF2B5EF4-FFF2-40B4-BE49-F238E27FC236}">
                <a16:creationId xmlns:a16="http://schemas.microsoft.com/office/drawing/2014/main" id="{5179C3A7-0978-F141-F537-E7A5E132B9A6}"/>
              </a:ext>
            </a:extLst>
          </p:cNvPr>
          <p:cNvGraphicFramePr>
            <a:graphicFrameLocks noChangeAspect="1"/>
          </p:cNvGraphicFramePr>
          <p:nvPr/>
        </p:nvGraphicFramePr>
        <p:xfrm>
          <a:off x="2743200" y="4575175"/>
          <a:ext cx="966788" cy="2206625"/>
        </p:xfrm>
        <a:graphic>
          <a:graphicData uri="http://schemas.openxmlformats.org/presentationml/2006/ole">
            <mc:AlternateContent xmlns:mc="http://schemas.openxmlformats.org/markup-compatibility/2006">
              <mc:Choice xmlns:v="urn:schemas-microsoft-com:vml" Requires="v">
                <p:oleObj name="Photo Editor Photo" r:id="rId2" imgW="603250" imgH="1416050" progId="MSPhotoEd.3">
                  <p:embed/>
                </p:oleObj>
              </mc:Choice>
              <mc:Fallback>
                <p:oleObj name="Photo Editor Photo" r:id="rId2" imgW="603250" imgH="1416050" progId="MSPhotoEd.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4575175"/>
                        <a:ext cx="966788"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84" name="Object 5">
            <a:extLst>
              <a:ext uri="{FF2B5EF4-FFF2-40B4-BE49-F238E27FC236}">
                <a16:creationId xmlns:a16="http://schemas.microsoft.com/office/drawing/2014/main" id="{E5123F4D-32C9-82E8-506B-EACAB1A256FD}"/>
              </a:ext>
            </a:extLst>
          </p:cNvPr>
          <p:cNvGraphicFramePr>
            <a:graphicFrameLocks noChangeAspect="1"/>
          </p:cNvGraphicFramePr>
          <p:nvPr/>
        </p:nvGraphicFramePr>
        <p:xfrm>
          <a:off x="762000" y="4727575"/>
          <a:ext cx="1193800" cy="1828800"/>
        </p:xfrm>
        <a:graphic>
          <a:graphicData uri="http://schemas.openxmlformats.org/presentationml/2006/ole">
            <mc:AlternateContent xmlns:mc="http://schemas.openxmlformats.org/markup-compatibility/2006">
              <mc:Choice xmlns:v="urn:schemas-microsoft-com:vml" Requires="v">
                <p:oleObj name="Photo Editor Photo" r:id="rId4" imgW="1905000" imgH="2851150" progId="MSPhotoEd.3">
                  <p:embed/>
                </p:oleObj>
              </mc:Choice>
              <mc:Fallback>
                <p:oleObj name="Photo Editor Photo" r:id="rId4" imgW="1905000" imgH="2851150" progId="MSPhotoEd.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727575"/>
                        <a:ext cx="1193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1685" name="Group 6">
            <a:extLst>
              <a:ext uri="{FF2B5EF4-FFF2-40B4-BE49-F238E27FC236}">
                <a16:creationId xmlns:a16="http://schemas.microsoft.com/office/drawing/2014/main" id="{4634EE7D-BDB6-54B5-DF0C-C4C538F14A8E}"/>
              </a:ext>
            </a:extLst>
          </p:cNvPr>
          <p:cNvGrpSpPr>
            <a:grpSpLocks/>
          </p:cNvGrpSpPr>
          <p:nvPr/>
        </p:nvGrpSpPr>
        <p:grpSpPr bwMode="auto">
          <a:xfrm>
            <a:off x="2133600" y="5337175"/>
            <a:ext cx="319088" cy="304800"/>
            <a:chOff x="2007" y="3205"/>
            <a:chExt cx="349" cy="339"/>
          </a:xfrm>
        </p:grpSpPr>
        <p:sp>
          <p:nvSpPr>
            <p:cNvPr id="71694" name="Line 7">
              <a:extLst>
                <a:ext uri="{FF2B5EF4-FFF2-40B4-BE49-F238E27FC236}">
                  <a16:creationId xmlns:a16="http://schemas.microsoft.com/office/drawing/2014/main" id="{A4D92B1B-9DCD-6B3F-8CFD-185EFAD16A71}"/>
                </a:ext>
              </a:extLst>
            </p:cNvPr>
            <p:cNvSpPr>
              <a:spLocks noChangeShapeType="1"/>
            </p:cNvSpPr>
            <p:nvPr/>
          </p:nvSpPr>
          <p:spPr bwMode="auto">
            <a:xfrm>
              <a:off x="2182" y="3205"/>
              <a:ext cx="1" cy="339"/>
            </a:xfrm>
            <a:prstGeom prst="line">
              <a:avLst/>
            </a:prstGeom>
            <a:noFill/>
            <a:ln w="476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71695" name="Line 8">
              <a:extLst>
                <a:ext uri="{FF2B5EF4-FFF2-40B4-BE49-F238E27FC236}">
                  <a16:creationId xmlns:a16="http://schemas.microsoft.com/office/drawing/2014/main" id="{D487A8DC-5BD8-1840-AA7F-DA7C8CB3F54B}"/>
                </a:ext>
              </a:extLst>
            </p:cNvPr>
            <p:cNvSpPr>
              <a:spLocks noChangeShapeType="1"/>
            </p:cNvSpPr>
            <p:nvPr/>
          </p:nvSpPr>
          <p:spPr bwMode="auto">
            <a:xfrm>
              <a:off x="2007" y="3375"/>
              <a:ext cx="349" cy="1"/>
            </a:xfrm>
            <a:prstGeom prst="line">
              <a:avLst/>
            </a:prstGeom>
            <a:noFill/>
            <a:ln w="476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grpSp>
        <p:nvGrpSpPr>
          <p:cNvPr id="71686" name="Group 9">
            <a:extLst>
              <a:ext uri="{FF2B5EF4-FFF2-40B4-BE49-F238E27FC236}">
                <a16:creationId xmlns:a16="http://schemas.microsoft.com/office/drawing/2014/main" id="{CDBC6C56-3F03-79DC-7EC1-E648111523FA}"/>
              </a:ext>
            </a:extLst>
          </p:cNvPr>
          <p:cNvGrpSpPr>
            <a:grpSpLocks/>
          </p:cNvGrpSpPr>
          <p:nvPr/>
        </p:nvGrpSpPr>
        <p:grpSpPr bwMode="auto">
          <a:xfrm>
            <a:off x="3490913" y="5489575"/>
            <a:ext cx="395287" cy="82550"/>
            <a:chOff x="3447" y="3332"/>
            <a:chExt cx="349" cy="128"/>
          </a:xfrm>
        </p:grpSpPr>
        <p:sp>
          <p:nvSpPr>
            <p:cNvPr id="71692" name="Line 10">
              <a:extLst>
                <a:ext uri="{FF2B5EF4-FFF2-40B4-BE49-F238E27FC236}">
                  <a16:creationId xmlns:a16="http://schemas.microsoft.com/office/drawing/2014/main" id="{CC06408E-2F7B-68AA-C390-01DF293983B4}"/>
                </a:ext>
              </a:extLst>
            </p:cNvPr>
            <p:cNvSpPr>
              <a:spLocks noChangeShapeType="1"/>
            </p:cNvSpPr>
            <p:nvPr/>
          </p:nvSpPr>
          <p:spPr bwMode="auto">
            <a:xfrm>
              <a:off x="3447" y="3332"/>
              <a:ext cx="349" cy="1"/>
            </a:xfrm>
            <a:prstGeom prst="line">
              <a:avLst/>
            </a:prstGeom>
            <a:noFill/>
            <a:ln w="476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71693" name="Line 11">
              <a:extLst>
                <a:ext uri="{FF2B5EF4-FFF2-40B4-BE49-F238E27FC236}">
                  <a16:creationId xmlns:a16="http://schemas.microsoft.com/office/drawing/2014/main" id="{31B6854D-E67A-2197-5208-FB11F7428C8C}"/>
                </a:ext>
              </a:extLst>
            </p:cNvPr>
            <p:cNvSpPr>
              <a:spLocks noChangeShapeType="1"/>
            </p:cNvSpPr>
            <p:nvPr/>
          </p:nvSpPr>
          <p:spPr bwMode="auto">
            <a:xfrm>
              <a:off x="3447" y="3459"/>
              <a:ext cx="349" cy="1"/>
            </a:xfrm>
            <a:prstGeom prst="line">
              <a:avLst/>
            </a:prstGeom>
            <a:noFill/>
            <a:ln w="47625">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grpSp>
      <p:sp>
        <p:nvSpPr>
          <p:cNvPr id="120844" name="Text Box 12">
            <a:extLst>
              <a:ext uri="{FF2B5EF4-FFF2-40B4-BE49-F238E27FC236}">
                <a16:creationId xmlns:a16="http://schemas.microsoft.com/office/drawing/2014/main" id="{A4D443F2-DBA7-5A4B-B5B3-D95958269223}"/>
              </a:ext>
            </a:extLst>
          </p:cNvPr>
          <p:cNvSpPr txBox="1">
            <a:spLocks noChangeArrowheads="1"/>
          </p:cNvSpPr>
          <p:nvPr/>
        </p:nvSpPr>
        <p:spPr bwMode="auto">
          <a:xfrm>
            <a:off x="3962400" y="5308600"/>
            <a:ext cx="1563688" cy="387350"/>
          </a:xfrm>
          <a:prstGeom prst="rect">
            <a:avLst/>
          </a:prstGeom>
          <a:noFill/>
          <a:ln w="9525">
            <a:noFill/>
            <a:miter lim="800000"/>
            <a:headEnd/>
            <a:tailEnd/>
          </a:ln>
          <a:effectLst/>
        </p:spPr>
        <p:txBody>
          <a:bodyPr wrap="none" lIns="82058" tIns="41029" rIns="82058" bIns="41029">
            <a:spAutoFit/>
          </a:bodyPr>
          <a:lstStyle/>
          <a:p>
            <a:pPr defTabSz="820738" eaLnBrk="1" fontAlgn="auto" hangingPunct="1">
              <a:spcBef>
                <a:spcPts val="0"/>
              </a:spcBef>
              <a:spcAft>
                <a:spcPts val="0"/>
              </a:spcAft>
              <a:defRPr/>
            </a:pPr>
            <a:r>
              <a:rPr lang="en-US" sz="2000">
                <a:solidFill>
                  <a:schemeClr val="tx2"/>
                </a:solidFill>
                <a:effectLst>
                  <a:outerShdw blurRad="38100" dist="38100" dir="2700000" algn="tl">
                    <a:srgbClr val="C0C0C0"/>
                  </a:outerShdw>
                </a:effectLst>
                <a:latin typeface="+mn-lt"/>
              </a:rPr>
              <a:t>DNA Adduct</a:t>
            </a:r>
          </a:p>
        </p:txBody>
      </p:sp>
      <p:sp>
        <p:nvSpPr>
          <p:cNvPr id="71688" name="Line 13">
            <a:extLst>
              <a:ext uri="{FF2B5EF4-FFF2-40B4-BE49-F238E27FC236}">
                <a16:creationId xmlns:a16="http://schemas.microsoft.com/office/drawing/2014/main" id="{C06D5A06-3D47-7932-A025-890CDADD4F60}"/>
              </a:ext>
            </a:extLst>
          </p:cNvPr>
          <p:cNvSpPr>
            <a:spLocks noChangeShapeType="1"/>
          </p:cNvSpPr>
          <p:nvPr/>
        </p:nvSpPr>
        <p:spPr bwMode="auto">
          <a:xfrm>
            <a:off x="5534025" y="5499100"/>
            <a:ext cx="48577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20846" name="Text Box 14">
            <a:extLst>
              <a:ext uri="{FF2B5EF4-FFF2-40B4-BE49-F238E27FC236}">
                <a16:creationId xmlns:a16="http://schemas.microsoft.com/office/drawing/2014/main" id="{4AA9A9DA-0C9E-1B47-B7DE-A9EA39D588D6}"/>
              </a:ext>
            </a:extLst>
          </p:cNvPr>
          <p:cNvSpPr txBox="1">
            <a:spLocks noChangeArrowheads="1"/>
          </p:cNvSpPr>
          <p:nvPr/>
        </p:nvSpPr>
        <p:spPr bwMode="auto">
          <a:xfrm>
            <a:off x="6019800" y="5308600"/>
            <a:ext cx="1138238" cy="387350"/>
          </a:xfrm>
          <a:prstGeom prst="rect">
            <a:avLst/>
          </a:prstGeom>
          <a:noFill/>
          <a:ln w="9525">
            <a:noFill/>
            <a:miter lim="800000"/>
            <a:headEnd/>
            <a:tailEnd/>
          </a:ln>
          <a:effectLst/>
        </p:spPr>
        <p:txBody>
          <a:bodyPr wrap="none" lIns="82058" tIns="41029" rIns="82058" bIns="41029">
            <a:spAutoFit/>
          </a:bodyPr>
          <a:lstStyle/>
          <a:p>
            <a:pPr defTabSz="820738" eaLnBrk="1" fontAlgn="auto" hangingPunct="1">
              <a:spcBef>
                <a:spcPts val="0"/>
              </a:spcBef>
              <a:spcAft>
                <a:spcPts val="0"/>
              </a:spcAft>
              <a:defRPr/>
            </a:pPr>
            <a:r>
              <a:rPr lang="en-US" sz="2000">
                <a:solidFill>
                  <a:schemeClr val="tx2"/>
                </a:solidFill>
                <a:effectLst>
                  <a:outerShdw blurRad="38100" dist="38100" dir="2700000" algn="tl">
                    <a:srgbClr val="C0C0C0"/>
                  </a:outerShdw>
                </a:effectLst>
                <a:latin typeface="+mn-lt"/>
              </a:rPr>
              <a:t>Mutation</a:t>
            </a:r>
          </a:p>
        </p:txBody>
      </p:sp>
      <p:sp>
        <p:nvSpPr>
          <p:cNvPr id="71690" name="Line 15">
            <a:extLst>
              <a:ext uri="{FF2B5EF4-FFF2-40B4-BE49-F238E27FC236}">
                <a16:creationId xmlns:a16="http://schemas.microsoft.com/office/drawing/2014/main" id="{35D43AB8-985F-8E20-C27E-8CDE6E019876}"/>
              </a:ext>
            </a:extLst>
          </p:cNvPr>
          <p:cNvSpPr>
            <a:spLocks noChangeShapeType="1"/>
          </p:cNvSpPr>
          <p:nvPr/>
        </p:nvSpPr>
        <p:spPr bwMode="auto">
          <a:xfrm>
            <a:off x="7134225" y="5521325"/>
            <a:ext cx="485775"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120848" name="Text Box 16">
            <a:extLst>
              <a:ext uri="{FF2B5EF4-FFF2-40B4-BE49-F238E27FC236}">
                <a16:creationId xmlns:a16="http://schemas.microsoft.com/office/drawing/2014/main" id="{8082F042-F4BF-C34A-8404-6613D3990E5C}"/>
              </a:ext>
            </a:extLst>
          </p:cNvPr>
          <p:cNvSpPr txBox="1">
            <a:spLocks noChangeArrowheads="1"/>
          </p:cNvSpPr>
          <p:nvPr/>
        </p:nvSpPr>
        <p:spPr bwMode="auto">
          <a:xfrm>
            <a:off x="7624763" y="5330825"/>
            <a:ext cx="984250" cy="387350"/>
          </a:xfrm>
          <a:prstGeom prst="rect">
            <a:avLst/>
          </a:prstGeom>
          <a:noFill/>
          <a:ln w="9525">
            <a:noFill/>
            <a:miter lim="800000"/>
            <a:headEnd/>
            <a:tailEnd/>
          </a:ln>
          <a:effectLst/>
        </p:spPr>
        <p:txBody>
          <a:bodyPr wrap="none" lIns="82058" tIns="41029" rIns="82058" bIns="41029">
            <a:spAutoFit/>
          </a:bodyPr>
          <a:lstStyle/>
          <a:p>
            <a:pPr defTabSz="820738" eaLnBrk="1" fontAlgn="auto" hangingPunct="1">
              <a:spcBef>
                <a:spcPts val="0"/>
              </a:spcBef>
              <a:spcAft>
                <a:spcPts val="0"/>
              </a:spcAft>
              <a:defRPr/>
            </a:pPr>
            <a:r>
              <a:rPr lang="en-US" sz="2000">
                <a:solidFill>
                  <a:schemeClr val="tx2"/>
                </a:solidFill>
                <a:effectLst>
                  <a:outerShdw blurRad="38100" dist="38100" dir="2700000" algn="tl">
                    <a:srgbClr val="C0C0C0"/>
                  </a:outerShdw>
                </a:effectLst>
                <a:latin typeface="+mn-lt"/>
              </a:rPr>
              <a:t>Cancer</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4138B72B-7698-5757-8B47-A94A94D2F7AA}"/>
              </a:ext>
            </a:extLst>
          </p:cNvPr>
          <p:cNvSpPr>
            <a:spLocks noGrp="1"/>
          </p:cNvSpPr>
          <p:nvPr>
            <p:ph type="title"/>
          </p:nvPr>
        </p:nvSpPr>
        <p:spPr/>
        <p:txBody>
          <a:bodyPr/>
          <a:lstStyle/>
          <a:p>
            <a:pPr eaLnBrk="1" hangingPunct="1"/>
            <a:r>
              <a:rPr lang="en-US" altLang="tr-TR" u="sng">
                <a:solidFill>
                  <a:srgbClr val="FF0000"/>
                </a:solidFill>
              </a:rPr>
              <a:t>Genotoxic Carcinogen</a:t>
            </a:r>
          </a:p>
        </p:txBody>
      </p:sp>
      <p:sp>
        <p:nvSpPr>
          <p:cNvPr id="119811" name="Rectangle 3">
            <a:extLst>
              <a:ext uri="{FF2B5EF4-FFF2-40B4-BE49-F238E27FC236}">
                <a16:creationId xmlns:a16="http://schemas.microsoft.com/office/drawing/2014/main" id="{19E134FA-E570-A747-99F6-40CF9046EFD4}"/>
              </a:ext>
            </a:extLst>
          </p:cNvPr>
          <p:cNvSpPr>
            <a:spLocks noGrp="1" noChangeArrowheads="1"/>
          </p:cNvSpPr>
          <p:nvPr>
            <p:ph idx="1"/>
          </p:nvPr>
        </p:nvSpPr>
        <p:spPr/>
        <p:txBody>
          <a:bodyPr rtlCol="0">
            <a:normAutofit fontScale="92500"/>
          </a:bodyPr>
          <a:lstStyle/>
          <a:p>
            <a:pPr eaLnBrk="1" fontAlgn="auto" hangingPunct="1">
              <a:spcAft>
                <a:spcPts val="0"/>
              </a:spcAft>
              <a:buFontTx/>
              <a:buNone/>
              <a:defRPr/>
            </a:pPr>
            <a:r>
              <a:rPr lang="en-US" altLang="tr-TR" sz="2400" dirty="0"/>
              <a:t>Chemical capable of producing cancer by directly altering the genetic material of target cells.</a:t>
            </a:r>
          </a:p>
          <a:p>
            <a:pPr eaLnBrk="1" fontAlgn="auto" hangingPunct="1">
              <a:spcAft>
                <a:spcPts val="0"/>
              </a:spcAft>
              <a:buFontTx/>
              <a:buNone/>
              <a:defRPr/>
            </a:pPr>
            <a:r>
              <a:rPr lang="en-US" altLang="tr-TR" sz="2400" b="1" dirty="0"/>
              <a:t>1- Direct carcinogens</a:t>
            </a:r>
            <a:r>
              <a:rPr lang="en-US" altLang="tr-TR" sz="2400" dirty="0"/>
              <a:t> (no metabolic activation).</a:t>
            </a:r>
          </a:p>
          <a:p>
            <a:pPr eaLnBrk="1" fontAlgn="auto" hangingPunct="1">
              <a:spcAft>
                <a:spcPts val="0"/>
              </a:spcAft>
              <a:buFontTx/>
              <a:buNone/>
              <a:defRPr/>
            </a:pPr>
            <a:r>
              <a:rPr lang="en-US" altLang="tr-TR" sz="2400" dirty="0"/>
              <a:t>– Alkylating agents.</a:t>
            </a:r>
          </a:p>
          <a:p>
            <a:pPr eaLnBrk="1" fontAlgn="auto" hangingPunct="1">
              <a:spcAft>
                <a:spcPts val="0"/>
              </a:spcAft>
              <a:buFontTx/>
              <a:buNone/>
              <a:defRPr/>
            </a:pPr>
            <a:r>
              <a:rPr lang="en-US" altLang="tr-TR" sz="2400" b="1" dirty="0"/>
              <a:t>2-Indirect carcinogens</a:t>
            </a:r>
            <a:r>
              <a:rPr lang="en-US" altLang="tr-TR" sz="2400" dirty="0"/>
              <a:t> </a:t>
            </a:r>
            <a:r>
              <a:rPr lang="tr-TR" altLang="tr-TR" sz="2400" dirty="0"/>
              <a:t> (</a:t>
            </a:r>
            <a:r>
              <a:rPr lang="tr-TR" altLang="tr-TR" sz="2400" dirty="0" err="1"/>
              <a:t>procarcinogenes</a:t>
            </a:r>
            <a:r>
              <a:rPr lang="tr-TR" altLang="tr-TR" sz="2400" dirty="0"/>
              <a:t>) </a:t>
            </a:r>
            <a:r>
              <a:rPr lang="en-US" altLang="tr-TR" sz="2400" dirty="0"/>
              <a:t>(metabolic activation).</a:t>
            </a:r>
          </a:p>
          <a:p>
            <a:pPr eaLnBrk="1" fontAlgn="auto" hangingPunct="1">
              <a:spcAft>
                <a:spcPts val="0"/>
              </a:spcAft>
              <a:buFontTx/>
              <a:buNone/>
              <a:defRPr/>
            </a:pPr>
            <a:r>
              <a:rPr lang="en-US" altLang="tr-TR" sz="2400" dirty="0"/>
              <a:t>– Polycyclic aromatic hydrocarbons.</a:t>
            </a:r>
          </a:p>
          <a:p>
            <a:pPr eaLnBrk="1" fontAlgn="auto" hangingPunct="1">
              <a:spcAft>
                <a:spcPts val="0"/>
              </a:spcAft>
              <a:buFontTx/>
              <a:buNone/>
              <a:defRPr/>
            </a:pPr>
            <a:r>
              <a:rPr lang="en-US" altLang="tr-TR" sz="2400" dirty="0"/>
              <a:t>– Aromatic amines.</a:t>
            </a:r>
          </a:p>
          <a:p>
            <a:pPr eaLnBrk="1" fontAlgn="auto" hangingPunct="1">
              <a:spcAft>
                <a:spcPts val="0"/>
              </a:spcAft>
              <a:buFontTx/>
              <a:buNone/>
              <a:defRPr/>
            </a:pPr>
            <a:r>
              <a:rPr lang="en-US" altLang="tr-TR" sz="2400" dirty="0"/>
              <a:t>– Nitrosamines.</a:t>
            </a:r>
          </a:p>
          <a:p>
            <a:pPr eaLnBrk="1" fontAlgn="auto" hangingPunct="1">
              <a:spcAft>
                <a:spcPts val="0"/>
              </a:spcAft>
              <a:buFontTx/>
              <a:buNone/>
              <a:defRPr/>
            </a:pPr>
            <a:r>
              <a:rPr lang="en-US" altLang="tr-TR" sz="2400" dirty="0"/>
              <a:t>– Natural substances.</a:t>
            </a:r>
          </a:p>
          <a:p>
            <a:pPr eaLnBrk="1" fontAlgn="auto" hangingPunct="1">
              <a:spcAft>
                <a:spcPts val="0"/>
              </a:spcAft>
              <a:buFontTx/>
              <a:buNone/>
              <a:defRPr/>
            </a:pPr>
            <a:r>
              <a:rPr lang="en-US" altLang="tr-TR" sz="2400" b="1" dirty="0"/>
              <a:t>3– Inorganic carcinogens.</a:t>
            </a:r>
          </a:p>
          <a:p>
            <a:pPr eaLnBrk="1" fontAlgn="auto" hangingPunct="1">
              <a:spcAft>
                <a:spcPts val="0"/>
              </a:spcAft>
              <a:buFontTx/>
              <a:buNone/>
              <a:defRPr/>
            </a:pPr>
            <a:r>
              <a:rPr lang="en-US" altLang="tr-TR" sz="2400" b="1" dirty="0"/>
              <a:t>4- Ni, Cr, Cd, As.</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4">
            <a:extLst>
              <a:ext uri="{FF2B5EF4-FFF2-40B4-BE49-F238E27FC236}">
                <a16:creationId xmlns:a16="http://schemas.microsoft.com/office/drawing/2014/main" id="{E8B82A1C-44E2-5184-DF03-763292504A42}"/>
              </a:ext>
            </a:extLst>
          </p:cNvPr>
          <p:cNvSpPr>
            <a:spLocks noGrp="1"/>
          </p:cNvSpPr>
          <p:nvPr>
            <p:ph type="title"/>
          </p:nvPr>
        </p:nvSpPr>
        <p:spPr>
          <a:xfrm>
            <a:off x="685800" y="400050"/>
            <a:ext cx="7773988" cy="1733550"/>
          </a:xfrm>
        </p:spPr>
        <p:txBody>
          <a:bodyPr/>
          <a:lstStyle/>
          <a:p>
            <a:pPr eaLnBrk="1" hangingPunct="1"/>
            <a:r>
              <a:rPr lang="en-US" altLang="tr-TR" sz="2800"/>
              <a:t>METABOLIC ACTIVATION REQUIRES SPECIALIZED ENZYMES: e.g. CYP450s</a:t>
            </a:r>
            <a:br>
              <a:rPr lang="en-US" altLang="tr-TR" sz="2800"/>
            </a:br>
            <a:r>
              <a:rPr lang="en-US" altLang="tr-TR" sz="2000">
                <a:solidFill>
                  <a:schemeClr val="accent2"/>
                </a:solidFill>
              </a:rPr>
              <a:t>(receptors, co-factors and many other enzymes are also involved)</a:t>
            </a:r>
            <a:endParaRPr lang="en-US" altLang="tr-TR" sz="1800">
              <a:solidFill>
                <a:schemeClr val="accent2"/>
              </a:solidFill>
            </a:endParaRPr>
          </a:p>
        </p:txBody>
      </p:sp>
      <p:pic>
        <p:nvPicPr>
          <p:cNvPr id="73730" name="Picture 5">
            <a:extLst>
              <a:ext uri="{FF2B5EF4-FFF2-40B4-BE49-F238E27FC236}">
                <a16:creationId xmlns:a16="http://schemas.microsoft.com/office/drawing/2014/main" id="{8F31A876-E048-1E9E-3899-3DE1544CC8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19213" y="2976563"/>
            <a:ext cx="6505575" cy="2049462"/>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D623A9BB-BFCA-A64F-9512-71CBA55EF157}"/>
              </a:ext>
            </a:extLst>
          </p:cNvPr>
          <p:cNvSpPr>
            <a:spLocks noGrp="1" noChangeArrowheads="1"/>
          </p:cNvSpPr>
          <p:nvPr>
            <p:ph type="title"/>
          </p:nvPr>
        </p:nvSpPr>
        <p:spPr>
          <a:xfrm>
            <a:off x="685800" y="228600"/>
            <a:ext cx="7772400" cy="1143000"/>
          </a:xfrm>
        </p:spPr>
        <p:txBody>
          <a:bodyPr rtlCol="0">
            <a:normAutofit/>
          </a:bodyPr>
          <a:lstStyle/>
          <a:p>
            <a:pPr eaLnBrk="1" fontAlgn="auto" hangingPunct="1">
              <a:spcAft>
                <a:spcPts val="0"/>
              </a:spcAft>
              <a:defRPr/>
            </a:pPr>
            <a:r>
              <a:rPr lang="en-US" sz="2800" dirty="0">
                <a:solidFill>
                  <a:srgbClr val="660033"/>
                </a:solidFill>
                <a:effectLst>
                  <a:outerShdw blurRad="38100" dist="38100" dir="2700000" algn="tl">
                    <a:srgbClr val="C0C0C0"/>
                  </a:outerShdw>
                </a:effectLst>
                <a:latin typeface="Arial Rounded MT Bold" pitchFamily="34" charset="0"/>
              </a:rPr>
              <a:t>Classification of Carcinogens According to the Mode of Action</a:t>
            </a:r>
          </a:p>
        </p:txBody>
      </p:sp>
      <p:sp>
        <p:nvSpPr>
          <p:cNvPr id="123907" name="Rectangle 3">
            <a:extLst>
              <a:ext uri="{FF2B5EF4-FFF2-40B4-BE49-F238E27FC236}">
                <a16:creationId xmlns:a16="http://schemas.microsoft.com/office/drawing/2014/main" id="{FFACF410-5776-9147-8CF6-400DD711D5BD}"/>
              </a:ext>
            </a:extLst>
          </p:cNvPr>
          <p:cNvSpPr>
            <a:spLocks noGrp="1" noChangeArrowheads="1"/>
          </p:cNvSpPr>
          <p:nvPr>
            <p:ph type="body" sz="half" idx="1"/>
          </p:nvPr>
        </p:nvSpPr>
        <p:spPr>
          <a:xfrm>
            <a:off x="830263" y="1524000"/>
            <a:ext cx="7556500" cy="2632075"/>
          </a:xfrm>
        </p:spPr>
        <p:txBody>
          <a:bodyPr rtlCol="0">
            <a:normAutofit lnSpcReduction="10000"/>
          </a:bodyPr>
          <a:lstStyle/>
          <a:p>
            <a:pPr marL="404813" indent="-404813" eaLnBrk="1" fontAlgn="auto" hangingPunct="1">
              <a:spcAft>
                <a:spcPts val="0"/>
              </a:spcAft>
              <a:buSzPct val="90000"/>
              <a:buFont typeface="Wingdings" pitchFamily="2" charset="2"/>
              <a:buNone/>
              <a:defRPr/>
            </a:pPr>
            <a:r>
              <a:rPr lang="en-US" sz="2800" b="1">
                <a:solidFill>
                  <a:srgbClr val="CC0000"/>
                </a:solidFill>
                <a:effectLst>
                  <a:outerShdw blurRad="38100" dist="38100" dir="2700000" algn="tl">
                    <a:srgbClr val="C0C0C0"/>
                  </a:outerShdw>
                </a:effectLst>
              </a:rPr>
              <a:t>NON-GENOTOXIC</a:t>
            </a:r>
            <a:r>
              <a:rPr lang="en-US" sz="2800" b="1">
                <a:solidFill>
                  <a:schemeClr val="tx2"/>
                </a:solidFill>
                <a:effectLst>
                  <a:outerShdw blurRad="38100" dist="38100" dir="2700000" algn="tl">
                    <a:srgbClr val="C0C0C0"/>
                  </a:outerShdw>
                </a:effectLst>
              </a:rPr>
              <a:t>:</a:t>
            </a:r>
          </a:p>
          <a:p>
            <a:pPr marL="404813" indent="-404813" eaLnBrk="1" fontAlgn="auto" hangingPunct="1">
              <a:spcAft>
                <a:spcPts val="0"/>
              </a:spcAft>
              <a:buFont typeface="Wingdings" pitchFamily="2" charset="2"/>
              <a:buChar char="§"/>
              <a:defRPr/>
            </a:pPr>
            <a:r>
              <a:rPr lang="en-US" altLang="en-US" sz="2800"/>
              <a:t>Do not directly cause DNA mutation</a:t>
            </a:r>
          </a:p>
          <a:p>
            <a:pPr marL="404813" indent="-404813" eaLnBrk="1" fontAlgn="auto" hangingPunct="1">
              <a:spcAft>
                <a:spcPts val="0"/>
              </a:spcAft>
              <a:buFont typeface="Wingdings" pitchFamily="2" charset="2"/>
              <a:buChar char="§"/>
              <a:defRPr/>
            </a:pPr>
            <a:r>
              <a:rPr lang="en-US" altLang="en-US" sz="2800"/>
              <a:t>Mechanism of action is not completely understood</a:t>
            </a:r>
          </a:p>
          <a:p>
            <a:pPr marL="404813" indent="-404813" eaLnBrk="1" fontAlgn="auto" hangingPunct="1">
              <a:spcAft>
                <a:spcPts val="0"/>
              </a:spcAft>
              <a:buFont typeface="Wingdings" pitchFamily="2" charset="2"/>
              <a:buChar char="§"/>
              <a:defRPr/>
            </a:pPr>
            <a:r>
              <a:rPr lang="en-US" altLang="en-US" sz="2800"/>
              <a:t>Difficult to detect - requires rodent carcinogen bioassay</a:t>
            </a:r>
            <a:endParaRPr lang="en-US" sz="2800"/>
          </a:p>
        </p:txBody>
      </p:sp>
      <p:pic>
        <p:nvPicPr>
          <p:cNvPr id="74755" name="Picture 11" descr="biorus mol">
            <a:extLst>
              <a:ext uri="{FF2B5EF4-FFF2-40B4-BE49-F238E27FC236}">
                <a16:creationId xmlns:a16="http://schemas.microsoft.com/office/drawing/2014/main" id="{06609381-0385-2A45-5291-18A93F299FC3}"/>
              </a:ext>
            </a:extLst>
          </p:cNvPr>
          <p:cNvPicPr>
            <a:picLocks noGrp="1" noChangeAspect="1" noChangeArrowheads="1"/>
          </p:cNvPicPr>
          <p:nvPr>
            <p:ph sz="half" idx="2"/>
          </p:nvPr>
        </p:nvPicPr>
        <p:blipFill>
          <a:blip r:embed="rId2">
            <a:lum bright="18000" contrast="24000"/>
            <a:extLst>
              <a:ext uri="{28A0092B-C50C-407E-A947-70E740481C1C}">
                <a14:useLocalDpi xmlns:a14="http://schemas.microsoft.com/office/drawing/2010/main" val="0"/>
              </a:ext>
            </a:extLst>
          </a:blip>
          <a:srcRect/>
          <a:stretch>
            <a:fillRect/>
          </a:stretch>
        </p:blipFill>
        <p:spPr>
          <a:xfrm>
            <a:off x="1201738" y="4570413"/>
            <a:ext cx="1573212" cy="1754187"/>
          </a:xfrm>
          <a:noFill/>
        </p:spPr>
      </p:pic>
      <p:graphicFrame>
        <p:nvGraphicFramePr>
          <p:cNvPr id="74756" name="Object 4">
            <a:extLst>
              <a:ext uri="{FF2B5EF4-FFF2-40B4-BE49-F238E27FC236}">
                <a16:creationId xmlns:a16="http://schemas.microsoft.com/office/drawing/2014/main" id="{1D2B8DC7-3C3C-3EA4-0C50-A5D9545764BE}"/>
              </a:ext>
            </a:extLst>
          </p:cNvPr>
          <p:cNvGraphicFramePr>
            <a:graphicFrameLocks noChangeAspect="1"/>
          </p:cNvGraphicFramePr>
          <p:nvPr/>
        </p:nvGraphicFramePr>
        <p:xfrm>
          <a:off x="4325938" y="4392613"/>
          <a:ext cx="917575" cy="2084387"/>
        </p:xfrm>
        <a:graphic>
          <a:graphicData uri="http://schemas.openxmlformats.org/presentationml/2006/ole">
            <mc:AlternateContent xmlns:mc="http://schemas.openxmlformats.org/markup-compatibility/2006">
              <mc:Choice xmlns:v="urn:schemas-microsoft-com:vml" Requires="v">
                <p:oleObj name="Photo Editor Photo" r:id="rId3" imgW="603250" imgH="1416050" progId="MSPhotoEd.3">
                  <p:embed/>
                </p:oleObj>
              </mc:Choice>
              <mc:Fallback>
                <p:oleObj name="Photo Editor Photo" r:id="rId3" imgW="603250" imgH="1416050" progId="MSPhotoEd.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938" y="4392613"/>
                        <a:ext cx="917575"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09" name="Rectangle 5">
            <a:extLst>
              <a:ext uri="{FF2B5EF4-FFF2-40B4-BE49-F238E27FC236}">
                <a16:creationId xmlns:a16="http://schemas.microsoft.com/office/drawing/2014/main" id="{A93A655E-20BF-3341-A764-A107A90A291C}"/>
              </a:ext>
            </a:extLst>
          </p:cNvPr>
          <p:cNvSpPr>
            <a:spLocks noChangeArrowheads="1"/>
          </p:cNvSpPr>
          <p:nvPr/>
        </p:nvSpPr>
        <p:spPr bwMode="auto">
          <a:xfrm>
            <a:off x="3009900" y="5029200"/>
            <a:ext cx="762000" cy="685800"/>
          </a:xfrm>
          <a:prstGeom prst="rect">
            <a:avLst/>
          </a:prstGeom>
          <a:solidFill>
            <a:schemeClr val="tx2"/>
          </a:solidFill>
          <a:ln w="9525">
            <a:solidFill>
              <a:schemeClr val="bg2"/>
            </a:solidFill>
            <a:miter lim="800000"/>
            <a:headEnd/>
            <a:tailEnd/>
          </a:ln>
          <a:effectLst/>
        </p:spPr>
        <p:txBody>
          <a:bodyPr wrap="none" lIns="82058" tIns="41029" rIns="82058" bIns="41029" anchor="ctr"/>
          <a:lstStyle/>
          <a:p>
            <a:pPr defTabSz="820738" eaLnBrk="1" fontAlgn="auto" hangingPunct="1">
              <a:spcBef>
                <a:spcPts val="0"/>
              </a:spcBef>
              <a:spcAft>
                <a:spcPts val="0"/>
              </a:spcAft>
              <a:defRPr/>
            </a:pPr>
            <a:r>
              <a:rPr lang="en-US" sz="4500">
                <a:solidFill>
                  <a:schemeClr val="bg1"/>
                </a:solidFill>
                <a:effectLst>
                  <a:outerShdw blurRad="38100" dist="38100" dir="2700000" algn="tl">
                    <a:srgbClr val="808080"/>
                  </a:outerShdw>
                </a:effectLst>
                <a:latin typeface="+mn-lt"/>
              </a:rPr>
              <a:t>?</a:t>
            </a:r>
          </a:p>
        </p:txBody>
      </p:sp>
      <p:sp>
        <p:nvSpPr>
          <p:cNvPr id="123910" name="Text Box 6">
            <a:extLst>
              <a:ext uri="{FF2B5EF4-FFF2-40B4-BE49-F238E27FC236}">
                <a16:creationId xmlns:a16="http://schemas.microsoft.com/office/drawing/2014/main" id="{9EA4445C-9441-174A-AAFE-6E784DACC5DC}"/>
              </a:ext>
            </a:extLst>
          </p:cNvPr>
          <p:cNvSpPr txBox="1">
            <a:spLocks noChangeArrowheads="1"/>
          </p:cNvSpPr>
          <p:nvPr/>
        </p:nvSpPr>
        <p:spPr bwMode="auto">
          <a:xfrm>
            <a:off x="5424488" y="5229225"/>
            <a:ext cx="1138237" cy="387350"/>
          </a:xfrm>
          <a:prstGeom prst="rect">
            <a:avLst/>
          </a:prstGeom>
          <a:noFill/>
          <a:ln w="9525">
            <a:noFill/>
            <a:miter lim="800000"/>
            <a:headEnd/>
            <a:tailEnd/>
          </a:ln>
          <a:effectLst/>
        </p:spPr>
        <p:txBody>
          <a:bodyPr wrap="none" lIns="82058" tIns="41029" rIns="82058" bIns="41029">
            <a:spAutoFit/>
          </a:bodyPr>
          <a:lstStyle/>
          <a:p>
            <a:pPr defTabSz="820738" eaLnBrk="1" fontAlgn="auto" hangingPunct="1">
              <a:spcBef>
                <a:spcPts val="0"/>
              </a:spcBef>
              <a:spcAft>
                <a:spcPts val="0"/>
              </a:spcAft>
              <a:defRPr/>
            </a:pPr>
            <a:r>
              <a:rPr lang="en-US" sz="2000">
                <a:solidFill>
                  <a:schemeClr val="tx2"/>
                </a:solidFill>
                <a:effectLst>
                  <a:outerShdw blurRad="38100" dist="38100" dir="2700000" algn="tl">
                    <a:srgbClr val="C0C0C0"/>
                  </a:outerShdw>
                </a:effectLst>
                <a:latin typeface="+mn-lt"/>
              </a:rPr>
              <a:t>Mutation</a:t>
            </a:r>
          </a:p>
        </p:txBody>
      </p:sp>
      <p:sp>
        <p:nvSpPr>
          <p:cNvPr id="123911" name="Text Box 7">
            <a:extLst>
              <a:ext uri="{FF2B5EF4-FFF2-40B4-BE49-F238E27FC236}">
                <a16:creationId xmlns:a16="http://schemas.microsoft.com/office/drawing/2014/main" id="{67E3E347-4F9D-2549-A0B6-635F2638091B}"/>
              </a:ext>
            </a:extLst>
          </p:cNvPr>
          <p:cNvSpPr txBox="1">
            <a:spLocks noChangeArrowheads="1"/>
          </p:cNvSpPr>
          <p:nvPr/>
        </p:nvSpPr>
        <p:spPr bwMode="auto">
          <a:xfrm>
            <a:off x="6864350" y="5251450"/>
            <a:ext cx="984250" cy="387350"/>
          </a:xfrm>
          <a:prstGeom prst="rect">
            <a:avLst/>
          </a:prstGeom>
          <a:noFill/>
          <a:ln w="9525">
            <a:noFill/>
            <a:miter lim="800000"/>
            <a:headEnd/>
            <a:tailEnd/>
          </a:ln>
          <a:effectLst/>
        </p:spPr>
        <p:txBody>
          <a:bodyPr wrap="none" lIns="82058" tIns="41029" rIns="82058" bIns="41029">
            <a:spAutoFit/>
          </a:bodyPr>
          <a:lstStyle/>
          <a:p>
            <a:pPr defTabSz="820738" eaLnBrk="1" fontAlgn="auto" hangingPunct="1">
              <a:spcBef>
                <a:spcPts val="0"/>
              </a:spcBef>
              <a:spcAft>
                <a:spcPts val="0"/>
              </a:spcAft>
              <a:defRPr/>
            </a:pPr>
            <a:r>
              <a:rPr lang="en-US" sz="2000">
                <a:solidFill>
                  <a:schemeClr val="tx2"/>
                </a:solidFill>
                <a:effectLst>
                  <a:outerShdw blurRad="38100" dist="38100" dir="2700000" algn="tl">
                    <a:srgbClr val="C0C0C0"/>
                  </a:outerShdw>
                </a:effectLst>
                <a:latin typeface="+mn-lt"/>
              </a:rPr>
              <a:t>Cancer</a:t>
            </a:r>
          </a:p>
        </p:txBody>
      </p:sp>
      <p:sp>
        <p:nvSpPr>
          <p:cNvPr id="74760" name="Line 8">
            <a:extLst>
              <a:ext uri="{FF2B5EF4-FFF2-40B4-BE49-F238E27FC236}">
                <a16:creationId xmlns:a16="http://schemas.microsoft.com/office/drawing/2014/main" id="{60CED484-84BA-4393-D860-960B0FDE0AC8}"/>
              </a:ext>
            </a:extLst>
          </p:cNvPr>
          <p:cNvSpPr>
            <a:spLocks noChangeShapeType="1"/>
          </p:cNvSpPr>
          <p:nvPr/>
        </p:nvSpPr>
        <p:spPr bwMode="auto">
          <a:xfrm>
            <a:off x="3848100" y="5410200"/>
            <a:ext cx="333375" cy="9525"/>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74761" name="Line 9">
            <a:extLst>
              <a:ext uri="{FF2B5EF4-FFF2-40B4-BE49-F238E27FC236}">
                <a16:creationId xmlns:a16="http://schemas.microsoft.com/office/drawing/2014/main" id="{9E16F1C2-BEA4-B9DC-7F76-2DFCA8327B35}"/>
              </a:ext>
            </a:extLst>
          </p:cNvPr>
          <p:cNvSpPr>
            <a:spLocks noChangeShapeType="1"/>
          </p:cNvSpPr>
          <p:nvPr/>
        </p:nvSpPr>
        <p:spPr bwMode="auto">
          <a:xfrm>
            <a:off x="5014913" y="5410200"/>
            <a:ext cx="333375" cy="9525"/>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74762" name="Line 10">
            <a:extLst>
              <a:ext uri="{FF2B5EF4-FFF2-40B4-BE49-F238E27FC236}">
                <a16:creationId xmlns:a16="http://schemas.microsoft.com/office/drawing/2014/main" id="{2562D5C7-B6D6-6FD3-14D0-CDC50A8B6641}"/>
              </a:ext>
            </a:extLst>
          </p:cNvPr>
          <p:cNvSpPr>
            <a:spLocks noChangeShapeType="1"/>
          </p:cNvSpPr>
          <p:nvPr/>
        </p:nvSpPr>
        <p:spPr bwMode="auto">
          <a:xfrm>
            <a:off x="6538913" y="5416550"/>
            <a:ext cx="333375" cy="9525"/>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
        <p:nvSpPr>
          <p:cNvPr id="74763" name="Line 12">
            <a:extLst>
              <a:ext uri="{FF2B5EF4-FFF2-40B4-BE49-F238E27FC236}">
                <a16:creationId xmlns:a16="http://schemas.microsoft.com/office/drawing/2014/main" id="{722F71CA-B232-AD88-7251-846E225E6E73}"/>
              </a:ext>
            </a:extLst>
          </p:cNvPr>
          <p:cNvSpPr>
            <a:spLocks noChangeShapeType="1"/>
          </p:cNvSpPr>
          <p:nvPr/>
        </p:nvSpPr>
        <p:spPr bwMode="auto">
          <a:xfrm>
            <a:off x="2552700" y="5410200"/>
            <a:ext cx="333375" cy="9525"/>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tr-T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9459AE6A-FA37-BF4A-9E0E-806B6A22BFCF}"/>
              </a:ext>
            </a:extLst>
          </p:cNvPr>
          <p:cNvSpPr>
            <a:spLocks noGrp="1" noChangeArrowheads="1"/>
          </p:cNvSpPr>
          <p:nvPr>
            <p:ph type="title"/>
          </p:nvPr>
        </p:nvSpPr>
        <p:spPr/>
        <p:txBody>
          <a:bodyPr rtlCol="0">
            <a:normAutofit/>
          </a:bodyPr>
          <a:lstStyle/>
          <a:p>
            <a:pPr defTabSz="762000" eaLnBrk="1" fontAlgn="auto" hangingPunct="1">
              <a:spcAft>
                <a:spcPts val="0"/>
              </a:spcAft>
              <a:defRPr/>
            </a:pPr>
            <a:r>
              <a:rPr lang="en-US" altLang="en-US" sz="3200" dirty="0">
                <a:solidFill>
                  <a:srgbClr val="FF0000"/>
                </a:solidFill>
                <a:effectLst>
                  <a:outerShdw blurRad="38100" dist="38100" dir="2700000" algn="tl">
                    <a:srgbClr val="C0C0C0"/>
                  </a:outerShdw>
                </a:effectLst>
                <a:latin typeface="Arial Rounded MT Bold" pitchFamily="34" charset="0"/>
              </a:rPr>
              <a:t>Non-</a:t>
            </a:r>
            <a:r>
              <a:rPr lang="en-US" altLang="en-US" sz="3200" dirty="0" err="1">
                <a:solidFill>
                  <a:srgbClr val="FF0000"/>
                </a:solidFill>
                <a:effectLst>
                  <a:outerShdw blurRad="38100" dist="38100" dir="2700000" algn="tl">
                    <a:srgbClr val="C0C0C0"/>
                  </a:outerShdw>
                </a:effectLst>
                <a:latin typeface="Arial Rounded MT Bold" pitchFamily="34" charset="0"/>
              </a:rPr>
              <a:t>Genotoxic</a:t>
            </a:r>
            <a:r>
              <a:rPr lang="en-US" altLang="en-US" sz="3200" dirty="0">
                <a:solidFill>
                  <a:srgbClr val="FF0000"/>
                </a:solidFill>
                <a:effectLst>
                  <a:outerShdw blurRad="38100" dist="38100" dir="2700000" algn="tl">
                    <a:srgbClr val="C0C0C0"/>
                  </a:outerShdw>
                </a:effectLst>
                <a:latin typeface="Arial Rounded MT Bold" pitchFamily="34" charset="0"/>
              </a:rPr>
              <a:t> Carcinogens</a:t>
            </a:r>
            <a:endParaRPr lang="de-DE" sz="3200" dirty="0">
              <a:solidFill>
                <a:srgbClr val="FF0000"/>
              </a:solidFill>
              <a:effectLst>
                <a:outerShdw blurRad="38100" dist="38100" dir="2700000" algn="tl">
                  <a:srgbClr val="C0C0C0"/>
                </a:outerShdw>
              </a:effectLst>
              <a:latin typeface="Arial Rounded MT Bold" pitchFamily="34" charset="0"/>
            </a:endParaRPr>
          </a:p>
        </p:txBody>
      </p:sp>
      <p:sp>
        <p:nvSpPr>
          <p:cNvPr id="124931" name="Rectangle 3">
            <a:extLst>
              <a:ext uri="{FF2B5EF4-FFF2-40B4-BE49-F238E27FC236}">
                <a16:creationId xmlns:a16="http://schemas.microsoft.com/office/drawing/2014/main" id="{BDA198BA-E303-274F-9786-3C62D16C434A}"/>
              </a:ext>
            </a:extLst>
          </p:cNvPr>
          <p:cNvSpPr>
            <a:spLocks noGrp="1" noChangeArrowheads="1"/>
          </p:cNvSpPr>
          <p:nvPr>
            <p:ph idx="1"/>
          </p:nvPr>
        </p:nvSpPr>
        <p:spPr>
          <a:xfrm>
            <a:off x="685800" y="1828800"/>
            <a:ext cx="7772400" cy="4191000"/>
          </a:xfrm>
        </p:spPr>
        <p:txBody>
          <a:bodyPr rtlCol="0">
            <a:normAutofit/>
          </a:bodyPr>
          <a:lstStyle/>
          <a:p>
            <a:pPr marL="533400" indent="-533400" defTabSz="762000" eaLnBrk="1" fontAlgn="auto" hangingPunct="1">
              <a:spcAft>
                <a:spcPts val="0"/>
              </a:spcAft>
              <a:buFontTx/>
              <a:buAutoNum type="arabicParenR"/>
              <a:defRPr/>
            </a:pPr>
            <a:r>
              <a:rPr lang="en-US" sz="2400" dirty="0">
                <a:solidFill>
                  <a:schemeClr val="tx2"/>
                </a:solidFill>
                <a:effectLst>
                  <a:outerShdw blurRad="38100" dist="38100" dir="2700000" algn="tl">
                    <a:srgbClr val="C0C0C0"/>
                  </a:outerShdw>
                </a:effectLst>
              </a:rPr>
              <a:t>Mitogens: 	</a:t>
            </a:r>
          </a:p>
          <a:p>
            <a:pPr marL="533400" indent="-533400" defTabSz="762000" eaLnBrk="1" fontAlgn="auto" hangingPunct="1">
              <a:spcAft>
                <a:spcPts val="0"/>
              </a:spcAft>
              <a:defRPr/>
            </a:pPr>
            <a:r>
              <a:rPr lang="en-US" sz="2400" dirty="0">
                <a:solidFill>
                  <a:schemeClr val="tx2"/>
                </a:solidFill>
                <a:effectLst>
                  <a:outerShdw blurRad="38100" dist="38100" dir="2700000" algn="tl">
                    <a:srgbClr val="C0C0C0"/>
                  </a:outerShdw>
                </a:effectLst>
              </a:rPr>
              <a:t>stimulation of proliferation</a:t>
            </a:r>
          </a:p>
          <a:p>
            <a:pPr marL="533400" indent="-533400" defTabSz="762000" eaLnBrk="1" fontAlgn="auto" hangingPunct="1">
              <a:spcAft>
                <a:spcPts val="0"/>
              </a:spcAft>
              <a:defRPr/>
            </a:pPr>
            <a:r>
              <a:rPr lang="en-US" sz="2400" dirty="0">
                <a:solidFill>
                  <a:schemeClr val="tx2"/>
                </a:solidFill>
                <a:effectLst>
                  <a:outerShdw blurRad="38100" dist="38100" dir="2700000" algn="tl">
                    <a:srgbClr val="C0C0C0"/>
                  </a:outerShdw>
                </a:effectLst>
              </a:rPr>
              <a:t>mutations may occur secondarily to cell proliferation</a:t>
            </a:r>
          </a:p>
          <a:p>
            <a:pPr marL="533400" indent="-533400" defTabSz="762000" eaLnBrk="1" fontAlgn="auto" hangingPunct="1">
              <a:spcAft>
                <a:spcPts val="0"/>
              </a:spcAft>
              <a:defRPr/>
            </a:pPr>
            <a:r>
              <a:rPr lang="en-US" sz="2400" dirty="0">
                <a:solidFill>
                  <a:schemeClr val="tx2"/>
                </a:solidFill>
                <a:effectLst>
                  <a:outerShdw blurRad="38100" dist="38100" dir="2700000" algn="tl">
                    <a:srgbClr val="C0C0C0"/>
                  </a:outerShdw>
                </a:effectLst>
              </a:rPr>
              <a:t>may cause preferential growth of </a:t>
            </a:r>
            <a:r>
              <a:rPr lang="en-US" sz="2400" dirty="0" err="1">
                <a:solidFill>
                  <a:schemeClr val="tx2"/>
                </a:solidFill>
                <a:effectLst>
                  <a:outerShdw blurRad="38100" dist="38100" dir="2700000" algn="tl">
                    <a:srgbClr val="C0C0C0"/>
                  </a:outerShdw>
                </a:effectLst>
              </a:rPr>
              <a:t>preneoplastic</a:t>
            </a:r>
            <a:r>
              <a:rPr lang="en-US" sz="2400" dirty="0">
                <a:solidFill>
                  <a:schemeClr val="tx2"/>
                </a:solidFill>
                <a:effectLst>
                  <a:outerShdw blurRad="38100" dist="38100" dir="2700000" algn="tl">
                    <a:srgbClr val="C0C0C0"/>
                  </a:outerShdw>
                </a:effectLst>
              </a:rPr>
              <a:t> cells</a:t>
            </a:r>
          </a:p>
          <a:p>
            <a:pPr marL="533400" indent="-533400" defTabSz="762000" eaLnBrk="1" fontAlgn="auto" hangingPunct="1">
              <a:spcAft>
                <a:spcPts val="0"/>
              </a:spcAft>
              <a:buSzPct val="90000"/>
              <a:buFont typeface="Wingdings" pitchFamily="2" charset="2"/>
              <a:buNone/>
              <a:defRPr/>
            </a:pPr>
            <a:endParaRPr lang="en-US" sz="2400" dirty="0">
              <a:solidFill>
                <a:schemeClr val="tx2"/>
              </a:solidFill>
              <a:effectLst>
                <a:outerShdw blurRad="38100" dist="38100" dir="2700000" algn="tl">
                  <a:srgbClr val="C0C0C0"/>
                </a:outerShdw>
              </a:effectLst>
            </a:endParaRPr>
          </a:p>
          <a:p>
            <a:pPr marL="533400" indent="-533400" defTabSz="762000" eaLnBrk="1" fontAlgn="auto" hangingPunct="1">
              <a:spcAft>
                <a:spcPts val="0"/>
              </a:spcAft>
              <a:buSzPct val="90000"/>
              <a:buFont typeface="Wingdings" pitchFamily="2" charset="2"/>
              <a:buNone/>
              <a:defRPr/>
            </a:pPr>
            <a:r>
              <a:rPr lang="en-US" sz="2400" dirty="0">
                <a:solidFill>
                  <a:schemeClr val="tx2"/>
                </a:solidFill>
                <a:effectLst>
                  <a:outerShdw blurRad="38100" dist="38100" dir="2700000" algn="tl">
                    <a:srgbClr val="C0C0C0"/>
                  </a:outerShdw>
                </a:effectLst>
              </a:rPr>
              <a:t>2) 	</a:t>
            </a:r>
            <a:r>
              <a:rPr lang="en-US" sz="2400" dirty="0" err="1">
                <a:solidFill>
                  <a:schemeClr val="tx2"/>
                </a:solidFill>
                <a:effectLst>
                  <a:outerShdw blurRad="38100" dist="38100" dir="2700000" algn="tl">
                    <a:srgbClr val="C0C0C0"/>
                  </a:outerShdw>
                </a:effectLst>
              </a:rPr>
              <a:t>Cytotoxicants</a:t>
            </a:r>
            <a:r>
              <a:rPr lang="en-US" sz="2400" dirty="0">
                <a:solidFill>
                  <a:schemeClr val="tx2"/>
                </a:solidFill>
                <a:effectLst>
                  <a:outerShdw blurRad="38100" dist="38100" dir="2700000" algn="tl">
                    <a:srgbClr val="C0C0C0"/>
                  </a:outerShdw>
                </a:effectLst>
              </a:rPr>
              <a:t>: </a:t>
            </a:r>
          </a:p>
          <a:p>
            <a:pPr marL="533400" indent="-533400" defTabSz="762000" eaLnBrk="1" fontAlgn="auto" hangingPunct="1">
              <a:spcAft>
                <a:spcPts val="0"/>
              </a:spcAft>
              <a:buSzPct val="90000"/>
              <a:defRPr/>
            </a:pPr>
            <a:r>
              <a:rPr lang="en-US" sz="2400" dirty="0" err="1">
                <a:solidFill>
                  <a:schemeClr val="tx2"/>
                </a:solidFill>
                <a:effectLst>
                  <a:outerShdw blurRad="38100" dist="38100" dir="2700000" algn="tl">
                    <a:srgbClr val="C0C0C0"/>
                  </a:outerShdw>
                </a:effectLst>
              </a:rPr>
              <a:t>cytolethal</a:t>
            </a:r>
            <a:endParaRPr lang="en-US" sz="2400" dirty="0">
              <a:solidFill>
                <a:schemeClr val="tx2"/>
              </a:solidFill>
              <a:effectLst>
                <a:outerShdw blurRad="38100" dist="38100" dir="2700000" algn="tl">
                  <a:srgbClr val="C0C0C0"/>
                </a:outerShdw>
              </a:effectLst>
            </a:endParaRPr>
          </a:p>
          <a:p>
            <a:pPr marL="533400" indent="-533400" defTabSz="762000" eaLnBrk="1" fontAlgn="auto" hangingPunct="1">
              <a:spcAft>
                <a:spcPts val="0"/>
              </a:spcAft>
              <a:buSzPct val="90000"/>
              <a:defRPr/>
            </a:pPr>
            <a:r>
              <a:rPr lang="en-US" sz="2400" dirty="0">
                <a:solidFill>
                  <a:schemeClr val="tx2"/>
                </a:solidFill>
                <a:effectLst>
                  <a:outerShdw blurRad="38100" dist="38100" dir="2700000" algn="tl">
                    <a:srgbClr val="C0C0C0"/>
                  </a:outerShdw>
                </a:effectLst>
              </a:rPr>
              <a:t>induce regenerative growth</a:t>
            </a:r>
          </a:p>
          <a:p>
            <a:pPr marL="533400" indent="-533400" defTabSz="762000" eaLnBrk="1" fontAlgn="auto" hangingPunct="1">
              <a:spcAft>
                <a:spcPts val="0"/>
              </a:spcAft>
              <a:buSzPct val="90000"/>
              <a:defRPr/>
            </a:pPr>
            <a:r>
              <a:rPr lang="en-US" sz="2400" dirty="0">
                <a:solidFill>
                  <a:schemeClr val="tx2"/>
                </a:solidFill>
                <a:effectLst>
                  <a:outerShdw blurRad="38100" dist="38100" dir="2700000" algn="tl">
                    <a:srgbClr val="C0C0C0"/>
                  </a:outerShdw>
                </a:effectLst>
              </a:rPr>
              <a:t>mutations may occur secondarily to cell proliferation</a:t>
            </a:r>
            <a:endParaRPr lang="en-US"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a:extLst>
              <a:ext uri="{FF2B5EF4-FFF2-40B4-BE49-F238E27FC236}">
                <a16:creationId xmlns:a16="http://schemas.microsoft.com/office/drawing/2014/main" id="{E83A878C-797B-9F4C-B8C8-3084AB8217E1}"/>
              </a:ext>
            </a:extLst>
          </p:cNvPr>
          <p:cNvSpPr txBox="1">
            <a:spLocks noChangeArrowheads="1"/>
          </p:cNvSpPr>
          <p:nvPr/>
        </p:nvSpPr>
        <p:spPr bwMode="auto">
          <a:xfrm>
            <a:off x="671513" y="268288"/>
            <a:ext cx="7862887" cy="514350"/>
          </a:xfrm>
          <a:prstGeom prst="rect">
            <a:avLst/>
          </a:prstGeom>
          <a:noFill/>
          <a:ln w="9525">
            <a:noFill/>
            <a:miter lim="800000"/>
            <a:headEnd/>
            <a:tailEnd/>
          </a:ln>
          <a:effectLst/>
        </p:spPr>
        <p:txBody>
          <a:bodyPr lIns="82058" tIns="41029" rIns="82058" bIns="41029">
            <a:spAutoFit/>
          </a:bodyPr>
          <a:lstStyle/>
          <a:p>
            <a:pPr defTabSz="820738" eaLnBrk="1" fontAlgn="auto" hangingPunct="1">
              <a:spcBef>
                <a:spcPct val="35000"/>
              </a:spcBef>
              <a:spcAft>
                <a:spcPts val="0"/>
              </a:spcAft>
              <a:defRPr/>
            </a:pPr>
            <a:r>
              <a:rPr lang="en-US" sz="2800" dirty="0">
                <a:solidFill>
                  <a:srgbClr val="FF0000"/>
                </a:solidFill>
                <a:effectLst>
                  <a:outerShdw blurRad="38100" dist="38100" dir="2700000" algn="tl">
                    <a:srgbClr val="C0C0C0"/>
                  </a:outerShdw>
                </a:effectLst>
                <a:latin typeface="Arial Rounded MT Bold" pitchFamily="34" charset="0"/>
              </a:rPr>
              <a:t>Mechanisms of Non-</a:t>
            </a:r>
            <a:r>
              <a:rPr lang="en-US" sz="2800" dirty="0" err="1">
                <a:solidFill>
                  <a:srgbClr val="FF0000"/>
                </a:solidFill>
                <a:effectLst>
                  <a:outerShdw blurRad="38100" dist="38100" dir="2700000" algn="tl">
                    <a:srgbClr val="C0C0C0"/>
                  </a:outerShdw>
                </a:effectLst>
                <a:latin typeface="Arial Rounded MT Bold" pitchFamily="34" charset="0"/>
              </a:rPr>
              <a:t>Genotoxic</a:t>
            </a:r>
            <a:r>
              <a:rPr lang="en-US" sz="2800" dirty="0">
                <a:solidFill>
                  <a:srgbClr val="FF0000"/>
                </a:solidFill>
                <a:effectLst>
                  <a:outerShdw blurRad="38100" dist="38100" dir="2700000" algn="tl">
                    <a:srgbClr val="C0C0C0"/>
                  </a:outerShdw>
                </a:effectLst>
                <a:latin typeface="Arial Rounded MT Bold" pitchFamily="34" charset="0"/>
              </a:rPr>
              <a:t> Carcinogenesis</a:t>
            </a:r>
          </a:p>
        </p:txBody>
      </p:sp>
      <p:sp>
        <p:nvSpPr>
          <p:cNvPr id="128003" name="Rectangle 3">
            <a:extLst>
              <a:ext uri="{FF2B5EF4-FFF2-40B4-BE49-F238E27FC236}">
                <a16:creationId xmlns:a16="http://schemas.microsoft.com/office/drawing/2014/main" id="{486CC388-2FC4-0C45-AC47-034D36A4A92C}"/>
              </a:ext>
            </a:extLst>
          </p:cNvPr>
          <p:cNvSpPr>
            <a:spLocks noGrp="1" noChangeArrowheads="1"/>
          </p:cNvSpPr>
          <p:nvPr>
            <p:ph idx="1"/>
          </p:nvPr>
        </p:nvSpPr>
        <p:spPr>
          <a:xfrm>
            <a:off x="1692275" y="1412875"/>
            <a:ext cx="5830888" cy="4656138"/>
          </a:xfrm>
        </p:spPr>
        <p:txBody>
          <a:bodyPr rtlCol="0">
            <a:normAutofit/>
          </a:bodyPr>
          <a:lstStyle/>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Increased cell proliferation</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Decreased apoptosis</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Changes in gene expression </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Induction of metabolizing enzymes</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Activation of receptors (signaling)</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Oxidative stress</a:t>
            </a:r>
          </a:p>
          <a:p>
            <a:pPr marL="404813" indent="-404813" eaLnBrk="1" fontAlgn="auto" hangingPunct="1">
              <a:lnSpc>
                <a:spcPct val="125000"/>
              </a:lnSpc>
              <a:spcAft>
                <a:spcPts val="0"/>
              </a:spcAft>
              <a:buSzPct val="90000"/>
              <a:buFont typeface="Wingdings" pitchFamily="2" charset="2"/>
              <a:buChar char="Ø"/>
              <a:defRPr/>
            </a:pPr>
            <a:r>
              <a:rPr lang="en-US" sz="2400" dirty="0">
                <a:solidFill>
                  <a:schemeClr val="tx2"/>
                </a:solidFill>
                <a:effectLst>
                  <a:outerShdw blurRad="38100" dist="38100" dir="2700000" algn="tl">
                    <a:srgbClr val="C0C0C0"/>
                  </a:outerShdw>
                </a:effectLst>
              </a:rPr>
              <a:t>???</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4">
            <a:extLst>
              <a:ext uri="{FF2B5EF4-FFF2-40B4-BE49-F238E27FC236}">
                <a16:creationId xmlns:a16="http://schemas.microsoft.com/office/drawing/2014/main" id="{77379DBF-364E-8462-381A-7CBEA9338797}"/>
              </a:ext>
            </a:extLst>
          </p:cNvPr>
          <p:cNvSpPr>
            <a:spLocks noGrp="1"/>
          </p:cNvSpPr>
          <p:nvPr>
            <p:ph type="title"/>
          </p:nvPr>
        </p:nvSpPr>
        <p:spPr>
          <a:xfrm>
            <a:off x="0" y="274638"/>
            <a:ext cx="9144000" cy="1143000"/>
          </a:xfrm>
        </p:spPr>
        <p:txBody>
          <a:bodyPr/>
          <a:lstStyle/>
          <a:p>
            <a:pPr eaLnBrk="1" hangingPunct="1"/>
            <a:r>
              <a:rPr lang="en-US" altLang="tr-TR" sz="2800"/>
              <a:t>PROPOSED CARCINOGENIC EVENTS </a:t>
            </a:r>
            <a:br>
              <a:rPr lang="en-US" altLang="tr-TR" sz="2800"/>
            </a:br>
            <a:r>
              <a:rPr lang="en-US" altLang="tr-TR" sz="2800">
                <a:solidFill>
                  <a:schemeClr val="accent2"/>
                </a:solidFill>
              </a:rPr>
              <a:t>Genotoxic and non-genotoxic effects of carcinogen</a:t>
            </a:r>
            <a:endParaRPr lang="en-US" altLang="tr-TR" sz="1800">
              <a:solidFill>
                <a:schemeClr val="accent2"/>
              </a:solidFill>
            </a:endParaRPr>
          </a:p>
        </p:txBody>
      </p:sp>
      <p:pic>
        <p:nvPicPr>
          <p:cNvPr id="77826" name="Picture 5">
            <a:extLst>
              <a:ext uri="{FF2B5EF4-FFF2-40B4-BE49-F238E27FC236}">
                <a16:creationId xmlns:a16="http://schemas.microsoft.com/office/drawing/2014/main" id="{4C66F42E-66F9-D1F3-6D6E-BFF3CC909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46225"/>
            <a:ext cx="5638800"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4">
            <a:extLst>
              <a:ext uri="{FF2B5EF4-FFF2-40B4-BE49-F238E27FC236}">
                <a16:creationId xmlns:a16="http://schemas.microsoft.com/office/drawing/2014/main" id="{B395A419-C7B8-8856-2D7C-51A98D203674}"/>
              </a:ext>
            </a:extLst>
          </p:cNvPr>
          <p:cNvSpPr txBox="1">
            <a:spLocks noChangeArrowheads="1"/>
          </p:cNvSpPr>
          <p:nvPr/>
        </p:nvSpPr>
        <p:spPr bwMode="auto">
          <a:xfrm>
            <a:off x="0" y="304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tr-TR" sz="3600">
                <a:solidFill>
                  <a:srgbClr val="FF0000"/>
                </a:solidFill>
                <a:latin typeface="Arial" panose="020B0604020202020204" pitchFamily="34" charset="0"/>
                <a:cs typeface="Arial" panose="020B0604020202020204" pitchFamily="34" charset="0"/>
              </a:rPr>
              <a:t>Different Steps of Carcinogenesis</a:t>
            </a:r>
          </a:p>
        </p:txBody>
      </p:sp>
      <p:sp>
        <p:nvSpPr>
          <p:cNvPr id="78850" name="Text Box 5">
            <a:extLst>
              <a:ext uri="{FF2B5EF4-FFF2-40B4-BE49-F238E27FC236}">
                <a16:creationId xmlns:a16="http://schemas.microsoft.com/office/drawing/2014/main" id="{83BD3997-29BB-77D3-3F15-02383AF61476}"/>
              </a:ext>
            </a:extLst>
          </p:cNvPr>
          <p:cNvSpPr txBox="1">
            <a:spLocks noChangeArrowheads="1"/>
          </p:cNvSpPr>
          <p:nvPr/>
        </p:nvSpPr>
        <p:spPr bwMode="auto">
          <a:xfrm>
            <a:off x="304800" y="1066800"/>
            <a:ext cx="86106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tr-TR" sz="2400" u="sng">
                <a:solidFill>
                  <a:srgbClr val="FF0000"/>
                </a:solidFill>
                <a:latin typeface="Arial" panose="020B0604020202020204" pitchFamily="34" charset="0"/>
                <a:cs typeface="Arial" panose="020B0604020202020204" pitchFamily="34" charset="0"/>
              </a:rPr>
              <a:t>Initiation:</a:t>
            </a:r>
            <a:r>
              <a:rPr lang="en-US" altLang="tr-TR" sz="2400">
                <a:solidFill>
                  <a:srgbClr val="FF0000"/>
                </a:solidFill>
                <a:latin typeface="Arial" panose="020B0604020202020204" pitchFamily="34" charset="0"/>
                <a:cs typeface="Arial" panose="020B0604020202020204" pitchFamily="34" charset="0"/>
              </a:rPr>
              <a:t> </a:t>
            </a:r>
            <a:r>
              <a:rPr lang="en-US" altLang="tr-TR" sz="2400">
                <a:latin typeface="Arial" panose="020B0604020202020204" pitchFamily="34" charset="0"/>
                <a:cs typeface="Arial" panose="020B0604020202020204" pitchFamily="34" charset="0"/>
              </a:rPr>
              <a:t>Mutation in one or more cellular genes controlling key regulatory pathways of the cell (irreversible)—must be a heritable DNA alteration.</a:t>
            </a:r>
          </a:p>
          <a:p>
            <a:pPr eaLnBrk="1" hangingPunct="1">
              <a:lnSpc>
                <a:spcPct val="100000"/>
              </a:lnSpc>
              <a:spcBef>
                <a:spcPct val="50000"/>
              </a:spcBef>
              <a:buFontTx/>
              <a:buNone/>
            </a:pPr>
            <a:endParaRPr lang="en-US" altLang="tr-TR" sz="2400">
              <a:latin typeface="Arial" panose="020B0604020202020204" pitchFamily="34" charset="0"/>
              <a:cs typeface="Arial" panose="020B0604020202020204" pitchFamily="34" charset="0"/>
            </a:endParaRPr>
          </a:p>
          <a:p>
            <a:pPr eaLnBrk="1" hangingPunct="1">
              <a:lnSpc>
                <a:spcPct val="100000"/>
              </a:lnSpc>
              <a:spcBef>
                <a:spcPct val="50000"/>
              </a:spcBef>
              <a:buFontTx/>
              <a:buNone/>
            </a:pPr>
            <a:r>
              <a:rPr lang="en-US" altLang="tr-TR" sz="2400" u="sng">
                <a:solidFill>
                  <a:srgbClr val="FF0000"/>
                </a:solidFill>
                <a:latin typeface="Arial" panose="020B0604020202020204" pitchFamily="34" charset="0"/>
                <a:cs typeface="Arial" panose="020B0604020202020204" pitchFamily="34" charset="0"/>
              </a:rPr>
              <a:t>Promotion:</a:t>
            </a:r>
            <a:r>
              <a:rPr lang="en-US" altLang="tr-TR" sz="2400">
                <a:solidFill>
                  <a:srgbClr val="FF0000"/>
                </a:solidFill>
                <a:latin typeface="Arial" panose="020B0604020202020204" pitchFamily="34" charset="0"/>
                <a:cs typeface="Arial" panose="020B0604020202020204" pitchFamily="34" charset="0"/>
              </a:rPr>
              <a:t> </a:t>
            </a:r>
            <a:r>
              <a:rPr lang="en-US" altLang="tr-TR" sz="2400">
                <a:latin typeface="Arial" panose="020B0604020202020204" pitchFamily="34" charset="0"/>
                <a:cs typeface="Arial" panose="020B0604020202020204" pitchFamily="34" charset="0"/>
              </a:rPr>
              <a:t>selective growth enhancement induced in the initiated cell and its progeny by the continuous exposure to a promoting agent.</a:t>
            </a:r>
          </a:p>
          <a:p>
            <a:pPr eaLnBrk="1" hangingPunct="1">
              <a:lnSpc>
                <a:spcPct val="100000"/>
              </a:lnSpc>
              <a:spcBef>
                <a:spcPct val="50000"/>
              </a:spcBef>
              <a:buFontTx/>
              <a:buNone/>
            </a:pPr>
            <a:endParaRPr lang="en-US" altLang="tr-TR" sz="2400">
              <a:latin typeface="Arial" panose="020B0604020202020204" pitchFamily="34" charset="0"/>
              <a:cs typeface="Arial" panose="020B0604020202020204" pitchFamily="34" charset="0"/>
            </a:endParaRPr>
          </a:p>
          <a:p>
            <a:pPr eaLnBrk="1" hangingPunct="1">
              <a:lnSpc>
                <a:spcPct val="100000"/>
              </a:lnSpc>
              <a:spcBef>
                <a:spcPct val="50000"/>
              </a:spcBef>
              <a:buFontTx/>
              <a:buNone/>
            </a:pPr>
            <a:r>
              <a:rPr lang="en-US" altLang="tr-TR" sz="2400" u="sng">
                <a:solidFill>
                  <a:srgbClr val="FF0000"/>
                </a:solidFill>
                <a:latin typeface="Arial" panose="020B0604020202020204" pitchFamily="34" charset="0"/>
                <a:cs typeface="Arial" panose="020B0604020202020204" pitchFamily="34" charset="0"/>
              </a:rPr>
              <a:t>Progression:</a:t>
            </a:r>
            <a:r>
              <a:rPr lang="en-US" altLang="tr-TR" sz="2400">
                <a:solidFill>
                  <a:srgbClr val="FF0000"/>
                </a:solidFill>
                <a:latin typeface="Arial" panose="020B0604020202020204" pitchFamily="34" charset="0"/>
                <a:cs typeface="Arial" panose="020B0604020202020204" pitchFamily="34" charset="0"/>
              </a:rPr>
              <a:t> </a:t>
            </a:r>
            <a:r>
              <a:rPr lang="en-US" altLang="tr-TR" sz="2400">
                <a:latin typeface="Arial" panose="020B0604020202020204" pitchFamily="34" charset="0"/>
                <a:cs typeface="Arial" panose="020B0604020202020204" pitchFamily="34" charset="0"/>
              </a:rPr>
              <a:t>results from continuing evolution of unstable chromosomes; further mutations from genetic instability during promotion—results in further degrees of independence, invasiveness, metastasis, etc.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5D9B957-87A4-E146-93A4-ABAB229620D7}"/>
              </a:ext>
            </a:extLst>
          </p:cNvPr>
          <p:cNvSpPr>
            <a:spLocks noGrp="1" noChangeArrowheads="1"/>
          </p:cNvSpPr>
          <p:nvPr>
            <p:ph idx="1"/>
          </p:nvPr>
        </p:nvSpPr>
        <p:spPr>
          <a:xfrm>
            <a:off x="457200" y="762000"/>
            <a:ext cx="8229600" cy="5368925"/>
          </a:xfrm>
        </p:spPr>
        <p:txBody>
          <a:bodyPr rtlCol="0">
            <a:normAutofit/>
          </a:bodyPr>
          <a:lstStyle/>
          <a:p>
            <a:pPr eaLnBrk="1" fontAlgn="auto" hangingPunct="1">
              <a:lnSpc>
                <a:spcPct val="80000"/>
              </a:lnSpc>
              <a:spcAft>
                <a:spcPts val="0"/>
              </a:spcAft>
              <a:buFontTx/>
              <a:buNone/>
              <a:defRPr/>
            </a:pPr>
            <a:r>
              <a:rPr lang="en-US" altLang="tr-TR" sz="2400" dirty="0">
                <a:solidFill>
                  <a:srgbClr val="FF0000"/>
                </a:solidFill>
              </a:rPr>
              <a:t>Initiation </a:t>
            </a:r>
            <a:r>
              <a:rPr lang="en-US" altLang="tr-TR" sz="2400" dirty="0"/>
              <a:t>- point at which an irreversible alteration, </a:t>
            </a:r>
            <a:r>
              <a:rPr lang="en-US" altLang="tr-TR" sz="2400" dirty="0">
                <a:solidFill>
                  <a:schemeClr val="tx2">
                    <a:lumMod val="60000"/>
                    <a:lumOff val="40000"/>
                  </a:schemeClr>
                </a:solidFill>
              </a:rPr>
              <a:t>usually genetic, is introduced into a target cell. (</a:t>
            </a:r>
            <a:r>
              <a:rPr lang="en-US" altLang="tr-TR" sz="2400" dirty="0" err="1">
                <a:solidFill>
                  <a:schemeClr val="tx2">
                    <a:lumMod val="60000"/>
                    <a:lumOff val="40000"/>
                  </a:schemeClr>
                </a:solidFill>
              </a:rPr>
              <a:t>genotoxicity</a:t>
            </a:r>
            <a:r>
              <a:rPr lang="en-US" altLang="tr-TR" sz="2400" dirty="0">
                <a:solidFill>
                  <a:schemeClr val="tx2">
                    <a:lumMod val="60000"/>
                    <a:lumOff val="40000"/>
                  </a:schemeClr>
                </a:solidFill>
              </a:rPr>
              <a:t>)=Interaction with DNA </a:t>
            </a:r>
          </a:p>
          <a:p>
            <a:pPr eaLnBrk="1" fontAlgn="auto" hangingPunct="1">
              <a:lnSpc>
                <a:spcPct val="80000"/>
              </a:lnSpc>
              <a:spcAft>
                <a:spcPts val="0"/>
              </a:spcAft>
              <a:buFontTx/>
              <a:buNone/>
              <a:defRPr/>
            </a:pPr>
            <a:endParaRPr lang="en-US" altLang="tr-TR" sz="2400" dirty="0"/>
          </a:p>
          <a:p>
            <a:pPr eaLnBrk="1" fontAlgn="auto" hangingPunct="1">
              <a:lnSpc>
                <a:spcPct val="80000"/>
              </a:lnSpc>
              <a:spcAft>
                <a:spcPts val="0"/>
              </a:spcAft>
              <a:buFontTx/>
              <a:buNone/>
              <a:defRPr/>
            </a:pPr>
            <a:r>
              <a:rPr lang="en-US" altLang="tr-TR" sz="2400" dirty="0"/>
              <a:t>May involve conversion of proto-</a:t>
            </a:r>
            <a:r>
              <a:rPr lang="en-US" altLang="tr-TR" sz="2400" dirty="0" err="1"/>
              <a:t>oncogen</a:t>
            </a:r>
            <a:r>
              <a:rPr lang="en-US" altLang="tr-TR" sz="2400" dirty="0"/>
              <a:t> to </a:t>
            </a:r>
            <a:r>
              <a:rPr lang="en-US" altLang="tr-TR" sz="2400" dirty="0" err="1"/>
              <a:t>oncogen</a:t>
            </a:r>
            <a:endParaRPr lang="en-US" altLang="tr-TR" sz="2400" dirty="0"/>
          </a:p>
          <a:p>
            <a:pPr eaLnBrk="1" fontAlgn="auto" hangingPunct="1">
              <a:lnSpc>
                <a:spcPct val="80000"/>
              </a:lnSpc>
              <a:spcAft>
                <a:spcPts val="0"/>
              </a:spcAft>
              <a:buFontTx/>
              <a:buNone/>
              <a:defRPr/>
            </a:pPr>
            <a:endParaRPr lang="en-US" altLang="tr-TR" sz="2400" dirty="0"/>
          </a:p>
          <a:p>
            <a:pPr eaLnBrk="1" fontAlgn="auto" hangingPunct="1">
              <a:lnSpc>
                <a:spcPct val="80000"/>
              </a:lnSpc>
              <a:spcAft>
                <a:spcPts val="0"/>
              </a:spcAft>
              <a:buFontTx/>
              <a:buNone/>
              <a:defRPr/>
            </a:pPr>
            <a:r>
              <a:rPr lang="en-US" altLang="tr-TR" sz="2400" u="sng" dirty="0">
                <a:solidFill>
                  <a:srgbClr val="FF0000"/>
                </a:solidFill>
              </a:rPr>
              <a:t>Initiation:</a:t>
            </a:r>
          </a:p>
          <a:p>
            <a:pPr eaLnBrk="1" fontAlgn="auto" hangingPunct="1">
              <a:lnSpc>
                <a:spcPct val="80000"/>
              </a:lnSpc>
              <a:spcAft>
                <a:spcPts val="0"/>
              </a:spcAft>
              <a:buFontTx/>
              <a:buNone/>
              <a:defRPr/>
            </a:pPr>
            <a:r>
              <a:rPr lang="en-US" altLang="tr-TR" sz="2400" dirty="0"/>
              <a:t>(1) is essentially </a:t>
            </a:r>
            <a:r>
              <a:rPr lang="en-US" altLang="tr-TR" sz="2400" dirty="0">
                <a:solidFill>
                  <a:srgbClr val="00B0F0"/>
                </a:solidFill>
              </a:rPr>
              <a:t>irreversible</a:t>
            </a:r>
          </a:p>
          <a:p>
            <a:pPr eaLnBrk="1" fontAlgn="auto" hangingPunct="1">
              <a:lnSpc>
                <a:spcPct val="80000"/>
              </a:lnSpc>
              <a:spcAft>
                <a:spcPts val="0"/>
              </a:spcAft>
              <a:buFontTx/>
              <a:buNone/>
              <a:defRPr/>
            </a:pPr>
            <a:r>
              <a:rPr lang="en-US" altLang="tr-TR" sz="2400" dirty="0"/>
              <a:t>(2) caused only by </a:t>
            </a:r>
            <a:r>
              <a:rPr lang="en-US" altLang="tr-TR" sz="2400" dirty="0">
                <a:solidFill>
                  <a:schemeClr val="tx2">
                    <a:lumMod val="40000"/>
                    <a:lumOff val="60000"/>
                  </a:schemeClr>
                </a:solidFill>
              </a:rPr>
              <a:t>carcinogenic</a:t>
            </a:r>
            <a:r>
              <a:rPr lang="en-US" altLang="tr-TR" sz="2400" dirty="0"/>
              <a:t> compounds</a:t>
            </a:r>
          </a:p>
          <a:p>
            <a:pPr eaLnBrk="1" fontAlgn="auto" hangingPunct="1">
              <a:lnSpc>
                <a:spcPct val="80000"/>
              </a:lnSpc>
              <a:spcAft>
                <a:spcPts val="0"/>
              </a:spcAft>
              <a:buFontTx/>
              <a:buNone/>
              <a:defRPr/>
            </a:pPr>
            <a:r>
              <a:rPr lang="en-US" altLang="tr-TR" sz="2400" dirty="0"/>
              <a:t>(3) occurs </a:t>
            </a:r>
            <a:r>
              <a:rPr lang="en-US" altLang="tr-TR" sz="2400" dirty="0">
                <a:solidFill>
                  <a:srgbClr val="00B0F0"/>
                </a:solidFill>
              </a:rPr>
              <a:t>rapidly</a:t>
            </a:r>
            <a:r>
              <a:rPr lang="en-US" altLang="tr-TR" sz="2400" dirty="0"/>
              <a:t> after carcinogen exposure</a:t>
            </a:r>
          </a:p>
          <a:p>
            <a:pPr eaLnBrk="1" fontAlgn="auto" hangingPunct="1">
              <a:lnSpc>
                <a:spcPct val="80000"/>
              </a:lnSpc>
              <a:spcAft>
                <a:spcPts val="0"/>
              </a:spcAft>
              <a:buFontTx/>
              <a:buNone/>
              <a:defRPr/>
            </a:pPr>
            <a:r>
              <a:rPr lang="en-US" altLang="tr-TR" sz="2400" dirty="0"/>
              <a:t>(4) </a:t>
            </a:r>
            <a:r>
              <a:rPr lang="tr-TR" altLang="tr-TR" sz="2400" dirty="0" err="1"/>
              <a:t>Generally</a:t>
            </a:r>
            <a:r>
              <a:rPr lang="tr-TR" altLang="tr-TR" sz="2400" dirty="0"/>
              <a:t> </a:t>
            </a:r>
            <a:r>
              <a:rPr lang="en-US" altLang="tr-TR" sz="2400" dirty="0">
                <a:solidFill>
                  <a:schemeClr val="accent6">
                    <a:lumMod val="75000"/>
                  </a:schemeClr>
                </a:solidFill>
              </a:rPr>
              <a:t>alone </a:t>
            </a:r>
            <a:r>
              <a:rPr lang="en-US" altLang="tr-TR" sz="2400" u="sng" dirty="0">
                <a:solidFill>
                  <a:schemeClr val="accent6">
                    <a:lumMod val="75000"/>
                  </a:schemeClr>
                </a:solidFill>
              </a:rPr>
              <a:t>does not </a:t>
            </a:r>
            <a:r>
              <a:rPr lang="en-US" altLang="tr-TR" sz="2400" u="sng" dirty="0"/>
              <a:t>result in tumor formation</a:t>
            </a:r>
          </a:p>
          <a:p>
            <a:pPr eaLnBrk="1" fontAlgn="auto" hangingPunct="1">
              <a:lnSpc>
                <a:spcPct val="80000"/>
              </a:lnSpc>
              <a:spcAft>
                <a:spcPts val="0"/>
              </a:spcAft>
              <a:buFontTx/>
              <a:buNone/>
              <a:defRPr/>
            </a:pPr>
            <a:endParaRPr lang="en-US" altLang="tr-TR" sz="2400" u="sng" dirty="0"/>
          </a:p>
          <a:p>
            <a:pPr eaLnBrk="1" fontAlgn="auto" hangingPunct="1">
              <a:lnSpc>
                <a:spcPct val="80000"/>
              </a:lnSpc>
              <a:spcAft>
                <a:spcPts val="0"/>
              </a:spcAft>
              <a:buFontTx/>
              <a:buNone/>
              <a:defRPr/>
            </a:pPr>
            <a:r>
              <a:rPr lang="en-US" altLang="tr-TR" sz="2400" u="sng" dirty="0"/>
              <a:t>Several exposures to an initiator may result in tumor without presence of a promoter.</a:t>
            </a:r>
            <a:r>
              <a:rPr lang="en-US" altLang="tr-TR" sz="2400" dirty="0"/>
              <a:t> </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ext Box 4">
            <a:extLst>
              <a:ext uri="{FF2B5EF4-FFF2-40B4-BE49-F238E27FC236}">
                <a16:creationId xmlns:a16="http://schemas.microsoft.com/office/drawing/2014/main" id="{ABA368BA-8BD4-2D6D-49F3-493C48A7F8F8}"/>
              </a:ext>
            </a:extLst>
          </p:cNvPr>
          <p:cNvSpPr txBox="1">
            <a:spLocks noChangeArrowheads="1"/>
          </p:cNvSpPr>
          <p:nvPr/>
        </p:nvSpPr>
        <p:spPr bwMode="auto">
          <a:xfrm>
            <a:off x="1371600" y="0"/>
            <a:ext cx="6324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tr-TR" sz="3400">
                <a:solidFill>
                  <a:srgbClr val="FF0000"/>
                </a:solidFill>
                <a:latin typeface="Arial" panose="020B0604020202020204" pitchFamily="34" charset="0"/>
                <a:cs typeface="Arial" panose="020B0604020202020204" pitchFamily="34" charset="0"/>
              </a:rPr>
              <a:t>Targets of Initiation</a:t>
            </a:r>
            <a:endParaRPr lang="en-US" altLang="tr-TR" sz="1800">
              <a:solidFill>
                <a:srgbClr val="FF0000"/>
              </a:solidFill>
              <a:latin typeface="Arial" panose="020B0604020202020204" pitchFamily="34" charset="0"/>
              <a:cs typeface="Arial" panose="020B0604020202020204" pitchFamily="34" charset="0"/>
            </a:endParaRPr>
          </a:p>
        </p:txBody>
      </p:sp>
      <p:sp>
        <p:nvSpPr>
          <p:cNvPr id="80898" name="Text Box 5">
            <a:extLst>
              <a:ext uri="{FF2B5EF4-FFF2-40B4-BE49-F238E27FC236}">
                <a16:creationId xmlns:a16="http://schemas.microsoft.com/office/drawing/2014/main" id="{35596928-4511-B860-4085-E88E94A1B37A}"/>
              </a:ext>
            </a:extLst>
          </p:cNvPr>
          <p:cNvSpPr txBox="1">
            <a:spLocks noChangeArrowheads="1"/>
          </p:cNvSpPr>
          <p:nvPr/>
        </p:nvSpPr>
        <p:spPr bwMode="auto">
          <a:xfrm>
            <a:off x="0" y="762000"/>
            <a:ext cx="9144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tr-TR" sz="2400">
                <a:latin typeface="Arial" panose="020B0604020202020204" pitchFamily="34" charset="0"/>
                <a:ea typeface="MS PGothic" panose="020B0600070205080204" pitchFamily="34" charset="-128"/>
              </a:rPr>
              <a:t>Chemical carcinogens initiate cells via:</a:t>
            </a:r>
          </a:p>
          <a:p>
            <a:pPr eaLnBrk="1" hangingPunct="1">
              <a:lnSpc>
                <a:spcPct val="100000"/>
              </a:lnSpc>
              <a:spcBef>
                <a:spcPct val="50000"/>
              </a:spcBef>
              <a:buFontTx/>
              <a:buAutoNum type="arabicPeriod"/>
            </a:pPr>
            <a:r>
              <a:rPr lang="en-US" altLang="tr-TR" sz="2400">
                <a:latin typeface="Arial" panose="020B0604020202020204" pitchFamily="34" charset="0"/>
                <a:ea typeface="MS PGothic" panose="020B0600070205080204" pitchFamily="34" charset="-128"/>
              </a:rPr>
              <a:t>Mutational activation of oncogenic (proliferative) pathways (e.g. growth factor receptors and downstream signaling proteins, proteins involved in cell cycle checkpoints.</a:t>
            </a:r>
          </a:p>
          <a:p>
            <a:pPr eaLnBrk="1" hangingPunct="1">
              <a:lnSpc>
                <a:spcPct val="100000"/>
              </a:lnSpc>
              <a:spcBef>
                <a:spcPct val="50000"/>
              </a:spcBef>
              <a:buFontTx/>
              <a:buAutoNum type="arabicPeriod"/>
            </a:pPr>
            <a:r>
              <a:rPr lang="en-US" altLang="tr-TR" sz="2400">
                <a:latin typeface="Arial" panose="020B0604020202020204" pitchFamily="34" charset="0"/>
                <a:ea typeface="MS PGothic" panose="020B0600070205080204" pitchFamily="34" charset="-128"/>
              </a:rPr>
              <a:t>Mutational inactivation of apoptotic (cell death) pathways (e.g. growth inhibitory receptors, proteins involved in apoptosis, tumor suppressors).</a:t>
            </a:r>
          </a:p>
          <a:p>
            <a:pPr eaLnBrk="1" hangingPunct="1">
              <a:lnSpc>
                <a:spcPct val="100000"/>
              </a:lnSpc>
              <a:spcBef>
                <a:spcPct val="50000"/>
              </a:spcBef>
              <a:buFontTx/>
              <a:buAutoNum type="arabicPeriod"/>
            </a:pPr>
            <a:r>
              <a:rPr lang="en-US" altLang="tr-TR" sz="2400">
                <a:latin typeface="Arial" panose="020B0604020202020204" pitchFamily="34" charset="0"/>
                <a:ea typeface="MS PGothic" panose="020B0600070205080204" pitchFamily="34" charset="-128"/>
              </a:rPr>
              <a:t>Mutational inactivation of DNA repair mechanisms (e.g. BER, NER, etc).</a:t>
            </a:r>
          </a:p>
          <a:p>
            <a:pPr eaLnBrk="1" hangingPunct="1">
              <a:lnSpc>
                <a:spcPct val="100000"/>
              </a:lnSpc>
              <a:spcBef>
                <a:spcPct val="50000"/>
              </a:spcBef>
              <a:buFontTx/>
              <a:buAutoNum type="arabicPeriod"/>
            </a:pPr>
            <a:r>
              <a:rPr lang="en-US" altLang="tr-TR" sz="2400">
                <a:latin typeface="Arial" panose="020B0604020202020204" pitchFamily="34" charset="0"/>
                <a:ea typeface="MS PGothic" panose="020B0600070205080204" pitchFamily="34" charset="-128"/>
              </a:rPr>
              <a:t>Mutational inactivation of antioxidant response (e.g. SOD).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a:extLst>
              <a:ext uri="{FF2B5EF4-FFF2-40B4-BE49-F238E27FC236}">
                <a16:creationId xmlns:a16="http://schemas.microsoft.com/office/drawing/2014/main" id="{F77ABB28-16B1-BA45-83D6-1B2F098BAA6E}"/>
              </a:ext>
            </a:extLst>
          </p:cNvPr>
          <p:cNvSpPr>
            <a:spLocks noChangeArrowheads="1"/>
          </p:cNvSpPr>
          <p:nvPr/>
        </p:nvSpPr>
        <p:spPr bwMode="auto">
          <a:xfrm>
            <a:off x="609600" y="1066800"/>
            <a:ext cx="7772400" cy="4114800"/>
          </a:xfrm>
          <a:prstGeom prst="rect">
            <a:avLst/>
          </a:prstGeom>
          <a:noFill/>
          <a:ln w="9525">
            <a:noFill/>
            <a:miter lim="800000"/>
            <a:headEnd/>
            <a:tailEnd/>
          </a:ln>
        </p:spPr>
        <p:txBody>
          <a:bodyPr lIns="92075" tIns="46038" rIns="92075" bIns="46038"/>
          <a:lstStyle/>
          <a:p>
            <a:pPr marL="342900" indent="-342900" eaLnBrk="1" fontAlgn="auto" hangingPunct="1">
              <a:spcBef>
                <a:spcPct val="20000"/>
              </a:spcBef>
              <a:spcAft>
                <a:spcPts val="0"/>
              </a:spcAft>
              <a:buClr>
                <a:schemeClr val="hlink"/>
              </a:buClr>
              <a:buSzPct val="70000"/>
              <a:buFont typeface="Wingdings" pitchFamily="2" charset="2"/>
              <a:buChar char="n"/>
              <a:defRPr/>
            </a:pPr>
            <a:r>
              <a:rPr lang="en-US" sz="2400" dirty="0">
                <a:solidFill>
                  <a:schemeClr val="accent1">
                    <a:lumMod val="60000"/>
                    <a:lumOff val="40000"/>
                  </a:schemeClr>
                </a:solidFill>
                <a:latin typeface="+mn-lt"/>
                <a:cs typeface="Arial" pitchFamily="34" charset="0"/>
              </a:rPr>
              <a:t>Epigenetic event—change in gene expression </a:t>
            </a:r>
            <a:r>
              <a:rPr lang="en-US" sz="2400" dirty="0">
                <a:solidFill>
                  <a:srgbClr val="FF0000"/>
                </a:solidFill>
                <a:latin typeface="+mn-lt"/>
                <a:cs typeface="Arial" pitchFamily="34" charset="0"/>
              </a:rPr>
              <a:t>without change in DNA.</a:t>
            </a:r>
            <a:endParaRPr lang="tr-TR" sz="2400" dirty="0">
              <a:solidFill>
                <a:srgbClr val="FF0000"/>
              </a:solidFill>
              <a:latin typeface="+mn-lt"/>
              <a:cs typeface="Arial" pitchFamily="34" charset="0"/>
            </a:endParaRPr>
          </a:p>
          <a:p>
            <a:pPr marL="342900" indent="-342900" eaLnBrk="1" fontAlgn="auto" hangingPunct="1">
              <a:spcBef>
                <a:spcPct val="20000"/>
              </a:spcBef>
              <a:spcAft>
                <a:spcPts val="0"/>
              </a:spcAft>
              <a:buClr>
                <a:schemeClr val="hlink"/>
              </a:buClr>
              <a:buSzPct val="70000"/>
              <a:buFont typeface="Wingdings" pitchFamily="2" charset="2"/>
              <a:buChar char="n"/>
              <a:defRPr/>
            </a:pPr>
            <a:endParaRPr lang="en-US" sz="2400" dirty="0">
              <a:solidFill>
                <a:schemeClr val="accent1">
                  <a:lumMod val="60000"/>
                  <a:lumOff val="40000"/>
                </a:schemeClr>
              </a:solidFill>
              <a:latin typeface="+mn-lt"/>
              <a:cs typeface="Arial" pitchFamily="34" charset="0"/>
            </a:endParaRPr>
          </a:p>
          <a:p>
            <a:pPr marL="342900" indent="-342900" eaLnBrk="1" fontAlgn="auto" hangingPunct="1">
              <a:spcBef>
                <a:spcPct val="20000"/>
              </a:spcBef>
              <a:spcAft>
                <a:spcPts val="0"/>
              </a:spcAft>
              <a:buClr>
                <a:schemeClr val="hlink"/>
              </a:buClr>
              <a:buSzPct val="70000"/>
              <a:buFont typeface="Wingdings" pitchFamily="2" charset="2"/>
              <a:buChar char="n"/>
              <a:defRPr/>
            </a:pPr>
            <a:r>
              <a:rPr lang="en-US" sz="2400" u="sng" dirty="0" err="1">
                <a:latin typeface="+mn-lt"/>
                <a:cs typeface="Arial" pitchFamily="34" charset="0"/>
              </a:rPr>
              <a:t>Mitogenic</a:t>
            </a:r>
            <a:r>
              <a:rPr lang="en-US" sz="2400" dirty="0">
                <a:latin typeface="+mn-lt"/>
                <a:cs typeface="Arial" pitchFamily="34" charset="0"/>
              </a:rPr>
              <a:t>  (Not mutagenic) Stimulates proliferation. Causes both mutated and normal cells to proliferate</a:t>
            </a:r>
            <a:r>
              <a:rPr lang="en-GB" sz="2400" dirty="0">
                <a:latin typeface="+mn-lt"/>
                <a:cs typeface="Arial" pitchFamily="34" charset="0"/>
              </a:rPr>
              <a:t>.</a:t>
            </a:r>
          </a:p>
          <a:p>
            <a:pPr marL="342900" indent="-342900" eaLnBrk="1" fontAlgn="auto" hangingPunct="1">
              <a:spcBef>
                <a:spcPct val="20000"/>
              </a:spcBef>
              <a:spcAft>
                <a:spcPts val="0"/>
              </a:spcAft>
              <a:buClr>
                <a:schemeClr val="hlink"/>
              </a:buClr>
              <a:buSzPct val="70000"/>
              <a:buFont typeface="Wingdings" pitchFamily="2" charset="2"/>
              <a:buChar char="n"/>
              <a:defRPr/>
            </a:pPr>
            <a:r>
              <a:rPr lang="en-GB" sz="2400" dirty="0">
                <a:latin typeface="+mn-lt"/>
                <a:cs typeface="Arial" pitchFamily="34" charset="0"/>
              </a:rPr>
              <a:t>Enhances the effect of the </a:t>
            </a:r>
            <a:r>
              <a:rPr lang="en-GB" sz="2400" dirty="0" err="1">
                <a:latin typeface="+mn-lt"/>
                <a:cs typeface="Arial" pitchFamily="34" charset="0"/>
              </a:rPr>
              <a:t>genotoxic</a:t>
            </a:r>
            <a:r>
              <a:rPr lang="en-GB" sz="2400" dirty="0">
                <a:latin typeface="+mn-lt"/>
                <a:cs typeface="Arial" pitchFamily="34" charset="0"/>
              </a:rPr>
              <a:t> initiating agent by </a:t>
            </a:r>
            <a:r>
              <a:rPr lang="en-US" sz="2400" dirty="0">
                <a:latin typeface="+mn-lt"/>
                <a:cs typeface="Arial" pitchFamily="34" charset="0"/>
              </a:rPr>
              <a:t>establishing clones of initiated cells.</a:t>
            </a:r>
            <a:endParaRPr lang="en-GB" sz="2400" dirty="0">
              <a:latin typeface="+mn-lt"/>
              <a:cs typeface="Arial" pitchFamily="34" charset="0"/>
            </a:endParaRPr>
          </a:p>
          <a:p>
            <a:pPr marL="342900" indent="-342900" eaLnBrk="1" fontAlgn="auto" hangingPunct="1">
              <a:lnSpc>
                <a:spcPct val="90000"/>
              </a:lnSpc>
              <a:spcBef>
                <a:spcPct val="20000"/>
              </a:spcBef>
              <a:spcAft>
                <a:spcPts val="0"/>
              </a:spcAft>
              <a:buClr>
                <a:schemeClr val="hlink"/>
              </a:buClr>
              <a:buSzPct val="70000"/>
              <a:buFont typeface="Wingdings" pitchFamily="2" charset="2"/>
              <a:buChar char="n"/>
              <a:defRPr/>
            </a:pPr>
            <a:r>
              <a:rPr lang="en-GB" sz="2400" dirty="0">
                <a:latin typeface="+mn-lt"/>
                <a:cs typeface="Arial" pitchFamily="34" charset="0"/>
              </a:rPr>
              <a:t>Long delay possible between administration of initiating agent and promoting agent.</a:t>
            </a:r>
          </a:p>
          <a:p>
            <a:pPr marL="342900" indent="-342900" eaLnBrk="1" fontAlgn="auto" hangingPunct="1">
              <a:lnSpc>
                <a:spcPct val="90000"/>
              </a:lnSpc>
              <a:spcBef>
                <a:spcPct val="20000"/>
              </a:spcBef>
              <a:spcAft>
                <a:spcPts val="0"/>
              </a:spcAft>
              <a:buClr>
                <a:schemeClr val="hlink"/>
              </a:buClr>
              <a:buSzPct val="70000"/>
              <a:buFont typeface="Wingdings" pitchFamily="2" charset="2"/>
              <a:buChar char="n"/>
              <a:defRPr/>
            </a:pPr>
            <a:r>
              <a:rPr lang="en-GB" sz="2400" dirty="0">
                <a:solidFill>
                  <a:srgbClr val="66FF33"/>
                </a:solidFill>
                <a:latin typeface="+mn-lt"/>
                <a:cs typeface="Arial" pitchFamily="34" charset="0"/>
              </a:rPr>
              <a:t>Promotion is reversible.</a:t>
            </a:r>
            <a:endParaRPr lang="en-US" sz="2400" dirty="0">
              <a:solidFill>
                <a:srgbClr val="66FF33"/>
              </a:solidFill>
              <a:latin typeface="+mn-lt"/>
              <a:cs typeface="Arial" pitchFamily="34" charset="0"/>
            </a:endParaRPr>
          </a:p>
        </p:txBody>
      </p:sp>
      <p:sp>
        <p:nvSpPr>
          <p:cNvPr id="81922" name="Rectangle 4">
            <a:extLst>
              <a:ext uri="{FF2B5EF4-FFF2-40B4-BE49-F238E27FC236}">
                <a16:creationId xmlns:a16="http://schemas.microsoft.com/office/drawing/2014/main" id="{0A7F9620-56A9-9A5E-7E08-356FA7CBDE02}"/>
              </a:ext>
            </a:extLst>
          </p:cNvPr>
          <p:cNvSpPr>
            <a:spLocks noChangeArrowheads="1"/>
          </p:cNvSpPr>
          <p:nvPr/>
        </p:nvSpPr>
        <p:spPr bwMode="auto">
          <a:xfrm>
            <a:off x="0" y="5029200"/>
            <a:ext cx="641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lvl="1" eaLnBrk="1" hangingPunct="1">
              <a:lnSpc>
                <a:spcPct val="100000"/>
              </a:lnSpc>
              <a:spcBef>
                <a:spcPct val="20000"/>
              </a:spcBef>
              <a:buFontTx/>
              <a:buNone/>
            </a:pPr>
            <a:endParaRPr lang="en-US" altLang="tr-TR">
              <a:latin typeface="Times" pitchFamily="18" charset="0"/>
            </a:endParaRPr>
          </a:p>
        </p:txBody>
      </p:sp>
      <p:sp>
        <p:nvSpPr>
          <p:cNvPr id="81923" name="Text Box 5">
            <a:extLst>
              <a:ext uri="{FF2B5EF4-FFF2-40B4-BE49-F238E27FC236}">
                <a16:creationId xmlns:a16="http://schemas.microsoft.com/office/drawing/2014/main" id="{D4CE8A0C-66E7-B0C4-7595-E927FE271860}"/>
              </a:ext>
            </a:extLst>
          </p:cNvPr>
          <p:cNvSpPr txBox="1">
            <a:spLocks noChangeArrowheads="1"/>
          </p:cNvSpPr>
          <p:nvPr/>
        </p:nvSpPr>
        <p:spPr bwMode="auto">
          <a:xfrm>
            <a:off x="2268538" y="260350"/>
            <a:ext cx="47418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tr-TR" sz="3800">
                <a:solidFill>
                  <a:srgbClr val="FF0000"/>
                </a:solidFill>
                <a:latin typeface="Arial" panose="020B0604020202020204" pitchFamily="34" charset="0"/>
                <a:cs typeface="Arial" panose="020B0604020202020204" pitchFamily="34" charset="0"/>
              </a:rPr>
              <a:t>Promotion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EADA4EA7-5A6B-2C48-9F14-78ED03C5204C}"/>
              </a:ext>
            </a:extLst>
          </p:cNvPr>
          <p:cNvSpPr>
            <a:spLocks noGrp="1" noChangeArrowheads="1"/>
          </p:cNvSpPr>
          <p:nvPr>
            <p:ph idx="1"/>
          </p:nvPr>
        </p:nvSpPr>
        <p:spPr>
          <a:xfrm>
            <a:off x="457200" y="228600"/>
            <a:ext cx="8229600" cy="5902325"/>
          </a:xfrm>
        </p:spPr>
        <p:txBody>
          <a:bodyPr rtlCol="0">
            <a:normAutofit/>
          </a:bodyPr>
          <a:lstStyle/>
          <a:p>
            <a:pPr eaLnBrk="1" fontAlgn="auto" hangingPunct="1">
              <a:spcAft>
                <a:spcPts val="0"/>
              </a:spcAft>
              <a:buFontTx/>
              <a:buNone/>
              <a:defRPr/>
            </a:pPr>
            <a:r>
              <a:rPr lang="en-US" altLang="tr-TR" sz="2400" dirty="0">
                <a:solidFill>
                  <a:srgbClr val="FF0000"/>
                </a:solidFill>
              </a:rPr>
              <a:t>Promotion</a:t>
            </a:r>
            <a:r>
              <a:rPr lang="en-US" altLang="tr-TR" sz="2400" dirty="0"/>
              <a:t> is the process whereby an initiated tissue or organ develop focal proliferations and it requires the presence of continuous stimulation.</a:t>
            </a:r>
          </a:p>
          <a:p>
            <a:pPr eaLnBrk="1" fontAlgn="auto" hangingPunct="1">
              <a:spcAft>
                <a:spcPts val="0"/>
              </a:spcAft>
              <a:buFontTx/>
              <a:buNone/>
              <a:defRPr/>
            </a:pPr>
            <a:r>
              <a:rPr lang="en-US" altLang="tr-TR" sz="2400" dirty="0"/>
              <a:t>A </a:t>
            </a:r>
            <a:r>
              <a:rPr lang="en-US" altLang="tr-TR" sz="2400" dirty="0" err="1"/>
              <a:t>promotor</a:t>
            </a:r>
            <a:r>
              <a:rPr lang="en-US" altLang="tr-TR" sz="2400" dirty="0"/>
              <a:t>: is a </a:t>
            </a:r>
            <a:r>
              <a:rPr lang="en-US" altLang="tr-TR" sz="2400" u="sng" dirty="0"/>
              <a:t> </a:t>
            </a:r>
            <a:r>
              <a:rPr lang="en-US" altLang="tr-TR" sz="2400" u="sng" dirty="0">
                <a:solidFill>
                  <a:schemeClr val="accent6">
                    <a:lumMod val="75000"/>
                  </a:schemeClr>
                </a:solidFill>
              </a:rPr>
              <a:t>substance which doesn't damage</a:t>
            </a:r>
            <a:r>
              <a:rPr lang="en-US" altLang="tr-TR" sz="2400" dirty="0">
                <a:solidFill>
                  <a:schemeClr val="accent6">
                    <a:lumMod val="75000"/>
                  </a:schemeClr>
                </a:solidFill>
              </a:rPr>
              <a:t> </a:t>
            </a:r>
            <a:r>
              <a:rPr lang="en-US" altLang="tr-TR" sz="2400" u="sng" dirty="0">
                <a:solidFill>
                  <a:schemeClr val="accent6">
                    <a:lumMod val="75000"/>
                  </a:schemeClr>
                </a:solidFill>
              </a:rPr>
              <a:t>DNA but enhance growth of tumor  induced by </a:t>
            </a:r>
            <a:r>
              <a:rPr lang="en-US" altLang="tr-TR" sz="2400" u="sng" dirty="0" err="1">
                <a:solidFill>
                  <a:schemeClr val="accent6">
                    <a:lumMod val="75000"/>
                  </a:schemeClr>
                </a:solidFill>
              </a:rPr>
              <a:t>genotoxic</a:t>
            </a:r>
            <a:r>
              <a:rPr lang="en-US" altLang="tr-TR" sz="2400" u="sng" dirty="0">
                <a:solidFill>
                  <a:schemeClr val="accent6">
                    <a:lumMod val="75000"/>
                  </a:schemeClr>
                </a:solidFill>
              </a:rPr>
              <a:t> carcinogens</a:t>
            </a:r>
            <a:r>
              <a:rPr lang="en-US" altLang="tr-TR" sz="2400" dirty="0">
                <a:solidFill>
                  <a:schemeClr val="accent6">
                    <a:lumMod val="75000"/>
                  </a:schemeClr>
                </a:solidFill>
              </a:rPr>
              <a:t> </a:t>
            </a:r>
            <a:r>
              <a:rPr lang="en-US" altLang="tr-TR" sz="2400" dirty="0"/>
              <a:t>e.g.: skin cancer in mice can be induced by application of </a:t>
            </a:r>
            <a:r>
              <a:rPr lang="en-US" altLang="tr-TR" sz="2400" dirty="0" err="1"/>
              <a:t>benzo</a:t>
            </a:r>
            <a:r>
              <a:rPr lang="en-US" altLang="tr-TR" sz="2400" dirty="0"/>
              <a:t> [α ] </a:t>
            </a:r>
            <a:r>
              <a:rPr lang="en-US" altLang="tr-TR" sz="2400" dirty="0" err="1"/>
              <a:t>pyrene</a:t>
            </a:r>
            <a:r>
              <a:rPr lang="en-US" altLang="tr-TR" sz="2400" dirty="0"/>
              <a:t> ( initiator) followed by </a:t>
            </a:r>
            <a:r>
              <a:rPr lang="en-US" altLang="tr-TR" sz="2400" dirty="0" err="1"/>
              <a:t>phorbol</a:t>
            </a:r>
            <a:r>
              <a:rPr lang="en-US" altLang="tr-TR" sz="2400" dirty="0"/>
              <a:t> ester from cotton oil ( promoter). </a:t>
            </a:r>
          </a:p>
          <a:p>
            <a:pPr eaLnBrk="1" fontAlgn="auto" hangingPunct="1">
              <a:spcAft>
                <a:spcPts val="0"/>
              </a:spcAft>
              <a:buFontTx/>
              <a:buNone/>
              <a:defRPr/>
            </a:pPr>
            <a:endParaRPr lang="en-US" altLang="tr-TR" sz="2400" dirty="0"/>
          </a:p>
          <a:p>
            <a:pPr eaLnBrk="1" fontAlgn="auto" hangingPunct="1">
              <a:spcAft>
                <a:spcPts val="0"/>
              </a:spcAft>
              <a:buFontTx/>
              <a:buNone/>
              <a:defRPr/>
            </a:pPr>
            <a:r>
              <a:rPr lang="en-US" altLang="tr-TR" sz="2400" u="sng" dirty="0"/>
              <a:t>Promotion</a:t>
            </a:r>
          </a:p>
          <a:p>
            <a:pPr eaLnBrk="1" fontAlgn="auto" hangingPunct="1">
              <a:spcAft>
                <a:spcPts val="0"/>
              </a:spcAft>
              <a:buFontTx/>
              <a:buNone/>
              <a:defRPr/>
            </a:pPr>
            <a:r>
              <a:rPr lang="en-US" altLang="tr-TR" sz="2400" dirty="0">
                <a:solidFill>
                  <a:srgbClr val="FF0000"/>
                </a:solidFill>
              </a:rPr>
              <a:t>(1) reversible</a:t>
            </a:r>
          </a:p>
          <a:p>
            <a:pPr eaLnBrk="1" fontAlgn="auto" hangingPunct="1">
              <a:spcAft>
                <a:spcPts val="0"/>
              </a:spcAft>
              <a:buFontTx/>
              <a:buNone/>
              <a:defRPr/>
            </a:pPr>
            <a:r>
              <a:rPr lang="en-US" altLang="tr-TR" sz="2400" dirty="0"/>
              <a:t>(2) acts only after exposure to an initiating agent</a:t>
            </a:r>
          </a:p>
          <a:p>
            <a:pPr eaLnBrk="1" fontAlgn="auto" hangingPunct="1">
              <a:spcAft>
                <a:spcPts val="0"/>
              </a:spcAft>
              <a:buFontTx/>
              <a:buNone/>
              <a:defRPr/>
            </a:pPr>
            <a:r>
              <a:rPr lang="en-US" altLang="tr-TR" sz="2400" dirty="0"/>
              <a:t>(3) requires repeated administration of a</a:t>
            </a:r>
          </a:p>
          <a:p>
            <a:pPr eaLnBrk="1" fontAlgn="auto" hangingPunct="1">
              <a:spcAft>
                <a:spcPts val="0"/>
              </a:spcAft>
              <a:buFontTx/>
              <a:buNone/>
              <a:defRPr/>
            </a:pPr>
            <a:r>
              <a:rPr lang="en-US" altLang="tr-TR" sz="2400" dirty="0"/>
              <a:t>promoter</a:t>
            </a:r>
          </a:p>
          <a:p>
            <a:pPr eaLnBrk="1" fontAlgn="auto" hangingPunct="1">
              <a:spcAft>
                <a:spcPts val="0"/>
              </a:spcAft>
              <a:buFontTx/>
              <a:buNone/>
              <a:defRPr/>
            </a:pPr>
            <a:r>
              <a:rPr lang="en-US" altLang="tr-TR" sz="2400" dirty="0"/>
              <a:t>(4) is not carcinogenic in itself</a:t>
            </a:r>
          </a:p>
          <a:p>
            <a:pPr eaLnBrk="1" fontAlgn="auto" hangingPunct="1">
              <a:spcAft>
                <a:spcPts val="0"/>
              </a:spcAft>
              <a:buFontTx/>
              <a:buNone/>
              <a:defRPr/>
            </a:pPr>
            <a:endParaRPr lang="en-US" altLang="tr-TR" sz="2400"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ext Box 4">
            <a:extLst>
              <a:ext uri="{FF2B5EF4-FFF2-40B4-BE49-F238E27FC236}">
                <a16:creationId xmlns:a16="http://schemas.microsoft.com/office/drawing/2014/main" id="{C0DA7938-674C-1835-915B-4D2A5D7B9926}"/>
              </a:ext>
            </a:extLst>
          </p:cNvPr>
          <p:cNvSpPr txBox="1">
            <a:spLocks noChangeArrowheads="1"/>
          </p:cNvSpPr>
          <p:nvPr/>
        </p:nvSpPr>
        <p:spPr bwMode="auto">
          <a:xfrm>
            <a:off x="1600200" y="0"/>
            <a:ext cx="6172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tr-TR" sz="3200">
                <a:solidFill>
                  <a:srgbClr val="FF0000"/>
                </a:solidFill>
                <a:latin typeface="Arial" panose="020B0604020202020204" pitchFamily="34" charset="0"/>
                <a:cs typeface="Arial" panose="020B0604020202020204" pitchFamily="34" charset="0"/>
              </a:rPr>
              <a:t>Progression</a:t>
            </a:r>
          </a:p>
        </p:txBody>
      </p:sp>
      <p:sp>
        <p:nvSpPr>
          <p:cNvPr id="108547" name="Text Box 5">
            <a:extLst>
              <a:ext uri="{FF2B5EF4-FFF2-40B4-BE49-F238E27FC236}">
                <a16:creationId xmlns:a16="http://schemas.microsoft.com/office/drawing/2014/main" id="{21E81CF5-334A-6A48-8152-733C545D4226}"/>
              </a:ext>
            </a:extLst>
          </p:cNvPr>
          <p:cNvSpPr txBox="1">
            <a:spLocks noChangeArrowheads="1"/>
          </p:cNvSpPr>
          <p:nvPr/>
        </p:nvSpPr>
        <p:spPr bwMode="auto">
          <a:xfrm>
            <a:off x="0" y="533400"/>
            <a:ext cx="9144000" cy="4708525"/>
          </a:xfrm>
          <a:prstGeom prst="rect">
            <a:avLst/>
          </a:prstGeom>
          <a:noFill/>
          <a:ln w="9525">
            <a:noFill/>
            <a:miter lim="800000"/>
            <a:headEnd/>
            <a:tailEnd/>
          </a:ln>
        </p:spPr>
        <p:txBody>
          <a:bodyPr>
            <a:spAutoFit/>
          </a:bodyPr>
          <a:lstStyle/>
          <a:p>
            <a:pPr marL="342900" indent="-342900" eaLnBrk="1" fontAlgn="auto" hangingPunct="1">
              <a:spcBef>
                <a:spcPct val="50000"/>
              </a:spcBef>
              <a:spcAft>
                <a:spcPts val="0"/>
              </a:spcAft>
              <a:defRPr/>
            </a:pPr>
            <a:r>
              <a:rPr lang="en-US" sz="2400" dirty="0">
                <a:latin typeface="+mn-lt"/>
                <a:ea typeface="MS PGothic" pitchFamily="34" charset="-128"/>
              </a:rPr>
              <a:t>Progression is an </a:t>
            </a:r>
            <a:r>
              <a:rPr lang="en-US" sz="2400" dirty="0">
                <a:solidFill>
                  <a:srgbClr val="FF0000"/>
                </a:solidFill>
                <a:latin typeface="+mn-lt"/>
                <a:ea typeface="MS PGothic" pitchFamily="34" charset="-128"/>
              </a:rPr>
              <a:t>irreversible </a:t>
            </a:r>
            <a:r>
              <a:rPr lang="en-US" sz="2400" dirty="0">
                <a:latin typeface="+mn-lt"/>
                <a:ea typeface="MS PGothic" pitchFamily="34" charset="-128"/>
              </a:rPr>
              <a:t>process and leads to metastasis. </a:t>
            </a:r>
          </a:p>
          <a:p>
            <a:pPr marL="342900" indent="-342900" eaLnBrk="1" fontAlgn="auto" hangingPunct="1">
              <a:spcBef>
                <a:spcPct val="50000"/>
              </a:spcBef>
              <a:spcAft>
                <a:spcPts val="0"/>
              </a:spcAft>
              <a:defRPr/>
            </a:pPr>
            <a:r>
              <a:rPr lang="en-US" sz="2400" dirty="0">
                <a:latin typeface="+mn-lt"/>
                <a:ea typeface="MS PGothic" pitchFamily="34" charset="-128"/>
              </a:rPr>
              <a:t>Progression requires:</a:t>
            </a:r>
          </a:p>
          <a:p>
            <a:pPr marL="342900" indent="-342900" eaLnBrk="1" fontAlgn="auto" hangingPunct="1">
              <a:spcBef>
                <a:spcPct val="50000"/>
              </a:spcBef>
              <a:spcAft>
                <a:spcPts val="0"/>
              </a:spcAft>
              <a:buFontTx/>
              <a:buAutoNum type="arabicPeriod"/>
              <a:defRPr/>
            </a:pPr>
            <a:r>
              <a:rPr lang="en-US" sz="2400" dirty="0">
                <a:latin typeface="+mn-lt"/>
                <a:ea typeface="MS PGothic" pitchFamily="34" charset="-128"/>
              </a:rPr>
              <a:t>Further mutations from genetic instability (chromosomal instability) during promotion.</a:t>
            </a:r>
          </a:p>
          <a:p>
            <a:pPr marL="342900" indent="-342900" eaLnBrk="1" fontAlgn="auto" hangingPunct="1">
              <a:spcBef>
                <a:spcPct val="50000"/>
              </a:spcBef>
              <a:spcAft>
                <a:spcPts val="0"/>
              </a:spcAft>
              <a:buFontTx/>
              <a:buAutoNum type="arabicPeriod"/>
              <a:defRPr/>
            </a:pPr>
            <a:r>
              <a:rPr lang="en-US" sz="2400" dirty="0">
                <a:latin typeface="+mn-lt"/>
                <a:ea typeface="MS PGothic" pitchFamily="34" charset="-128"/>
              </a:rPr>
              <a:t>Recruitment of inflammatory immune cells to the tumor.</a:t>
            </a:r>
          </a:p>
          <a:p>
            <a:pPr marL="342900" indent="-342900" eaLnBrk="1" fontAlgn="auto" hangingPunct="1">
              <a:spcBef>
                <a:spcPct val="50000"/>
              </a:spcBef>
              <a:spcAft>
                <a:spcPts val="0"/>
              </a:spcAft>
              <a:buFontTx/>
              <a:buAutoNum type="arabicPeriod"/>
              <a:defRPr/>
            </a:pPr>
            <a:r>
              <a:rPr lang="en-US" sz="2400" dirty="0">
                <a:latin typeface="+mn-lt"/>
                <a:ea typeface="MS PGothic" pitchFamily="34" charset="-128"/>
              </a:rPr>
              <a:t>The tumor cell acquiring </a:t>
            </a:r>
            <a:r>
              <a:rPr lang="ja-JP" altLang="en-US" sz="2400" dirty="0">
                <a:latin typeface="+mn-lt"/>
                <a:ea typeface="MS PGothic" pitchFamily="34" charset="-128"/>
              </a:rPr>
              <a:t>“</a:t>
            </a:r>
            <a:r>
              <a:rPr lang="en-US" sz="2400" dirty="0">
                <a:latin typeface="+mn-lt"/>
                <a:ea typeface="MS PGothic" pitchFamily="34" charset="-128"/>
              </a:rPr>
              <a:t>wound-healing</a:t>
            </a:r>
            <a:r>
              <a:rPr lang="ja-JP" altLang="en-US" sz="2400" dirty="0">
                <a:latin typeface="+mn-lt"/>
                <a:ea typeface="MS PGothic" pitchFamily="34" charset="-128"/>
              </a:rPr>
              <a:t>”</a:t>
            </a:r>
            <a:r>
              <a:rPr lang="en-US" sz="2400" dirty="0">
                <a:latin typeface="+mn-lt"/>
                <a:ea typeface="MS PGothic" pitchFamily="34" charset="-128"/>
              </a:rPr>
              <a:t> characteristics (secretion of chemo-attractants to attract inflammatory immune cells, angiogenesis factors, proteases, etc).</a:t>
            </a:r>
          </a:p>
          <a:p>
            <a:pPr marL="342900" indent="-342900" eaLnBrk="1" fontAlgn="auto" hangingPunct="1">
              <a:spcBef>
                <a:spcPct val="50000"/>
              </a:spcBef>
              <a:spcAft>
                <a:spcPts val="0"/>
              </a:spcAft>
              <a:defRPr/>
            </a:pPr>
            <a:r>
              <a:rPr lang="en-US" sz="2400" dirty="0">
                <a:solidFill>
                  <a:schemeClr val="accent6">
                    <a:lumMod val="75000"/>
                  </a:schemeClr>
                </a:solidFill>
                <a:latin typeface="+mn-lt"/>
                <a:ea typeface="MS PGothic" pitchFamily="34" charset="-128"/>
              </a:rPr>
              <a:t>Examples of </a:t>
            </a:r>
            <a:r>
              <a:rPr lang="en-US" sz="2400" dirty="0" err="1">
                <a:solidFill>
                  <a:schemeClr val="accent6">
                    <a:lumMod val="75000"/>
                  </a:schemeClr>
                </a:solidFill>
                <a:latin typeface="+mn-lt"/>
                <a:ea typeface="MS PGothic" pitchFamily="34" charset="-128"/>
              </a:rPr>
              <a:t>progressor</a:t>
            </a:r>
            <a:r>
              <a:rPr lang="en-US" sz="2400" dirty="0">
                <a:solidFill>
                  <a:schemeClr val="accent6">
                    <a:lumMod val="75000"/>
                  </a:schemeClr>
                </a:solidFill>
                <a:latin typeface="+mn-lt"/>
                <a:ea typeface="MS PGothic" pitchFamily="34" charset="-128"/>
              </a:rPr>
              <a:t> agents: inflammation, asbestos fibers, benzene, benzoyl peroxide, other peroxides, oxidative stress,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Resim 1">
            <a:extLst>
              <a:ext uri="{FF2B5EF4-FFF2-40B4-BE49-F238E27FC236}">
                <a16:creationId xmlns:a16="http://schemas.microsoft.com/office/drawing/2014/main" id="{5F4B53A2-59B4-98A1-D948-24C4C38164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775" y="-90488"/>
            <a:ext cx="9353550" cy="7038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7" name="Picture 19" descr="14">
            <a:extLst>
              <a:ext uri="{FF2B5EF4-FFF2-40B4-BE49-F238E27FC236}">
                <a16:creationId xmlns:a16="http://schemas.microsoft.com/office/drawing/2014/main" id="{ADF3E03F-042B-3EA1-3A0F-FD453DA32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2395538"/>
            <a:ext cx="7986713" cy="367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8" name="Rectangle 2">
            <a:extLst>
              <a:ext uri="{FF2B5EF4-FFF2-40B4-BE49-F238E27FC236}">
                <a16:creationId xmlns:a16="http://schemas.microsoft.com/office/drawing/2014/main" id="{A3A9BC21-2BF8-DFAC-B55C-74C2AD623776}"/>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solidFill>
                  <a:srgbClr val="FF0000"/>
                </a:solidFill>
                <a:latin typeface="Arial" panose="020B0604020202020204" pitchFamily="34" charset="0"/>
                <a:ea typeface="MS PGothic" panose="020B0600070205080204" pitchFamily="34" charset="-128"/>
              </a:rPr>
              <a:t>Tobacco</a:t>
            </a:r>
          </a:p>
        </p:txBody>
      </p:sp>
      <p:sp>
        <p:nvSpPr>
          <p:cNvPr id="86019" name="Rectangle 18">
            <a:extLst>
              <a:ext uri="{FF2B5EF4-FFF2-40B4-BE49-F238E27FC236}">
                <a16:creationId xmlns:a16="http://schemas.microsoft.com/office/drawing/2014/main" id="{6B5A8AE6-57A2-EE2B-639E-F39F9AFE3981}"/>
              </a:ext>
            </a:extLst>
          </p:cNvPr>
          <p:cNvSpPr>
            <a:spLocks noChangeArrowheads="1"/>
          </p:cNvSpPr>
          <p:nvPr/>
        </p:nvSpPr>
        <p:spPr bwMode="auto">
          <a:xfrm>
            <a:off x="119063" y="868363"/>
            <a:ext cx="8897937"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sm"/>
              </a14:hiddenLine>
            </a:ext>
          </a:extLst>
        </p:spPr>
        <p:txBody>
          <a:bodyPr lIns="0" tIns="0" rIns="0" bIns="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aminostilbene  arsenic  benz[a]anthracene  benz[a]pyrene  benzene  benzo[b]fluoranthene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benzo[c]phenanthrene  benzo[f]fluoranthene  cadmium  chrysene  dibenz[a c]anthracene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dibenzo[a e]fluoranthene  dibenz[a h]acridine  dibenz[a j]acridine  dibenzo[c g]carbazone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N-dibutylnitrosamine  2,3-dimethylchrysene  indeno[1,2,3-c d]pyrene  S-methylchrysene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S-methylfluoranthene  alpha-naphthylamine  nickel compounds  N-nitrosodimethylamine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N-nitrosomethylethylamine  N-nitrosodiethylamine  N-nitrosonornicotine  N-nitrosoanabasine</a:t>
            </a:r>
          </a:p>
          <a:p>
            <a:pPr algn="ctr" eaLnBrk="1" hangingPunct="1">
              <a:lnSpc>
                <a:spcPts val="1900"/>
              </a:lnSpc>
              <a:spcBef>
                <a:spcPct val="0"/>
              </a:spcBef>
              <a:buFontTx/>
              <a:buNone/>
            </a:pPr>
            <a:r>
              <a:rPr lang="en-US" altLang="tr-TR" sz="1400" b="1">
                <a:latin typeface="Arial" panose="020B0604020202020204" pitchFamily="34" charset="0"/>
                <a:ea typeface="MS PGothic" panose="020B0600070205080204" pitchFamily="34" charset="-128"/>
              </a:rPr>
              <a:t>N-nitrosopiperidine  polonium-210</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2 İçerik Yer Tutucusu">
            <a:extLst>
              <a:ext uri="{FF2B5EF4-FFF2-40B4-BE49-F238E27FC236}">
                <a16:creationId xmlns:a16="http://schemas.microsoft.com/office/drawing/2014/main" id="{A5F62782-A44A-5142-ADC9-079455A421E1}"/>
              </a:ext>
            </a:extLst>
          </p:cNvPr>
          <p:cNvSpPr>
            <a:spLocks noGrp="1"/>
          </p:cNvSpPr>
          <p:nvPr>
            <p:ph idx="1"/>
          </p:nvPr>
        </p:nvSpPr>
        <p:spPr>
          <a:xfrm>
            <a:off x="428625" y="571500"/>
            <a:ext cx="5222875" cy="5881688"/>
          </a:xfrm>
        </p:spPr>
        <p:txBody>
          <a:bodyPr rtlCol="0">
            <a:normAutofit fontScale="92500" lnSpcReduction="10000"/>
          </a:bodyPr>
          <a:lstStyle/>
          <a:p>
            <a:pPr eaLnBrk="1" fontAlgn="auto" hangingPunct="1">
              <a:spcAft>
                <a:spcPts val="0"/>
              </a:spcAft>
              <a:defRPr/>
            </a:pPr>
            <a:r>
              <a:rPr lang="en-US" sz="2400" dirty="0"/>
              <a:t>Cigarette smoking causes an estimated 443,000 deaths each year, including approximately 49,000 deaths due to exposure to secondhand smoke.</a:t>
            </a:r>
            <a:br>
              <a:rPr lang="en-US" sz="2400" dirty="0"/>
            </a:br>
            <a:endParaRPr lang="en-US" sz="2400" dirty="0"/>
          </a:p>
          <a:p>
            <a:pPr eaLnBrk="1" fontAlgn="auto" hangingPunct="1">
              <a:spcAft>
                <a:spcPts val="0"/>
              </a:spcAft>
              <a:defRPr/>
            </a:pPr>
            <a:r>
              <a:rPr lang="en-US" sz="2400" dirty="0"/>
              <a:t>Lung cancer is the leading cause of cancer death among both men and women in the United States, and 90 percent of lung cancer deaths among men and approximately 80 percent of lung cancer deaths among women are due to smoking.</a:t>
            </a:r>
            <a:br>
              <a:rPr lang="en-US" sz="2400" dirty="0"/>
            </a:br>
            <a:endParaRPr lang="en-US" sz="2400" dirty="0"/>
          </a:p>
          <a:p>
            <a:pPr eaLnBrk="1" fontAlgn="auto" hangingPunct="1">
              <a:spcAft>
                <a:spcPts val="0"/>
              </a:spcAft>
              <a:defRPr/>
            </a:pPr>
            <a:r>
              <a:rPr lang="en-US" sz="2400" dirty="0"/>
              <a:t>Smoking causes many other types of cancer, including cancers of the throat, mouth, nasal cavity, esophagus, stomach, pancreas, kidney, bladder, and cervix, and acute myeloid leukemia.</a:t>
            </a:r>
            <a:br>
              <a:rPr lang="en-US" sz="2400" dirty="0"/>
            </a:br>
            <a:br>
              <a:rPr lang="en-US" sz="2400" dirty="0"/>
            </a:br>
            <a:endParaRPr lang="en-US" sz="2400" dirty="0"/>
          </a:p>
          <a:p>
            <a:pPr eaLnBrk="1" fontAlgn="auto" hangingPunct="1">
              <a:spcAft>
                <a:spcPts val="0"/>
              </a:spcAft>
              <a:defRPr/>
            </a:pPr>
            <a:endParaRPr lang="tr-TR" altLang="tr-TR" sz="2400" dirty="0"/>
          </a:p>
        </p:txBody>
      </p:sp>
      <p:pic>
        <p:nvPicPr>
          <p:cNvPr id="88066" name="Resim 1">
            <a:extLst>
              <a:ext uri="{FF2B5EF4-FFF2-40B4-BE49-F238E27FC236}">
                <a16:creationId xmlns:a16="http://schemas.microsoft.com/office/drawing/2014/main" id="{0BA481C1-723A-4DD2-8B9F-312B86EED6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76925" y="584200"/>
            <a:ext cx="3240088" cy="455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2 İçerik Yer Tutucusu">
            <a:extLst>
              <a:ext uri="{FF2B5EF4-FFF2-40B4-BE49-F238E27FC236}">
                <a16:creationId xmlns:a16="http://schemas.microsoft.com/office/drawing/2014/main" id="{67372C94-82DE-29E4-DFA1-4F243CBC82DE}"/>
              </a:ext>
            </a:extLst>
          </p:cNvPr>
          <p:cNvSpPr>
            <a:spLocks noGrp="1"/>
          </p:cNvSpPr>
          <p:nvPr>
            <p:ph idx="1"/>
          </p:nvPr>
        </p:nvSpPr>
        <p:spPr>
          <a:xfrm>
            <a:off x="539750" y="404813"/>
            <a:ext cx="7886700" cy="4351337"/>
          </a:xfrm>
        </p:spPr>
        <p:txBody>
          <a:bodyPr/>
          <a:lstStyle/>
          <a:p>
            <a:pPr eaLnBrk="1" hangingPunct="1"/>
            <a:r>
              <a:rPr lang="tr-TR" altLang="tr-TR" sz="2800"/>
              <a:t>W</a:t>
            </a:r>
            <a:r>
              <a:rPr lang="en-US" altLang="tr-TR" sz="2800"/>
              <a:t>hen </a:t>
            </a:r>
            <a:r>
              <a:rPr lang="tr-TR" altLang="tr-TR" sz="2800"/>
              <a:t>a cigarette</a:t>
            </a:r>
            <a:r>
              <a:rPr lang="en-US" altLang="tr-TR" sz="2800"/>
              <a:t> burns, it releases a dangerous cocktail of about 4,000 chemicals including:</a:t>
            </a:r>
          </a:p>
          <a:p>
            <a:pPr eaLnBrk="1" hangingPunct="1"/>
            <a:r>
              <a:rPr lang="en-US" altLang="tr-TR" sz="2800"/>
              <a:t>more than 70 cancer-causing chemicals</a:t>
            </a:r>
          </a:p>
          <a:p>
            <a:pPr eaLnBrk="1" hangingPunct="1"/>
            <a:r>
              <a:rPr lang="en-US" altLang="tr-TR" sz="2800"/>
              <a:t>hundreds of other poisons.</a:t>
            </a:r>
          </a:p>
          <a:p>
            <a:pPr eaLnBrk="1" hangingPunct="1"/>
            <a:r>
              <a:rPr lang="en-US" altLang="tr-TR" sz="2800"/>
              <a:t>nicotine, a highly addictive drug, and many additives designed to make cigarettes taste nicer and keep smokers hooked.</a:t>
            </a:r>
          </a:p>
          <a:p>
            <a:pPr eaLnBrk="1" hangingPunct="1"/>
            <a:endParaRPr lang="tr-TR" altLang="tr-TR"/>
          </a:p>
        </p:txBody>
      </p:sp>
      <p:pic>
        <p:nvPicPr>
          <p:cNvPr id="90114" name="Resim 3">
            <a:extLst>
              <a:ext uri="{FF2B5EF4-FFF2-40B4-BE49-F238E27FC236}">
                <a16:creationId xmlns:a16="http://schemas.microsoft.com/office/drawing/2014/main" id="{90D7E183-21BE-3898-D395-6A42B8A05D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3500438"/>
            <a:ext cx="8858250" cy="373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1 Başlık">
            <a:extLst>
              <a:ext uri="{FF2B5EF4-FFF2-40B4-BE49-F238E27FC236}">
                <a16:creationId xmlns:a16="http://schemas.microsoft.com/office/drawing/2014/main" id="{1FE68838-E947-D3D1-490A-658D59CCA897}"/>
              </a:ext>
            </a:extLst>
          </p:cNvPr>
          <p:cNvSpPr>
            <a:spLocks noGrp="1"/>
          </p:cNvSpPr>
          <p:nvPr>
            <p:ph type="title"/>
          </p:nvPr>
        </p:nvSpPr>
        <p:spPr/>
        <p:txBody>
          <a:bodyPr/>
          <a:lstStyle/>
          <a:p>
            <a:pPr eaLnBrk="1" hangingPunct="1"/>
            <a:r>
              <a:rPr lang="en-US" altLang="tr-TR">
                <a:solidFill>
                  <a:srgbClr val="FF0000"/>
                </a:solidFill>
              </a:rPr>
              <a:t>Cancer-causing chemicals in tobacco smoke</a:t>
            </a:r>
            <a:br>
              <a:rPr lang="en-US" altLang="tr-TR"/>
            </a:br>
            <a:endParaRPr lang="tr-TR" altLang="tr-TR"/>
          </a:p>
        </p:txBody>
      </p:sp>
      <p:sp>
        <p:nvSpPr>
          <p:cNvPr id="3" name="2 İçerik Yer Tutucusu">
            <a:extLst>
              <a:ext uri="{FF2B5EF4-FFF2-40B4-BE49-F238E27FC236}">
                <a16:creationId xmlns:a16="http://schemas.microsoft.com/office/drawing/2014/main" id="{09240B9F-78AD-9F43-92B3-EB5B0DD84B52}"/>
              </a:ext>
            </a:extLst>
          </p:cNvPr>
          <p:cNvSpPr>
            <a:spLocks noGrp="1"/>
          </p:cNvSpPr>
          <p:nvPr>
            <p:ph idx="1"/>
          </p:nvPr>
        </p:nvSpPr>
        <p:spPr>
          <a:xfrm>
            <a:off x="611188" y="1196975"/>
            <a:ext cx="7847012" cy="4689475"/>
          </a:xfrm>
        </p:spPr>
        <p:txBody>
          <a:bodyPr rtlCol="0">
            <a:normAutofit lnSpcReduction="10000"/>
          </a:bodyPr>
          <a:lstStyle/>
          <a:p>
            <a:pPr eaLnBrk="1" fontAlgn="auto" hangingPunct="1">
              <a:spcAft>
                <a:spcPts val="0"/>
              </a:spcAft>
              <a:defRPr/>
            </a:pPr>
            <a:r>
              <a:rPr lang="en-US" sz="2000" dirty="0">
                <a:hlinkClick r:id="rId2" action="ppaction://hlinkfile"/>
              </a:rPr>
              <a:t>Tar</a:t>
            </a:r>
            <a:r>
              <a:rPr lang="en-US" sz="2000" dirty="0"/>
              <a:t> - a mixture of dangerous chemicals</a:t>
            </a:r>
          </a:p>
          <a:p>
            <a:pPr eaLnBrk="1" fontAlgn="auto" hangingPunct="1">
              <a:spcAft>
                <a:spcPts val="0"/>
              </a:spcAft>
              <a:defRPr/>
            </a:pPr>
            <a:r>
              <a:rPr lang="en-US" sz="2000" dirty="0">
                <a:hlinkClick r:id="rId3" action="ppaction://hlinkfile"/>
              </a:rPr>
              <a:t>Arsenic</a:t>
            </a:r>
            <a:r>
              <a:rPr lang="en-US" sz="2000" dirty="0"/>
              <a:t> - used in wood preservatives</a:t>
            </a:r>
          </a:p>
          <a:p>
            <a:pPr eaLnBrk="1" fontAlgn="auto" hangingPunct="1">
              <a:spcAft>
                <a:spcPts val="0"/>
              </a:spcAft>
              <a:defRPr/>
            </a:pPr>
            <a:r>
              <a:rPr lang="en-US" sz="2000" dirty="0">
                <a:hlinkClick r:id="rId4" action="ppaction://hlinkfile"/>
              </a:rPr>
              <a:t>Benzene</a:t>
            </a:r>
            <a:r>
              <a:rPr lang="en-US" sz="2000" dirty="0"/>
              <a:t> - an industrial solvent, refined from crude oil</a:t>
            </a:r>
          </a:p>
          <a:p>
            <a:pPr eaLnBrk="1" fontAlgn="auto" hangingPunct="1">
              <a:spcAft>
                <a:spcPts val="0"/>
              </a:spcAft>
              <a:defRPr/>
            </a:pPr>
            <a:r>
              <a:rPr lang="en-US" sz="2000" dirty="0">
                <a:hlinkClick r:id="rId5" action="ppaction://hlinkfile"/>
              </a:rPr>
              <a:t>Cadmium</a:t>
            </a:r>
            <a:r>
              <a:rPr lang="en-US" sz="2000" dirty="0"/>
              <a:t> - used in batteries</a:t>
            </a:r>
          </a:p>
          <a:p>
            <a:pPr eaLnBrk="1" fontAlgn="auto" hangingPunct="1">
              <a:spcAft>
                <a:spcPts val="0"/>
              </a:spcAft>
              <a:defRPr/>
            </a:pPr>
            <a:r>
              <a:rPr lang="en-US" sz="2000" dirty="0">
                <a:hlinkClick r:id="rId6" action="ppaction://hlinkfile"/>
              </a:rPr>
              <a:t>Formaldehyde</a:t>
            </a:r>
            <a:r>
              <a:rPr lang="en-US" sz="2000" dirty="0"/>
              <a:t> - used in mortuaries and paint manufacturing</a:t>
            </a:r>
          </a:p>
          <a:p>
            <a:pPr eaLnBrk="1" fontAlgn="auto" hangingPunct="1">
              <a:spcAft>
                <a:spcPts val="0"/>
              </a:spcAft>
              <a:defRPr/>
            </a:pPr>
            <a:r>
              <a:rPr lang="en-US" sz="2000" dirty="0">
                <a:hlinkClick r:id="rId7" action="ppaction://hlinkfile"/>
              </a:rPr>
              <a:t>Polonium-210</a:t>
            </a:r>
            <a:r>
              <a:rPr lang="en-US" sz="2000" dirty="0"/>
              <a:t> - a highly radioactive element</a:t>
            </a:r>
          </a:p>
          <a:p>
            <a:pPr eaLnBrk="1" fontAlgn="auto" hangingPunct="1">
              <a:spcAft>
                <a:spcPts val="0"/>
              </a:spcAft>
              <a:defRPr/>
            </a:pPr>
            <a:r>
              <a:rPr lang="en-US" sz="2000" dirty="0">
                <a:hlinkClick r:id="rId8" action="ppaction://hlinkfile"/>
              </a:rPr>
              <a:t>Chromium</a:t>
            </a:r>
            <a:r>
              <a:rPr lang="en-US" sz="2000" dirty="0"/>
              <a:t> - used to manufacture dye, paints and alloys</a:t>
            </a:r>
          </a:p>
          <a:p>
            <a:pPr eaLnBrk="1" fontAlgn="auto" hangingPunct="1">
              <a:spcAft>
                <a:spcPts val="0"/>
              </a:spcAft>
              <a:defRPr/>
            </a:pPr>
            <a:r>
              <a:rPr lang="en-US" sz="2000" dirty="0">
                <a:hlinkClick r:id="rId9" action="ppaction://hlinkfile"/>
              </a:rPr>
              <a:t>1,3-Butadiene</a:t>
            </a:r>
            <a:r>
              <a:rPr lang="en-US" sz="2000" dirty="0"/>
              <a:t> - used in rubber manufacturing</a:t>
            </a:r>
          </a:p>
          <a:p>
            <a:pPr eaLnBrk="1" fontAlgn="auto" hangingPunct="1">
              <a:spcAft>
                <a:spcPts val="0"/>
              </a:spcAft>
              <a:defRPr/>
            </a:pPr>
            <a:r>
              <a:rPr lang="en-US" sz="2000" dirty="0">
                <a:hlinkClick r:id="rId10" action="ppaction://hlinkfile"/>
              </a:rPr>
              <a:t>Polycyclic aromatic hydrocarbons</a:t>
            </a:r>
            <a:r>
              <a:rPr lang="en-US" sz="2000" dirty="0"/>
              <a:t> - a group of dangerous DNA-damaging chemicals</a:t>
            </a:r>
          </a:p>
          <a:p>
            <a:pPr eaLnBrk="1" fontAlgn="auto" hangingPunct="1">
              <a:spcAft>
                <a:spcPts val="0"/>
              </a:spcAft>
              <a:defRPr/>
            </a:pPr>
            <a:r>
              <a:rPr lang="en-US" sz="2000" dirty="0">
                <a:hlinkClick r:id="rId11" action="ppaction://hlinkfile"/>
              </a:rPr>
              <a:t>Nitrosamines</a:t>
            </a:r>
            <a:r>
              <a:rPr lang="en-US" sz="2000" dirty="0"/>
              <a:t> - another group of DNA-damaging chemicals</a:t>
            </a:r>
          </a:p>
          <a:p>
            <a:pPr eaLnBrk="1" fontAlgn="auto" hangingPunct="1">
              <a:spcAft>
                <a:spcPts val="0"/>
              </a:spcAft>
              <a:defRPr/>
            </a:pPr>
            <a:r>
              <a:rPr lang="en-US" sz="2000" dirty="0" err="1">
                <a:hlinkClick r:id="rId12" action="ppaction://hlinkfile"/>
              </a:rPr>
              <a:t>Acrolein</a:t>
            </a:r>
            <a:r>
              <a:rPr lang="en-US" sz="2000" dirty="0"/>
              <a:t> - formerly used as a chemical weapon</a:t>
            </a:r>
          </a:p>
          <a:p>
            <a:pPr eaLnBrk="1" fontAlgn="auto" hangingPunct="1">
              <a:spcAft>
                <a:spcPts val="0"/>
              </a:spcAft>
              <a:defRPr/>
            </a:pPr>
            <a:r>
              <a:rPr lang="en-US" sz="2000" dirty="0">
                <a:hlinkClick r:id="rId13" action="ppaction://hlinkfile"/>
              </a:rPr>
              <a:t>Other chemicals</a:t>
            </a:r>
            <a:endParaRPr lang="en-US" sz="2000" dirty="0"/>
          </a:p>
          <a:p>
            <a:pPr eaLnBrk="1" fontAlgn="auto" hangingPunct="1">
              <a:spcAft>
                <a:spcPts val="0"/>
              </a:spcAft>
              <a:defRPr/>
            </a:pPr>
            <a:endParaRPr lang="tr-T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1 Başlık">
            <a:extLst>
              <a:ext uri="{FF2B5EF4-FFF2-40B4-BE49-F238E27FC236}">
                <a16:creationId xmlns:a16="http://schemas.microsoft.com/office/drawing/2014/main" id="{622FFC66-EBE2-6A41-B970-46CB6E4308CC}"/>
              </a:ext>
            </a:extLst>
          </p:cNvPr>
          <p:cNvSpPr>
            <a:spLocks noGrp="1"/>
          </p:cNvSpPr>
          <p:nvPr>
            <p:ph type="title"/>
          </p:nvPr>
        </p:nvSpPr>
        <p:spPr/>
        <p:txBody>
          <a:bodyPr rtlCol="0">
            <a:normAutofit/>
          </a:bodyPr>
          <a:lstStyle/>
          <a:p>
            <a:pPr eaLnBrk="1" fontAlgn="auto" hangingPunct="1">
              <a:spcAft>
                <a:spcPts val="0"/>
              </a:spcAft>
              <a:defRPr/>
            </a:pPr>
            <a:endParaRPr lang="tr-TR" sz="2800" dirty="0">
              <a:solidFill>
                <a:schemeClr val="accent1">
                  <a:lumMod val="50000"/>
                </a:schemeClr>
              </a:solidFill>
            </a:endParaRPr>
          </a:p>
        </p:txBody>
      </p:sp>
      <p:pic>
        <p:nvPicPr>
          <p:cNvPr id="92162" name="Picture 2">
            <a:extLst>
              <a:ext uri="{FF2B5EF4-FFF2-40B4-BE49-F238E27FC236}">
                <a16:creationId xmlns:a16="http://schemas.microsoft.com/office/drawing/2014/main" id="{83FBFEF3-9B5C-37E4-D673-52D2E1BEB2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288" y="1571625"/>
            <a:ext cx="9086850" cy="4714875"/>
          </a:xfr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5" name="İçerik Yer Tutucusu 3">
            <a:extLst>
              <a:ext uri="{FF2B5EF4-FFF2-40B4-BE49-F238E27FC236}">
                <a16:creationId xmlns:a16="http://schemas.microsoft.com/office/drawing/2014/main" id="{B3416D73-B599-9D6F-C7EB-1051A74747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765175"/>
            <a:ext cx="3465513" cy="2706688"/>
          </a:xfrm>
        </p:spPr>
      </p:pic>
      <p:pic>
        <p:nvPicPr>
          <p:cNvPr id="93186" name="Resim 4">
            <a:extLst>
              <a:ext uri="{FF2B5EF4-FFF2-40B4-BE49-F238E27FC236}">
                <a16:creationId xmlns:a16="http://schemas.microsoft.com/office/drawing/2014/main" id="{31943C1F-55E2-E37C-C7C4-2BF2A3E87B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731838"/>
            <a:ext cx="3694113"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7" name="Resim 5">
            <a:extLst>
              <a:ext uri="{FF2B5EF4-FFF2-40B4-BE49-F238E27FC236}">
                <a16:creationId xmlns:a16="http://schemas.microsoft.com/office/drawing/2014/main" id="{43A0385F-5CE6-BDBA-5A6E-A51B4454F4B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2588" y="3860800"/>
            <a:ext cx="38703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Resim 6">
            <a:extLst>
              <a:ext uri="{FF2B5EF4-FFF2-40B4-BE49-F238E27FC236}">
                <a16:creationId xmlns:a16="http://schemas.microsoft.com/office/drawing/2014/main" id="{A0E1413F-1AD6-DBF5-E167-5FF4A53A179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16463" y="3644900"/>
            <a:ext cx="407670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09" name="İçerik Yer Tutucusu 3">
            <a:extLst>
              <a:ext uri="{FF2B5EF4-FFF2-40B4-BE49-F238E27FC236}">
                <a16:creationId xmlns:a16="http://schemas.microsoft.com/office/drawing/2014/main" id="{D11528C7-82AD-45C2-6BD7-BF241D942F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0825" y="260350"/>
            <a:ext cx="4486275" cy="3746500"/>
          </a:xfrm>
        </p:spPr>
      </p:pic>
      <p:pic>
        <p:nvPicPr>
          <p:cNvPr id="94210" name="Resim 4">
            <a:extLst>
              <a:ext uri="{FF2B5EF4-FFF2-40B4-BE49-F238E27FC236}">
                <a16:creationId xmlns:a16="http://schemas.microsoft.com/office/drawing/2014/main" id="{3DD792F7-357F-2823-7E05-7417F116C8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3025775"/>
            <a:ext cx="5089525"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3" name="İçerik Yer Tutucusu 3">
            <a:extLst>
              <a:ext uri="{FF2B5EF4-FFF2-40B4-BE49-F238E27FC236}">
                <a16:creationId xmlns:a16="http://schemas.microsoft.com/office/drawing/2014/main" id="{9FD09F38-D3FE-6816-8AF2-FDFE3216CC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2275" y="1484313"/>
            <a:ext cx="4854575" cy="2814637"/>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F0093F46-AA3C-EB44-2717-9D6EB6FB0ACA}"/>
              </a:ext>
            </a:extLst>
          </p:cNvPr>
          <p:cNvSpPr>
            <a:spLocks noGrp="1"/>
          </p:cNvSpPr>
          <p:nvPr>
            <p:ph type="title"/>
          </p:nvPr>
        </p:nvSpPr>
        <p:spPr>
          <a:xfrm>
            <a:off x="3924300" y="365125"/>
            <a:ext cx="4591050" cy="1325563"/>
          </a:xfrm>
        </p:spPr>
        <p:txBody>
          <a:bodyPr/>
          <a:lstStyle/>
          <a:p>
            <a:pPr eaLnBrk="1" hangingPunct="1"/>
            <a:r>
              <a:rPr lang="tr-TR" altLang="tr-TR" sz="2800">
                <a:solidFill>
                  <a:schemeClr val="hlink"/>
                </a:solidFill>
              </a:rPr>
              <a:t> </a:t>
            </a:r>
            <a:r>
              <a:rPr lang="tr-TR" altLang="tr-TR" sz="2800">
                <a:solidFill>
                  <a:srgbClr val="FF0000"/>
                </a:solidFill>
              </a:rPr>
              <a:t>Interaction of Radiation with DNA</a:t>
            </a:r>
          </a:p>
        </p:txBody>
      </p:sp>
      <p:pic>
        <p:nvPicPr>
          <p:cNvPr id="96258" name="Picture 4">
            <a:extLst>
              <a:ext uri="{FF2B5EF4-FFF2-40B4-BE49-F238E27FC236}">
                <a16:creationId xmlns:a16="http://schemas.microsoft.com/office/drawing/2014/main" id="{BF1A028F-520C-2849-2600-447327E467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19413" y="2597150"/>
            <a:ext cx="6045200" cy="3927475"/>
          </a:xfrm>
          <a:noFill/>
        </p:spPr>
      </p:pic>
      <p:pic>
        <p:nvPicPr>
          <p:cNvPr id="96259" name="Resim 1">
            <a:extLst>
              <a:ext uri="{FF2B5EF4-FFF2-40B4-BE49-F238E27FC236}">
                <a16:creationId xmlns:a16="http://schemas.microsoft.com/office/drawing/2014/main" id="{D1DDB0B1-F6BD-6947-8297-CF66B8BACB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981075"/>
            <a:ext cx="3576638"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İçerik Yer Tutucusu 3">
            <a:extLst>
              <a:ext uri="{FF2B5EF4-FFF2-40B4-BE49-F238E27FC236}">
                <a16:creationId xmlns:a16="http://schemas.microsoft.com/office/drawing/2014/main" id="{0FCE71B6-9E69-A0E9-F68E-8B418532D0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549275"/>
            <a:ext cx="8001000" cy="5843588"/>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İçerik Yer Tutucusu 3">
            <a:extLst>
              <a:ext uri="{FF2B5EF4-FFF2-40B4-BE49-F238E27FC236}">
                <a16:creationId xmlns:a16="http://schemas.microsoft.com/office/drawing/2014/main" id="{156EF19C-BBA4-5EF8-6558-909BE641AA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7088" y="404813"/>
            <a:ext cx="7720012" cy="5916612"/>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İçerik Yer Tutucusu 3">
            <a:extLst>
              <a:ext uri="{FF2B5EF4-FFF2-40B4-BE49-F238E27FC236}">
                <a16:creationId xmlns:a16="http://schemas.microsoft.com/office/drawing/2014/main" id="{119C5137-61A4-DC01-D477-95D1AB08A6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0825" y="981075"/>
            <a:ext cx="8353425" cy="5353050"/>
          </a:xfr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3" name="İçerik Yer Tutucusu 3">
            <a:extLst>
              <a:ext uri="{FF2B5EF4-FFF2-40B4-BE49-F238E27FC236}">
                <a16:creationId xmlns:a16="http://schemas.microsoft.com/office/drawing/2014/main" id="{E5312B93-AE76-6CDC-5D28-50031B3E80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11188" y="404813"/>
            <a:ext cx="7993062" cy="6013450"/>
          </a:xfr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7" name="İçerik Yer Tutucusu 3">
            <a:extLst>
              <a:ext uri="{FF2B5EF4-FFF2-40B4-BE49-F238E27FC236}">
                <a16:creationId xmlns:a16="http://schemas.microsoft.com/office/drawing/2014/main" id="{7CA68FD9-732C-DB8A-07F8-C8D0672573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163" y="549275"/>
            <a:ext cx="8004175" cy="5648325"/>
          </a:xfr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B2E36A0F-5F09-FFBF-34D4-6D2065E02279}"/>
              </a:ext>
            </a:extLst>
          </p:cNvPr>
          <p:cNvSpPr>
            <a:spLocks noChangeArrowheads="1"/>
          </p:cNvSpPr>
          <p:nvPr/>
        </p:nvSpPr>
        <p:spPr bwMode="auto">
          <a:xfrm>
            <a:off x="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gn="ctr" eaLnBrk="1" hangingPunct="1">
              <a:lnSpc>
                <a:spcPts val="4300"/>
              </a:lnSpc>
              <a:spcBef>
                <a:spcPts val="1300"/>
              </a:spcBef>
              <a:buFontTx/>
              <a:buNone/>
            </a:pPr>
            <a:r>
              <a:rPr lang="en-US" altLang="tr-TR" sz="3600" b="1">
                <a:solidFill>
                  <a:srgbClr val="FF0000"/>
                </a:solidFill>
                <a:latin typeface="Arial" panose="020B0604020202020204" pitchFamily="34" charset="0"/>
                <a:ea typeface="MS PGothic" panose="020B0600070205080204" pitchFamily="34" charset="-128"/>
              </a:rPr>
              <a:t>Avoid the “Avoidable” Risk Factors</a:t>
            </a:r>
          </a:p>
        </p:txBody>
      </p:sp>
      <p:pic>
        <p:nvPicPr>
          <p:cNvPr id="102402" name="Picture 3" descr="47">
            <a:extLst>
              <a:ext uri="{FF2B5EF4-FFF2-40B4-BE49-F238E27FC236}">
                <a16:creationId xmlns:a16="http://schemas.microsoft.com/office/drawing/2014/main" id="{073AEB08-F778-202B-6FD5-6DD17AB7C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663" y="1171575"/>
            <a:ext cx="5648325"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6BEFE11B-A82C-E4F0-4B0F-C5E7A755363B}"/>
              </a:ext>
            </a:extLst>
          </p:cNvPr>
          <p:cNvSpPr>
            <a:spLocks noGrp="1"/>
          </p:cNvSpPr>
          <p:nvPr>
            <p:ph type="title"/>
          </p:nvPr>
        </p:nvSpPr>
        <p:spPr/>
        <p:txBody>
          <a:bodyPr/>
          <a:lstStyle/>
          <a:p>
            <a:pPr eaLnBrk="1" hangingPunct="1"/>
            <a:r>
              <a:rPr lang="tr-TR" altLang="tr-TR" sz="2800"/>
              <a:t>References</a:t>
            </a:r>
          </a:p>
        </p:txBody>
      </p:sp>
      <p:sp>
        <p:nvSpPr>
          <p:cNvPr id="104450" name="Rectangle 3">
            <a:extLst>
              <a:ext uri="{FF2B5EF4-FFF2-40B4-BE49-F238E27FC236}">
                <a16:creationId xmlns:a16="http://schemas.microsoft.com/office/drawing/2014/main" id="{DC4DA414-02E9-408A-BB2F-E8EED05D684D}"/>
              </a:ext>
            </a:extLst>
          </p:cNvPr>
          <p:cNvSpPr>
            <a:spLocks noGrp="1"/>
          </p:cNvSpPr>
          <p:nvPr>
            <p:ph idx="1"/>
          </p:nvPr>
        </p:nvSpPr>
        <p:spPr>
          <a:xfrm>
            <a:off x="685800" y="1771650"/>
            <a:ext cx="7918450" cy="4465638"/>
          </a:xfrm>
        </p:spPr>
        <p:txBody>
          <a:bodyPr/>
          <a:lstStyle/>
          <a:p>
            <a:pPr eaLnBrk="1" hangingPunct="1">
              <a:buFontTx/>
              <a:buNone/>
            </a:pPr>
            <a:r>
              <a:rPr lang="tr-TR" altLang="tr-TR" sz="1800"/>
              <a:t>1</a:t>
            </a:r>
            <a:r>
              <a:rPr lang="tr-TR" altLang="tr-TR" sz="2400"/>
              <a:t>. </a:t>
            </a:r>
            <a:r>
              <a:rPr lang="tr-TR" altLang="tr-TR" sz="1800"/>
              <a:t>Scientific Aspect of Cigarette Smoking. Ed. Ayla Tür. Logos Medical Publising, 2005.</a:t>
            </a:r>
          </a:p>
          <a:p>
            <a:pPr eaLnBrk="1" hangingPunct="1">
              <a:buFontTx/>
              <a:buNone/>
            </a:pPr>
            <a:r>
              <a:rPr lang="tr-TR" altLang="tr-TR" sz="1800"/>
              <a:t>2. Principles and Practice of Radiation Oncology. Ed. Perez Ca, Brady LW</a:t>
            </a:r>
          </a:p>
          <a:p>
            <a:pPr eaLnBrk="1" hangingPunct="1">
              <a:buFontTx/>
              <a:buNone/>
            </a:pPr>
            <a:r>
              <a:rPr lang="tr-TR" altLang="tr-TR" sz="1800"/>
              <a:t>    Halperin EC, Schmid-Ullrich RK.. Lippincott-Williams&amp;Wilkins, </a:t>
            </a:r>
          </a:p>
          <a:p>
            <a:pPr eaLnBrk="1" hangingPunct="1">
              <a:buFontTx/>
              <a:buNone/>
            </a:pPr>
            <a:r>
              <a:rPr lang="tr-TR" altLang="tr-TR" sz="1800"/>
              <a:t>3. Basic Pathology. Ed. Robbins and Kumar</a:t>
            </a:r>
          </a:p>
          <a:p>
            <a:pPr eaLnBrk="1" hangingPunct="1">
              <a:buFontTx/>
              <a:buNone/>
            </a:pPr>
            <a:r>
              <a:rPr lang="tr-TR" altLang="tr-TR" sz="1800"/>
              <a:t>4. </a:t>
            </a:r>
            <a:r>
              <a:rPr lang="tr-TR" altLang="tr-TR" sz="1800">
                <a:hlinkClick r:id="rId2"/>
              </a:rPr>
              <a:t>www.niehs.nih.gov</a:t>
            </a:r>
            <a:endParaRPr lang="tr-TR" altLang="tr-TR" sz="1800"/>
          </a:p>
          <a:p>
            <a:pPr eaLnBrk="1" hangingPunct="1">
              <a:buFontTx/>
              <a:buNone/>
            </a:pPr>
            <a:r>
              <a:rPr lang="tr-TR" altLang="tr-TR" sz="1800"/>
              <a:t>5. Cancer, Principles &amp; practice of Oncology. Ed. DeVita VT, Hellman S, Rosenberg SA.  9th edition. Lippincott-Williams&amp;Wilkins, </a:t>
            </a:r>
          </a:p>
          <a:p>
            <a:pPr eaLnBrk="1" hangingPunct="1">
              <a:buFontTx/>
              <a:buNone/>
            </a:pPr>
            <a:r>
              <a:rPr lang="tr-TR" altLang="tr-TR" sz="1800"/>
              <a:t>6. </a:t>
            </a:r>
            <a:r>
              <a:rPr lang="tr-TR" altLang="tr-TR" sz="1800">
                <a:hlinkClick r:id="rId3"/>
              </a:rPr>
              <a:t>https://monographs.iarc.who.int/list-of-classifications/</a:t>
            </a:r>
            <a:endParaRPr lang="tr-TR" altLang="tr-TR" sz="1800"/>
          </a:p>
          <a:p>
            <a:pPr eaLnBrk="1" hangingPunct="1">
              <a:buFontTx/>
              <a:buNone/>
            </a:pPr>
            <a:r>
              <a:rPr lang="tr-TR" altLang="tr-TR" sz="1800"/>
              <a:t>7. </a:t>
            </a:r>
            <a:r>
              <a:rPr lang="tr-TR" altLang="tr-TR" sz="1800">
                <a:hlinkClick r:id="rId4"/>
              </a:rPr>
              <a:t>http://www.who.int/en</a:t>
            </a:r>
            <a:endParaRPr lang="tr-TR" altLang="tr-TR" sz="1800"/>
          </a:p>
          <a:p>
            <a:pPr eaLnBrk="1" hangingPunct="1">
              <a:buFontTx/>
              <a:buNone/>
            </a:pPr>
            <a:r>
              <a:rPr lang="tr-TR" altLang="tr-TR" sz="1800"/>
              <a:t>8. </a:t>
            </a:r>
            <a:r>
              <a:rPr lang="tr-TR" altLang="tr-TR" sz="1800">
                <a:hlinkClick r:id="rId5"/>
              </a:rPr>
              <a:t>http://globocan.iarc.fr/Default.aspx</a:t>
            </a:r>
            <a:endParaRPr lang="tr-TR" altLang="tr-TR" sz="1800"/>
          </a:p>
          <a:p>
            <a:pPr eaLnBrk="1" hangingPunct="1">
              <a:buFontTx/>
              <a:buNone/>
            </a:pPr>
            <a:r>
              <a:rPr lang="tr-TR" altLang="tr-TR" sz="1800"/>
              <a:t>9. </a:t>
            </a:r>
            <a:r>
              <a:rPr lang="tr-TR" altLang="tr-TR" sz="1800">
                <a:hlinkClick r:id="rId6"/>
              </a:rPr>
              <a:t>https://www.nih.gov/about-nih/what-we-do/nih-almanac/national-cancer-institute-nci</a:t>
            </a:r>
            <a:endParaRPr lang="tr-TR" altLang="tr-TR" sz="1800"/>
          </a:p>
          <a:p>
            <a:pPr eaLnBrk="1" hangingPunct="1">
              <a:buFontTx/>
              <a:buNone/>
            </a:pPr>
            <a:endParaRPr lang="tr-TR" altLang="tr-TR" sz="1800"/>
          </a:p>
        </p:txBody>
      </p:sp>
    </p:spTree>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9511</TotalTime>
  <Words>4492</Words>
  <Application>Microsoft Macintosh PowerPoint</Application>
  <PresentationFormat>Ekran Gösterisi (4:3)</PresentationFormat>
  <Paragraphs>517</Paragraphs>
  <Slides>68</Slides>
  <Notes>22</Notes>
  <HiddenSlides>0</HiddenSlides>
  <MMClips>0</MMClips>
  <ScaleCrop>false</ScaleCrop>
  <HeadingPairs>
    <vt:vector size="8" baseType="variant">
      <vt:variant>
        <vt:lpstr>Kullanılan Yazı Tipleri</vt:lpstr>
      </vt:variant>
      <vt:variant>
        <vt:i4>9</vt:i4>
      </vt:variant>
      <vt:variant>
        <vt:lpstr>Tema</vt:lpstr>
      </vt:variant>
      <vt:variant>
        <vt:i4>1</vt:i4>
      </vt:variant>
      <vt:variant>
        <vt:lpstr>Eklenmiş OLE Hizmet Programları</vt:lpstr>
      </vt:variant>
      <vt:variant>
        <vt:i4>1</vt:i4>
      </vt:variant>
      <vt:variant>
        <vt:lpstr>Slayt Başlıkları</vt:lpstr>
      </vt:variant>
      <vt:variant>
        <vt:i4>68</vt:i4>
      </vt:variant>
    </vt:vector>
  </HeadingPairs>
  <TitlesOfParts>
    <vt:vector size="79" baseType="lpstr">
      <vt:lpstr>Calibri</vt:lpstr>
      <vt:lpstr>Arial</vt:lpstr>
      <vt:lpstr>Calibri Light</vt:lpstr>
      <vt:lpstr>Tahoma</vt:lpstr>
      <vt:lpstr>Wingdings</vt:lpstr>
      <vt:lpstr>MS PGothic</vt:lpstr>
      <vt:lpstr>Times</vt:lpstr>
      <vt:lpstr>Monotype Sorts</vt:lpstr>
      <vt:lpstr>Arial Rounded MT Bold</vt:lpstr>
      <vt:lpstr>Office Teması</vt:lpstr>
      <vt:lpstr>Microsoft Photo Editor 3.0 Photo</vt:lpstr>
      <vt:lpstr>CANCER &amp;   PREDISPOSING FACTORS</vt:lpstr>
      <vt:lpstr>OBJECTIVES</vt:lpstr>
      <vt:lpstr>What Causes Cancer?</vt:lpstr>
      <vt:lpstr>Lifestyle Risks</vt:lpstr>
      <vt:lpstr>Human Impact on the Environment and the Environment Impact on Human</vt:lpstr>
      <vt:lpstr>PowerPoint Sunusu</vt:lpstr>
      <vt:lpstr>Environmental Risks</vt:lpstr>
      <vt:lpstr>Inherited Risks</vt:lpstr>
      <vt:lpstr>            ENVIRONMENT AND CANCER</vt:lpstr>
      <vt:lpstr>Avoidable  Factors </vt:lpstr>
      <vt:lpstr>REASONS SUPPORTING ENVIRONMENTAL FACTORS IN CANCER ETIOLOGY</vt:lpstr>
      <vt:lpstr>PowerPoint Sunusu</vt:lpstr>
      <vt:lpstr>PowerPoint Sunusu</vt:lpstr>
      <vt:lpstr>CARCINOGENES</vt:lpstr>
      <vt:lpstr>Agents that can be carcinogenic IARC(The International Agency for Research on Cancer) categorization</vt:lpstr>
      <vt:lpstr>PowerPoint Sunusu</vt:lpstr>
      <vt:lpstr>How do carcinogens enter the body?</vt:lpstr>
      <vt:lpstr>PowerPoint Sunusu</vt:lpstr>
      <vt:lpstr>PowerPoint Sunusu</vt:lpstr>
      <vt:lpstr>BENZENE</vt:lpstr>
      <vt:lpstr>PowerPoint Sunusu</vt:lpstr>
      <vt:lpstr>DİOXİNS</vt:lpstr>
      <vt:lpstr>PowerPoint Sunusu</vt:lpstr>
      <vt:lpstr>PAHs</vt:lpstr>
      <vt:lpstr>PowerPoint Sunusu</vt:lpstr>
      <vt:lpstr>VINYL CHLORIDE</vt:lpstr>
      <vt:lpstr>PowerPoint Sunusu</vt:lpstr>
      <vt:lpstr>PowerPoint Sunusu</vt:lpstr>
      <vt:lpstr>Occupational cancer</vt:lpstr>
      <vt:lpstr>Occupational cancer 2</vt:lpstr>
      <vt:lpstr>Occupational cancer 3</vt:lpstr>
      <vt:lpstr>Liver Cancer: Documented Links </vt:lpstr>
      <vt:lpstr>PowerPoint Sunusu</vt:lpstr>
      <vt:lpstr>PowerPoint Sunusu</vt:lpstr>
      <vt:lpstr>PowerPoint Sunusu</vt:lpstr>
      <vt:lpstr>Childhood Brain Cancer: Documented Links </vt:lpstr>
      <vt:lpstr>Childhood Leukemias: Documented Links </vt:lpstr>
      <vt:lpstr>PowerPoint Sunusu</vt:lpstr>
      <vt:lpstr>Classification of Carcinogens According to the Mode of Action</vt:lpstr>
      <vt:lpstr>Genotoxic Carcinogen</vt:lpstr>
      <vt:lpstr>METABOLIC ACTIVATION REQUIRES SPECIALIZED ENZYMES: e.g. CYP450s (receptors, co-factors and many other enzymes are also involved)</vt:lpstr>
      <vt:lpstr>Classification of Carcinogens According to the Mode of Action</vt:lpstr>
      <vt:lpstr>Non-Genotoxic Carcinogens</vt:lpstr>
      <vt:lpstr>PowerPoint Sunusu</vt:lpstr>
      <vt:lpstr>PROPOSED CARCINOGENIC EVENTS  Genotoxic and non-genotoxic effects of carcinogen</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Cancer-causing chemicals in tobacco smoke </vt:lpstr>
      <vt:lpstr>PowerPoint Sunusu</vt:lpstr>
      <vt:lpstr>PowerPoint Sunusu</vt:lpstr>
      <vt:lpstr>PowerPoint Sunusu</vt:lpstr>
      <vt:lpstr>PowerPoint Sunusu</vt:lpstr>
      <vt:lpstr> Interaction of Radiation with DNA</vt:lpstr>
      <vt:lpstr>PowerPoint Sunusu</vt:lpstr>
      <vt:lpstr>PowerPoint Sunusu</vt:lpstr>
      <vt:lpstr>PowerPoint Sunusu</vt:lpstr>
      <vt:lpstr>PowerPoint Sunusu</vt:lpstr>
      <vt:lpstr>PowerPoint Sunusu</vt:lpstr>
      <vt:lpstr>PowerPoint Sunusu</vt:lpstr>
      <vt:lpstr>References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dc:creator>
  <cp:lastModifiedBy>Bilge Gürsel</cp:lastModifiedBy>
  <cp:revision>430</cp:revision>
  <dcterms:created xsi:type="dcterms:W3CDTF">2006-12-25T08:26:06Z</dcterms:created>
  <dcterms:modified xsi:type="dcterms:W3CDTF">2025-10-16T06:56:37Z</dcterms:modified>
</cp:coreProperties>
</file>
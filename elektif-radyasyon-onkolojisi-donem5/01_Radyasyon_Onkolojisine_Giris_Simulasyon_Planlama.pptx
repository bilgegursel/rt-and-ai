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Radyasyon Onkolojisine Giriş
Simülasyon, Planlama ve Klinik Süreç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0E8E8"/>
                </a:solidFill>
                <a:latin typeface="Calibri"/>
              </a:rPr>
              <a:t>45 dakikalık elektif ders · Dönem 5 Tıp Öğrencileri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235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libri"/>
              </a:rPr>
              <a:t>Ders 1 · Radyasyon Onkolojisine Giriş
Prof. Dr. Ş. Bilge Gürsel · Ondokuz Mayıs Üniversitesi Tıp Fakültesi · Radyasyon Onkolojisi 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Öğrenme hedefleri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Radyasyon onkoloğunun multidisipliner kanser ekibindeki yerini tanımlayabilmek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Simülasyon → konturlama → planlama → tedavi → takip basamaklarını sıralayabilmek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GTV, CTV, PTV kavramlarını klinik dilde açıklayabilmek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Eksternal RT ile brakiterapi farkını ayırt edebilmek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Temel doz birimlerini (Gy) ve fraksiyonasyon mantığını özetleyebilmek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45C26"/>
                </a:solidFill>
                <a:latin typeface="Calibri"/>
              </a:rPr>
              <a:t>Not: Ders sonunda: “Hasta RT’ye nasıl gelir, ne olur?” sorusuna yanıt verebilmelisiniz.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1 · Radyasyon Onkolojisine Giriş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2/19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Radyasyon onkoloğu ne yapar?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Küratif veya palyatif radyoterapi endikasyonunu değerlendirir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Tedavi hacmini (kontur) tanımlar; doz–hacim kısıtlarını belirler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Planı onaylar; yan etki yönetimini yürütür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MDT’de cerrahi ve medikal onkoloji ile birlikte karar verir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Takipte nüks, toksisite ve geç etkileri izler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1 · Radyasyon Onkolojisine Giriş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3/19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Radyasyon onkoloğu ne yapmaz? (sık karışıklıklar)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Sistemik tedavinin (KT, hormon, hedefe yönelik, İO) tek başına yönetimini üstlenmez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Primer cerrahi kararını vermez; neoadjuvan/adjuvan RT ihtiyacını belirler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Tanıyı tek başına koymaz; patoloji + evreleme verisi ile çalışır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“Işın = yanma” değildir: kontrollü, fraksiyone, görüntü rehberli tedavi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1 · Radyasyon Onkolojisine Giriş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4/19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7C7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Tarihçe ve temel kavramlar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1 · Radyasyon Onkolojisine Giriş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5/19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Kısa tarihçe (öğrenci için)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1895 Röntgen → X-ışını; kısa süre sonra ilk tedavi denemeleri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Erken klinik uygulamalar ve ilk radyasyon onkolojisi pratikleri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Cobalt-60 ve lineer hızlandırıcılar → modern eksternal RT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3D-CRT → IMRT/VMAT → IGRT → stereotaktik teknikler (SBRT/SRS)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Bugün: görüntü rehberli, organ koruyucu, kişiselleştirilmiş dozimetri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1 · Radyasyon Onkolojisine Giriş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6/19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Radyoterapinin dokuya uygulanması: iki yol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Teleterapi (eksternal RT): kaynak dışarıda (linac); en sık yöntem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Brakiterapi: kaynak tümör içi/yanına yerleştirilir (serviks, endometrium, prostat, cilt…)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Nadiren: radyonüklid tedaviler (nükleer tıp ile kesişim)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45C26"/>
                </a:solidFill>
                <a:latin typeface="Calibri"/>
              </a:rPr>
              <a:t>Not: Aynı hastada eksternal + brakiterapi kombine kullanılabilir (ör. serviks).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1 · Radyasyon Onkolojisine Giriş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7/19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Temel birimler (dil birliği)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Absorbe doz: Gray (Gy) = 1 J/kg; pratikte cGy de kullanılır (100 cGy = 1 Gy)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Fraksiyon: tek seans uygulanan doz (ör. 2 Gy × 25 fraksiyon)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Linac’ta genelde MV fotonlar (6–15 MV); elektronlar yüzeysel lezyonlar için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Aktivite: Becquerel (Bq) — brakiterapi/radyonüklid kaynak aktivitesi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1 · Radyasyon Onkolojisine Giriş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8/19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7C7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Hasta yolculuğu: simülasyondan tedaviye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1 · Radyasyon Onkolojisine Giriş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9/19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Klinik iş akışı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1) Konsültasyon ve endikasyon (kür / adjuvan / neoadjuvan / palyatif)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2) Simülasyon: immobilizasyon + CT (± MR/PET füzyonu)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3) Konturlama: GTV → CTV → PTV + OAR’lar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4) Tedavi planlama: dozimetrist/fizikçi + hekim onayı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5) Kalite kontrol (QA) ve ilk seans görüntü doğrulama (IGRT)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6) Tedavi süresince klinik takip; bitişte toksisite/sonuç değerlendirmesi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1 · Radyasyon Onkolojisine Giriş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10/19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Fiksasyon ve simülasyon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Amaç: her seans aynı pozisyonda, milimetrik tekrarlanabilirlik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Maske (baş-boyun), vakum yastık, meme board, karın kompresyonu…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Simülasyon CT: tedavi pozisyonunda; IV kontrast sık kullanılır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Gerekirse 4D-CT (solunum hareketi: akciğer, meme, karaciğer)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MR/PET: yumuşak doku ve metabolik uzanım için füzyon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45C26"/>
                </a:solidFill>
                <a:latin typeface="Calibri"/>
              </a:rPr>
              <a:t>Not: Simülasyon “film çekmek” değildir; tedavi geometrisinin kaydıdır.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1 · Radyasyon Onkolojisine Giriş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11/19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Hacim tanımları: GTV – CTV – PTV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GTV: görüntüde görülen tümör (gross)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CTV: GTV + mikroskobik yayılım payı (klinik karar)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PTV: CTV + set-up/organ hareketi payı (güvenlik marjı)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OAR: risk altındaki organlar (omurilik, akciğer, kalp, rektum, mesane…)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Modern planda: “tümörü yeterince ört, organı koru” dengesi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1 · Radyasyon Onkolojisine Giriş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12/19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Planlama tekniklerine bakış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3D-CRT: konformal alanlar; seçilmiş endikasyonlarda hâlâ geçerli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IMRT / VMAT: dozun şekillendirilmesi; OAR koruması güçlü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IGRT: her seansta görüntü ile pozisyon doğrulama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SBRT/SRS: az fraksiyonda yüksek doz (oligometastaz, erken akciğer, beyin…)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Adaptif RT: anatomi değiştikçe planın güncellenmesi (seçilmiş merkezler)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1 · Radyasyon Onkolojisine Giriş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13/19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Küratif mi, palyatif mi?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539496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5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E7C7B"/>
                </a:solidFill>
                <a:latin typeface="Calibri"/>
              </a:rPr>
              <a:t>Küratif / definitif / adjuvan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Lokal kontrol ve sağkalım hedefi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Daha yüksek toplam doz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Daha sıkı OAR kısıtları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Örnek: erken meme BCS sonrası, lokal ileri serviks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39496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5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41732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45C26"/>
                </a:solidFill>
                <a:latin typeface="Calibri"/>
              </a:rPr>
              <a:t>Palyatif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01168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Semptom kontrolü (ağrı, kanama, bası)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Kısa şema (8 Gy×1, 20 Gy/5, 30 Gy/10)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Hızlı rahatlama, az vizit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Yaşam kalitesi öncelikli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1 · Radyasyon Onkolojisine Giriş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14/19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Erken ve geç yan etkiler (genel çerçeve)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Erken (gün–hafta): dermatit, mukozit, diyare, sistit, özofajit — genelde geçici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Geç (ay–yıl): fibrozis, organ fonksiyon kaybı, sekonder kanser (nadir ama önemli)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Yönetim: destek tedavi, doz–hacim bilinci, hasta bilgilendirme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Öğrenci kuralı: “alan neyi görüyorsa, o organın toksisitesini bekle”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1 · Radyasyon Onkolojisine Giriş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15/19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Radyobiyoloji: 5R (klinik çeviri)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Repair: normal doku onarımı → fraksiyonasyonun gerekçesi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Repopulation: tedavi sırasında tümör hücre çoğalması → toplam süreyi uzatma riski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Redistribution: hücre siklusunda radyosensitif fazlara kayma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Reoxygenation: hipoksik hücrelerin oksijenlenmesi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Radiosensitivity: tümör/doku tipine göre duyarlılık farkı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45C26"/>
                </a:solidFill>
                <a:latin typeface="Calibri"/>
              </a:rPr>
              <a:t>Not: Çoğu solid tümörde günlük 1.8–2 Gy “klasik”; hipofraksiyon seçilmiş durumlarda artar.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1 · Radyasyon Onkolojisine Giriş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16/19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MDT’de radyasyon onkoloğunun soruları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Lokal hastalık küratif RT ile kontrol edilebilir mi?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Cerrahi öncesi mi (neoadjuvan), sonrası mı (adjuvan)?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Eşzamanlı sistemik tedavi gerekir mi (kemoradyoterapi)?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Hangi organlar kritik? Hasta komorbiditesi ne diyor?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Palyasyonda en kısa etkili şema hangisi?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1 · Radyasyon Onkolojisine Giriş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17/19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Alınacak mesajlar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RT = multidisipliner kanser tedavisinin lokal-bölgesel silahı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Süreç: endikasyon → simülasyon → kontur → plan → IGRT’li tedavi → takip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Hacim dili: GTV / CTV / PTV / OAR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Amaç netleştir: kür mü, palyasyon mu?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Yan etkiyi alan anatomisiyle bağlayın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1 · Radyasyon Onkolojisine Giriş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18/19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Öğrenci için mini olgu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65 yaş, meme koruyucu cerrahi + SLNB; pT1N0, HR+, HER2−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Soru 1: Adjuvan meme RT endikasyonu var mı? Neden?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Soru 2: Simülasyonda hangi fiksasyon / pozisyon beklenir?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Soru 3: PTV’ye giren kritik organlar neler olabilir?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Soru 4: Erken ve geç toksisitelerden 2’şer örnek verin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45C26"/>
                </a:solidFill>
                <a:latin typeface="Calibri"/>
              </a:rPr>
              <a:t>Not: Yanıtları Ders 3 (Meme) ile birlikte tartışın.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1 · Radyasyon Onkolojisine Giriş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19/19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
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Introduce yourself and the three pillars of today’s lecture: chemical carcinogens, tobacco (including other tobacco products and sidestream smoke), and radiation carcinogenesis. Emphasize that the same biological story — DNA injury, clonal selection, and progression — links all three. Tell them speaker notes are also provided as a Word document for study.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five objectives aloud. Tell students that by the end they should be able to explain mechanisms, classify exposures, and counsel patients about tobacco and radiation risks. This is a Year-3 foundational lecture — focus on mechanisms and clinical relevance, not memorizing every chemical.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if inheritance explains &lt;15% of cancers, what explains the rest?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Cite Doll-type avoidable-risk teaching figures as order-of-magnitude guidance, not exact local statistics.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enter chemical carcinogenesis — the core mechanism block of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Pott story briefly — it invented environmental cancer thinking.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pyramid. Group 1 means established human carcinogen — examples: tobacco smoke, benzene, asbestos, ionizing radiation, ethanol, aflatoxin. Stress that classification is about hazard evidence, not individual risk prediction. Always ask: who is exposed, how much, how long?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figure as the fork in the road. Genotoxic agents mutate DNA. Non-genotoxic agents drive proliferation, receptor signaling, cytotoxicity with regeneration, or oxidative stress. Ask a student for one example of each before you reveal lists.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metabolic activation: many chemicals are safe until CYP450 creates the ultimate carcinogen. Inter-individual enzyme differences partly explain susceptibility.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 the figure. Initiation = irreversible DNA hit. Promotion = expansion. Progression = invasion/metastasis. Return to this figure when you discuss tobacco and radiation.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master flowchart of the lecture. Initiation is the heritable DNA hit. Promotion expands that clone under continuous stimulation and is reversible if the promoter stops. Progression is irreversible evolution toward invasion and metastasis. Classic teaching model: mouse skin — benzo[a]pyrene initiator then phorbol ester promoter.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confuse ‘classification systems.’ Put all five on the board as complementary lenses.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each portal on the figure. Ask which dominates in factories (inhalation). Mention arsenic in water (ingestion) and solvent dermatitis/absorption (skin).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 intensity × duration × susceptibility × route. Inhalation dominates workplaces. Skin absorption is underestimated for solvents. Ingestion matters for foodborne toxins like aflatoxin and contaminated water (arsenic). Mention that the same agent can affect different organs depending on route and metabolism.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high-dose occupational clusters from low-dose general population exposures.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agent → cancer flash pairs. Ask students for vinyl chloride and asbestos before revealing.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high-yield exam slide. Pause and quiz.</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industrial-hygiene hierarchy: PPE is not the first answer. Substitution and engineering controls prevent more cancer than gloves alone. Link to regulation (exposure limits), workplace rights, and the physician’s role in occupational history-taking.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Tobacco is the most important avoidable chemical carcinogen mixture in clinical practice.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clinical: every history should include smoking status and pack-years.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Narrate the bubbles: PAHs and nitrosamines damage DNA; metals and Po-210 add to the burden; nicotine is not the main mutagen — it is the addiction engine that keeps exposure chronic.</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back to chemical section: many of these are classic IARC agents.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the pathway on the board if time: Smoke → activation → adduct → mutation → field → cancer.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let students think ‘only cigarettes cause cancer.’ Combusted products share many toxicants. Smokeless tobacco still delivers nitrosamines. Waterpipe sessions can deliver large toxicant doses. E-cigarettes: stress they are not harmless, evidence is evolving, and they should not be started by never-smokers; cessation context is different.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 at the figure and define MSS vs SSS. Ask: which exposes children in a car? (SSS/second-hand).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clearly. Sidestream smoke is a major part of second-hand smoke. Because combustion conditions differ, SSS can be disproportionately toxic for some compounds. Emphasize smoke-free policies protect workers and children. Second-hand smoke is an IARC Group 1 carcinogen.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to pediatrics and occupational health (hospitality workers historically heavily exposed).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one 60-second cessation advice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Radiation is a physical carcinogen that creates chemical injury in DNA — bridging physics and pathology.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Year 3, focus on ionizing radiation and UV as established carcinogens. Particulate radiation (alpha from radon) is highly damaging locally. Avoid spending lecture time on controversial RF debates — state that evidence is not comparable to tobacco, asbestos, or ionizing radiation.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direct vs indirect action. X/γ rays act largely via water radiolysis. Double-strand breaks are critical; misrepair causes chromosomal aberrations and cancer risk.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that stochastic cancer risk has no sharp practical ‘safe zero’ — risk rises with dose, while tissue reactions (deterministic) have thresholds.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 at exposure matters — children often have higher lifetime risk for many tissues.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why is thyroid cancer a classic after childhood neck irradiation / fallout?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Radon is the teaching pearl for environmental exposure — second leading cause of lung cancer after smoking in many countries, synergistic with tobacco. For medical exposure, teach justification and ALARA. CT is useful but not casual. Radiotherapy’s benefit outweighs secondary cancer risk when indicated; survivors still need long-term awareness.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professionalism slide as much as a science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a simple Venn on the board: overlapping mechanisms, distinct sources.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with agency — most of these risks are modifiable.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the class shout items before you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repeating these six points. Invite questions from each section. Remind students the Word document contains the full speaking script for revision.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students to IARC as the living classification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242"/>
        </a:solidFill>
        <a:effectLst/>
      </p:bgPr>
    </p:bg>
    <p:spTree>
      <p:nvGrpSpPr>
        <p:cNvPr id="1" name=""/>
        <p:cNvGrpSpPr/>
        <p:nvPr/>
      </p:nvGrpSpPr>
      <p:grpSpPr/>
      <p:sp>
        <p:nvSpPr>
          <p:cNvPr id="2" name="Oval 1"/>
          <p:cNvSpPr/>
          <p:nvPr/>
        </p:nvSpPr>
        <p:spPr>
          <a:xfrm>
            <a:off x="-1097280" y="-914400"/>
            <a:ext cx="3657600" cy="3657600"/>
          </a:xfrm>
          <a:prstGeom prst="ellipse">
            <a:avLst/>
          </a:prstGeom>
          <a:solidFill>
            <a:srgbClr val="1A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875520" y="3840480"/>
            <a:ext cx="3474720" cy="3474720"/>
          </a:xfrm>
          <a:prstGeom prst="ellipse">
            <a:avLst/>
          </a:prstGeom>
          <a:solidFill>
            <a:srgbClr val="1A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92040"/>
            <a:ext cx="12191695" cy="196596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4114800"/>
            <a:ext cx="2194560" cy="457200"/>
          </a:xfrm>
          <a:prstGeom prst="round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CHEMICALS</a:t>
            </a:r>
          </a:p>
        </p:txBody>
      </p:sp>
      <p:sp>
        <p:nvSpPr>
          <p:cNvPr id="6" name="Rounded Rectangle 5"/>
          <p:cNvSpPr/>
          <p:nvPr/>
        </p:nvSpPr>
        <p:spPr>
          <a:xfrm>
            <a:off x="3108960" y="4114800"/>
            <a:ext cx="2194560" cy="457200"/>
          </a:xfrm>
          <a:prstGeom prst="roundRect">
            <a:avLst/>
          </a:prstGeom>
          <a:solidFill>
            <a:srgbClr val="E0A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TOBACCO</a:t>
            </a:r>
          </a:p>
        </p:txBody>
      </p:sp>
      <p:sp>
        <p:nvSpPr>
          <p:cNvPr id="7" name="Rounded Rectangle 6"/>
          <p:cNvSpPr/>
          <p:nvPr/>
        </p:nvSpPr>
        <p:spPr>
          <a:xfrm>
            <a:off x="5577840" y="4114800"/>
            <a:ext cx="2194560" cy="45720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RADIATION</a:t>
            </a:r>
          </a:p>
        </p:txBody>
      </p:sp>
      <p:sp>
        <p:nvSpPr>
          <p:cNvPr id="8" name="TextBox 7"/>
          <p:cNvSpPr txBox="1"/>
          <p:nvPr/>
        </p:nvSpPr>
        <p:spPr>
          <a:xfrm>
            <a:off x="640080" y="1554480"/>
            <a:ext cx="10972800" cy="1463040"/>
          </a:xfrm>
          <a:prstGeom prst="rect">
            <a:avLst/>
          </a:prstGeom>
          <a:noFill/>
        </p:spPr>
        <p:txBody>
          <a:bodyPr wrap="square">
            <a:spAutoFit/>
          </a:bodyPr>
          <a:lstStyle/>
          <a:p>
            <a:pPr algn="l"/>
            <a:r>
              <a:rPr sz="3600" b="1">
                <a:solidFill>
                  <a:srgbClr val="FFFFFF"/>
                </a:solidFill>
                <a:latin typeface="Calibri"/>
              </a:rPr>
              <a:t>Carcinogenesis:
Chemicals, Tobacco &amp; Radiation</a:t>
            </a:r>
          </a:p>
        </p:txBody>
      </p:sp>
      <p:sp>
        <p:nvSpPr>
          <p:cNvPr id="9" name="TextBox 8"/>
          <p:cNvSpPr txBox="1"/>
          <p:nvPr/>
        </p:nvSpPr>
        <p:spPr>
          <a:xfrm>
            <a:off x="640080" y="3291840"/>
            <a:ext cx="10972800" cy="457200"/>
          </a:xfrm>
          <a:prstGeom prst="rect">
            <a:avLst/>
          </a:prstGeom>
          <a:noFill/>
        </p:spPr>
        <p:txBody>
          <a:bodyPr wrap="square">
            <a:spAutoFit/>
          </a:bodyPr>
          <a:lstStyle/>
          <a:p>
            <a:pPr algn="l"/>
            <a:r>
              <a:rPr sz="1800" b="0">
                <a:solidFill>
                  <a:srgbClr val="C8E6E1"/>
                </a:solidFill>
                <a:latin typeface="Calibri"/>
              </a:rPr>
              <a:t>Year 3 Medical Students  ·  Mechanisms, Exposures, Prevention</a:t>
            </a:r>
          </a:p>
        </p:txBody>
      </p:sp>
      <p:sp>
        <p:nvSpPr>
          <p:cNvPr id="10" name="TextBox 9"/>
          <p:cNvSpPr txBox="1"/>
          <p:nvPr/>
        </p:nvSpPr>
        <p:spPr>
          <a:xfrm>
            <a:off x="640080" y="5212080"/>
            <a:ext cx="10972800" cy="1097280"/>
          </a:xfrm>
          <a:prstGeom prst="rect">
            <a:avLst/>
          </a:prstGeom>
          <a:noFill/>
        </p:spPr>
        <p:txBody>
          <a:bodyPr wrap="square">
            <a:spAutoFit/>
          </a:bodyPr>
          <a:lstStyle/>
          <a:p>
            <a:pPr algn="l"/>
            <a:r>
              <a:rPr sz="1500" b="0">
                <a:solidFill>
                  <a:srgbClr val="FFFFFF"/>
                </a:solidFill>
                <a:latin typeface="Calibri"/>
              </a:rPr>
              <a:t>Prof. Dr. Ş. Bilge Gürsel
Ondokuz Mayıs University Faculty of Medicine  ·  Department of Radiation Oncology</a:t>
            </a:r>
          </a:p>
        </p:txBody>
      </p:sp>
      <p:sp>
        <p:nvSpPr>
          <p:cNvPr id="11" name="TextBox 10"/>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Introduction</a:t>
            </a:r>
          </a:p>
        </p:txBody>
      </p:sp>
      <p:sp>
        <p:nvSpPr>
          <p:cNvPr id="12" name="TextBox 11"/>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1/41</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Learning Objectives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143000"/>
            <a:ext cx="11064240" cy="82296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80160"/>
            <a:ext cx="548640" cy="548640"/>
          </a:xfrm>
          <a:prstGeom prst="ellipse">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2"/>
            <a:ext cx="548640" cy="365760"/>
          </a:xfrm>
          <a:prstGeom prst="rect">
            <a:avLst/>
          </a:prstGeom>
          <a:noFill/>
        </p:spPr>
        <p:txBody>
          <a:bodyPr wrap="square">
            <a:spAutoFit/>
          </a:bodyPr>
          <a:lstStyle/>
          <a:p>
            <a:pPr algn="ctr"/>
            <a:r>
              <a:rPr sz="1200" b="1">
                <a:solidFill>
                  <a:srgbClr val="FFFFFF"/>
                </a:solidFill>
                <a:latin typeface="Calibri"/>
              </a:rPr>
              <a:t>01</a:t>
            </a:r>
          </a:p>
        </p:txBody>
      </p:sp>
      <p:sp>
        <p:nvSpPr>
          <p:cNvPr id="8" name="TextBox 7"/>
          <p:cNvSpPr txBox="1"/>
          <p:nvPr/>
        </p:nvSpPr>
        <p:spPr>
          <a:xfrm>
            <a:off x="1554480" y="1371600"/>
            <a:ext cx="9692640" cy="457200"/>
          </a:xfrm>
          <a:prstGeom prst="rect">
            <a:avLst/>
          </a:prstGeom>
          <a:noFill/>
        </p:spPr>
        <p:txBody>
          <a:bodyPr wrap="square">
            <a:spAutoFit/>
          </a:bodyPr>
          <a:lstStyle/>
          <a:p>
            <a:pPr algn="l"/>
            <a:r>
              <a:rPr sz="1600" b="0">
                <a:solidFill>
                  <a:srgbClr val="1F2A33"/>
                </a:solidFill>
                <a:latin typeface="Calibri"/>
              </a:rPr>
              <a:t>Explain genotoxic vs non-genotoxic chemical carcinogenesis</a:t>
            </a:r>
          </a:p>
        </p:txBody>
      </p:sp>
      <p:sp>
        <p:nvSpPr>
          <p:cNvPr id="9" name="Rounded Rectangle 8"/>
          <p:cNvSpPr/>
          <p:nvPr/>
        </p:nvSpPr>
        <p:spPr>
          <a:xfrm>
            <a:off x="548640" y="2103120"/>
            <a:ext cx="11064240" cy="82296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2240279"/>
            <a:ext cx="548640" cy="548640"/>
          </a:xfrm>
          <a:prstGeom prst="ellipse">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59152"/>
            <a:ext cx="548640" cy="365760"/>
          </a:xfrm>
          <a:prstGeom prst="rect">
            <a:avLst/>
          </a:prstGeom>
          <a:noFill/>
        </p:spPr>
        <p:txBody>
          <a:bodyPr wrap="square">
            <a:spAutoFit/>
          </a:bodyPr>
          <a:lstStyle/>
          <a:p>
            <a:pPr algn="ctr"/>
            <a:r>
              <a:rPr sz="1200" b="1">
                <a:solidFill>
                  <a:srgbClr val="FFFFFF"/>
                </a:solidFill>
                <a:latin typeface="Calibri"/>
              </a:rPr>
              <a:t>02</a:t>
            </a:r>
          </a:p>
        </p:txBody>
      </p:sp>
      <p:sp>
        <p:nvSpPr>
          <p:cNvPr id="12" name="TextBox 11"/>
          <p:cNvSpPr txBox="1"/>
          <p:nvPr/>
        </p:nvSpPr>
        <p:spPr>
          <a:xfrm>
            <a:off x="1554480" y="2331720"/>
            <a:ext cx="9692640" cy="457200"/>
          </a:xfrm>
          <a:prstGeom prst="rect">
            <a:avLst/>
          </a:prstGeom>
          <a:noFill/>
        </p:spPr>
        <p:txBody>
          <a:bodyPr wrap="square">
            <a:spAutoFit/>
          </a:bodyPr>
          <a:lstStyle/>
          <a:p>
            <a:pPr algn="l"/>
            <a:r>
              <a:rPr sz="1600" b="0">
                <a:solidFill>
                  <a:srgbClr val="1F2A33"/>
                </a:solidFill>
                <a:latin typeface="Calibri"/>
              </a:rPr>
              <a:t>Classify carcinogens (IARC) and list major environmental/occupational agents</a:t>
            </a:r>
          </a:p>
        </p:txBody>
      </p:sp>
      <p:sp>
        <p:nvSpPr>
          <p:cNvPr id="13" name="Rounded Rectangle 12"/>
          <p:cNvSpPr/>
          <p:nvPr/>
        </p:nvSpPr>
        <p:spPr>
          <a:xfrm>
            <a:off x="548640" y="3063240"/>
            <a:ext cx="11064240" cy="82296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7240" y="3200400"/>
            <a:ext cx="548640" cy="548640"/>
          </a:xfrm>
          <a:prstGeom prst="ellipse">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319272"/>
            <a:ext cx="548640" cy="365760"/>
          </a:xfrm>
          <a:prstGeom prst="rect">
            <a:avLst/>
          </a:prstGeom>
          <a:noFill/>
        </p:spPr>
        <p:txBody>
          <a:bodyPr wrap="square">
            <a:spAutoFit/>
          </a:bodyPr>
          <a:lstStyle/>
          <a:p>
            <a:pPr algn="ctr"/>
            <a:r>
              <a:rPr sz="1200" b="1">
                <a:solidFill>
                  <a:srgbClr val="FFFFFF"/>
                </a:solidFill>
                <a:latin typeface="Calibri"/>
              </a:rPr>
              <a:t>03</a:t>
            </a:r>
          </a:p>
        </p:txBody>
      </p:sp>
      <p:sp>
        <p:nvSpPr>
          <p:cNvPr id="16" name="TextBox 15"/>
          <p:cNvSpPr txBox="1"/>
          <p:nvPr/>
        </p:nvSpPr>
        <p:spPr>
          <a:xfrm>
            <a:off x="1554480" y="3291840"/>
            <a:ext cx="9692640" cy="457200"/>
          </a:xfrm>
          <a:prstGeom prst="rect">
            <a:avLst/>
          </a:prstGeom>
          <a:noFill/>
        </p:spPr>
        <p:txBody>
          <a:bodyPr wrap="square">
            <a:spAutoFit/>
          </a:bodyPr>
          <a:lstStyle/>
          <a:p>
            <a:pPr algn="l"/>
            <a:r>
              <a:rPr sz="1600" b="0">
                <a:solidFill>
                  <a:srgbClr val="1F2A33"/>
                </a:solidFill>
                <a:latin typeface="Calibri"/>
              </a:rPr>
              <a:t>Describe exposure routes and practical protection strategies</a:t>
            </a:r>
          </a:p>
        </p:txBody>
      </p:sp>
      <p:sp>
        <p:nvSpPr>
          <p:cNvPr id="17" name="Rounded Rectangle 16"/>
          <p:cNvSpPr/>
          <p:nvPr/>
        </p:nvSpPr>
        <p:spPr>
          <a:xfrm>
            <a:off x="548640" y="4023360"/>
            <a:ext cx="11064240" cy="82296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7240" y="4160520"/>
            <a:ext cx="548640" cy="548640"/>
          </a:xfrm>
          <a:prstGeom prst="ellipse">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79392"/>
            <a:ext cx="548640" cy="365760"/>
          </a:xfrm>
          <a:prstGeom prst="rect">
            <a:avLst/>
          </a:prstGeom>
          <a:noFill/>
        </p:spPr>
        <p:txBody>
          <a:bodyPr wrap="square">
            <a:spAutoFit/>
          </a:bodyPr>
          <a:lstStyle/>
          <a:p>
            <a:pPr algn="ctr"/>
            <a:r>
              <a:rPr sz="1200" b="1">
                <a:solidFill>
                  <a:srgbClr val="FFFFFF"/>
                </a:solidFill>
                <a:latin typeface="Calibri"/>
              </a:rPr>
              <a:t>04</a:t>
            </a:r>
          </a:p>
        </p:txBody>
      </p:sp>
      <p:sp>
        <p:nvSpPr>
          <p:cNvPr id="20" name="TextBox 19"/>
          <p:cNvSpPr txBox="1"/>
          <p:nvPr/>
        </p:nvSpPr>
        <p:spPr>
          <a:xfrm>
            <a:off x="1554480" y="4251960"/>
            <a:ext cx="9692640" cy="457200"/>
          </a:xfrm>
          <a:prstGeom prst="rect">
            <a:avLst/>
          </a:prstGeom>
          <a:noFill/>
        </p:spPr>
        <p:txBody>
          <a:bodyPr wrap="square">
            <a:spAutoFit/>
          </a:bodyPr>
          <a:lstStyle/>
          <a:p>
            <a:pPr algn="l"/>
            <a:r>
              <a:rPr sz="1600" b="0">
                <a:solidFill>
                  <a:srgbClr val="1F2A33"/>
                </a:solidFill>
                <a:latin typeface="Calibri"/>
              </a:rPr>
              <a:t>Detail tobacco smoke constituents, products, MSS vs SSS, and mechanisms</a:t>
            </a:r>
          </a:p>
        </p:txBody>
      </p:sp>
      <p:sp>
        <p:nvSpPr>
          <p:cNvPr id="21" name="Rounded Rectangle 20"/>
          <p:cNvSpPr/>
          <p:nvPr/>
        </p:nvSpPr>
        <p:spPr>
          <a:xfrm>
            <a:off x="548640" y="4983480"/>
            <a:ext cx="11064240" cy="82296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5120640"/>
            <a:ext cx="548640" cy="548640"/>
          </a:xfrm>
          <a:prstGeom prst="ellipse">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239512"/>
            <a:ext cx="548640" cy="365760"/>
          </a:xfrm>
          <a:prstGeom prst="rect">
            <a:avLst/>
          </a:prstGeom>
          <a:noFill/>
        </p:spPr>
        <p:txBody>
          <a:bodyPr wrap="square">
            <a:spAutoFit/>
          </a:bodyPr>
          <a:lstStyle/>
          <a:p>
            <a:pPr algn="ctr"/>
            <a:r>
              <a:rPr sz="1200" b="1">
                <a:solidFill>
                  <a:srgbClr val="FFFFFF"/>
                </a:solidFill>
                <a:latin typeface="Calibri"/>
              </a:rPr>
              <a:t>05</a:t>
            </a:r>
          </a:p>
        </p:txBody>
      </p:sp>
      <p:sp>
        <p:nvSpPr>
          <p:cNvPr id="24" name="TextBox 23"/>
          <p:cNvSpPr txBox="1"/>
          <p:nvPr/>
        </p:nvSpPr>
        <p:spPr>
          <a:xfrm>
            <a:off x="1554480" y="5212080"/>
            <a:ext cx="9692640" cy="457200"/>
          </a:xfrm>
          <a:prstGeom prst="rect">
            <a:avLst/>
          </a:prstGeom>
          <a:noFill/>
        </p:spPr>
        <p:txBody>
          <a:bodyPr wrap="square">
            <a:spAutoFit/>
          </a:bodyPr>
          <a:lstStyle/>
          <a:p>
            <a:pPr algn="l"/>
            <a:r>
              <a:rPr sz="1600" b="0">
                <a:solidFill>
                  <a:srgbClr val="1F2A33"/>
                </a:solidFill>
                <a:latin typeface="Calibri"/>
              </a:rPr>
              <a:t>Outline radiation types, DNA injury pathways, environmental &amp; medical exposure</a:t>
            </a:r>
          </a:p>
        </p:txBody>
      </p:sp>
      <p:sp>
        <p:nvSpPr>
          <p:cNvPr id="25" name="TextBox 24"/>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Introduction</a:t>
            </a:r>
          </a:p>
        </p:txBody>
      </p:sp>
      <p:sp>
        <p:nvSpPr>
          <p:cNvPr id="26" name="TextBox 25"/>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2/41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Why This Matters for Year-3 Doctors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02920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Most cancers are linked to modifiable environmental and lifestyle exposures</a:t>
            </a:r>
          </a:p>
          <a:p>
            <a:pPr>
              <a:spcAft>
                <a:spcPts val="700"/>
              </a:spcAft>
            </a:pPr>
            <a:r>
              <a:rPr sz="1700" b="0">
                <a:solidFill>
                  <a:srgbClr val="1F2A33"/>
                </a:solidFill>
                <a:latin typeface="Calibri"/>
              </a:rPr>
              <a:t>•  Physicians must recognize occupational and lifestyle carcinogens in the history</a:t>
            </a:r>
          </a:p>
          <a:p>
            <a:pPr>
              <a:spcAft>
                <a:spcPts val="700"/>
              </a:spcAft>
            </a:pPr>
            <a:r>
              <a:rPr sz="1700" b="0">
                <a:solidFill>
                  <a:srgbClr val="1F2A33"/>
                </a:solidFill>
                <a:latin typeface="Calibri"/>
              </a:rPr>
              <a:t>•  Prevention (tobacco, workplace, sun, radon, rational imaging) is clinical work</a:t>
            </a:r>
          </a:p>
          <a:p>
            <a:pPr>
              <a:spcAft>
                <a:spcPts val="700"/>
              </a:spcAft>
            </a:pPr>
            <a:r>
              <a:rPr sz="1700" b="0">
                <a:solidFill>
                  <a:srgbClr val="1F2A33"/>
                </a:solidFill>
                <a:latin typeface="Calibri"/>
              </a:rPr>
              <a:t>•  Mechanistic literacy helps you understand pathology, oncology, and public health</a:t>
            </a:r>
          </a:p>
          <a:p>
            <a:pPr>
              <a:spcAft>
                <a:spcPts val="700"/>
              </a:spcAft>
            </a:pPr>
            <a:r>
              <a:rPr sz="1700" b="0">
                <a:solidFill>
                  <a:srgbClr val="1F2A33"/>
                </a:solidFill>
                <a:latin typeface="Calibri"/>
              </a:rPr>
              <a:t>•  Same DNA-injury biology underlies chemicals, smoke, and radiation</a:t>
            </a:r>
          </a:p>
        </p:txBody>
      </p:sp>
      <p:sp>
        <p:nvSpPr>
          <p:cNvPr id="8" name="Rounded Rectangle 7"/>
          <p:cNvSpPr/>
          <p:nvPr/>
        </p:nvSpPr>
        <p:spPr>
          <a:xfrm>
            <a:off x="457200" y="5852160"/>
            <a:ext cx="11247120" cy="457200"/>
          </a:xfrm>
          <a:prstGeom prst="roundRect">
            <a:avLst/>
          </a:prstGeom>
          <a:solidFill>
            <a:srgbClr val="FBEEE9"/>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925312"/>
            <a:ext cx="10881360" cy="320040"/>
          </a:xfrm>
          <a:prstGeom prst="rect">
            <a:avLst/>
          </a:prstGeom>
          <a:noFill/>
        </p:spPr>
        <p:txBody>
          <a:bodyPr wrap="square">
            <a:spAutoFit/>
          </a:bodyPr>
          <a:lstStyle/>
          <a:p>
            <a:pPr algn="l"/>
            <a:r>
              <a:rPr sz="1200" b="1">
                <a:solidFill>
                  <a:srgbClr val="D45D3A"/>
                </a:solidFill>
                <a:latin typeface="Calibri"/>
              </a:rPr>
              <a:t>★  Environment + lifestyle dominate population cancer burden.</a:t>
            </a:r>
          </a:p>
        </p:txBody>
      </p:sp>
      <p:sp>
        <p:nvSpPr>
          <p:cNvPr id="10" name="TextBox 9"/>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Introduction</a:t>
            </a:r>
          </a:p>
        </p:txBody>
      </p:sp>
      <p:sp>
        <p:nvSpPr>
          <p:cNvPr id="11" name="TextBox 10"/>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3/41</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Big Picture Numbers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Lifetime cancer risk in developed countries ≈ 30%</a:t>
            </a:r>
          </a:p>
          <a:p>
            <a:pPr>
              <a:spcAft>
                <a:spcPts val="700"/>
              </a:spcAft>
            </a:pPr>
            <a:r>
              <a:rPr sz="1700" b="0">
                <a:solidFill>
                  <a:srgbClr val="1F2A33"/>
                </a:solidFill>
                <a:latin typeface="Calibri"/>
              </a:rPr>
              <a:t>•  ~85–95% of cancers relate to environmental / lifestyle factors</a:t>
            </a:r>
          </a:p>
          <a:p>
            <a:pPr>
              <a:spcAft>
                <a:spcPts val="700"/>
              </a:spcAft>
            </a:pPr>
            <a:r>
              <a:rPr sz="1700" b="0">
                <a:solidFill>
                  <a:srgbClr val="1F2A33"/>
                </a:solidFill>
                <a:latin typeface="Calibri"/>
              </a:rPr>
              <a:t>•  Inherited cancer syndromes: &lt;15%</a:t>
            </a:r>
          </a:p>
          <a:p>
            <a:pPr>
              <a:spcAft>
                <a:spcPts val="700"/>
              </a:spcAft>
            </a:pPr>
            <a:r>
              <a:rPr sz="1700" b="0">
                <a:solidFill>
                  <a:srgbClr val="1F2A33"/>
                </a:solidFill>
                <a:latin typeface="Calibri"/>
              </a:rPr>
              <a:t>•  Avoidable contributors (classic estimates): tobacco ~30%, diet, infections, radiation/UV, occupation, pollution</a:t>
            </a:r>
          </a:p>
          <a:p>
            <a:pPr>
              <a:spcAft>
                <a:spcPts val="700"/>
              </a:spcAft>
            </a:pPr>
            <a:r>
              <a:rPr sz="1700" b="0">
                <a:solidFill>
                  <a:srgbClr val="1F2A33"/>
                </a:solidFill>
                <a:latin typeface="Calibri"/>
              </a:rPr>
              <a:t>•  Geographic differences largely track exposures, not only genes</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Introduction</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4/41</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7A6E"/>
        </a:solidFill>
        <a:effectLst/>
      </p:bgPr>
    </p:bg>
    <p:spTree>
      <p:nvGrpSpPr>
        <p:cNvPr id="1" name=""/>
        <p:cNvGrpSpPr/>
        <p:nvPr/>
      </p:nvGrpSpPr>
      <p:grpSpPr/>
      <p:sp>
        <p:nvSpPr>
          <p:cNvPr id="2" name="Oval 1"/>
          <p:cNvSpPr/>
          <p:nvPr/>
        </p:nvSpPr>
        <p:spPr>
          <a:xfrm>
            <a:off x="9326880" y="-914400"/>
            <a:ext cx="4114800" cy="4114800"/>
          </a:xfrm>
          <a:prstGeom prst="ellipse">
            <a:avLst/>
          </a:prstGeom>
          <a:solidFill>
            <a:srgbClr val="288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03120"/>
            <a:ext cx="219456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7A6E"/>
                </a:solidFill>
                <a:latin typeface="Calibri"/>
              </a:rPr>
              <a:t>PART 01</a:t>
            </a:r>
          </a:p>
        </p:txBody>
      </p:sp>
      <p:sp>
        <p:nvSpPr>
          <p:cNvPr id="4" name="TextBox 3"/>
          <p:cNvSpPr txBox="1"/>
          <p:nvPr/>
        </p:nvSpPr>
        <p:spPr>
          <a:xfrm>
            <a:off x="731520" y="2834640"/>
            <a:ext cx="10515600" cy="1097280"/>
          </a:xfrm>
          <a:prstGeom prst="rect">
            <a:avLst/>
          </a:prstGeom>
          <a:noFill/>
        </p:spPr>
        <p:txBody>
          <a:bodyPr wrap="square">
            <a:spAutoFit/>
          </a:bodyPr>
          <a:lstStyle/>
          <a:p>
            <a:pPr algn="l"/>
            <a:r>
              <a:rPr sz="3400" b="1">
                <a:solidFill>
                  <a:srgbClr val="FFFFFF"/>
                </a:solidFill>
                <a:latin typeface="Calibri"/>
              </a:rPr>
              <a:t>Chemical Carcinogens</a:t>
            </a:r>
          </a:p>
        </p:txBody>
      </p:sp>
      <p:sp>
        <p:nvSpPr>
          <p:cNvPr id="5" name="TextBox 4"/>
          <p:cNvSpPr txBox="1"/>
          <p:nvPr/>
        </p:nvSpPr>
        <p:spPr>
          <a:xfrm>
            <a:off x="731520" y="4114800"/>
            <a:ext cx="10515600" cy="731520"/>
          </a:xfrm>
          <a:prstGeom prst="rect">
            <a:avLst/>
          </a:prstGeom>
          <a:noFill/>
        </p:spPr>
        <p:txBody>
          <a:bodyPr wrap="square">
            <a:spAutoFit/>
          </a:bodyPr>
          <a:lstStyle/>
          <a:p>
            <a:pPr algn="l"/>
            <a:r>
              <a:rPr sz="1800" b="0">
                <a:solidFill>
                  <a:srgbClr val="D8F0EC"/>
                </a:solidFill>
                <a:latin typeface="Calibri"/>
              </a:rPr>
              <a:t>Mechanisms · classification · exposures · protection</a:t>
            </a:r>
          </a:p>
        </p:txBody>
      </p:sp>
      <p:sp>
        <p:nvSpPr>
          <p:cNvPr id="6" name="TextBox 5"/>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7" name="TextBox 6"/>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5/41</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What Is a Chemical Carcinogen?</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An agent that increases cancer incidence after exposure (human and/or experimental evidence)</a:t>
            </a:r>
          </a:p>
          <a:p>
            <a:pPr>
              <a:spcAft>
                <a:spcPts val="700"/>
              </a:spcAft>
            </a:pPr>
            <a:r>
              <a:rPr sz="1700" b="0">
                <a:solidFill>
                  <a:srgbClr val="1F2A33"/>
                </a:solidFill>
                <a:latin typeface="Calibri"/>
              </a:rPr>
              <a:t>•  Historic landmark: Percival Pott (1775) — scrotal cancer in chimney sweeps (soot / PAHs)</a:t>
            </a:r>
          </a:p>
          <a:p>
            <a:pPr>
              <a:spcAft>
                <a:spcPts val="700"/>
              </a:spcAft>
            </a:pPr>
            <a:r>
              <a:rPr sz="1700" b="0">
                <a:solidFill>
                  <a:srgbClr val="1F2A33"/>
                </a:solidFill>
                <a:latin typeface="Calibri"/>
              </a:rPr>
              <a:t>•  Modern framework: IARC Monographs integrate human, animal, and mechanistic data</a:t>
            </a:r>
          </a:p>
          <a:p>
            <a:pPr>
              <a:spcAft>
                <a:spcPts val="700"/>
              </a:spcAft>
            </a:pPr>
            <a:r>
              <a:rPr sz="1700" b="0">
                <a:solidFill>
                  <a:srgbClr val="1F2A33"/>
                </a:solidFill>
                <a:latin typeface="Calibri"/>
              </a:rPr>
              <a:t>•  Latency may be years to decades after exposure begins</a:t>
            </a:r>
          </a:p>
          <a:p>
            <a:pPr>
              <a:spcAft>
                <a:spcPts val="700"/>
              </a:spcAft>
            </a:pPr>
            <a:r>
              <a:rPr sz="1700" b="0">
                <a:solidFill>
                  <a:srgbClr val="1F2A33"/>
                </a:solidFill>
                <a:latin typeface="Calibri"/>
              </a:rPr>
              <a:t>•  Dose, route, duration, and host factors determine individual risk</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6/41</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IARC Classification of Carcinogenic Agents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449927" y="1234440"/>
            <a:ext cx="3291840" cy="960120"/>
          </a:xfrm>
          <a:prstGeom prst="round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32807" y="1371600"/>
            <a:ext cx="2926080" cy="365760"/>
          </a:xfrm>
          <a:prstGeom prst="rect">
            <a:avLst/>
          </a:prstGeom>
          <a:noFill/>
        </p:spPr>
        <p:txBody>
          <a:bodyPr wrap="square">
            <a:spAutoFit/>
          </a:bodyPr>
          <a:lstStyle/>
          <a:p>
            <a:pPr algn="ctr"/>
            <a:r>
              <a:rPr sz="1500" b="1">
                <a:solidFill>
                  <a:srgbClr val="FFFFFF"/>
                </a:solidFill>
                <a:latin typeface="Calibri"/>
              </a:rPr>
              <a:t>Group 1 — Carcinogenic to humans</a:t>
            </a:r>
          </a:p>
        </p:txBody>
      </p:sp>
      <p:sp>
        <p:nvSpPr>
          <p:cNvPr id="7" name="TextBox 6"/>
          <p:cNvSpPr txBox="1"/>
          <p:nvPr/>
        </p:nvSpPr>
        <p:spPr>
          <a:xfrm>
            <a:off x="4632807" y="1737360"/>
            <a:ext cx="2926080" cy="320040"/>
          </a:xfrm>
          <a:prstGeom prst="rect">
            <a:avLst/>
          </a:prstGeom>
          <a:noFill/>
        </p:spPr>
        <p:txBody>
          <a:bodyPr wrap="square">
            <a:spAutoFit/>
          </a:bodyPr>
          <a:lstStyle/>
          <a:p>
            <a:pPr algn="ctr"/>
            <a:r>
              <a:rPr sz="1200" b="0">
                <a:solidFill>
                  <a:srgbClr val="FFFFFF"/>
                </a:solidFill>
                <a:latin typeface="Calibri"/>
              </a:rPr>
              <a:t>Sufficient evidence in humans</a:t>
            </a:r>
          </a:p>
        </p:txBody>
      </p:sp>
      <p:sp>
        <p:nvSpPr>
          <p:cNvPr id="8" name="Rounded Rectangle 7"/>
          <p:cNvSpPr/>
          <p:nvPr/>
        </p:nvSpPr>
        <p:spPr>
          <a:xfrm>
            <a:off x="3901287" y="2377440"/>
            <a:ext cx="4389120" cy="960120"/>
          </a:xfrm>
          <a:prstGeom prst="round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84167" y="2514600"/>
            <a:ext cx="4023359" cy="365760"/>
          </a:xfrm>
          <a:prstGeom prst="rect">
            <a:avLst/>
          </a:prstGeom>
          <a:noFill/>
        </p:spPr>
        <p:txBody>
          <a:bodyPr wrap="square">
            <a:spAutoFit/>
          </a:bodyPr>
          <a:lstStyle/>
          <a:p>
            <a:pPr algn="ctr"/>
            <a:r>
              <a:rPr sz="1500" b="1">
                <a:solidFill>
                  <a:srgbClr val="FFFFFF"/>
                </a:solidFill>
                <a:latin typeface="Calibri"/>
              </a:rPr>
              <a:t>Group 2A — Probably carcinogenic</a:t>
            </a:r>
          </a:p>
        </p:txBody>
      </p:sp>
      <p:sp>
        <p:nvSpPr>
          <p:cNvPr id="10" name="TextBox 9"/>
          <p:cNvSpPr txBox="1"/>
          <p:nvPr/>
        </p:nvSpPr>
        <p:spPr>
          <a:xfrm>
            <a:off x="4084167" y="2880360"/>
            <a:ext cx="4023359" cy="320040"/>
          </a:xfrm>
          <a:prstGeom prst="rect">
            <a:avLst/>
          </a:prstGeom>
          <a:noFill/>
        </p:spPr>
        <p:txBody>
          <a:bodyPr wrap="square">
            <a:spAutoFit/>
          </a:bodyPr>
          <a:lstStyle/>
          <a:p>
            <a:pPr algn="ctr"/>
            <a:r>
              <a:rPr sz="1200" b="0">
                <a:solidFill>
                  <a:srgbClr val="FFFFFF"/>
                </a:solidFill>
                <a:latin typeface="Calibri"/>
              </a:rPr>
              <a:t>Limited human + sufficient animal evidence</a:t>
            </a:r>
          </a:p>
        </p:txBody>
      </p:sp>
      <p:sp>
        <p:nvSpPr>
          <p:cNvPr id="11" name="Rounded Rectangle 10"/>
          <p:cNvSpPr/>
          <p:nvPr/>
        </p:nvSpPr>
        <p:spPr>
          <a:xfrm>
            <a:off x="3352647" y="3520440"/>
            <a:ext cx="5486400" cy="960120"/>
          </a:xfrm>
          <a:prstGeom prst="roundRect">
            <a:avLst/>
          </a:prstGeom>
          <a:solidFill>
            <a:srgbClr val="E0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5527" y="3657600"/>
            <a:ext cx="5120640" cy="365760"/>
          </a:xfrm>
          <a:prstGeom prst="rect">
            <a:avLst/>
          </a:prstGeom>
          <a:noFill/>
        </p:spPr>
        <p:txBody>
          <a:bodyPr wrap="square">
            <a:spAutoFit/>
          </a:bodyPr>
          <a:lstStyle/>
          <a:p>
            <a:pPr algn="ctr"/>
            <a:r>
              <a:rPr sz="1500" b="1">
                <a:solidFill>
                  <a:srgbClr val="FFFFFF"/>
                </a:solidFill>
                <a:latin typeface="Calibri"/>
              </a:rPr>
              <a:t>Group 2B — Possibly carcinogenic</a:t>
            </a:r>
          </a:p>
        </p:txBody>
      </p:sp>
      <p:sp>
        <p:nvSpPr>
          <p:cNvPr id="13" name="TextBox 12"/>
          <p:cNvSpPr txBox="1"/>
          <p:nvPr/>
        </p:nvSpPr>
        <p:spPr>
          <a:xfrm>
            <a:off x="3535527" y="4023360"/>
            <a:ext cx="5120640" cy="320040"/>
          </a:xfrm>
          <a:prstGeom prst="rect">
            <a:avLst/>
          </a:prstGeom>
          <a:noFill/>
        </p:spPr>
        <p:txBody>
          <a:bodyPr wrap="square">
            <a:spAutoFit/>
          </a:bodyPr>
          <a:lstStyle/>
          <a:p>
            <a:pPr algn="ctr"/>
            <a:r>
              <a:rPr sz="1200" b="0">
                <a:solidFill>
                  <a:srgbClr val="FFFFFF"/>
                </a:solidFill>
                <a:latin typeface="Calibri"/>
              </a:rPr>
              <a:t>Limited evidence in humans</a:t>
            </a:r>
          </a:p>
        </p:txBody>
      </p:sp>
      <p:sp>
        <p:nvSpPr>
          <p:cNvPr id="14" name="Rounded Rectangle 13"/>
          <p:cNvSpPr/>
          <p:nvPr/>
        </p:nvSpPr>
        <p:spPr>
          <a:xfrm>
            <a:off x="2804007" y="4663440"/>
            <a:ext cx="6583680" cy="960120"/>
          </a:xfrm>
          <a:prstGeom prst="roundRect">
            <a:avLst/>
          </a:prstGeom>
          <a:solidFill>
            <a:srgbClr val="5A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6887" y="4800600"/>
            <a:ext cx="6217920" cy="365760"/>
          </a:xfrm>
          <a:prstGeom prst="rect">
            <a:avLst/>
          </a:prstGeom>
          <a:noFill/>
        </p:spPr>
        <p:txBody>
          <a:bodyPr wrap="square">
            <a:spAutoFit/>
          </a:bodyPr>
          <a:lstStyle/>
          <a:p>
            <a:pPr algn="ctr"/>
            <a:r>
              <a:rPr sz="1500" b="1">
                <a:solidFill>
                  <a:srgbClr val="FFFFFF"/>
                </a:solidFill>
                <a:latin typeface="Calibri"/>
              </a:rPr>
              <a:t>Group 3 — Not classifiable</a:t>
            </a:r>
          </a:p>
        </p:txBody>
      </p:sp>
      <p:sp>
        <p:nvSpPr>
          <p:cNvPr id="16" name="TextBox 15"/>
          <p:cNvSpPr txBox="1"/>
          <p:nvPr/>
        </p:nvSpPr>
        <p:spPr>
          <a:xfrm>
            <a:off x="2986887" y="5166359"/>
            <a:ext cx="6217920" cy="320040"/>
          </a:xfrm>
          <a:prstGeom prst="rect">
            <a:avLst/>
          </a:prstGeom>
          <a:noFill/>
        </p:spPr>
        <p:txBody>
          <a:bodyPr wrap="square">
            <a:spAutoFit/>
          </a:bodyPr>
          <a:lstStyle/>
          <a:p>
            <a:pPr algn="ctr"/>
            <a:r>
              <a:rPr sz="1200" b="0">
                <a:solidFill>
                  <a:srgbClr val="FFFFFF"/>
                </a:solidFill>
                <a:latin typeface="Calibri"/>
              </a:rPr>
              <a:t>Inadequate evidence currently</a:t>
            </a:r>
          </a:p>
        </p:txBody>
      </p:sp>
      <p:sp>
        <p:nvSpPr>
          <p:cNvPr id="17" name="TextBox 16"/>
          <p:cNvSpPr txBox="1"/>
          <p:nvPr/>
        </p:nvSpPr>
        <p:spPr>
          <a:xfrm>
            <a:off x="457200" y="5989320"/>
            <a:ext cx="11247120" cy="320040"/>
          </a:xfrm>
          <a:prstGeom prst="rect">
            <a:avLst/>
          </a:prstGeom>
          <a:noFill/>
        </p:spPr>
        <p:txBody>
          <a:bodyPr wrap="square">
            <a:spAutoFit/>
          </a:bodyPr>
          <a:lstStyle/>
          <a:p>
            <a:pPr algn="l"/>
            <a:r>
              <a:rPr sz="1100" b="0">
                <a:solidFill>
                  <a:srgbClr val="5A6B76"/>
                </a:solidFill>
                <a:latin typeface="Calibri"/>
              </a:rPr>
              <a:t>Source: IARC Monographs — https://monographs.iarc.who.int/</a:t>
            </a:r>
          </a:p>
        </p:txBody>
      </p:sp>
      <p:sp>
        <p:nvSpPr>
          <p:cNvPr id="18" name="TextBox 1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19" name="TextBox 1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7/41</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Genotoxic vs Non-Genotoxic — Visual Overview</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097280"/>
            <a:ext cx="10881360" cy="475488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enotoxic_nongenotoxic.jpg"/>
          <p:cNvPicPr>
            <a:picLocks noChangeAspect="1"/>
          </p:cNvPicPr>
          <p:nvPr/>
        </p:nvPicPr>
        <p:blipFill>
          <a:blip r:embed="rId2"/>
          <a:stretch>
            <a:fillRect/>
          </a:stretch>
        </p:blipFill>
        <p:spPr>
          <a:xfrm>
            <a:off x="868680" y="1280160"/>
            <a:ext cx="10424160" cy="4114800"/>
          </a:xfrm>
          <a:prstGeom prst="rect">
            <a:avLst/>
          </a:prstGeom>
        </p:spPr>
      </p:pic>
      <p:sp>
        <p:nvSpPr>
          <p:cNvPr id="7" name="TextBox 6"/>
          <p:cNvSpPr txBox="1"/>
          <p:nvPr/>
        </p:nvSpPr>
        <p:spPr>
          <a:xfrm>
            <a:off x="822960" y="5532120"/>
            <a:ext cx="10515600" cy="365760"/>
          </a:xfrm>
          <a:prstGeom prst="rect">
            <a:avLst/>
          </a:prstGeom>
          <a:noFill/>
        </p:spPr>
        <p:txBody>
          <a:bodyPr wrap="square">
            <a:spAutoFit/>
          </a:bodyPr>
          <a:lstStyle/>
          <a:p>
            <a:pPr algn="ctr"/>
            <a:r>
              <a:rPr sz="1300" b="0">
                <a:solidFill>
                  <a:srgbClr val="5A6B76"/>
                </a:solidFill>
                <a:latin typeface="Calibri"/>
              </a:rPr>
              <a:t>Two mechanistic families — many real-world agents combine features of both</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8/41</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Mechanisms in Detail</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097280"/>
            <a:ext cx="544068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097280"/>
            <a:ext cx="5440680" cy="59436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07008"/>
            <a:ext cx="4983480" cy="411480"/>
          </a:xfrm>
          <a:prstGeom prst="rect">
            <a:avLst/>
          </a:prstGeom>
          <a:noFill/>
        </p:spPr>
        <p:txBody>
          <a:bodyPr wrap="square">
            <a:spAutoFit/>
          </a:bodyPr>
          <a:lstStyle/>
          <a:p>
            <a:pPr algn="l"/>
            <a:r>
              <a:rPr sz="1700" b="1">
                <a:solidFill>
                  <a:srgbClr val="FFFFFF"/>
                </a:solidFill>
                <a:latin typeface="Calibri"/>
              </a:rPr>
              <a:t>Genotoxic</a:t>
            </a:r>
          </a:p>
        </p:txBody>
      </p:sp>
      <p:sp>
        <p:nvSpPr>
          <p:cNvPr id="8" name="TextBox 7"/>
          <p:cNvSpPr txBox="1"/>
          <p:nvPr/>
        </p:nvSpPr>
        <p:spPr>
          <a:xfrm>
            <a:off x="685800" y="1920240"/>
            <a:ext cx="4937760" cy="3931920"/>
          </a:xfrm>
          <a:prstGeom prst="rect">
            <a:avLst/>
          </a:prstGeom>
          <a:noFill/>
        </p:spPr>
        <p:txBody>
          <a:bodyPr wrap="square">
            <a:spAutoFit/>
          </a:bodyPr>
          <a:lstStyle/>
          <a:p>
            <a:pPr>
              <a:spcAft>
                <a:spcPts val="700"/>
              </a:spcAft>
            </a:pPr>
            <a:r>
              <a:rPr sz="1500" b="0">
                <a:solidFill>
                  <a:srgbClr val="1F2A33"/>
                </a:solidFill>
                <a:latin typeface="Calibri"/>
              </a:rPr>
              <a:t>•  DNA-reactive parent compound or metabolite</a:t>
            </a:r>
          </a:p>
          <a:p>
            <a:pPr>
              <a:spcAft>
                <a:spcPts val="700"/>
              </a:spcAft>
            </a:pPr>
            <a:r>
              <a:rPr sz="1500" b="0">
                <a:solidFill>
                  <a:srgbClr val="1F2A33"/>
                </a:solidFill>
                <a:latin typeface="Calibri"/>
              </a:rPr>
              <a:t>•  DNA adducts, strand breaks, chromosomal injury</a:t>
            </a:r>
          </a:p>
          <a:p>
            <a:pPr>
              <a:spcAft>
                <a:spcPts val="700"/>
              </a:spcAft>
            </a:pPr>
            <a:r>
              <a:rPr sz="1500" b="0">
                <a:solidFill>
                  <a:srgbClr val="1F2A33"/>
                </a:solidFill>
                <a:latin typeface="Calibri"/>
              </a:rPr>
              <a:t>•  Often mutagenic in short assays</a:t>
            </a:r>
          </a:p>
          <a:p>
            <a:pPr>
              <a:spcAft>
                <a:spcPts val="700"/>
              </a:spcAft>
            </a:pPr>
            <a:r>
              <a:rPr sz="1500" b="0">
                <a:solidFill>
                  <a:srgbClr val="1F2A33"/>
                </a:solidFill>
                <a:latin typeface="Calibri"/>
              </a:rPr>
              <a:t>•  Direct-acting (alkylators) vs procarcinogens (need CYP450 activation)</a:t>
            </a:r>
          </a:p>
          <a:p>
            <a:pPr>
              <a:spcAft>
                <a:spcPts val="700"/>
              </a:spcAft>
            </a:pPr>
            <a:r>
              <a:rPr sz="1500" b="0">
                <a:solidFill>
                  <a:srgbClr val="1F2A33"/>
                </a:solidFill>
                <a:latin typeface="Calibri"/>
              </a:rPr>
              <a:t>•  Examples: PAHs, nitrosamines, aflatoxin, benzene metabolites</a:t>
            </a:r>
          </a:p>
        </p:txBody>
      </p:sp>
      <p:sp>
        <p:nvSpPr>
          <p:cNvPr id="9" name="Rounded Rectangle 8"/>
          <p:cNvSpPr/>
          <p:nvPr/>
        </p:nvSpPr>
        <p:spPr>
          <a:xfrm>
            <a:off x="6309360" y="1097280"/>
            <a:ext cx="544068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097280"/>
            <a:ext cx="5440680" cy="59436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207008"/>
            <a:ext cx="4983480" cy="411480"/>
          </a:xfrm>
          <a:prstGeom prst="rect">
            <a:avLst/>
          </a:prstGeom>
          <a:noFill/>
        </p:spPr>
        <p:txBody>
          <a:bodyPr wrap="square">
            <a:spAutoFit/>
          </a:bodyPr>
          <a:lstStyle/>
          <a:p>
            <a:pPr algn="l"/>
            <a:r>
              <a:rPr sz="1700" b="1">
                <a:solidFill>
                  <a:srgbClr val="FFFFFF"/>
                </a:solidFill>
                <a:latin typeface="Calibri"/>
              </a:rPr>
              <a:t>Non-genotoxic</a:t>
            </a:r>
          </a:p>
        </p:txBody>
      </p:sp>
      <p:sp>
        <p:nvSpPr>
          <p:cNvPr id="12" name="TextBox 11"/>
          <p:cNvSpPr txBox="1"/>
          <p:nvPr/>
        </p:nvSpPr>
        <p:spPr>
          <a:xfrm>
            <a:off x="6583680" y="1920240"/>
            <a:ext cx="4937760" cy="3931920"/>
          </a:xfrm>
          <a:prstGeom prst="rect">
            <a:avLst/>
          </a:prstGeom>
          <a:noFill/>
        </p:spPr>
        <p:txBody>
          <a:bodyPr wrap="square">
            <a:spAutoFit/>
          </a:bodyPr>
          <a:lstStyle/>
          <a:p>
            <a:pPr>
              <a:spcAft>
                <a:spcPts val="700"/>
              </a:spcAft>
            </a:pPr>
            <a:r>
              <a:rPr sz="1500" b="0">
                <a:solidFill>
                  <a:srgbClr val="1F2A33"/>
                </a:solidFill>
                <a:latin typeface="Calibri"/>
              </a:rPr>
              <a:t>•  Do not directly mutate DNA as first step</a:t>
            </a:r>
          </a:p>
          <a:p>
            <a:pPr>
              <a:spcAft>
                <a:spcPts val="700"/>
              </a:spcAft>
            </a:pPr>
            <a:r>
              <a:rPr sz="1500" b="0">
                <a:solidFill>
                  <a:srgbClr val="1F2A33"/>
                </a:solidFill>
                <a:latin typeface="Calibri"/>
              </a:rPr>
              <a:t>•  Mitogens / cytotoxicants / receptor agonists</a:t>
            </a:r>
          </a:p>
          <a:p>
            <a:pPr>
              <a:spcAft>
                <a:spcPts val="700"/>
              </a:spcAft>
            </a:pPr>
            <a:r>
              <a:rPr sz="1500" b="0">
                <a:solidFill>
                  <a:srgbClr val="1F2A33"/>
                </a:solidFill>
                <a:latin typeface="Calibri"/>
              </a:rPr>
              <a:t>•  Promote clonal expansion of initiated cells</a:t>
            </a:r>
          </a:p>
          <a:p>
            <a:pPr>
              <a:spcAft>
                <a:spcPts val="700"/>
              </a:spcAft>
            </a:pPr>
            <a:r>
              <a:rPr sz="1500" b="0">
                <a:solidFill>
                  <a:srgbClr val="1F2A33"/>
                </a:solidFill>
                <a:latin typeface="Calibri"/>
              </a:rPr>
              <a:t>•  Harder to detect — often need rodent bioassays</a:t>
            </a:r>
          </a:p>
          <a:p>
            <a:pPr>
              <a:spcAft>
                <a:spcPts val="700"/>
              </a:spcAft>
            </a:pPr>
            <a:r>
              <a:rPr sz="1500" b="0">
                <a:solidFill>
                  <a:srgbClr val="1F2A33"/>
                </a:solidFill>
                <a:latin typeface="Calibri"/>
              </a:rPr>
              <a:t>•  Examples: some hormones, certain promoters, chronic irritation pathways</a:t>
            </a:r>
          </a:p>
        </p:txBody>
      </p:sp>
      <p:sp>
        <p:nvSpPr>
          <p:cNvPr id="13" name="TextBox 12"/>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14" name="TextBox 13"/>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9/41</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Initiation–Promotion–Progression — Diagram</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097280"/>
            <a:ext cx="10881360" cy="475488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rcinogenesis_ipp_diagram.jpg"/>
          <p:cNvPicPr>
            <a:picLocks noChangeAspect="1"/>
          </p:cNvPicPr>
          <p:nvPr/>
        </p:nvPicPr>
        <p:blipFill>
          <a:blip r:embed="rId2"/>
          <a:stretch>
            <a:fillRect/>
          </a:stretch>
        </p:blipFill>
        <p:spPr>
          <a:xfrm>
            <a:off x="868680" y="1280160"/>
            <a:ext cx="10424160" cy="4114800"/>
          </a:xfrm>
          <a:prstGeom prst="rect">
            <a:avLst/>
          </a:prstGeom>
        </p:spPr>
      </p:pic>
      <p:sp>
        <p:nvSpPr>
          <p:cNvPr id="7" name="TextBox 6"/>
          <p:cNvSpPr txBox="1"/>
          <p:nvPr/>
        </p:nvSpPr>
        <p:spPr>
          <a:xfrm>
            <a:off x="822960" y="5532120"/>
            <a:ext cx="10515600" cy="365760"/>
          </a:xfrm>
          <a:prstGeom prst="rect">
            <a:avLst/>
          </a:prstGeom>
          <a:noFill/>
        </p:spPr>
        <p:txBody>
          <a:bodyPr wrap="square">
            <a:spAutoFit/>
          </a:bodyPr>
          <a:lstStyle/>
          <a:p>
            <a:pPr algn="ctr"/>
            <a:r>
              <a:rPr sz="1300" b="0">
                <a:solidFill>
                  <a:srgbClr val="5A6B76"/>
                </a:solidFill>
                <a:latin typeface="Calibri"/>
              </a:rPr>
              <a:t>The master sequence of chemical (and many physical) carcinogenesis</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10/41</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Initiation → Promotion → Progression</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hevron 4"/>
          <p:cNvSpPr/>
          <p:nvPr/>
        </p:nvSpPr>
        <p:spPr>
          <a:xfrm>
            <a:off x="365760" y="1188720"/>
            <a:ext cx="3566160" cy="731520"/>
          </a:xfrm>
          <a:prstGeom prst="chevron">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1. INITIATION</a:t>
            </a:r>
          </a:p>
        </p:txBody>
      </p:sp>
      <p:sp>
        <p:nvSpPr>
          <p:cNvPr id="6" name="Rounded Rectangle 5"/>
          <p:cNvSpPr/>
          <p:nvPr/>
        </p:nvSpPr>
        <p:spPr>
          <a:xfrm>
            <a:off x="365760" y="2148840"/>
            <a:ext cx="3566160" cy="39319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468880"/>
            <a:ext cx="3108960" cy="3291840"/>
          </a:xfrm>
          <a:prstGeom prst="rect">
            <a:avLst/>
          </a:prstGeom>
          <a:noFill/>
        </p:spPr>
        <p:txBody>
          <a:bodyPr wrap="square">
            <a:spAutoFit/>
          </a:bodyPr>
          <a:lstStyle/>
          <a:p>
            <a:pPr>
              <a:spcAft>
                <a:spcPts val="700"/>
              </a:spcAft>
            </a:pPr>
            <a:r>
              <a:rPr sz="1500" b="0">
                <a:solidFill>
                  <a:srgbClr val="1F2A33"/>
                </a:solidFill>
                <a:latin typeface="Calibri"/>
              </a:rPr>
              <a:t>•  Irreversible DNA change</a:t>
            </a:r>
          </a:p>
          <a:p>
            <a:pPr>
              <a:spcAft>
                <a:spcPts val="700"/>
              </a:spcAft>
            </a:pPr>
            <a:r>
              <a:rPr sz="1500" b="0">
                <a:solidFill>
                  <a:srgbClr val="1F2A33"/>
                </a:solidFill>
                <a:latin typeface="Calibri"/>
              </a:rPr>
              <a:t>•  Oncogene / suppressor hits</a:t>
            </a:r>
          </a:p>
          <a:p>
            <a:pPr>
              <a:spcAft>
                <a:spcPts val="700"/>
              </a:spcAft>
            </a:pPr>
            <a:r>
              <a:rPr sz="1500" b="0">
                <a:solidFill>
                  <a:srgbClr val="1F2A33"/>
                </a:solidFill>
                <a:latin typeface="Calibri"/>
              </a:rPr>
              <a:t>•  DNA-repair failure</a:t>
            </a:r>
          </a:p>
          <a:p>
            <a:pPr>
              <a:spcAft>
                <a:spcPts val="700"/>
              </a:spcAft>
            </a:pPr>
            <a:r>
              <a:rPr sz="1500" b="0">
                <a:solidFill>
                  <a:srgbClr val="1F2A33"/>
                </a:solidFill>
                <a:latin typeface="Calibri"/>
              </a:rPr>
              <a:t>•  Alone rarely = tumor</a:t>
            </a:r>
          </a:p>
        </p:txBody>
      </p:sp>
      <p:sp>
        <p:nvSpPr>
          <p:cNvPr id="8" name="Chevron 7"/>
          <p:cNvSpPr/>
          <p:nvPr/>
        </p:nvSpPr>
        <p:spPr>
          <a:xfrm>
            <a:off x="4297680" y="1188720"/>
            <a:ext cx="3566160" cy="731520"/>
          </a:xfrm>
          <a:prstGeom prst="chevron">
            <a:avLst/>
          </a:prstGeom>
          <a:solidFill>
            <a:srgbClr val="E0A1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2. PROMOTION</a:t>
            </a:r>
          </a:p>
        </p:txBody>
      </p:sp>
      <p:sp>
        <p:nvSpPr>
          <p:cNvPr id="9" name="Rounded Rectangle 8"/>
          <p:cNvSpPr/>
          <p:nvPr/>
        </p:nvSpPr>
        <p:spPr>
          <a:xfrm>
            <a:off x="4297680" y="2148840"/>
            <a:ext cx="3566160" cy="39319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468880"/>
            <a:ext cx="3108960" cy="3291840"/>
          </a:xfrm>
          <a:prstGeom prst="rect">
            <a:avLst/>
          </a:prstGeom>
          <a:noFill/>
        </p:spPr>
        <p:txBody>
          <a:bodyPr wrap="square">
            <a:spAutoFit/>
          </a:bodyPr>
          <a:lstStyle/>
          <a:p>
            <a:pPr>
              <a:spcAft>
                <a:spcPts val="700"/>
              </a:spcAft>
            </a:pPr>
            <a:r>
              <a:rPr sz="1500" b="0">
                <a:solidFill>
                  <a:srgbClr val="1F2A33"/>
                </a:solidFill>
                <a:latin typeface="Calibri"/>
              </a:rPr>
              <a:t>•  Clonal expansion</a:t>
            </a:r>
          </a:p>
          <a:p>
            <a:pPr>
              <a:spcAft>
                <a:spcPts val="700"/>
              </a:spcAft>
            </a:pPr>
            <a:r>
              <a:rPr sz="1500" b="0">
                <a:solidFill>
                  <a:srgbClr val="1F2A33"/>
                </a:solidFill>
                <a:latin typeface="Calibri"/>
              </a:rPr>
              <a:t>•  Mitogenic, reversible</a:t>
            </a:r>
          </a:p>
          <a:p>
            <a:pPr>
              <a:spcAft>
                <a:spcPts val="700"/>
              </a:spcAft>
            </a:pPr>
            <a:r>
              <a:rPr sz="1500" b="0">
                <a:solidFill>
                  <a:srgbClr val="1F2A33"/>
                </a:solidFill>
                <a:latin typeface="Calibri"/>
              </a:rPr>
              <a:t>•  Needs repeated exposure</a:t>
            </a:r>
          </a:p>
          <a:p>
            <a:pPr>
              <a:spcAft>
                <a:spcPts val="700"/>
              </a:spcAft>
            </a:pPr>
            <a:r>
              <a:rPr sz="1500" b="0">
                <a:solidFill>
                  <a:srgbClr val="1F2A33"/>
                </a:solidFill>
                <a:latin typeface="Calibri"/>
              </a:rPr>
              <a:t>•  Not mutagenic alone</a:t>
            </a:r>
          </a:p>
        </p:txBody>
      </p:sp>
      <p:sp>
        <p:nvSpPr>
          <p:cNvPr id="11" name="Chevron 10"/>
          <p:cNvSpPr/>
          <p:nvPr/>
        </p:nvSpPr>
        <p:spPr>
          <a:xfrm>
            <a:off x="8229600" y="1188720"/>
            <a:ext cx="3566160" cy="731520"/>
          </a:xfrm>
          <a:prstGeom prst="chevron">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3. PROGRESSION</a:t>
            </a:r>
          </a:p>
        </p:txBody>
      </p:sp>
      <p:sp>
        <p:nvSpPr>
          <p:cNvPr id="12" name="Rounded Rectangle 11"/>
          <p:cNvSpPr/>
          <p:nvPr/>
        </p:nvSpPr>
        <p:spPr>
          <a:xfrm>
            <a:off x="8229600" y="2148840"/>
            <a:ext cx="3566160" cy="39319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2468880"/>
            <a:ext cx="3108960" cy="3291840"/>
          </a:xfrm>
          <a:prstGeom prst="rect">
            <a:avLst/>
          </a:prstGeom>
          <a:noFill/>
        </p:spPr>
        <p:txBody>
          <a:bodyPr wrap="square">
            <a:spAutoFit/>
          </a:bodyPr>
          <a:lstStyle/>
          <a:p>
            <a:pPr>
              <a:spcAft>
                <a:spcPts val="700"/>
              </a:spcAft>
            </a:pPr>
            <a:r>
              <a:rPr sz="1500" b="0">
                <a:solidFill>
                  <a:srgbClr val="1F2A33"/>
                </a:solidFill>
                <a:latin typeface="Calibri"/>
              </a:rPr>
              <a:t>•  Genetic instability</a:t>
            </a:r>
          </a:p>
          <a:p>
            <a:pPr>
              <a:spcAft>
                <a:spcPts val="700"/>
              </a:spcAft>
            </a:pPr>
            <a:r>
              <a:rPr sz="1500" b="0">
                <a:solidFill>
                  <a:srgbClr val="1F2A33"/>
                </a:solidFill>
                <a:latin typeface="Calibri"/>
              </a:rPr>
              <a:t>•  Invasion / metastasis</a:t>
            </a:r>
          </a:p>
          <a:p>
            <a:pPr>
              <a:spcAft>
                <a:spcPts val="700"/>
              </a:spcAft>
            </a:pPr>
            <a:r>
              <a:rPr sz="1500" b="0">
                <a:solidFill>
                  <a:srgbClr val="1F2A33"/>
                </a:solidFill>
                <a:latin typeface="Calibri"/>
              </a:rPr>
              <a:t>•  Inflammation, angiogenesis</a:t>
            </a:r>
          </a:p>
          <a:p>
            <a:pPr>
              <a:spcAft>
                <a:spcPts val="700"/>
              </a:spcAft>
            </a:pPr>
            <a:r>
              <a:rPr sz="1500" b="0">
                <a:solidFill>
                  <a:srgbClr val="1F2A33"/>
                </a:solidFill>
                <a:latin typeface="Calibri"/>
              </a:rPr>
              <a:t>•  Clinically malignant</a:t>
            </a:r>
          </a:p>
        </p:txBody>
      </p:sp>
      <p:sp>
        <p:nvSpPr>
          <p:cNvPr id="14" name="TextBox 13"/>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15" name="TextBox 14"/>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11/41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Classification by Carcinogenic Action / Behavior</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By mechanism: genotoxic vs non-genotoxic</a:t>
            </a:r>
          </a:p>
          <a:p>
            <a:pPr>
              <a:spcAft>
                <a:spcPts val="700"/>
              </a:spcAft>
            </a:pPr>
            <a:r>
              <a:rPr sz="1700" b="0">
                <a:solidFill>
                  <a:srgbClr val="1F2A33"/>
                </a:solidFill>
                <a:latin typeface="Calibri"/>
              </a:rPr>
              <a:t>•  By need for activation: direct-acting vs procarcinogens</a:t>
            </a:r>
          </a:p>
          <a:p>
            <a:pPr>
              <a:spcAft>
                <a:spcPts val="700"/>
              </a:spcAft>
            </a:pPr>
            <a:r>
              <a:rPr sz="1700" b="0">
                <a:solidFill>
                  <a:srgbClr val="1F2A33"/>
                </a:solidFill>
                <a:latin typeface="Calibri"/>
              </a:rPr>
              <a:t>•  By role in multistage model: initiators, promoters, progressors, complete carcinogens</a:t>
            </a:r>
          </a:p>
          <a:p>
            <a:pPr>
              <a:spcAft>
                <a:spcPts val="700"/>
              </a:spcAft>
            </a:pPr>
            <a:r>
              <a:rPr sz="1700" b="0">
                <a:solidFill>
                  <a:srgbClr val="1F2A33"/>
                </a:solidFill>
                <a:latin typeface="Calibri"/>
              </a:rPr>
              <a:t>•  By evidence strength: IARC Groups 1 / 2A / 2B / 3</a:t>
            </a:r>
          </a:p>
          <a:p>
            <a:pPr>
              <a:spcAft>
                <a:spcPts val="700"/>
              </a:spcAft>
            </a:pPr>
            <a:r>
              <a:rPr sz="1700" b="0">
                <a:solidFill>
                  <a:srgbClr val="1F2A33"/>
                </a:solidFill>
                <a:latin typeface="Calibri"/>
              </a:rPr>
              <a:t>•  By source: occupational, environmental, dietary, pharmaceutical, lifestyle</a:t>
            </a:r>
          </a:p>
          <a:p>
            <a:pPr>
              <a:spcAft>
                <a:spcPts val="700"/>
              </a:spcAft>
            </a:pPr>
            <a:r>
              <a:rPr sz="1700" b="0">
                <a:solidFill>
                  <a:srgbClr val="1F2A33"/>
                </a:solidFill>
                <a:latin typeface="Calibri"/>
              </a:rPr>
              <a:t>•  Complete carcinogen = can drive more than one stage (e.g., some PAHs in practice)</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12/41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Exposure Routes — Visual</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097280"/>
            <a:ext cx="10881360" cy="475488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xposure_routes_diagram.jpg"/>
          <p:cNvPicPr>
            <a:picLocks noChangeAspect="1"/>
          </p:cNvPicPr>
          <p:nvPr/>
        </p:nvPicPr>
        <p:blipFill>
          <a:blip r:embed="rId2"/>
          <a:stretch>
            <a:fillRect/>
          </a:stretch>
        </p:blipFill>
        <p:spPr>
          <a:xfrm>
            <a:off x="868680" y="1280160"/>
            <a:ext cx="10424160" cy="4114800"/>
          </a:xfrm>
          <a:prstGeom prst="rect">
            <a:avLst/>
          </a:prstGeom>
        </p:spPr>
      </p:pic>
      <p:sp>
        <p:nvSpPr>
          <p:cNvPr id="7" name="TextBox 6"/>
          <p:cNvSpPr txBox="1"/>
          <p:nvPr/>
        </p:nvSpPr>
        <p:spPr>
          <a:xfrm>
            <a:off x="822960" y="5532120"/>
            <a:ext cx="10515600" cy="365760"/>
          </a:xfrm>
          <a:prstGeom prst="rect">
            <a:avLst/>
          </a:prstGeom>
          <a:noFill/>
        </p:spPr>
        <p:txBody>
          <a:bodyPr wrap="square">
            <a:spAutoFit/>
          </a:bodyPr>
          <a:lstStyle/>
          <a:p>
            <a:pPr algn="ctr"/>
            <a:r>
              <a:rPr sz="1300" b="0">
                <a:solidFill>
                  <a:srgbClr val="5A6B76"/>
                </a:solidFill>
                <a:latin typeface="Calibri"/>
              </a:rPr>
              <a:t>Inhalation · Skin absorption · Ingestion — intensity × duration × susceptibility</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13/41</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Types of Exposure to Carcinogens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234440"/>
            <a:ext cx="2743200" cy="48463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3000" y="1554480"/>
            <a:ext cx="1188720" cy="1188720"/>
          </a:xfrm>
          <a:prstGeom prst="ellipse">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874519"/>
            <a:ext cx="1188720" cy="640080"/>
          </a:xfrm>
          <a:prstGeom prst="rect">
            <a:avLst/>
          </a:prstGeom>
          <a:noFill/>
        </p:spPr>
        <p:txBody>
          <a:bodyPr wrap="square">
            <a:spAutoFit/>
          </a:bodyPr>
          <a:lstStyle/>
          <a:p>
            <a:pPr algn="ctr"/>
            <a:r>
              <a:rPr sz="2600" b="1">
                <a:solidFill>
                  <a:srgbClr val="FFFFFF"/>
                </a:solidFill>
                <a:latin typeface="Calibri"/>
              </a:rPr>
              <a:t>↑</a:t>
            </a:r>
          </a:p>
        </p:txBody>
      </p:sp>
      <p:sp>
        <p:nvSpPr>
          <p:cNvPr id="8" name="TextBox 7"/>
          <p:cNvSpPr txBox="1"/>
          <p:nvPr/>
        </p:nvSpPr>
        <p:spPr>
          <a:xfrm>
            <a:off x="502920" y="3017520"/>
            <a:ext cx="2468880" cy="822960"/>
          </a:xfrm>
          <a:prstGeom prst="rect">
            <a:avLst/>
          </a:prstGeom>
          <a:noFill/>
        </p:spPr>
        <p:txBody>
          <a:bodyPr wrap="square">
            <a:spAutoFit/>
          </a:bodyPr>
          <a:lstStyle/>
          <a:p>
            <a:pPr algn="ctr"/>
            <a:r>
              <a:rPr sz="1500" b="1">
                <a:solidFill>
                  <a:srgbClr val="143242"/>
                </a:solidFill>
                <a:latin typeface="Calibri"/>
              </a:rPr>
              <a:t>INHALATION</a:t>
            </a:r>
          </a:p>
        </p:txBody>
      </p:sp>
      <p:sp>
        <p:nvSpPr>
          <p:cNvPr id="9" name="TextBox 8"/>
          <p:cNvSpPr txBox="1"/>
          <p:nvPr/>
        </p:nvSpPr>
        <p:spPr>
          <a:xfrm>
            <a:off x="548640" y="3931920"/>
            <a:ext cx="2377440" cy="822960"/>
          </a:xfrm>
          <a:prstGeom prst="rect">
            <a:avLst/>
          </a:prstGeom>
          <a:noFill/>
        </p:spPr>
        <p:txBody>
          <a:bodyPr wrap="square">
            <a:spAutoFit/>
          </a:bodyPr>
          <a:lstStyle/>
          <a:p>
            <a:pPr algn="ctr"/>
            <a:r>
              <a:rPr sz="1300" b="0">
                <a:solidFill>
                  <a:srgbClr val="5A6B76"/>
                </a:solidFill>
                <a:latin typeface="Calibri"/>
              </a:rPr>
              <a:t>Gases, fumes, dusts, smoke</a:t>
            </a:r>
          </a:p>
        </p:txBody>
      </p:sp>
      <p:sp>
        <p:nvSpPr>
          <p:cNvPr id="10" name="Rounded Rectangle 9"/>
          <p:cNvSpPr/>
          <p:nvPr/>
        </p:nvSpPr>
        <p:spPr>
          <a:xfrm>
            <a:off x="594360" y="5029200"/>
            <a:ext cx="2286000" cy="777240"/>
          </a:xfrm>
          <a:prstGeom prst="roundRect">
            <a:avLst/>
          </a:prstGeom>
          <a:solidFill>
            <a:srgbClr val="E6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166360"/>
            <a:ext cx="2103120" cy="548640"/>
          </a:xfrm>
          <a:prstGeom prst="rect">
            <a:avLst/>
          </a:prstGeom>
          <a:noFill/>
        </p:spPr>
        <p:txBody>
          <a:bodyPr wrap="square">
            <a:spAutoFit/>
          </a:bodyPr>
          <a:lstStyle/>
          <a:p>
            <a:pPr algn="ctr"/>
            <a:r>
              <a:rPr sz="1100" b="1">
                <a:solidFill>
                  <a:srgbClr val="1F2A33"/>
                </a:solidFill>
                <a:latin typeface="Calibri"/>
              </a:rPr>
              <a:t>Most common occupational route</a:t>
            </a:r>
          </a:p>
        </p:txBody>
      </p:sp>
      <p:sp>
        <p:nvSpPr>
          <p:cNvPr id="12" name="Rounded Rectangle 11"/>
          <p:cNvSpPr/>
          <p:nvPr/>
        </p:nvSpPr>
        <p:spPr>
          <a:xfrm>
            <a:off x="3291840" y="1234440"/>
            <a:ext cx="2743200" cy="48463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069080" y="1554480"/>
            <a:ext cx="1188720" cy="1188720"/>
          </a:xfrm>
          <a:prstGeom prst="ellipse">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69080" y="1874519"/>
            <a:ext cx="1188720" cy="640080"/>
          </a:xfrm>
          <a:prstGeom prst="rect">
            <a:avLst/>
          </a:prstGeom>
          <a:noFill/>
        </p:spPr>
        <p:txBody>
          <a:bodyPr wrap="square">
            <a:spAutoFit/>
          </a:bodyPr>
          <a:lstStyle/>
          <a:p>
            <a:pPr algn="ctr"/>
            <a:r>
              <a:rPr sz="2600" b="1">
                <a:solidFill>
                  <a:srgbClr val="FFFFFF"/>
                </a:solidFill>
                <a:latin typeface="Calibri"/>
              </a:rPr>
              <a:t>◉</a:t>
            </a:r>
          </a:p>
        </p:txBody>
      </p:sp>
      <p:sp>
        <p:nvSpPr>
          <p:cNvPr id="15" name="TextBox 14"/>
          <p:cNvSpPr txBox="1"/>
          <p:nvPr/>
        </p:nvSpPr>
        <p:spPr>
          <a:xfrm>
            <a:off x="3429000" y="3017520"/>
            <a:ext cx="2468880" cy="822960"/>
          </a:xfrm>
          <a:prstGeom prst="rect">
            <a:avLst/>
          </a:prstGeom>
          <a:noFill/>
        </p:spPr>
        <p:txBody>
          <a:bodyPr wrap="square">
            <a:spAutoFit/>
          </a:bodyPr>
          <a:lstStyle/>
          <a:p>
            <a:pPr algn="ctr"/>
            <a:r>
              <a:rPr sz="1500" b="1">
                <a:solidFill>
                  <a:srgbClr val="143242"/>
                </a:solidFill>
                <a:latin typeface="Calibri"/>
              </a:rPr>
              <a:t>SKIN CONTACT</a:t>
            </a:r>
          </a:p>
        </p:txBody>
      </p:sp>
      <p:sp>
        <p:nvSpPr>
          <p:cNvPr id="16" name="TextBox 15"/>
          <p:cNvSpPr txBox="1"/>
          <p:nvPr/>
        </p:nvSpPr>
        <p:spPr>
          <a:xfrm>
            <a:off x="3474720" y="3931920"/>
            <a:ext cx="2377440" cy="822960"/>
          </a:xfrm>
          <a:prstGeom prst="rect">
            <a:avLst/>
          </a:prstGeom>
          <a:noFill/>
        </p:spPr>
        <p:txBody>
          <a:bodyPr wrap="square">
            <a:spAutoFit/>
          </a:bodyPr>
          <a:lstStyle/>
          <a:p>
            <a:pPr algn="ctr"/>
            <a:r>
              <a:rPr sz="1300" b="0">
                <a:solidFill>
                  <a:srgbClr val="5A6B76"/>
                </a:solidFill>
                <a:latin typeface="Calibri"/>
              </a:rPr>
              <a:t>Solvents, oils, pesticides</a:t>
            </a:r>
          </a:p>
        </p:txBody>
      </p:sp>
      <p:sp>
        <p:nvSpPr>
          <p:cNvPr id="17" name="Rounded Rectangle 16"/>
          <p:cNvSpPr/>
          <p:nvPr/>
        </p:nvSpPr>
        <p:spPr>
          <a:xfrm>
            <a:off x="3520440" y="5029200"/>
            <a:ext cx="2286000" cy="777240"/>
          </a:xfrm>
          <a:prstGeom prst="roundRect">
            <a:avLst/>
          </a:prstGeom>
          <a:solidFill>
            <a:srgbClr val="FB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5166360"/>
            <a:ext cx="2103120" cy="548640"/>
          </a:xfrm>
          <a:prstGeom prst="rect">
            <a:avLst/>
          </a:prstGeom>
          <a:noFill/>
        </p:spPr>
        <p:txBody>
          <a:bodyPr wrap="square">
            <a:spAutoFit/>
          </a:bodyPr>
          <a:lstStyle/>
          <a:p>
            <a:pPr algn="ctr"/>
            <a:r>
              <a:rPr sz="1100" b="1">
                <a:solidFill>
                  <a:srgbClr val="1F2A33"/>
                </a:solidFill>
                <a:latin typeface="Calibri"/>
              </a:rPr>
              <a:t>Absorption through intact skin</a:t>
            </a:r>
          </a:p>
        </p:txBody>
      </p:sp>
      <p:sp>
        <p:nvSpPr>
          <p:cNvPr id="19" name="Rounded Rectangle 18"/>
          <p:cNvSpPr/>
          <p:nvPr/>
        </p:nvSpPr>
        <p:spPr>
          <a:xfrm>
            <a:off x="6217920" y="1234440"/>
            <a:ext cx="2743200" cy="48463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995160" y="1554480"/>
            <a:ext cx="1188720" cy="1188720"/>
          </a:xfrm>
          <a:prstGeom prst="ellipse">
            <a:avLst/>
          </a:prstGeom>
          <a:solidFill>
            <a:srgbClr val="E0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60" y="1874519"/>
            <a:ext cx="1188720" cy="640080"/>
          </a:xfrm>
          <a:prstGeom prst="rect">
            <a:avLst/>
          </a:prstGeom>
          <a:noFill/>
        </p:spPr>
        <p:txBody>
          <a:bodyPr wrap="square">
            <a:spAutoFit/>
          </a:bodyPr>
          <a:lstStyle/>
          <a:p>
            <a:pPr algn="ctr"/>
            <a:r>
              <a:rPr sz="2600" b="1">
                <a:solidFill>
                  <a:srgbClr val="FFFFFF"/>
                </a:solidFill>
                <a:latin typeface="Calibri"/>
              </a:rPr>
              <a:t>↓</a:t>
            </a:r>
          </a:p>
        </p:txBody>
      </p:sp>
      <p:sp>
        <p:nvSpPr>
          <p:cNvPr id="22" name="TextBox 21"/>
          <p:cNvSpPr txBox="1"/>
          <p:nvPr/>
        </p:nvSpPr>
        <p:spPr>
          <a:xfrm>
            <a:off x="6355080" y="3017520"/>
            <a:ext cx="2468880" cy="822960"/>
          </a:xfrm>
          <a:prstGeom prst="rect">
            <a:avLst/>
          </a:prstGeom>
          <a:noFill/>
        </p:spPr>
        <p:txBody>
          <a:bodyPr wrap="square">
            <a:spAutoFit/>
          </a:bodyPr>
          <a:lstStyle/>
          <a:p>
            <a:pPr algn="ctr"/>
            <a:r>
              <a:rPr sz="1500" b="1">
                <a:solidFill>
                  <a:srgbClr val="143242"/>
                </a:solidFill>
                <a:latin typeface="Calibri"/>
              </a:rPr>
              <a:t>INGESTION</a:t>
            </a:r>
          </a:p>
        </p:txBody>
      </p:sp>
      <p:sp>
        <p:nvSpPr>
          <p:cNvPr id="23" name="TextBox 22"/>
          <p:cNvSpPr txBox="1"/>
          <p:nvPr/>
        </p:nvSpPr>
        <p:spPr>
          <a:xfrm>
            <a:off x="6400800" y="3931920"/>
            <a:ext cx="2377440" cy="822960"/>
          </a:xfrm>
          <a:prstGeom prst="rect">
            <a:avLst/>
          </a:prstGeom>
          <a:noFill/>
        </p:spPr>
        <p:txBody>
          <a:bodyPr wrap="square">
            <a:spAutoFit/>
          </a:bodyPr>
          <a:lstStyle/>
          <a:p>
            <a:pPr algn="ctr"/>
            <a:r>
              <a:rPr sz="1300" b="0">
                <a:solidFill>
                  <a:srgbClr val="5A6B76"/>
                </a:solidFill>
                <a:latin typeface="Calibri"/>
              </a:rPr>
              <a:t>Food, water, hand-to-mouth</a:t>
            </a:r>
          </a:p>
        </p:txBody>
      </p:sp>
      <p:sp>
        <p:nvSpPr>
          <p:cNvPr id="24" name="Rounded Rectangle 23"/>
          <p:cNvSpPr/>
          <p:nvPr/>
        </p:nvSpPr>
        <p:spPr>
          <a:xfrm>
            <a:off x="6446520" y="5029200"/>
            <a:ext cx="2286000" cy="777240"/>
          </a:xfrm>
          <a:prstGeom prst="roundRect">
            <a:avLst/>
          </a:prstGeom>
          <a:solidFill>
            <a:srgbClr val="E6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5166360"/>
            <a:ext cx="2103120" cy="548640"/>
          </a:xfrm>
          <a:prstGeom prst="rect">
            <a:avLst/>
          </a:prstGeom>
          <a:noFill/>
        </p:spPr>
        <p:txBody>
          <a:bodyPr wrap="square">
            <a:spAutoFit/>
          </a:bodyPr>
          <a:lstStyle/>
          <a:p>
            <a:pPr algn="ctr"/>
            <a:r>
              <a:rPr sz="1100" b="1">
                <a:solidFill>
                  <a:srgbClr val="1F2A33"/>
                </a:solidFill>
                <a:latin typeface="Calibri"/>
              </a:rPr>
              <a:t>Contaminated diet or accidents</a:t>
            </a:r>
          </a:p>
        </p:txBody>
      </p:sp>
      <p:sp>
        <p:nvSpPr>
          <p:cNvPr id="26" name="Rounded Rectangle 25"/>
          <p:cNvSpPr/>
          <p:nvPr/>
        </p:nvSpPr>
        <p:spPr>
          <a:xfrm>
            <a:off x="9144000" y="1234440"/>
            <a:ext cx="2743200" cy="48463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21240" y="1554480"/>
            <a:ext cx="1188720" cy="118872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21240" y="1874519"/>
            <a:ext cx="1188720" cy="640080"/>
          </a:xfrm>
          <a:prstGeom prst="rect">
            <a:avLst/>
          </a:prstGeom>
          <a:noFill/>
        </p:spPr>
        <p:txBody>
          <a:bodyPr wrap="square">
            <a:spAutoFit/>
          </a:bodyPr>
          <a:lstStyle/>
          <a:p>
            <a:pPr algn="ctr"/>
            <a:r>
              <a:rPr sz="2600" b="1">
                <a:solidFill>
                  <a:srgbClr val="FFFFFF"/>
                </a:solidFill>
                <a:latin typeface="Calibri"/>
              </a:rPr>
              <a:t>+</a:t>
            </a:r>
          </a:p>
        </p:txBody>
      </p:sp>
      <p:sp>
        <p:nvSpPr>
          <p:cNvPr id="29" name="TextBox 28"/>
          <p:cNvSpPr txBox="1"/>
          <p:nvPr/>
        </p:nvSpPr>
        <p:spPr>
          <a:xfrm>
            <a:off x="9281160" y="3017520"/>
            <a:ext cx="2468880" cy="822960"/>
          </a:xfrm>
          <a:prstGeom prst="rect">
            <a:avLst/>
          </a:prstGeom>
          <a:noFill/>
        </p:spPr>
        <p:txBody>
          <a:bodyPr wrap="square">
            <a:spAutoFit/>
          </a:bodyPr>
          <a:lstStyle/>
          <a:p>
            <a:pPr algn="ctr"/>
            <a:r>
              <a:rPr sz="1500" b="1">
                <a:solidFill>
                  <a:srgbClr val="143242"/>
                </a:solidFill>
                <a:latin typeface="Calibri"/>
              </a:rPr>
              <a:t>INJECTION /
OTHER</a:t>
            </a:r>
          </a:p>
        </p:txBody>
      </p:sp>
      <p:sp>
        <p:nvSpPr>
          <p:cNvPr id="30" name="TextBox 29"/>
          <p:cNvSpPr txBox="1"/>
          <p:nvPr/>
        </p:nvSpPr>
        <p:spPr>
          <a:xfrm>
            <a:off x="9326880" y="3931920"/>
            <a:ext cx="2377440" cy="822960"/>
          </a:xfrm>
          <a:prstGeom prst="rect">
            <a:avLst/>
          </a:prstGeom>
          <a:noFill/>
        </p:spPr>
        <p:txBody>
          <a:bodyPr wrap="square">
            <a:spAutoFit/>
          </a:bodyPr>
          <a:lstStyle/>
          <a:p>
            <a:pPr algn="ctr"/>
            <a:r>
              <a:rPr sz="1300" b="0">
                <a:solidFill>
                  <a:srgbClr val="5A6B76"/>
                </a:solidFill>
                <a:latin typeface="Calibri"/>
              </a:rPr>
              <a:t>Medical, parenteral, rare</a:t>
            </a:r>
          </a:p>
        </p:txBody>
      </p:sp>
      <p:sp>
        <p:nvSpPr>
          <p:cNvPr id="31" name="Rounded Rectangle 30"/>
          <p:cNvSpPr/>
          <p:nvPr/>
        </p:nvSpPr>
        <p:spPr>
          <a:xfrm>
            <a:off x="9372600" y="5029200"/>
            <a:ext cx="2286000" cy="777240"/>
          </a:xfrm>
          <a:prstGeom prst="roundRect">
            <a:avLst/>
          </a:prstGeom>
          <a:solidFill>
            <a:srgbClr val="FB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64040" y="5166360"/>
            <a:ext cx="2103120" cy="548640"/>
          </a:xfrm>
          <a:prstGeom prst="rect">
            <a:avLst/>
          </a:prstGeom>
          <a:noFill/>
        </p:spPr>
        <p:txBody>
          <a:bodyPr wrap="square">
            <a:spAutoFit/>
          </a:bodyPr>
          <a:lstStyle/>
          <a:p>
            <a:pPr algn="ctr"/>
            <a:r>
              <a:rPr sz="1100" b="1">
                <a:solidFill>
                  <a:srgbClr val="1F2A33"/>
                </a:solidFill>
                <a:latin typeface="Calibri"/>
              </a:rPr>
              <a:t>Iatrogenic or intentional routes</a:t>
            </a:r>
          </a:p>
        </p:txBody>
      </p:sp>
      <p:sp>
        <p:nvSpPr>
          <p:cNvPr id="33" name="TextBox 32"/>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34" name="TextBox 33"/>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14/41</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Environmental Chemical Carcinogens — Examples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Air pollution / combustion products — PAHs, fine particulates (with lung cancer evidence for pollution)</a:t>
            </a:r>
          </a:p>
          <a:p>
            <a:pPr>
              <a:spcAft>
                <a:spcPts val="700"/>
              </a:spcAft>
            </a:pPr>
            <a:r>
              <a:rPr sz="1700" b="0">
                <a:solidFill>
                  <a:srgbClr val="1F2A33"/>
                </a:solidFill>
                <a:latin typeface="Calibri"/>
              </a:rPr>
              <a:t>•  Contaminated water — arsenic (skin, lung, bladder cancers)</a:t>
            </a:r>
          </a:p>
          <a:p>
            <a:pPr>
              <a:spcAft>
                <a:spcPts val="700"/>
              </a:spcAft>
            </a:pPr>
            <a:r>
              <a:rPr sz="1700" b="0">
                <a:solidFill>
                  <a:srgbClr val="1F2A33"/>
                </a:solidFill>
                <a:latin typeface="Calibri"/>
              </a:rPr>
              <a:t>•  Foodborne — aflatoxin B1 (liver), nitrates/nitrosamines (context-dependent)</a:t>
            </a:r>
          </a:p>
          <a:p>
            <a:pPr>
              <a:spcAft>
                <a:spcPts val="700"/>
              </a:spcAft>
            </a:pPr>
            <a:r>
              <a:rPr sz="1700" b="0">
                <a:solidFill>
                  <a:srgbClr val="1F2A33"/>
                </a:solidFill>
                <a:latin typeface="Calibri"/>
              </a:rPr>
              <a:t>•  Persistent organics — dioxins, some PCBs (long half-life, fat storage)</a:t>
            </a:r>
          </a:p>
          <a:p>
            <a:pPr>
              <a:spcAft>
                <a:spcPts val="700"/>
              </a:spcAft>
            </a:pPr>
            <a:r>
              <a:rPr sz="1700" b="0">
                <a:solidFill>
                  <a:srgbClr val="1F2A33"/>
                </a:solidFill>
                <a:latin typeface="Calibri"/>
              </a:rPr>
              <a:t>•  Second-hand tobacco smoke as an environmental carcinogen in shared air</a:t>
            </a:r>
          </a:p>
          <a:p>
            <a:pPr>
              <a:spcAft>
                <a:spcPts val="700"/>
              </a:spcAft>
            </a:pPr>
            <a:r>
              <a:rPr sz="1700" b="0">
                <a:solidFill>
                  <a:srgbClr val="1F2A33"/>
                </a:solidFill>
                <a:latin typeface="Calibri"/>
              </a:rPr>
              <a:t>•  Pesticide residues — population risk usually lower than high occupational exposure</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15/41</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Occupational Carcinogens — High-Yield List</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Asbestos → mesothelioma; also lung and several other sites</a:t>
            </a:r>
          </a:p>
          <a:p>
            <a:pPr>
              <a:spcAft>
                <a:spcPts val="700"/>
              </a:spcAft>
            </a:pPr>
            <a:r>
              <a:rPr sz="1700" b="0">
                <a:solidFill>
                  <a:srgbClr val="1F2A33"/>
                </a:solidFill>
                <a:latin typeface="Calibri"/>
              </a:rPr>
              <a:t>•  Benzene → leukemia</a:t>
            </a:r>
          </a:p>
          <a:p>
            <a:pPr>
              <a:spcAft>
                <a:spcPts val="700"/>
              </a:spcAft>
            </a:pPr>
            <a:r>
              <a:rPr sz="1700" b="0">
                <a:solidFill>
                  <a:srgbClr val="1F2A33"/>
                </a:solidFill>
                <a:latin typeface="Calibri"/>
              </a:rPr>
              <a:t>•  Vinyl chloride → hepatic angiosarcoma</a:t>
            </a:r>
          </a:p>
          <a:p>
            <a:pPr>
              <a:spcAft>
                <a:spcPts val="700"/>
              </a:spcAft>
            </a:pPr>
            <a:r>
              <a:rPr sz="1700" b="0">
                <a:solidFill>
                  <a:srgbClr val="1F2A33"/>
                </a:solidFill>
                <a:latin typeface="Calibri"/>
              </a:rPr>
              <a:t>•  Aromatic amines (e.g., benzidine) → bladder cancer</a:t>
            </a:r>
          </a:p>
          <a:p>
            <a:pPr>
              <a:spcAft>
                <a:spcPts val="700"/>
              </a:spcAft>
            </a:pPr>
            <a:r>
              <a:rPr sz="1700" b="0">
                <a:solidFill>
                  <a:srgbClr val="1F2A33"/>
                </a:solidFill>
                <a:latin typeface="Calibri"/>
              </a:rPr>
              <a:t>•  Wood dust → sinonasal / nasopharyngeal cancers</a:t>
            </a:r>
          </a:p>
          <a:p>
            <a:pPr>
              <a:spcAft>
                <a:spcPts val="700"/>
              </a:spcAft>
            </a:pPr>
            <a:r>
              <a:rPr sz="1700" b="0">
                <a:solidFill>
                  <a:srgbClr val="1F2A33"/>
                </a:solidFill>
                <a:latin typeface="Calibri"/>
              </a:rPr>
              <a:t>•  Silica, diesel exhaust, coal tars, chromium, nickel, cadmium — site-specific risks</a:t>
            </a:r>
          </a:p>
          <a:p>
            <a:pPr>
              <a:spcAft>
                <a:spcPts val="700"/>
              </a:spcAft>
            </a:pPr>
            <a:r>
              <a:rPr sz="1700" b="0">
                <a:solidFill>
                  <a:srgbClr val="1F2A33"/>
                </a:solidFill>
                <a:latin typeface="Calibri"/>
              </a:rPr>
              <a:t>•  Painting / welding work and night-shift work — discuss as recognized risk contexts</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16/41</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Selected Agent–Cancer Pairs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097280"/>
            <a:ext cx="544068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097280"/>
            <a:ext cx="5440680" cy="59436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07008"/>
            <a:ext cx="4983480" cy="411480"/>
          </a:xfrm>
          <a:prstGeom prst="rect">
            <a:avLst/>
          </a:prstGeom>
          <a:noFill/>
        </p:spPr>
        <p:txBody>
          <a:bodyPr wrap="square">
            <a:spAutoFit/>
          </a:bodyPr>
          <a:lstStyle/>
          <a:p>
            <a:pPr algn="l"/>
            <a:r>
              <a:rPr sz="1700" b="1">
                <a:solidFill>
                  <a:srgbClr val="FFFFFF"/>
                </a:solidFill>
                <a:latin typeface="Calibri"/>
              </a:rPr>
              <a:t>Organics</a:t>
            </a:r>
          </a:p>
        </p:txBody>
      </p:sp>
      <p:sp>
        <p:nvSpPr>
          <p:cNvPr id="8" name="TextBox 7"/>
          <p:cNvSpPr txBox="1"/>
          <p:nvPr/>
        </p:nvSpPr>
        <p:spPr>
          <a:xfrm>
            <a:off x="685800" y="1920240"/>
            <a:ext cx="4937760" cy="3931920"/>
          </a:xfrm>
          <a:prstGeom prst="rect">
            <a:avLst/>
          </a:prstGeom>
          <a:noFill/>
        </p:spPr>
        <p:txBody>
          <a:bodyPr wrap="square">
            <a:spAutoFit/>
          </a:bodyPr>
          <a:lstStyle/>
          <a:p>
            <a:pPr>
              <a:spcAft>
                <a:spcPts val="700"/>
              </a:spcAft>
            </a:pPr>
            <a:r>
              <a:rPr sz="1500" b="0">
                <a:solidFill>
                  <a:srgbClr val="1F2A33"/>
                </a:solidFill>
                <a:latin typeface="Calibri"/>
              </a:rPr>
              <a:t>•  Benzene → leukemia</a:t>
            </a:r>
          </a:p>
          <a:p>
            <a:pPr>
              <a:spcAft>
                <a:spcPts val="700"/>
              </a:spcAft>
            </a:pPr>
            <a:r>
              <a:rPr sz="1500" b="0">
                <a:solidFill>
                  <a:srgbClr val="1F2A33"/>
                </a:solidFill>
                <a:latin typeface="Calibri"/>
              </a:rPr>
              <a:t>•  PAHs → lung, skin, urinary tract</a:t>
            </a:r>
          </a:p>
          <a:p>
            <a:pPr>
              <a:spcAft>
                <a:spcPts val="700"/>
              </a:spcAft>
            </a:pPr>
            <a:r>
              <a:rPr sz="1500" b="0">
                <a:solidFill>
                  <a:srgbClr val="1F2A33"/>
                </a:solidFill>
                <a:latin typeface="Calibri"/>
              </a:rPr>
              <a:t>•  Vinyl chloride → liver angiosarcoma</a:t>
            </a:r>
          </a:p>
          <a:p>
            <a:pPr>
              <a:spcAft>
                <a:spcPts val="700"/>
              </a:spcAft>
            </a:pPr>
            <a:r>
              <a:rPr sz="1500" b="0">
                <a:solidFill>
                  <a:srgbClr val="1F2A33"/>
                </a:solidFill>
                <a:latin typeface="Calibri"/>
              </a:rPr>
              <a:t>•  Benzidine → bladder</a:t>
            </a:r>
          </a:p>
          <a:p>
            <a:pPr>
              <a:spcAft>
                <a:spcPts val="700"/>
              </a:spcAft>
            </a:pPr>
            <a:r>
              <a:rPr sz="1500" b="0">
                <a:solidFill>
                  <a:srgbClr val="1F2A33"/>
                </a:solidFill>
                <a:latin typeface="Calibri"/>
              </a:rPr>
              <a:t>•  Aflatoxin B1 → hepatocellular carcinoma</a:t>
            </a:r>
          </a:p>
          <a:p>
            <a:pPr>
              <a:spcAft>
                <a:spcPts val="700"/>
              </a:spcAft>
            </a:pPr>
            <a:r>
              <a:rPr sz="1500" b="0">
                <a:solidFill>
                  <a:srgbClr val="1F2A33"/>
                </a:solidFill>
                <a:latin typeface="Calibri"/>
              </a:rPr>
              <a:t>•  Ethanol → multiple sites (IARC 1)</a:t>
            </a:r>
          </a:p>
        </p:txBody>
      </p:sp>
      <p:sp>
        <p:nvSpPr>
          <p:cNvPr id="9" name="Rounded Rectangle 8"/>
          <p:cNvSpPr/>
          <p:nvPr/>
        </p:nvSpPr>
        <p:spPr>
          <a:xfrm>
            <a:off x="6309360" y="1097280"/>
            <a:ext cx="544068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097280"/>
            <a:ext cx="5440680" cy="59436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207008"/>
            <a:ext cx="4983480" cy="411480"/>
          </a:xfrm>
          <a:prstGeom prst="rect">
            <a:avLst/>
          </a:prstGeom>
          <a:noFill/>
        </p:spPr>
        <p:txBody>
          <a:bodyPr wrap="square">
            <a:spAutoFit/>
          </a:bodyPr>
          <a:lstStyle/>
          <a:p>
            <a:pPr algn="l"/>
            <a:r>
              <a:rPr sz="1700" b="1">
                <a:solidFill>
                  <a:srgbClr val="FFFFFF"/>
                </a:solidFill>
                <a:latin typeface="Calibri"/>
              </a:rPr>
              <a:t>Dusts / fibers / metals</a:t>
            </a:r>
          </a:p>
        </p:txBody>
      </p:sp>
      <p:sp>
        <p:nvSpPr>
          <p:cNvPr id="12" name="TextBox 11"/>
          <p:cNvSpPr txBox="1"/>
          <p:nvPr/>
        </p:nvSpPr>
        <p:spPr>
          <a:xfrm>
            <a:off x="6583680" y="1920240"/>
            <a:ext cx="4937760" cy="3931920"/>
          </a:xfrm>
          <a:prstGeom prst="rect">
            <a:avLst/>
          </a:prstGeom>
          <a:noFill/>
        </p:spPr>
        <p:txBody>
          <a:bodyPr wrap="square">
            <a:spAutoFit/>
          </a:bodyPr>
          <a:lstStyle/>
          <a:p>
            <a:pPr>
              <a:spcAft>
                <a:spcPts val="700"/>
              </a:spcAft>
            </a:pPr>
            <a:r>
              <a:rPr sz="1500" b="0">
                <a:solidFill>
                  <a:srgbClr val="1F2A33"/>
                </a:solidFill>
                <a:latin typeface="Calibri"/>
              </a:rPr>
              <a:t>•  Asbestos → mesothelioma + lung</a:t>
            </a:r>
          </a:p>
          <a:p>
            <a:pPr>
              <a:spcAft>
                <a:spcPts val="700"/>
              </a:spcAft>
            </a:pPr>
            <a:r>
              <a:rPr sz="1500" b="0">
                <a:solidFill>
                  <a:srgbClr val="1F2A33"/>
                </a:solidFill>
                <a:latin typeface="Calibri"/>
              </a:rPr>
              <a:t>•  Silica → lung</a:t>
            </a:r>
          </a:p>
          <a:p>
            <a:pPr>
              <a:spcAft>
                <a:spcPts val="700"/>
              </a:spcAft>
            </a:pPr>
            <a:r>
              <a:rPr sz="1500" b="0">
                <a:solidFill>
                  <a:srgbClr val="1F2A33"/>
                </a:solidFill>
                <a:latin typeface="Calibri"/>
              </a:rPr>
              <a:t>•  Wood dust → sinonasal</a:t>
            </a:r>
          </a:p>
          <a:p>
            <a:pPr>
              <a:spcAft>
                <a:spcPts val="700"/>
              </a:spcAft>
            </a:pPr>
            <a:r>
              <a:rPr sz="1500" b="0">
                <a:solidFill>
                  <a:srgbClr val="1F2A33"/>
                </a:solidFill>
                <a:latin typeface="Calibri"/>
              </a:rPr>
              <a:t>•  Arsenic → skin, lung, bladder</a:t>
            </a:r>
          </a:p>
          <a:p>
            <a:pPr>
              <a:spcAft>
                <a:spcPts val="700"/>
              </a:spcAft>
            </a:pPr>
            <a:r>
              <a:rPr sz="1500" b="0">
                <a:solidFill>
                  <a:srgbClr val="1F2A33"/>
                </a:solidFill>
                <a:latin typeface="Calibri"/>
              </a:rPr>
              <a:t>•  Chromium / nickel → lung (± nasal)</a:t>
            </a:r>
          </a:p>
          <a:p>
            <a:pPr>
              <a:spcAft>
                <a:spcPts val="700"/>
              </a:spcAft>
            </a:pPr>
            <a:r>
              <a:rPr sz="1500" b="0">
                <a:solidFill>
                  <a:srgbClr val="1F2A33"/>
                </a:solidFill>
                <a:latin typeface="Calibri"/>
              </a:rPr>
              <a:t>•  Cadmium → lung</a:t>
            </a:r>
          </a:p>
        </p:txBody>
      </p:sp>
      <p:sp>
        <p:nvSpPr>
          <p:cNvPr id="13" name="TextBox 12"/>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14" name="TextBox 13"/>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17/41</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Protection Against Chemical Carcinogens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143000"/>
            <a:ext cx="10515600" cy="822960"/>
          </a:xfrm>
          <a:prstGeom prst="round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252728"/>
            <a:ext cx="10058400" cy="320040"/>
          </a:xfrm>
          <a:prstGeom prst="rect">
            <a:avLst/>
          </a:prstGeom>
          <a:noFill/>
        </p:spPr>
        <p:txBody>
          <a:bodyPr wrap="square">
            <a:spAutoFit/>
          </a:bodyPr>
          <a:lstStyle/>
          <a:p>
            <a:pPr algn="l"/>
            <a:r>
              <a:rPr sz="1500" b="1">
                <a:solidFill>
                  <a:srgbClr val="FFFFFF"/>
                </a:solidFill>
                <a:latin typeface="Calibri"/>
              </a:rPr>
              <a:t>1. Eliminate / Substitute</a:t>
            </a:r>
          </a:p>
        </p:txBody>
      </p:sp>
      <p:sp>
        <p:nvSpPr>
          <p:cNvPr id="7" name="TextBox 6"/>
          <p:cNvSpPr txBox="1"/>
          <p:nvPr/>
        </p:nvSpPr>
        <p:spPr>
          <a:xfrm>
            <a:off x="1097280" y="1581912"/>
            <a:ext cx="10058400" cy="320040"/>
          </a:xfrm>
          <a:prstGeom prst="rect">
            <a:avLst/>
          </a:prstGeom>
          <a:noFill/>
        </p:spPr>
        <p:txBody>
          <a:bodyPr wrap="square">
            <a:spAutoFit/>
          </a:bodyPr>
          <a:lstStyle/>
          <a:p>
            <a:pPr algn="l"/>
            <a:r>
              <a:rPr sz="1200" b="0">
                <a:solidFill>
                  <a:srgbClr val="FFFFFF"/>
                </a:solidFill>
                <a:latin typeface="Calibri"/>
              </a:rPr>
              <a:t>Remove the agent or replace with safer alternative</a:t>
            </a:r>
          </a:p>
        </p:txBody>
      </p:sp>
      <p:sp>
        <p:nvSpPr>
          <p:cNvPr id="8" name="Rounded Rectangle 7"/>
          <p:cNvSpPr/>
          <p:nvPr/>
        </p:nvSpPr>
        <p:spPr>
          <a:xfrm>
            <a:off x="960120" y="2103120"/>
            <a:ext cx="10195560" cy="822960"/>
          </a:xfrm>
          <a:prstGeom prst="round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2212848"/>
            <a:ext cx="9738360" cy="320040"/>
          </a:xfrm>
          <a:prstGeom prst="rect">
            <a:avLst/>
          </a:prstGeom>
          <a:noFill/>
        </p:spPr>
        <p:txBody>
          <a:bodyPr wrap="square">
            <a:spAutoFit/>
          </a:bodyPr>
          <a:lstStyle/>
          <a:p>
            <a:pPr algn="l"/>
            <a:r>
              <a:rPr sz="1500" b="1">
                <a:solidFill>
                  <a:srgbClr val="FFFFFF"/>
                </a:solidFill>
                <a:latin typeface="Calibri"/>
              </a:rPr>
              <a:t>2. Engineering controls</a:t>
            </a:r>
          </a:p>
        </p:txBody>
      </p:sp>
      <p:sp>
        <p:nvSpPr>
          <p:cNvPr id="10" name="TextBox 9"/>
          <p:cNvSpPr txBox="1"/>
          <p:nvPr/>
        </p:nvSpPr>
        <p:spPr>
          <a:xfrm>
            <a:off x="1234440" y="2542032"/>
            <a:ext cx="9738360" cy="320040"/>
          </a:xfrm>
          <a:prstGeom prst="rect">
            <a:avLst/>
          </a:prstGeom>
          <a:noFill/>
        </p:spPr>
        <p:txBody>
          <a:bodyPr wrap="square">
            <a:spAutoFit/>
          </a:bodyPr>
          <a:lstStyle/>
          <a:p>
            <a:pPr algn="l"/>
            <a:r>
              <a:rPr sz="1200" b="0">
                <a:solidFill>
                  <a:srgbClr val="FFFFFF"/>
                </a:solidFill>
                <a:latin typeface="Calibri"/>
              </a:rPr>
              <a:t>Ventilation, closed systems, process enclosure</a:t>
            </a:r>
          </a:p>
        </p:txBody>
      </p:sp>
      <p:sp>
        <p:nvSpPr>
          <p:cNvPr id="11" name="Rounded Rectangle 10"/>
          <p:cNvSpPr/>
          <p:nvPr/>
        </p:nvSpPr>
        <p:spPr>
          <a:xfrm>
            <a:off x="1097280" y="3063240"/>
            <a:ext cx="9875520" cy="822960"/>
          </a:xfrm>
          <a:prstGeom prst="roundRect">
            <a:avLst/>
          </a:prstGeom>
          <a:solidFill>
            <a:srgbClr val="E0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3172968"/>
            <a:ext cx="9418320" cy="320040"/>
          </a:xfrm>
          <a:prstGeom prst="rect">
            <a:avLst/>
          </a:prstGeom>
          <a:noFill/>
        </p:spPr>
        <p:txBody>
          <a:bodyPr wrap="square">
            <a:spAutoFit/>
          </a:bodyPr>
          <a:lstStyle/>
          <a:p>
            <a:pPr algn="l"/>
            <a:r>
              <a:rPr sz="1500" b="1">
                <a:solidFill>
                  <a:srgbClr val="FFFFFF"/>
                </a:solidFill>
                <a:latin typeface="Calibri"/>
              </a:rPr>
              <a:t>3. Administrative controls</a:t>
            </a:r>
          </a:p>
        </p:txBody>
      </p:sp>
      <p:sp>
        <p:nvSpPr>
          <p:cNvPr id="13" name="TextBox 12"/>
          <p:cNvSpPr txBox="1"/>
          <p:nvPr/>
        </p:nvSpPr>
        <p:spPr>
          <a:xfrm>
            <a:off x="1371600" y="3502152"/>
            <a:ext cx="9418320" cy="320040"/>
          </a:xfrm>
          <a:prstGeom prst="rect">
            <a:avLst/>
          </a:prstGeom>
          <a:noFill/>
        </p:spPr>
        <p:txBody>
          <a:bodyPr wrap="square">
            <a:spAutoFit/>
          </a:bodyPr>
          <a:lstStyle/>
          <a:p>
            <a:pPr algn="l"/>
            <a:r>
              <a:rPr sz="1200" b="0">
                <a:solidFill>
                  <a:srgbClr val="FFFFFF"/>
                </a:solidFill>
                <a:latin typeface="Calibri"/>
              </a:rPr>
              <a:t>Training, rotation, exposure limits, labeling</a:t>
            </a:r>
          </a:p>
        </p:txBody>
      </p:sp>
      <p:sp>
        <p:nvSpPr>
          <p:cNvPr id="14" name="Rounded Rectangle 13"/>
          <p:cNvSpPr/>
          <p:nvPr/>
        </p:nvSpPr>
        <p:spPr>
          <a:xfrm>
            <a:off x="1234440" y="4023360"/>
            <a:ext cx="9555480" cy="82296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08760" y="4133088"/>
            <a:ext cx="9098280" cy="320040"/>
          </a:xfrm>
          <a:prstGeom prst="rect">
            <a:avLst/>
          </a:prstGeom>
          <a:noFill/>
        </p:spPr>
        <p:txBody>
          <a:bodyPr wrap="square">
            <a:spAutoFit/>
          </a:bodyPr>
          <a:lstStyle/>
          <a:p>
            <a:pPr algn="l"/>
            <a:r>
              <a:rPr sz="1500" b="1">
                <a:solidFill>
                  <a:srgbClr val="FFFFFF"/>
                </a:solidFill>
                <a:latin typeface="Calibri"/>
              </a:rPr>
              <a:t>4. PPE (last line)</a:t>
            </a:r>
          </a:p>
        </p:txBody>
      </p:sp>
      <p:sp>
        <p:nvSpPr>
          <p:cNvPr id="16" name="TextBox 15"/>
          <p:cNvSpPr txBox="1"/>
          <p:nvPr/>
        </p:nvSpPr>
        <p:spPr>
          <a:xfrm>
            <a:off x="1508760" y="4462272"/>
            <a:ext cx="9098280" cy="320040"/>
          </a:xfrm>
          <a:prstGeom prst="rect">
            <a:avLst/>
          </a:prstGeom>
          <a:noFill/>
        </p:spPr>
        <p:txBody>
          <a:bodyPr wrap="square">
            <a:spAutoFit/>
          </a:bodyPr>
          <a:lstStyle/>
          <a:p>
            <a:pPr algn="l"/>
            <a:r>
              <a:rPr sz="1200" b="0">
                <a:solidFill>
                  <a:srgbClr val="FFFFFF"/>
                </a:solidFill>
                <a:latin typeface="Calibri"/>
              </a:rPr>
              <a:t>Respirators, gloves, goggles, protective clothing</a:t>
            </a:r>
          </a:p>
        </p:txBody>
      </p:sp>
      <p:sp>
        <p:nvSpPr>
          <p:cNvPr id="17" name="Rounded Rectangle 16"/>
          <p:cNvSpPr/>
          <p:nvPr/>
        </p:nvSpPr>
        <p:spPr>
          <a:xfrm>
            <a:off x="1371600" y="4983480"/>
            <a:ext cx="9235440" cy="822960"/>
          </a:xfrm>
          <a:prstGeom prst="roundRect">
            <a:avLst/>
          </a:prstGeom>
          <a:solidFill>
            <a:srgbClr val="143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5093208"/>
            <a:ext cx="8778240" cy="320040"/>
          </a:xfrm>
          <a:prstGeom prst="rect">
            <a:avLst/>
          </a:prstGeom>
          <a:noFill/>
        </p:spPr>
        <p:txBody>
          <a:bodyPr wrap="square">
            <a:spAutoFit/>
          </a:bodyPr>
          <a:lstStyle/>
          <a:p>
            <a:pPr algn="l"/>
            <a:r>
              <a:rPr sz="1500" b="1">
                <a:solidFill>
                  <a:srgbClr val="FFFFFF"/>
                </a:solidFill>
                <a:latin typeface="Calibri"/>
              </a:rPr>
              <a:t>5. Medical surveillance</a:t>
            </a:r>
          </a:p>
        </p:txBody>
      </p:sp>
      <p:sp>
        <p:nvSpPr>
          <p:cNvPr id="19" name="TextBox 18"/>
          <p:cNvSpPr txBox="1"/>
          <p:nvPr/>
        </p:nvSpPr>
        <p:spPr>
          <a:xfrm>
            <a:off x="1645920" y="5422392"/>
            <a:ext cx="8778240" cy="320040"/>
          </a:xfrm>
          <a:prstGeom prst="rect">
            <a:avLst/>
          </a:prstGeom>
          <a:noFill/>
        </p:spPr>
        <p:txBody>
          <a:bodyPr wrap="square">
            <a:spAutoFit/>
          </a:bodyPr>
          <a:lstStyle/>
          <a:p>
            <a:pPr algn="l"/>
            <a:r>
              <a:rPr sz="1200" b="0">
                <a:solidFill>
                  <a:srgbClr val="FFFFFF"/>
                </a:solidFill>
                <a:latin typeface="Calibri"/>
              </a:rPr>
              <a:t>Biological monitoring, early detection where indicated</a:t>
            </a:r>
          </a:p>
        </p:txBody>
      </p:sp>
      <p:sp>
        <p:nvSpPr>
          <p:cNvPr id="20" name="TextBox 19"/>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Chemical Carcinogens</a:t>
            </a:r>
          </a:p>
        </p:txBody>
      </p:sp>
      <p:sp>
        <p:nvSpPr>
          <p:cNvPr id="21" name="TextBox 20"/>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18/41</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F7A6E"/>
        </a:solidFill>
        <a:effectLst/>
      </p:bgPr>
    </p:bg>
    <p:spTree>
      <p:nvGrpSpPr>
        <p:cNvPr id="1" name=""/>
        <p:cNvGrpSpPr/>
        <p:nvPr/>
      </p:nvGrpSpPr>
      <p:grpSpPr/>
      <p:sp>
        <p:nvSpPr>
          <p:cNvPr id="2" name="Oval 1"/>
          <p:cNvSpPr/>
          <p:nvPr/>
        </p:nvSpPr>
        <p:spPr>
          <a:xfrm>
            <a:off x="9326880" y="-914400"/>
            <a:ext cx="4114800" cy="4114800"/>
          </a:xfrm>
          <a:prstGeom prst="ellipse">
            <a:avLst/>
          </a:prstGeom>
          <a:solidFill>
            <a:srgbClr val="288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03120"/>
            <a:ext cx="219456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7A6E"/>
                </a:solidFill>
                <a:latin typeface="Calibri"/>
              </a:rPr>
              <a:t>PART 02</a:t>
            </a:r>
          </a:p>
        </p:txBody>
      </p:sp>
      <p:sp>
        <p:nvSpPr>
          <p:cNvPr id="4" name="TextBox 3"/>
          <p:cNvSpPr txBox="1"/>
          <p:nvPr/>
        </p:nvSpPr>
        <p:spPr>
          <a:xfrm>
            <a:off x="731520" y="2834640"/>
            <a:ext cx="10515600" cy="1097280"/>
          </a:xfrm>
          <a:prstGeom prst="rect">
            <a:avLst/>
          </a:prstGeom>
          <a:noFill/>
        </p:spPr>
        <p:txBody>
          <a:bodyPr wrap="square">
            <a:spAutoFit/>
          </a:bodyPr>
          <a:lstStyle/>
          <a:p>
            <a:pPr algn="l"/>
            <a:r>
              <a:rPr sz="3400" b="1">
                <a:solidFill>
                  <a:srgbClr val="FFFFFF"/>
                </a:solidFill>
                <a:latin typeface="Calibri"/>
              </a:rPr>
              <a:t>Tobacco &amp; Cancer</a:t>
            </a:r>
          </a:p>
        </p:txBody>
      </p:sp>
      <p:sp>
        <p:nvSpPr>
          <p:cNvPr id="5" name="TextBox 4"/>
          <p:cNvSpPr txBox="1"/>
          <p:nvPr/>
        </p:nvSpPr>
        <p:spPr>
          <a:xfrm>
            <a:off x="731520" y="4114800"/>
            <a:ext cx="10515600" cy="731520"/>
          </a:xfrm>
          <a:prstGeom prst="rect">
            <a:avLst/>
          </a:prstGeom>
          <a:noFill/>
        </p:spPr>
        <p:txBody>
          <a:bodyPr wrap="square">
            <a:spAutoFit/>
          </a:bodyPr>
          <a:lstStyle/>
          <a:p>
            <a:pPr algn="l"/>
            <a:r>
              <a:rPr sz="1800" b="0">
                <a:solidFill>
                  <a:srgbClr val="D8F0EC"/>
                </a:solidFill>
                <a:latin typeface="Calibri"/>
              </a:rPr>
              <a:t>Contents · mechanisms · products · MSS vs SSS</a:t>
            </a:r>
          </a:p>
        </p:txBody>
      </p:sp>
      <p:sp>
        <p:nvSpPr>
          <p:cNvPr id="6" name="TextBox 5"/>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Tobacco &amp; Cancer</a:t>
            </a:r>
          </a:p>
        </p:txBody>
      </p:sp>
      <p:sp>
        <p:nvSpPr>
          <p:cNvPr id="7" name="TextBox 6"/>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19/41</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Tobacco — Scale of the Problem</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Leading preventable cause of cancer death worldwide</a:t>
            </a:r>
          </a:p>
          <a:p>
            <a:pPr>
              <a:spcAft>
                <a:spcPts val="700"/>
              </a:spcAft>
            </a:pPr>
            <a:r>
              <a:rPr sz="1700" b="0">
                <a:solidFill>
                  <a:srgbClr val="1F2A33"/>
                </a:solidFill>
                <a:latin typeface="Calibri"/>
              </a:rPr>
              <a:t>•  Causes ~80–90% of lung cancer deaths in many populations</a:t>
            </a:r>
          </a:p>
          <a:p>
            <a:pPr>
              <a:spcAft>
                <a:spcPts val="700"/>
              </a:spcAft>
            </a:pPr>
            <a:r>
              <a:rPr sz="1700" b="0">
                <a:solidFill>
                  <a:srgbClr val="1F2A33"/>
                </a:solidFill>
                <a:latin typeface="Calibri"/>
              </a:rPr>
              <a:t>•  Also causes cancers of mouth, throat, larynx, esophagus, stomach, pancreas, kidney, bladder, cervix, colon/rectum (evidence varies by site), and AML</a:t>
            </a:r>
          </a:p>
          <a:p>
            <a:pPr>
              <a:spcAft>
                <a:spcPts val="700"/>
              </a:spcAft>
            </a:pPr>
            <a:r>
              <a:rPr sz="1700" b="0">
                <a:solidFill>
                  <a:srgbClr val="1F2A33"/>
                </a:solidFill>
                <a:latin typeface="Calibri"/>
              </a:rPr>
              <a:t>•  Dose–response with pack-years</a:t>
            </a:r>
          </a:p>
          <a:p>
            <a:pPr>
              <a:spcAft>
                <a:spcPts val="700"/>
              </a:spcAft>
            </a:pPr>
            <a:r>
              <a:rPr sz="1700" b="0">
                <a:solidFill>
                  <a:srgbClr val="1F2A33"/>
                </a:solidFill>
                <a:latin typeface="Calibri"/>
              </a:rPr>
              <a:t>•  Risk falls after cessation — earlier quitting yields larger benefit</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Tobacco</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20/41</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What’s Inside Smoke? — Chemical Cocktail</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097280"/>
            <a:ext cx="10881360" cy="475488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obacco_chemical_cocktail.jpg"/>
          <p:cNvPicPr>
            <a:picLocks noChangeAspect="1"/>
          </p:cNvPicPr>
          <p:nvPr/>
        </p:nvPicPr>
        <p:blipFill>
          <a:blip r:embed="rId2"/>
          <a:stretch>
            <a:fillRect/>
          </a:stretch>
        </p:blipFill>
        <p:spPr>
          <a:xfrm>
            <a:off x="868680" y="1280160"/>
            <a:ext cx="10424160" cy="4114800"/>
          </a:xfrm>
          <a:prstGeom prst="rect">
            <a:avLst/>
          </a:prstGeom>
        </p:spPr>
      </p:pic>
      <p:sp>
        <p:nvSpPr>
          <p:cNvPr id="7" name="TextBox 6"/>
          <p:cNvSpPr txBox="1"/>
          <p:nvPr/>
        </p:nvSpPr>
        <p:spPr>
          <a:xfrm>
            <a:off x="822960" y="5532120"/>
            <a:ext cx="10515600" cy="365760"/>
          </a:xfrm>
          <a:prstGeom prst="rect">
            <a:avLst/>
          </a:prstGeom>
          <a:noFill/>
        </p:spPr>
        <p:txBody>
          <a:bodyPr wrap="square">
            <a:spAutoFit/>
          </a:bodyPr>
          <a:lstStyle/>
          <a:p>
            <a:pPr algn="ctr"/>
            <a:r>
              <a:rPr sz="1300" b="0">
                <a:solidFill>
                  <a:srgbClr val="5A6B76"/>
                </a:solidFill>
                <a:latin typeface="Calibri"/>
              </a:rPr>
              <a:t>~4,000 chemicals · &gt;70 known carcinogens · nicotine sustains addiction</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Tobacco</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21/41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Key Carcinogens in Tobacco Smoke</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Polycyclic aromatic hydrocarbons (e.g., benzo[a]pyrene)</a:t>
            </a:r>
          </a:p>
          <a:p>
            <a:pPr>
              <a:spcAft>
                <a:spcPts val="700"/>
              </a:spcAft>
            </a:pPr>
            <a:r>
              <a:rPr sz="1700" b="0">
                <a:solidFill>
                  <a:srgbClr val="1F2A33"/>
                </a:solidFill>
                <a:latin typeface="Calibri"/>
              </a:rPr>
              <a:t>•  Tobacco-specific nitrosamines (NNK, NNN and related)</a:t>
            </a:r>
          </a:p>
          <a:p>
            <a:pPr>
              <a:spcAft>
                <a:spcPts val="700"/>
              </a:spcAft>
            </a:pPr>
            <a:r>
              <a:rPr sz="1700" b="0">
                <a:solidFill>
                  <a:srgbClr val="1F2A33"/>
                </a:solidFill>
                <a:latin typeface="Calibri"/>
              </a:rPr>
              <a:t>•  Volatile organics: benzene, 1,3-butadiene, formaldehyde, acrolein</a:t>
            </a:r>
          </a:p>
          <a:p>
            <a:pPr>
              <a:spcAft>
                <a:spcPts val="700"/>
              </a:spcAft>
            </a:pPr>
            <a:r>
              <a:rPr sz="1700" b="0">
                <a:solidFill>
                  <a:srgbClr val="1F2A33"/>
                </a:solidFill>
                <a:latin typeface="Calibri"/>
              </a:rPr>
              <a:t>•  Metals: arsenic, cadmium, chromium, nickel</a:t>
            </a:r>
          </a:p>
          <a:p>
            <a:pPr>
              <a:spcAft>
                <a:spcPts val="700"/>
              </a:spcAft>
            </a:pPr>
            <a:r>
              <a:rPr sz="1700" b="0">
                <a:solidFill>
                  <a:srgbClr val="1F2A33"/>
                </a:solidFill>
                <a:latin typeface="Calibri"/>
              </a:rPr>
              <a:t>•  Polonium-210 (radioactive)</a:t>
            </a:r>
          </a:p>
          <a:p>
            <a:pPr>
              <a:spcAft>
                <a:spcPts val="700"/>
              </a:spcAft>
            </a:pPr>
            <a:r>
              <a:rPr sz="1700" b="0">
                <a:solidFill>
                  <a:srgbClr val="1F2A33"/>
                </a:solidFill>
                <a:latin typeface="Calibri"/>
              </a:rPr>
              <a:t>•  Tar = complex carcinogenic mixture deposited in airways</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Tobacco</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22/41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Mechanism of Tobacco Carcinogenesis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Inhalation → deposition in airways and absorption of systemic toxicants</a:t>
            </a:r>
          </a:p>
          <a:p>
            <a:pPr>
              <a:spcAft>
                <a:spcPts val="700"/>
              </a:spcAft>
            </a:pPr>
            <a:r>
              <a:rPr sz="1700" b="0">
                <a:solidFill>
                  <a:srgbClr val="1F2A33"/>
                </a:solidFill>
                <a:latin typeface="Calibri"/>
              </a:rPr>
              <a:t>•  Metabolic activation (CYP pathways) → DNA adducts</a:t>
            </a:r>
          </a:p>
          <a:p>
            <a:pPr>
              <a:spcAft>
                <a:spcPts val="700"/>
              </a:spcAft>
            </a:pPr>
            <a:r>
              <a:rPr sz="1700" b="0">
                <a:solidFill>
                  <a:srgbClr val="1F2A33"/>
                </a:solidFill>
                <a:latin typeface="Calibri"/>
              </a:rPr>
              <a:t>•  Driver mutations accumulate (e.g., TP53, KRAS patterns historically linked to smoking)</a:t>
            </a:r>
          </a:p>
          <a:p>
            <a:pPr>
              <a:spcAft>
                <a:spcPts val="700"/>
              </a:spcAft>
            </a:pPr>
            <a:r>
              <a:rPr sz="1700" b="0">
                <a:solidFill>
                  <a:srgbClr val="1F2A33"/>
                </a:solidFill>
                <a:latin typeface="Calibri"/>
              </a:rPr>
              <a:t>•  Chronic inflammation and oxidative stress promote progression</a:t>
            </a:r>
          </a:p>
          <a:p>
            <a:pPr>
              <a:spcAft>
                <a:spcPts val="700"/>
              </a:spcAft>
            </a:pPr>
            <a:r>
              <a:rPr sz="1700" b="0">
                <a:solidFill>
                  <a:srgbClr val="1F2A33"/>
                </a:solidFill>
                <a:latin typeface="Calibri"/>
              </a:rPr>
              <a:t>•  Field cancerization along the aerodigestive tract</a:t>
            </a:r>
          </a:p>
          <a:p>
            <a:pPr>
              <a:spcAft>
                <a:spcPts val="700"/>
              </a:spcAft>
            </a:pPr>
            <a:r>
              <a:rPr sz="1700" b="0">
                <a:solidFill>
                  <a:srgbClr val="1F2A33"/>
                </a:solidFill>
                <a:latin typeface="Calibri"/>
              </a:rPr>
              <a:t>•  Systemic delivery explains distant sites (bladder, pancreas, cervix, AML)</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Tobacco</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23/41</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Tobacco &amp; Nicotine Products — Broader Than Cigarettes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88720"/>
            <a:ext cx="3657600" cy="23317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188720"/>
            <a:ext cx="3657600" cy="64008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25880"/>
            <a:ext cx="3291840" cy="457200"/>
          </a:xfrm>
          <a:prstGeom prst="rect">
            <a:avLst/>
          </a:prstGeom>
          <a:noFill/>
        </p:spPr>
        <p:txBody>
          <a:bodyPr wrap="square">
            <a:spAutoFit/>
          </a:bodyPr>
          <a:lstStyle/>
          <a:p>
            <a:pPr algn="l"/>
            <a:r>
              <a:rPr sz="1500" b="1">
                <a:solidFill>
                  <a:srgbClr val="FFFFFF"/>
                </a:solidFill>
                <a:latin typeface="Calibri"/>
              </a:rPr>
              <a:t>Cigarettes</a:t>
            </a:r>
          </a:p>
        </p:txBody>
      </p:sp>
      <p:sp>
        <p:nvSpPr>
          <p:cNvPr id="8" name="TextBox 7"/>
          <p:cNvSpPr txBox="1"/>
          <p:nvPr/>
        </p:nvSpPr>
        <p:spPr>
          <a:xfrm>
            <a:off x="640080" y="2103120"/>
            <a:ext cx="3200400" cy="1188720"/>
          </a:xfrm>
          <a:prstGeom prst="rect">
            <a:avLst/>
          </a:prstGeom>
          <a:noFill/>
        </p:spPr>
        <p:txBody>
          <a:bodyPr wrap="square">
            <a:spAutoFit/>
          </a:bodyPr>
          <a:lstStyle/>
          <a:p>
            <a:pPr algn="l"/>
            <a:r>
              <a:rPr sz="1400" b="0">
                <a:solidFill>
                  <a:srgbClr val="1F2A33"/>
                </a:solidFill>
                <a:latin typeface="Calibri"/>
              </a:rPr>
              <a:t>Combusted; highest multi-site cancer evidence</a:t>
            </a:r>
          </a:p>
        </p:txBody>
      </p:sp>
      <p:sp>
        <p:nvSpPr>
          <p:cNvPr id="9" name="Rounded Rectangle 8"/>
          <p:cNvSpPr/>
          <p:nvPr/>
        </p:nvSpPr>
        <p:spPr>
          <a:xfrm>
            <a:off x="4251960" y="1188720"/>
            <a:ext cx="3657600" cy="23317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188720"/>
            <a:ext cx="3657600" cy="64008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325880"/>
            <a:ext cx="3291840" cy="457200"/>
          </a:xfrm>
          <a:prstGeom prst="rect">
            <a:avLst/>
          </a:prstGeom>
          <a:noFill/>
        </p:spPr>
        <p:txBody>
          <a:bodyPr wrap="square">
            <a:spAutoFit/>
          </a:bodyPr>
          <a:lstStyle/>
          <a:p>
            <a:pPr algn="l"/>
            <a:r>
              <a:rPr sz="1500" b="1">
                <a:solidFill>
                  <a:srgbClr val="FFFFFF"/>
                </a:solidFill>
                <a:latin typeface="Calibri"/>
              </a:rPr>
              <a:t>Cigars / pipes</a:t>
            </a:r>
          </a:p>
        </p:txBody>
      </p:sp>
      <p:sp>
        <p:nvSpPr>
          <p:cNvPr id="12" name="TextBox 11"/>
          <p:cNvSpPr txBox="1"/>
          <p:nvPr/>
        </p:nvSpPr>
        <p:spPr>
          <a:xfrm>
            <a:off x="4480560" y="2103120"/>
            <a:ext cx="3200400" cy="1188720"/>
          </a:xfrm>
          <a:prstGeom prst="rect">
            <a:avLst/>
          </a:prstGeom>
          <a:noFill/>
        </p:spPr>
        <p:txBody>
          <a:bodyPr wrap="square">
            <a:spAutoFit/>
          </a:bodyPr>
          <a:lstStyle/>
          <a:p>
            <a:pPr algn="l"/>
            <a:r>
              <a:rPr sz="1400" b="0">
                <a:solidFill>
                  <a:srgbClr val="1F2A33"/>
                </a:solidFill>
                <a:latin typeface="Calibri"/>
              </a:rPr>
              <a:t>Oral, laryngeal, esophageal, lung risks</a:t>
            </a:r>
          </a:p>
        </p:txBody>
      </p:sp>
      <p:sp>
        <p:nvSpPr>
          <p:cNvPr id="13" name="Rounded Rectangle 12"/>
          <p:cNvSpPr/>
          <p:nvPr/>
        </p:nvSpPr>
        <p:spPr>
          <a:xfrm>
            <a:off x="8092440" y="1188720"/>
            <a:ext cx="3657600" cy="23317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188720"/>
            <a:ext cx="3657600" cy="640080"/>
          </a:xfrm>
          <a:prstGeom prst="rect">
            <a:avLst/>
          </a:prstGeom>
          <a:solidFill>
            <a:srgbClr val="E0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1325880"/>
            <a:ext cx="3291840" cy="457200"/>
          </a:xfrm>
          <a:prstGeom prst="rect">
            <a:avLst/>
          </a:prstGeom>
          <a:noFill/>
        </p:spPr>
        <p:txBody>
          <a:bodyPr wrap="square">
            <a:spAutoFit/>
          </a:bodyPr>
          <a:lstStyle/>
          <a:p>
            <a:pPr algn="l"/>
            <a:r>
              <a:rPr sz="1500" b="1">
                <a:solidFill>
                  <a:srgbClr val="FFFFFF"/>
                </a:solidFill>
                <a:latin typeface="Calibri"/>
              </a:rPr>
              <a:t>Waterpipe / shisha</a:t>
            </a:r>
          </a:p>
        </p:txBody>
      </p:sp>
      <p:sp>
        <p:nvSpPr>
          <p:cNvPr id="16" name="TextBox 15"/>
          <p:cNvSpPr txBox="1"/>
          <p:nvPr/>
        </p:nvSpPr>
        <p:spPr>
          <a:xfrm>
            <a:off x="8321040" y="2103120"/>
            <a:ext cx="3200400" cy="1188720"/>
          </a:xfrm>
          <a:prstGeom prst="rect">
            <a:avLst/>
          </a:prstGeom>
          <a:noFill/>
        </p:spPr>
        <p:txBody>
          <a:bodyPr wrap="square">
            <a:spAutoFit/>
          </a:bodyPr>
          <a:lstStyle/>
          <a:p>
            <a:pPr algn="l"/>
            <a:r>
              <a:rPr sz="1400" b="0">
                <a:solidFill>
                  <a:srgbClr val="1F2A33"/>
                </a:solidFill>
                <a:latin typeface="Calibri"/>
              </a:rPr>
              <a:t>Long sessions; high CO &amp; toxicant load</a:t>
            </a:r>
          </a:p>
        </p:txBody>
      </p:sp>
      <p:sp>
        <p:nvSpPr>
          <p:cNvPr id="17" name="Rounded Rectangle 16"/>
          <p:cNvSpPr/>
          <p:nvPr/>
        </p:nvSpPr>
        <p:spPr>
          <a:xfrm>
            <a:off x="411480" y="3749039"/>
            <a:ext cx="3657600" cy="23317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749039"/>
            <a:ext cx="3657600" cy="6400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886200"/>
            <a:ext cx="3291840" cy="457200"/>
          </a:xfrm>
          <a:prstGeom prst="rect">
            <a:avLst/>
          </a:prstGeom>
          <a:noFill/>
        </p:spPr>
        <p:txBody>
          <a:bodyPr wrap="square">
            <a:spAutoFit/>
          </a:bodyPr>
          <a:lstStyle/>
          <a:p>
            <a:pPr algn="l"/>
            <a:r>
              <a:rPr sz="1500" b="1">
                <a:solidFill>
                  <a:srgbClr val="FFFFFF"/>
                </a:solidFill>
                <a:latin typeface="Calibri"/>
              </a:rPr>
              <a:t>Smokeless tobacco</a:t>
            </a:r>
          </a:p>
        </p:txBody>
      </p:sp>
      <p:sp>
        <p:nvSpPr>
          <p:cNvPr id="20" name="TextBox 19"/>
          <p:cNvSpPr txBox="1"/>
          <p:nvPr/>
        </p:nvSpPr>
        <p:spPr>
          <a:xfrm>
            <a:off x="640080" y="4663440"/>
            <a:ext cx="3200400" cy="1188720"/>
          </a:xfrm>
          <a:prstGeom prst="rect">
            <a:avLst/>
          </a:prstGeom>
          <a:noFill/>
        </p:spPr>
        <p:txBody>
          <a:bodyPr wrap="square">
            <a:spAutoFit/>
          </a:bodyPr>
          <a:lstStyle/>
          <a:p>
            <a:pPr algn="l"/>
            <a:r>
              <a:rPr sz="1400" b="0">
                <a:solidFill>
                  <a:srgbClr val="1F2A33"/>
                </a:solidFill>
                <a:latin typeface="Calibri"/>
              </a:rPr>
              <a:t>Oral / pancreatic cancer; no combustion but still carcinogens</a:t>
            </a:r>
          </a:p>
        </p:txBody>
      </p:sp>
      <p:sp>
        <p:nvSpPr>
          <p:cNvPr id="21" name="Rounded Rectangle 20"/>
          <p:cNvSpPr/>
          <p:nvPr/>
        </p:nvSpPr>
        <p:spPr>
          <a:xfrm>
            <a:off x="4251960" y="3749039"/>
            <a:ext cx="3657600" cy="23317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51960" y="3749039"/>
            <a:ext cx="3657600" cy="640080"/>
          </a:xfrm>
          <a:prstGeom prst="rect">
            <a:avLst/>
          </a:prstGeom>
          <a:solidFill>
            <a:srgbClr val="143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3886200"/>
            <a:ext cx="3291840" cy="457200"/>
          </a:xfrm>
          <a:prstGeom prst="rect">
            <a:avLst/>
          </a:prstGeom>
          <a:noFill/>
        </p:spPr>
        <p:txBody>
          <a:bodyPr wrap="square">
            <a:spAutoFit/>
          </a:bodyPr>
          <a:lstStyle/>
          <a:p>
            <a:pPr algn="l"/>
            <a:r>
              <a:rPr sz="1500" b="1">
                <a:solidFill>
                  <a:srgbClr val="FFFFFF"/>
                </a:solidFill>
                <a:latin typeface="Calibri"/>
              </a:rPr>
              <a:t>Bidís / kreteks</a:t>
            </a:r>
          </a:p>
        </p:txBody>
      </p:sp>
      <p:sp>
        <p:nvSpPr>
          <p:cNvPr id="24" name="TextBox 23"/>
          <p:cNvSpPr txBox="1"/>
          <p:nvPr/>
        </p:nvSpPr>
        <p:spPr>
          <a:xfrm>
            <a:off x="4480560" y="4663440"/>
            <a:ext cx="3200400" cy="1188720"/>
          </a:xfrm>
          <a:prstGeom prst="rect">
            <a:avLst/>
          </a:prstGeom>
          <a:noFill/>
        </p:spPr>
        <p:txBody>
          <a:bodyPr wrap="square">
            <a:spAutoFit/>
          </a:bodyPr>
          <a:lstStyle/>
          <a:p>
            <a:pPr algn="l"/>
            <a:r>
              <a:rPr sz="1400" b="0">
                <a:solidFill>
                  <a:srgbClr val="1F2A33"/>
                </a:solidFill>
                <a:latin typeface="Calibri"/>
              </a:rPr>
              <a:t>Often high exposure; regional products</a:t>
            </a:r>
          </a:p>
        </p:txBody>
      </p:sp>
      <p:sp>
        <p:nvSpPr>
          <p:cNvPr id="25" name="Rounded Rectangle 24"/>
          <p:cNvSpPr/>
          <p:nvPr/>
        </p:nvSpPr>
        <p:spPr>
          <a:xfrm>
            <a:off x="8092440" y="3749039"/>
            <a:ext cx="3657600" cy="23317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92440" y="3749039"/>
            <a:ext cx="3657600" cy="640080"/>
          </a:xfrm>
          <a:prstGeom prst="rect">
            <a:avLst/>
          </a:prstGeom>
          <a:solidFill>
            <a:srgbClr val="5A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19" y="3886200"/>
            <a:ext cx="3291840" cy="457200"/>
          </a:xfrm>
          <a:prstGeom prst="rect">
            <a:avLst/>
          </a:prstGeom>
          <a:noFill/>
        </p:spPr>
        <p:txBody>
          <a:bodyPr wrap="square">
            <a:spAutoFit/>
          </a:bodyPr>
          <a:lstStyle/>
          <a:p>
            <a:pPr algn="l"/>
            <a:r>
              <a:rPr sz="1500" b="1">
                <a:solidFill>
                  <a:srgbClr val="FFFFFF"/>
                </a:solidFill>
                <a:latin typeface="Calibri"/>
              </a:rPr>
              <a:t>E-cigarettes / heated products</a:t>
            </a:r>
          </a:p>
        </p:txBody>
      </p:sp>
      <p:sp>
        <p:nvSpPr>
          <p:cNvPr id="28" name="TextBox 27"/>
          <p:cNvSpPr txBox="1"/>
          <p:nvPr/>
        </p:nvSpPr>
        <p:spPr>
          <a:xfrm>
            <a:off x="8321040" y="4663440"/>
            <a:ext cx="3200400" cy="1188720"/>
          </a:xfrm>
          <a:prstGeom prst="rect">
            <a:avLst/>
          </a:prstGeom>
          <a:noFill/>
        </p:spPr>
        <p:txBody>
          <a:bodyPr wrap="square">
            <a:spAutoFit/>
          </a:bodyPr>
          <a:lstStyle/>
          <a:p>
            <a:pPr algn="l"/>
            <a:r>
              <a:rPr sz="1400" b="0">
                <a:solidFill>
                  <a:srgbClr val="1F2A33"/>
                </a:solidFill>
                <a:latin typeface="Calibri"/>
              </a:rPr>
              <a:t>Not risk-free; evolving evidence; not for never-users</a:t>
            </a:r>
          </a:p>
        </p:txBody>
      </p:sp>
      <p:sp>
        <p:nvSpPr>
          <p:cNvPr id="29" name="TextBox 28"/>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Tobacco</a:t>
            </a:r>
          </a:p>
        </p:txBody>
      </p:sp>
      <p:sp>
        <p:nvSpPr>
          <p:cNvPr id="30" name="TextBox 29"/>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24/41</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Mainstream vs Sidestream Smoke — Visual</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097280"/>
            <a:ext cx="10881360" cy="475488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ss_sss_smoke_diagram.jpg"/>
          <p:cNvPicPr>
            <a:picLocks noChangeAspect="1"/>
          </p:cNvPicPr>
          <p:nvPr/>
        </p:nvPicPr>
        <p:blipFill>
          <a:blip r:embed="rId2"/>
          <a:stretch>
            <a:fillRect/>
          </a:stretch>
        </p:blipFill>
        <p:spPr>
          <a:xfrm>
            <a:off x="868680" y="1280160"/>
            <a:ext cx="10424160" cy="4114800"/>
          </a:xfrm>
          <a:prstGeom prst="rect">
            <a:avLst/>
          </a:prstGeom>
        </p:spPr>
      </p:pic>
      <p:sp>
        <p:nvSpPr>
          <p:cNvPr id="7" name="TextBox 6"/>
          <p:cNvSpPr txBox="1"/>
          <p:nvPr/>
        </p:nvSpPr>
        <p:spPr>
          <a:xfrm>
            <a:off x="822960" y="5532120"/>
            <a:ext cx="10515600" cy="365760"/>
          </a:xfrm>
          <a:prstGeom prst="rect">
            <a:avLst/>
          </a:prstGeom>
          <a:noFill/>
        </p:spPr>
        <p:txBody>
          <a:bodyPr wrap="square">
            <a:spAutoFit/>
          </a:bodyPr>
          <a:lstStyle/>
          <a:p>
            <a:pPr algn="ctr"/>
            <a:r>
              <a:rPr sz="1300" b="0">
                <a:solidFill>
                  <a:srgbClr val="5A6B76"/>
                </a:solidFill>
                <a:latin typeface="Calibri"/>
              </a:rPr>
              <a:t>MSS enters the smoker; SSS rises from the tip and dominates second-hand smoke</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Tobacco</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25/41</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Mainstream vs Sidestream Smoke</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548640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143000"/>
            <a:ext cx="5486400" cy="68580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5029200" cy="457200"/>
          </a:xfrm>
          <a:prstGeom prst="rect">
            <a:avLst/>
          </a:prstGeom>
          <a:noFill/>
        </p:spPr>
        <p:txBody>
          <a:bodyPr wrap="square">
            <a:spAutoFit/>
          </a:bodyPr>
          <a:lstStyle/>
          <a:p>
            <a:pPr algn="l"/>
            <a:r>
              <a:rPr sz="1600" b="1">
                <a:solidFill>
                  <a:srgbClr val="FFFFFF"/>
                </a:solidFill>
                <a:latin typeface="Calibri"/>
              </a:rPr>
              <a:t>MAINSTREAM SMOKE (MSS)</a:t>
            </a:r>
          </a:p>
        </p:txBody>
      </p:sp>
      <p:sp>
        <p:nvSpPr>
          <p:cNvPr id="8" name="TextBox 7"/>
          <p:cNvSpPr txBox="1"/>
          <p:nvPr/>
        </p:nvSpPr>
        <p:spPr>
          <a:xfrm>
            <a:off x="685800" y="2103120"/>
            <a:ext cx="4937760" cy="3749039"/>
          </a:xfrm>
          <a:prstGeom prst="rect">
            <a:avLst/>
          </a:prstGeom>
          <a:noFill/>
        </p:spPr>
        <p:txBody>
          <a:bodyPr wrap="square">
            <a:spAutoFit/>
          </a:bodyPr>
          <a:lstStyle/>
          <a:p>
            <a:pPr>
              <a:spcAft>
                <a:spcPts val="700"/>
              </a:spcAft>
            </a:pPr>
            <a:r>
              <a:rPr sz="1400" b="0">
                <a:solidFill>
                  <a:srgbClr val="1F2A33"/>
                </a:solidFill>
                <a:latin typeface="Calibri"/>
              </a:rPr>
              <a:t>•  Drawn through the cigarette into the smoker’s mouth</a:t>
            </a:r>
          </a:p>
          <a:p>
            <a:pPr>
              <a:spcAft>
                <a:spcPts val="700"/>
              </a:spcAft>
            </a:pPr>
            <a:r>
              <a:rPr sz="1400" b="0">
                <a:solidFill>
                  <a:srgbClr val="1F2A33"/>
                </a:solidFill>
                <a:latin typeface="Calibri"/>
              </a:rPr>
              <a:t>•  Filtered partly by the tobacco rod / filter</a:t>
            </a:r>
          </a:p>
          <a:p>
            <a:pPr>
              <a:spcAft>
                <a:spcPts val="700"/>
              </a:spcAft>
            </a:pPr>
            <a:r>
              <a:rPr sz="1400" b="0">
                <a:solidFill>
                  <a:srgbClr val="1F2A33"/>
                </a:solidFill>
                <a:latin typeface="Calibri"/>
              </a:rPr>
              <a:t>•  Primary exposure for the active smoker</a:t>
            </a:r>
          </a:p>
          <a:p>
            <a:pPr>
              <a:spcAft>
                <a:spcPts val="700"/>
              </a:spcAft>
            </a:pPr>
            <a:r>
              <a:rPr sz="1400" b="0">
                <a:solidFill>
                  <a:srgbClr val="1F2A33"/>
                </a:solidFill>
                <a:latin typeface="Calibri"/>
              </a:rPr>
              <a:t>•  Delivers nicotine + full carcinogen load</a:t>
            </a:r>
          </a:p>
          <a:p>
            <a:pPr>
              <a:spcAft>
                <a:spcPts val="700"/>
              </a:spcAft>
            </a:pPr>
            <a:r>
              <a:rPr sz="1400" b="0">
                <a:solidFill>
                  <a:srgbClr val="1F2A33"/>
                </a:solidFill>
                <a:latin typeface="Calibri"/>
              </a:rPr>
              <a:t>•  Dose often summarized as pack-years</a:t>
            </a:r>
          </a:p>
        </p:txBody>
      </p:sp>
      <p:sp>
        <p:nvSpPr>
          <p:cNvPr id="9" name="Rounded Rectangle 8"/>
          <p:cNvSpPr/>
          <p:nvPr/>
        </p:nvSpPr>
        <p:spPr>
          <a:xfrm>
            <a:off x="6263640" y="1143000"/>
            <a:ext cx="548640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143000"/>
            <a:ext cx="5486400" cy="68580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80160"/>
            <a:ext cx="5029200" cy="457200"/>
          </a:xfrm>
          <a:prstGeom prst="rect">
            <a:avLst/>
          </a:prstGeom>
          <a:noFill/>
        </p:spPr>
        <p:txBody>
          <a:bodyPr wrap="square">
            <a:spAutoFit/>
          </a:bodyPr>
          <a:lstStyle/>
          <a:p>
            <a:pPr algn="l"/>
            <a:r>
              <a:rPr sz="1600" b="1">
                <a:solidFill>
                  <a:srgbClr val="FFFFFF"/>
                </a:solidFill>
                <a:latin typeface="Calibri"/>
              </a:rPr>
              <a:t>SIDESTREAM SMOKE (SSS)</a:t>
            </a:r>
          </a:p>
        </p:txBody>
      </p:sp>
      <p:sp>
        <p:nvSpPr>
          <p:cNvPr id="12" name="TextBox 11"/>
          <p:cNvSpPr txBox="1"/>
          <p:nvPr/>
        </p:nvSpPr>
        <p:spPr>
          <a:xfrm>
            <a:off x="6537960" y="2103120"/>
            <a:ext cx="4937760" cy="3749039"/>
          </a:xfrm>
          <a:prstGeom prst="rect">
            <a:avLst/>
          </a:prstGeom>
          <a:noFill/>
        </p:spPr>
        <p:txBody>
          <a:bodyPr wrap="square">
            <a:spAutoFit/>
          </a:bodyPr>
          <a:lstStyle/>
          <a:p>
            <a:pPr>
              <a:spcAft>
                <a:spcPts val="700"/>
              </a:spcAft>
            </a:pPr>
            <a:r>
              <a:rPr sz="1400" b="0">
                <a:solidFill>
                  <a:srgbClr val="1F2A33"/>
                </a:solidFill>
                <a:latin typeface="Calibri"/>
              </a:rPr>
              <a:t>•  Rises from the smoldering tip between puffs</a:t>
            </a:r>
          </a:p>
          <a:p>
            <a:pPr>
              <a:spcAft>
                <a:spcPts val="700"/>
              </a:spcAft>
            </a:pPr>
            <a:r>
              <a:rPr sz="1400" b="0">
                <a:solidFill>
                  <a:srgbClr val="1F2A33"/>
                </a:solidFill>
                <a:latin typeface="Calibri"/>
              </a:rPr>
              <a:t>•  Generated at lower temperature → different chemistry</a:t>
            </a:r>
          </a:p>
          <a:p>
            <a:pPr>
              <a:spcAft>
                <a:spcPts val="700"/>
              </a:spcAft>
            </a:pPr>
            <a:r>
              <a:rPr sz="1400" b="0">
                <a:solidFill>
                  <a:srgbClr val="1F2A33"/>
                </a:solidFill>
                <a:latin typeface="Calibri"/>
              </a:rPr>
              <a:t>•  Often richer in some toxicants per mg</a:t>
            </a:r>
          </a:p>
          <a:p>
            <a:pPr>
              <a:spcAft>
                <a:spcPts val="700"/>
              </a:spcAft>
            </a:pPr>
            <a:r>
              <a:rPr sz="1400" b="0">
                <a:solidFill>
                  <a:srgbClr val="1F2A33"/>
                </a:solidFill>
                <a:latin typeface="Calibri"/>
              </a:rPr>
              <a:t>•  Major component of second-hand (environmental) smoke</a:t>
            </a:r>
          </a:p>
          <a:p>
            <a:pPr>
              <a:spcAft>
                <a:spcPts val="700"/>
              </a:spcAft>
            </a:pPr>
            <a:r>
              <a:rPr sz="1400" b="0">
                <a:solidFill>
                  <a:srgbClr val="1F2A33"/>
                </a:solidFill>
                <a:latin typeface="Calibri"/>
              </a:rPr>
              <a:t>•  Causes disease in nonsmokers — not ‘mild’ exposure</a:t>
            </a:r>
          </a:p>
        </p:txBody>
      </p:sp>
      <p:sp>
        <p:nvSpPr>
          <p:cNvPr id="13" name="TextBox 12"/>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Tobacco</a:t>
            </a:r>
          </a:p>
        </p:txBody>
      </p:sp>
      <p:sp>
        <p:nvSpPr>
          <p:cNvPr id="14" name="TextBox 13"/>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26/41</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Second-Hand (Environmental) Tobacco Smoke</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Mixture of SSS + exhaled MSS</a:t>
            </a:r>
          </a:p>
          <a:p>
            <a:pPr>
              <a:spcAft>
                <a:spcPts val="700"/>
              </a:spcAft>
            </a:pPr>
            <a:r>
              <a:rPr sz="1700" b="0">
                <a:solidFill>
                  <a:srgbClr val="1F2A33"/>
                </a:solidFill>
                <a:latin typeface="Calibri"/>
              </a:rPr>
              <a:t>•  IARC Group 1 carcinogen</a:t>
            </a:r>
          </a:p>
          <a:p>
            <a:pPr>
              <a:spcAft>
                <a:spcPts val="700"/>
              </a:spcAft>
            </a:pPr>
            <a:r>
              <a:rPr sz="1700" b="0">
                <a:solidFill>
                  <a:srgbClr val="1F2A33"/>
                </a:solidFill>
                <a:latin typeface="Calibri"/>
              </a:rPr>
              <a:t>•  Causes lung cancer in nonsmokers; also cardiovascular and respiratory disease</a:t>
            </a:r>
          </a:p>
          <a:p>
            <a:pPr>
              <a:spcAft>
                <a:spcPts val="700"/>
              </a:spcAft>
            </a:pPr>
            <a:r>
              <a:rPr sz="1700" b="0">
                <a:solidFill>
                  <a:srgbClr val="1F2A33"/>
                </a:solidFill>
                <a:latin typeface="Calibri"/>
              </a:rPr>
              <a:t>•  Children: higher relative intake; linked to multiple harms</a:t>
            </a:r>
          </a:p>
          <a:p>
            <a:pPr>
              <a:spcAft>
                <a:spcPts val="700"/>
              </a:spcAft>
            </a:pPr>
            <a:r>
              <a:rPr sz="1700" b="0">
                <a:solidFill>
                  <a:srgbClr val="1F2A33"/>
                </a:solidFill>
                <a:latin typeface="Calibri"/>
              </a:rPr>
              <a:t>•  No safe threshold for involuntary exposure in public-health messaging</a:t>
            </a:r>
          </a:p>
          <a:p>
            <a:pPr>
              <a:spcAft>
                <a:spcPts val="700"/>
              </a:spcAft>
            </a:pPr>
            <a:r>
              <a:rPr sz="1700" b="0">
                <a:solidFill>
                  <a:srgbClr val="1F2A33"/>
                </a:solidFill>
                <a:latin typeface="Calibri"/>
              </a:rPr>
              <a:t>•  Smoke-free laws are cancer prevention, not etiquette</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Tobacco</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27/41</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Clinical Counseling Pearls — Tobacco</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Ask–Advise–Assist–Arrange at every opportunity</a:t>
            </a:r>
          </a:p>
          <a:p>
            <a:pPr>
              <a:spcAft>
                <a:spcPts val="700"/>
              </a:spcAft>
            </a:pPr>
            <a:r>
              <a:rPr sz="1700" b="0">
                <a:solidFill>
                  <a:srgbClr val="1F2A33"/>
                </a:solidFill>
                <a:latin typeface="Calibri"/>
              </a:rPr>
              <a:t>•  Quantify pack-years; document cessation date</a:t>
            </a:r>
          </a:p>
          <a:p>
            <a:pPr>
              <a:spcAft>
                <a:spcPts val="700"/>
              </a:spcAft>
            </a:pPr>
            <a:r>
              <a:rPr sz="1700" b="0">
                <a:solidFill>
                  <a:srgbClr val="1F2A33"/>
                </a:solidFill>
                <a:latin typeface="Calibri"/>
              </a:rPr>
              <a:t>•  Synergy: tobacco + asbestos / radon / alcohol (site-dependent)</a:t>
            </a:r>
          </a:p>
          <a:p>
            <a:pPr>
              <a:spcAft>
                <a:spcPts val="700"/>
              </a:spcAft>
            </a:pPr>
            <a:r>
              <a:rPr sz="1700" b="0">
                <a:solidFill>
                  <a:srgbClr val="1F2A33"/>
                </a:solidFill>
                <a:latin typeface="Calibri"/>
              </a:rPr>
              <a:t>•  Do not present ‘light’ or filtered cigarettes as safe</a:t>
            </a:r>
          </a:p>
          <a:p>
            <a:pPr>
              <a:spcAft>
                <a:spcPts val="700"/>
              </a:spcAft>
            </a:pPr>
            <a:r>
              <a:rPr sz="1700" b="0">
                <a:solidFill>
                  <a:srgbClr val="1F2A33"/>
                </a:solidFill>
                <a:latin typeface="Calibri"/>
              </a:rPr>
              <a:t>•  E-cigarettes: discuss honestly — potential harm-reduction tool for some smokers, risk for youth initiation</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Tobacco</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28/41</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7A6E"/>
        </a:solidFill>
        <a:effectLst/>
      </p:bgPr>
    </p:bg>
    <p:spTree>
      <p:nvGrpSpPr>
        <p:cNvPr id="1" name=""/>
        <p:cNvGrpSpPr/>
        <p:nvPr/>
      </p:nvGrpSpPr>
      <p:grpSpPr/>
      <p:sp>
        <p:nvSpPr>
          <p:cNvPr id="2" name="Oval 1"/>
          <p:cNvSpPr/>
          <p:nvPr/>
        </p:nvSpPr>
        <p:spPr>
          <a:xfrm>
            <a:off x="9326880" y="-914400"/>
            <a:ext cx="4114800" cy="4114800"/>
          </a:xfrm>
          <a:prstGeom prst="ellipse">
            <a:avLst/>
          </a:prstGeom>
          <a:solidFill>
            <a:srgbClr val="288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03120"/>
            <a:ext cx="219456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7A6E"/>
                </a:solidFill>
                <a:latin typeface="Calibri"/>
              </a:rPr>
              <a:t>PART 03</a:t>
            </a:r>
          </a:p>
        </p:txBody>
      </p:sp>
      <p:sp>
        <p:nvSpPr>
          <p:cNvPr id="4" name="TextBox 3"/>
          <p:cNvSpPr txBox="1"/>
          <p:nvPr/>
        </p:nvSpPr>
        <p:spPr>
          <a:xfrm>
            <a:off x="731520" y="2834640"/>
            <a:ext cx="10515600" cy="1097280"/>
          </a:xfrm>
          <a:prstGeom prst="rect">
            <a:avLst/>
          </a:prstGeom>
          <a:noFill/>
        </p:spPr>
        <p:txBody>
          <a:bodyPr wrap="square">
            <a:spAutoFit/>
          </a:bodyPr>
          <a:lstStyle/>
          <a:p>
            <a:pPr algn="l"/>
            <a:r>
              <a:rPr sz="3400" b="1">
                <a:solidFill>
                  <a:srgbClr val="FFFFFF"/>
                </a:solidFill>
                <a:latin typeface="Calibri"/>
              </a:rPr>
              <a:t>Radiation Carcinogenesis</a:t>
            </a:r>
          </a:p>
        </p:txBody>
      </p:sp>
      <p:sp>
        <p:nvSpPr>
          <p:cNvPr id="5" name="TextBox 4"/>
          <p:cNvSpPr txBox="1"/>
          <p:nvPr/>
        </p:nvSpPr>
        <p:spPr>
          <a:xfrm>
            <a:off x="731520" y="4114800"/>
            <a:ext cx="10515600" cy="731520"/>
          </a:xfrm>
          <a:prstGeom prst="rect">
            <a:avLst/>
          </a:prstGeom>
          <a:noFill/>
        </p:spPr>
        <p:txBody>
          <a:bodyPr wrap="square">
            <a:spAutoFit/>
          </a:bodyPr>
          <a:lstStyle/>
          <a:p>
            <a:pPr algn="l"/>
            <a:r>
              <a:rPr sz="1800" b="0">
                <a:solidFill>
                  <a:srgbClr val="D8F0EC"/>
                </a:solidFill>
                <a:latin typeface="Calibri"/>
              </a:rPr>
              <a:t>Types · DNA mechanisms · environment · medical exposure</a:t>
            </a:r>
          </a:p>
        </p:txBody>
      </p:sp>
      <p:sp>
        <p:nvSpPr>
          <p:cNvPr id="6" name="TextBox 5"/>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Radiation Carcinogenesis</a:t>
            </a:r>
          </a:p>
        </p:txBody>
      </p:sp>
      <p:sp>
        <p:nvSpPr>
          <p:cNvPr id="7" name="TextBox 6"/>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29/41</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Types of Radiation Relevant to Carcinogenesis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280160"/>
            <a:ext cx="2788920" cy="475488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80160"/>
            <a:ext cx="2788920" cy="137160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2514600" cy="1005840"/>
          </a:xfrm>
          <a:prstGeom prst="rect">
            <a:avLst/>
          </a:prstGeom>
          <a:noFill/>
        </p:spPr>
        <p:txBody>
          <a:bodyPr wrap="square">
            <a:spAutoFit/>
          </a:bodyPr>
          <a:lstStyle/>
          <a:p>
            <a:pPr algn="ctr"/>
            <a:r>
              <a:rPr sz="1500" b="1">
                <a:solidFill>
                  <a:srgbClr val="FFFFFF"/>
                </a:solidFill>
                <a:latin typeface="Calibri"/>
              </a:rPr>
              <a:t>Ionizing
Electromagnetic</a:t>
            </a:r>
          </a:p>
        </p:txBody>
      </p:sp>
      <p:sp>
        <p:nvSpPr>
          <p:cNvPr id="8" name="TextBox 7"/>
          <p:cNvSpPr txBox="1"/>
          <p:nvPr/>
        </p:nvSpPr>
        <p:spPr>
          <a:xfrm>
            <a:off x="548640" y="2926080"/>
            <a:ext cx="2423160" cy="822960"/>
          </a:xfrm>
          <a:prstGeom prst="rect">
            <a:avLst/>
          </a:prstGeom>
          <a:noFill/>
        </p:spPr>
        <p:txBody>
          <a:bodyPr wrap="square">
            <a:spAutoFit/>
          </a:bodyPr>
          <a:lstStyle/>
          <a:p>
            <a:pPr algn="ctr"/>
            <a:r>
              <a:rPr sz="1400" b="1">
                <a:solidFill>
                  <a:srgbClr val="143242"/>
                </a:solidFill>
                <a:latin typeface="Calibri"/>
              </a:rPr>
              <a:t>X-rays, γ-rays</a:t>
            </a:r>
          </a:p>
        </p:txBody>
      </p:sp>
      <p:sp>
        <p:nvSpPr>
          <p:cNvPr id="9" name="TextBox 8"/>
          <p:cNvSpPr txBox="1"/>
          <p:nvPr/>
        </p:nvSpPr>
        <p:spPr>
          <a:xfrm>
            <a:off x="548640" y="3931920"/>
            <a:ext cx="2423160" cy="1737360"/>
          </a:xfrm>
          <a:prstGeom prst="rect">
            <a:avLst/>
          </a:prstGeom>
          <a:noFill/>
        </p:spPr>
        <p:txBody>
          <a:bodyPr wrap="square">
            <a:spAutoFit/>
          </a:bodyPr>
          <a:lstStyle/>
          <a:p>
            <a:pPr algn="ctr"/>
            <a:r>
              <a:rPr sz="1300" b="0">
                <a:solidFill>
                  <a:srgbClr val="5A6B76"/>
                </a:solidFill>
                <a:latin typeface="Calibri"/>
              </a:rPr>
              <a:t>Medical imaging, therapy, background, accidents</a:t>
            </a:r>
          </a:p>
        </p:txBody>
      </p:sp>
      <p:sp>
        <p:nvSpPr>
          <p:cNvPr id="10" name="Rounded Rectangle 9"/>
          <p:cNvSpPr/>
          <p:nvPr/>
        </p:nvSpPr>
        <p:spPr>
          <a:xfrm>
            <a:off x="3291840" y="1280160"/>
            <a:ext cx="2788920" cy="475488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91840" y="1280160"/>
            <a:ext cx="2788920" cy="137160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508760"/>
            <a:ext cx="2514600" cy="1005840"/>
          </a:xfrm>
          <a:prstGeom prst="rect">
            <a:avLst/>
          </a:prstGeom>
          <a:noFill/>
        </p:spPr>
        <p:txBody>
          <a:bodyPr wrap="square">
            <a:spAutoFit/>
          </a:bodyPr>
          <a:lstStyle/>
          <a:p>
            <a:pPr algn="ctr"/>
            <a:r>
              <a:rPr sz="1500" b="1">
                <a:solidFill>
                  <a:srgbClr val="FFFFFF"/>
                </a:solidFill>
                <a:latin typeface="Calibri"/>
              </a:rPr>
              <a:t>Particulate
Ionizing</a:t>
            </a:r>
          </a:p>
        </p:txBody>
      </p:sp>
      <p:sp>
        <p:nvSpPr>
          <p:cNvPr id="13" name="TextBox 12"/>
          <p:cNvSpPr txBox="1"/>
          <p:nvPr/>
        </p:nvSpPr>
        <p:spPr>
          <a:xfrm>
            <a:off x="3474720" y="2926080"/>
            <a:ext cx="2423160" cy="822960"/>
          </a:xfrm>
          <a:prstGeom prst="rect">
            <a:avLst/>
          </a:prstGeom>
          <a:noFill/>
        </p:spPr>
        <p:txBody>
          <a:bodyPr wrap="square">
            <a:spAutoFit/>
          </a:bodyPr>
          <a:lstStyle/>
          <a:p>
            <a:pPr algn="ctr"/>
            <a:r>
              <a:rPr sz="1400" b="1">
                <a:solidFill>
                  <a:srgbClr val="143242"/>
                </a:solidFill>
                <a:latin typeface="Calibri"/>
              </a:rPr>
              <a:t>α, β, neutrons, protons</a:t>
            </a:r>
          </a:p>
        </p:txBody>
      </p:sp>
      <p:sp>
        <p:nvSpPr>
          <p:cNvPr id="14" name="TextBox 13"/>
          <p:cNvSpPr txBox="1"/>
          <p:nvPr/>
        </p:nvSpPr>
        <p:spPr>
          <a:xfrm>
            <a:off x="3474720" y="3931920"/>
            <a:ext cx="2423160" cy="1737360"/>
          </a:xfrm>
          <a:prstGeom prst="rect">
            <a:avLst/>
          </a:prstGeom>
          <a:noFill/>
        </p:spPr>
        <p:txBody>
          <a:bodyPr wrap="square">
            <a:spAutoFit/>
          </a:bodyPr>
          <a:lstStyle/>
          <a:p>
            <a:pPr algn="ctr"/>
            <a:r>
              <a:rPr sz="1300" b="0">
                <a:solidFill>
                  <a:srgbClr val="5A6B76"/>
                </a:solidFill>
                <a:latin typeface="Calibri"/>
              </a:rPr>
              <a:t>Radon daughters, nuclear, some therapy beams</a:t>
            </a:r>
          </a:p>
        </p:txBody>
      </p:sp>
      <p:sp>
        <p:nvSpPr>
          <p:cNvPr id="15" name="Rounded Rectangle 14"/>
          <p:cNvSpPr/>
          <p:nvPr/>
        </p:nvSpPr>
        <p:spPr>
          <a:xfrm>
            <a:off x="6217920" y="1280160"/>
            <a:ext cx="2788920" cy="475488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280160"/>
            <a:ext cx="2788920" cy="1371600"/>
          </a:xfrm>
          <a:prstGeom prst="rect">
            <a:avLst/>
          </a:prstGeom>
          <a:solidFill>
            <a:srgbClr val="E0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508760"/>
            <a:ext cx="2514600" cy="1005840"/>
          </a:xfrm>
          <a:prstGeom prst="rect">
            <a:avLst/>
          </a:prstGeom>
          <a:noFill/>
        </p:spPr>
        <p:txBody>
          <a:bodyPr wrap="square">
            <a:spAutoFit/>
          </a:bodyPr>
          <a:lstStyle/>
          <a:p>
            <a:pPr algn="ctr"/>
            <a:r>
              <a:rPr sz="1500" b="1">
                <a:solidFill>
                  <a:srgbClr val="FFFFFF"/>
                </a:solidFill>
                <a:latin typeface="Calibri"/>
              </a:rPr>
              <a:t>Non-ionizing
UV</a:t>
            </a:r>
          </a:p>
        </p:txBody>
      </p:sp>
      <p:sp>
        <p:nvSpPr>
          <p:cNvPr id="18" name="TextBox 17"/>
          <p:cNvSpPr txBox="1"/>
          <p:nvPr/>
        </p:nvSpPr>
        <p:spPr>
          <a:xfrm>
            <a:off x="6400800" y="2926080"/>
            <a:ext cx="2423160" cy="822960"/>
          </a:xfrm>
          <a:prstGeom prst="rect">
            <a:avLst/>
          </a:prstGeom>
          <a:noFill/>
        </p:spPr>
        <p:txBody>
          <a:bodyPr wrap="square">
            <a:spAutoFit/>
          </a:bodyPr>
          <a:lstStyle/>
          <a:p>
            <a:pPr algn="ctr"/>
            <a:r>
              <a:rPr sz="1400" b="1">
                <a:solidFill>
                  <a:srgbClr val="143242"/>
                </a:solidFill>
                <a:latin typeface="Calibri"/>
              </a:rPr>
              <a:t>UVA, UVB, UVC</a:t>
            </a:r>
          </a:p>
        </p:txBody>
      </p:sp>
      <p:sp>
        <p:nvSpPr>
          <p:cNvPr id="19" name="TextBox 18"/>
          <p:cNvSpPr txBox="1"/>
          <p:nvPr/>
        </p:nvSpPr>
        <p:spPr>
          <a:xfrm>
            <a:off x="6400800" y="3931920"/>
            <a:ext cx="2423160" cy="1737360"/>
          </a:xfrm>
          <a:prstGeom prst="rect">
            <a:avLst/>
          </a:prstGeom>
          <a:noFill/>
        </p:spPr>
        <p:txBody>
          <a:bodyPr wrap="square">
            <a:spAutoFit/>
          </a:bodyPr>
          <a:lstStyle/>
          <a:p>
            <a:pPr algn="ctr"/>
            <a:r>
              <a:rPr sz="1300" b="0">
                <a:solidFill>
                  <a:srgbClr val="5A6B76"/>
                </a:solidFill>
                <a:latin typeface="Calibri"/>
              </a:rPr>
              <a:t>Sunlight, tanning beds → skin cancers / melanoma</a:t>
            </a:r>
          </a:p>
        </p:txBody>
      </p:sp>
      <p:sp>
        <p:nvSpPr>
          <p:cNvPr id="20" name="Rounded Rectangle 19"/>
          <p:cNvSpPr/>
          <p:nvPr/>
        </p:nvSpPr>
        <p:spPr>
          <a:xfrm>
            <a:off x="9144000" y="1280160"/>
            <a:ext cx="2788920" cy="475488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0" y="1280160"/>
            <a:ext cx="2788920" cy="13716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1508760"/>
            <a:ext cx="2514600" cy="1005840"/>
          </a:xfrm>
          <a:prstGeom prst="rect">
            <a:avLst/>
          </a:prstGeom>
          <a:noFill/>
        </p:spPr>
        <p:txBody>
          <a:bodyPr wrap="square">
            <a:spAutoFit/>
          </a:bodyPr>
          <a:lstStyle/>
          <a:p>
            <a:pPr algn="ctr"/>
            <a:r>
              <a:rPr sz="1500" b="1">
                <a:solidFill>
                  <a:srgbClr val="FFFFFF"/>
                </a:solidFill>
                <a:latin typeface="Calibri"/>
              </a:rPr>
              <a:t>Other
non-ionizing</a:t>
            </a:r>
          </a:p>
        </p:txBody>
      </p:sp>
      <p:sp>
        <p:nvSpPr>
          <p:cNvPr id="23" name="TextBox 22"/>
          <p:cNvSpPr txBox="1"/>
          <p:nvPr/>
        </p:nvSpPr>
        <p:spPr>
          <a:xfrm>
            <a:off x="9326880" y="2926080"/>
            <a:ext cx="2423160" cy="822960"/>
          </a:xfrm>
          <a:prstGeom prst="rect">
            <a:avLst/>
          </a:prstGeom>
          <a:noFill/>
        </p:spPr>
        <p:txBody>
          <a:bodyPr wrap="square">
            <a:spAutoFit/>
          </a:bodyPr>
          <a:lstStyle/>
          <a:p>
            <a:pPr algn="ctr"/>
            <a:r>
              <a:rPr sz="1400" b="1">
                <a:solidFill>
                  <a:srgbClr val="143242"/>
                </a:solidFill>
                <a:latin typeface="Calibri"/>
              </a:rPr>
              <a:t>RF, ELF, etc.</a:t>
            </a:r>
          </a:p>
        </p:txBody>
      </p:sp>
      <p:sp>
        <p:nvSpPr>
          <p:cNvPr id="24" name="TextBox 23"/>
          <p:cNvSpPr txBox="1"/>
          <p:nvPr/>
        </p:nvSpPr>
        <p:spPr>
          <a:xfrm>
            <a:off x="9326880" y="3931920"/>
            <a:ext cx="2423160" cy="1737360"/>
          </a:xfrm>
          <a:prstGeom prst="rect">
            <a:avLst/>
          </a:prstGeom>
          <a:noFill/>
        </p:spPr>
        <p:txBody>
          <a:bodyPr wrap="square">
            <a:spAutoFit/>
          </a:bodyPr>
          <a:lstStyle/>
          <a:p>
            <a:pPr algn="ctr"/>
            <a:r>
              <a:rPr sz="1300" b="0">
                <a:solidFill>
                  <a:srgbClr val="5A6B76"/>
                </a:solidFill>
                <a:latin typeface="Calibri"/>
              </a:rPr>
              <a:t>Generally not established like ionizing/UV for solid evidence of cancer</a:t>
            </a:r>
          </a:p>
        </p:txBody>
      </p:sp>
      <p:sp>
        <p:nvSpPr>
          <p:cNvPr id="25" name="TextBox 24"/>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Radiation</a:t>
            </a:r>
          </a:p>
        </p:txBody>
      </p:sp>
      <p:sp>
        <p:nvSpPr>
          <p:cNvPr id="26" name="TextBox 25"/>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30/41</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How Radiation Damages DNA</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097280"/>
            <a:ext cx="10881360" cy="475488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adiation_dna_damage.jpg"/>
          <p:cNvPicPr>
            <a:picLocks noChangeAspect="1"/>
          </p:cNvPicPr>
          <p:nvPr/>
        </p:nvPicPr>
        <p:blipFill>
          <a:blip r:embed="rId2"/>
          <a:stretch>
            <a:fillRect/>
          </a:stretch>
        </p:blipFill>
        <p:spPr>
          <a:xfrm>
            <a:off x="868680" y="1280160"/>
            <a:ext cx="10424160" cy="4114800"/>
          </a:xfrm>
          <a:prstGeom prst="rect">
            <a:avLst/>
          </a:prstGeom>
        </p:spPr>
      </p:pic>
      <p:sp>
        <p:nvSpPr>
          <p:cNvPr id="7" name="TextBox 6"/>
          <p:cNvSpPr txBox="1"/>
          <p:nvPr/>
        </p:nvSpPr>
        <p:spPr>
          <a:xfrm>
            <a:off x="822960" y="5532120"/>
            <a:ext cx="10515600" cy="365760"/>
          </a:xfrm>
          <a:prstGeom prst="rect">
            <a:avLst/>
          </a:prstGeom>
          <a:noFill/>
        </p:spPr>
        <p:txBody>
          <a:bodyPr wrap="square">
            <a:spAutoFit/>
          </a:bodyPr>
          <a:lstStyle/>
          <a:p>
            <a:pPr algn="ctr"/>
            <a:r>
              <a:rPr sz="1300" b="0">
                <a:solidFill>
                  <a:srgbClr val="5A6B76"/>
                </a:solidFill>
                <a:latin typeface="Calibri"/>
              </a:rPr>
              <a:t>Direct hits vs indirect free-radical (•OH) attack — both can yield mutagenic misrepair</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Radiation</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31/41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Radiation DNA Injury — Detail</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097280"/>
            <a:ext cx="544068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097280"/>
            <a:ext cx="5440680" cy="59436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07008"/>
            <a:ext cx="4983480" cy="411480"/>
          </a:xfrm>
          <a:prstGeom prst="rect">
            <a:avLst/>
          </a:prstGeom>
          <a:noFill/>
        </p:spPr>
        <p:txBody>
          <a:bodyPr wrap="square">
            <a:spAutoFit/>
          </a:bodyPr>
          <a:lstStyle/>
          <a:p>
            <a:pPr algn="l"/>
            <a:r>
              <a:rPr sz="1700" b="1">
                <a:solidFill>
                  <a:srgbClr val="FFFFFF"/>
                </a:solidFill>
                <a:latin typeface="Calibri"/>
              </a:rPr>
              <a:t>Direct action</a:t>
            </a:r>
          </a:p>
        </p:txBody>
      </p:sp>
      <p:sp>
        <p:nvSpPr>
          <p:cNvPr id="8" name="TextBox 7"/>
          <p:cNvSpPr txBox="1"/>
          <p:nvPr/>
        </p:nvSpPr>
        <p:spPr>
          <a:xfrm>
            <a:off x="685800" y="1920240"/>
            <a:ext cx="4937760" cy="3931920"/>
          </a:xfrm>
          <a:prstGeom prst="rect">
            <a:avLst/>
          </a:prstGeom>
          <a:noFill/>
        </p:spPr>
        <p:txBody>
          <a:bodyPr wrap="square">
            <a:spAutoFit/>
          </a:bodyPr>
          <a:lstStyle/>
          <a:p>
            <a:pPr>
              <a:spcAft>
                <a:spcPts val="700"/>
              </a:spcAft>
            </a:pPr>
            <a:r>
              <a:rPr sz="1500" b="0">
                <a:solidFill>
                  <a:srgbClr val="1F2A33"/>
                </a:solidFill>
                <a:latin typeface="Calibri"/>
              </a:rPr>
              <a:t>•  Photon/particle energy hits DNA</a:t>
            </a:r>
          </a:p>
          <a:p>
            <a:pPr>
              <a:spcAft>
                <a:spcPts val="700"/>
              </a:spcAft>
            </a:pPr>
            <a:r>
              <a:rPr sz="1500" b="0">
                <a:solidFill>
                  <a:srgbClr val="1F2A33"/>
                </a:solidFill>
                <a:latin typeface="Calibri"/>
              </a:rPr>
              <a:t>•  Base damage, crosslinks, SSB/DSB</a:t>
            </a:r>
          </a:p>
          <a:p>
            <a:pPr>
              <a:spcAft>
                <a:spcPts val="700"/>
              </a:spcAft>
            </a:pPr>
            <a:r>
              <a:rPr sz="1500" b="0">
                <a:solidFill>
                  <a:srgbClr val="1F2A33"/>
                </a:solidFill>
                <a:latin typeface="Calibri"/>
              </a:rPr>
              <a:t>•  More important for high-LET radiation (α, neutrons)</a:t>
            </a:r>
          </a:p>
          <a:p>
            <a:pPr>
              <a:spcAft>
                <a:spcPts val="700"/>
              </a:spcAft>
            </a:pPr>
            <a:r>
              <a:rPr sz="1500" b="0">
                <a:solidFill>
                  <a:srgbClr val="1F2A33"/>
                </a:solidFill>
                <a:latin typeface="Calibri"/>
              </a:rPr>
              <a:t>•  Clustered damage harder to repair</a:t>
            </a:r>
          </a:p>
        </p:txBody>
      </p:sp>
      <p:sp>
        <p:nvSpPr>
          <p:cNvPr id="9" name="Rounded Rectangle 8"/>
          <p:cNvSpPr/>
          <p:nvPr/>
        </p:nvSpPr>
        <p:spPr>
          <a:xfrm>
            <a:off x="6309360" y="1097280"/>
            <a:ext cx="544068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097280"/>
            <a:ext cx="5440680" cy="59436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207008"/>
            <a:ext cx="4983480" cy="411480"/>
          </a:xfrm>
          <a:prstGeom prst="rect">
            <a:avLst/>
          </a:prstGeom>
          <a:noFill/>
        </p:spPr>
        <p:txBody>
          <a:bodyPr wrap="square">
            <a:spAutoFit/>
          </a:bodyPr>
          <a:lstStyle/>
          <a:p>
            <a:pPr algn="l"/>
            <a:r>
              <a:rPr sz="1700" b="1">
                <a:solidFill>
                  <a:srgbClr val="FFFFFF"/>
                </a:solidFill>
                <a:latin typeface="Calibri"/>
              </a:rPr>
              <a:t>Indirect action</a:t>
            </a:r>
          </a:p>
        </p:txBody>
      </p:sp>
      <p:sp>
        <p:nvSpPr>
          <p:cNvPr id="12" name="TextBox 11"/>
          <p:cNvSpPr txBox="1"/>
          <p:nvPr/>
        </p:nvSpPr>
        <p:spPr>
          <a:xfrm>
            <a:off x="6583680" y="1920240"/>
            <a:ext cx="4937760" cy="3931920"/>
          </a:xfrm>
          <a:prstGeom prst="rect">
            <a:avLst/>
          </a:prstGeom>
          <a:noFill/>
        </p:spPr>
        <p:txBody>
          <a:bodyPr wrap="square">
            <a:spAutoFit/>
          </a:bodyPr>
          <a:lstStyle/>
          <a:p>
            <a:pPr>
              <a:spcAft>
                <a:spcPts val="700"/>
              </a:spcAft>
            </a:pPr>
            <a:r>
              <a:rPr sz="1500" b="0">
                <a:solidFill>
                  <a:srgbClr val="1F2A33"/>
                </a:solidFill>
                <a:latin typeface="Calibri"/>
              </a:rPr>
              <a:t>•  Radiolysis of water → •OH and other radicals</a:t>
            </a:r>
          </a:p>
          <a:p>
            <a:pPr>
              <a:spcAft>
                <a:spcPts val="700"/>
              </a:spcAft>
            </a:pPr>
            <a:r>
              <a:rPr sz="1500" b="0">
                <a:solidFill>
                  <a:srgbClr val="1F2A33"/>
                </a:solidFill>
                <a:latin typeface="Calibri"/>
              </a:rPr>
              <a:t>•  Radicals attack DNA/proteins/lipids</a:t>
            </a:r>
          </a:p>
          <a:p>
            <a:pPr>
              <a:spcAft>
                <a:spcPts val="700"/>
              </a:spcAft>
            </a:pPr>
            <a:r>
              <a:rPr sz="1500" b="0">
                <a:solidFill>
                  <a:srgbClr val="1F2A33"/>
                </a:solidFill>
                <a:latin typeface="Calibri"/>
              </a:rPr>
              <a:t>•  Dominant for low-LET X/γ rays</a:t>
            </a:r>
          </a:p>
          <a:p>
            <a:pPr>
              <a:spcAft>
                <a:spcPts val="700"/>
              </a:spcAft>
            </a:pPr>
            <a:r>
              <a:rPr sz="1500" b="0">
                <a:solidFill>
                  <a:srgbClr val="1F2A33"/>
                </a:solidFill>
                <a:latin typeface="Calibri"/>
              </a:rPr>
              <a:t>•  Oxygen enhances damage (oxygen effect)</a:t>
            </a:r>
          </a:p>
        </p:txBody>
      </p:sp>
      <p:sp>
        <p:nvSpPr>
          <p:cNvPr id="13" name="TextBox 12"/>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Radiation</a:t>
            </a:r>
          </a:p>
        </p:txBody>
      </p:sp>
      <p:sp>
        <p:nvSpPr>
          <p:cNvPr id="14" name="TextBox 13"/>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32/41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From Misrepair to Cancer</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Misrepaired DSB → chromosomal aberrations / mutations</a:t>
            </a:r>
          </a:p>
          <a:p>
            <a:pPr>
              <a:spcAft>
                <a:spcPts val="700"/>
              </a:spcAft>
            </a:pPr>
            <a:r>
              <a:rPr sz="1700" b="0">
                <a:solidFill>
                  <a:srgbClr val="1F2A33"/>
                </a:solidFill>
                <a:latin typeface="Calibri"/>
              </a:rPr>
              <a:t>•  Hits to oncogenes, tumor suppressors, or genome-maintenance genes</a:t>
            </a:r>
          </a:p>
          <a:p>
            <a:pPr>
              <a:spcAft>
                <a:spcPts val="700"/>
              </a:spcAft>
            </a:pPr>
            <a:r>
              <a:rPr sz="1700" b="0">
                <a:solidFill>
                  <a:srgbClr val="1F2A33"/>
                </a:solidFill>
                <a:latin typeface="Calibri"/>
              </a:rPr>
              <a:t>•  Genomic instability may persist in progeny cells</a:t>
            </a:r>
          </a:p>
          <a:p>
            <a:pPr>
              <a:spcAft>
                <a:spcPts val="700"/>
              </a:spcAft>
            </a:pPr>
            <a:r>
              <a:rPr sz="1700" b="0">
                <a:solidFill>
                  <a:srgbClr val="1F2A33"/>
                </a:solidFill>
                <a:latin typeface="Calibri"/>
              </a:rPr>
              <a:t>•  Latency: leukemias earlier; solid tumors often decades later</a:t>
            </a:r>
          </a:p>
          <a:p>
            <a:pPr>
              <a:spcAft>
                <a:spcPts val="700"/>
              </a:spcAft>
            </a:pPr>
            <a:r>
              <a:rPr sz="1700" b="0">
                <a:solidFill>
                  <a:srgbClr val="1F2A33"/>
                </a:solidFill>
                <a:latin typeface="Calibri"/>
              </a:rPr>
              <a:t>•  Human evidence: atomic-bomb survivors, medical cohorts, radon miners, UV epidemiology</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Radiation</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33/41</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Tissue Sensitivity Highlights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Highly sensitive: bone marrow (leukemia), thyroid (especially children), breast, lung</a:t>
            </a:r>
          </a:p>
          <a:p>
            <a:pPr>
              <a:spcAft>
                <a:spcPts val="700"/>
              </a:spcAft>
            </a:pPr>
            <a:r>
              <a:rPr sz="1700" b="0">
                <a:solidFill>
                  <a:srgbClr val="1F2A33"/>
                </a:solidFill>
                <a:latin typeface="Calibri"/>
              </a:rPr>
              <a:t>•  UV targets skin → BCC, SCC, melanoma</a:t>
            </a:r>
          </a:p>
          <a:p>
            <a:pPr>
              <a:spcAft>
                <a:spcPts val="700"/>
              </a:spcAft>
            </a:pPr>
            <a:r>
              <a:rPr sz="1700" b="0">
                <a:solidFill>
                  <a:srgbClr val="1F2A33"/>
                </a:solidFill>
                <a:latin typeface="Calibri"/>
              </a:rPr>
              <a:t>•  Radon targets lung — α-particle dose to bronchi</a:t>
            </a:r>
          </a:p>
          <a:p>
            <a:pPr>
              <a:spcAft>
                <a:spcPts val="700"/>
              </a:spcAft>
            </a:pPr>
            <a:r>
              <a:rPr sz="1700" b="0">
                <a:solidFill>
                  <a:srgbClr val="1F2A33"/>
                </a:solidFill>
                <a:latin typeface="Calibri"/>
              </a:rPr>
              <a:t>•  Fractionation and dose rate modify biologic effect</a:t>
            </a:r>
          </a:p>
          <a:p>
            <a:pPr>
              <a:spcAft>
                <a:spcPts val="700"/>
              </a:spcAft>
            </a:pPr>
            <a:r>
              <a:rPr sz="1700" b="0">
                <a:solidFill>
                  <a:srgbClr val="1F2A33"/>
                </a:solidFill>
                <a:latin typeface="Calibri"/>
              </a:rPr>
              <a:t>•  Combined exposures (e.g., smoking + radon) can be synergistic</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Radiation</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34/41</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Environmental vs Medical Radiation Exposure</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548640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143000"/>
            <a:ext cx="5486400" cy="64008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5029200" cy="411480"/>
          </a:xfrm>
          <a:prstGeom prst="rect">
            <a:avLst/>
          </a:prstGeom>
          <a:noFill/>
        </p:spPr>
        <p:txBody>
          <a:bodyPr wrap="square">
            <a:spAutoFit/>
          </a:bodyPr>
          <a:lstStyle/>
          <a:p>
            <a:pPr algn="l"/>
            <a:r>
              <a:rPr sz="1500" b="1">
                <a:solidFill>
                  <a:srgbClr val="FFFFFF"/>
                </a:solidFill>
                <a:latin typeface="Calibri"/>
              </a:rPr>
              <a:t>ENVIRONMENTAL / BACKGROUND</a:t>
            </a:r>
          </a:p>
        </p:txBody>
      </p:sp>
      <p:sp>
        <p:nvSpPr>
          <p:cNvPr id="8" name="TextBox 7"/>
          <p:cNvSpPr txBox="1"/>
          <p:nvPr/>
        </p:nvSpPr>
        <p:spPr>
          <a:xfrm>
            <a:off x="685800" y="2011680"/>
            <a:ext cx="4937760" cy="3840480"/>
          </a:xfrm>
          <a:prstGeom prst="rect">
            <a:avLst/>
          </a:prstGeom>
          <a:noFill/>
        </p:spPr>
        <p:txBody>
          <a:bodyPr wrap="square">
            <a:spAutoFit/>
          </a:bodyPr>
          <a:lstStyle/>
          <a:p>
            <a:pPr>
              <a:spcAft>
                <a:spcPts val="700"/>
              </a:spcAft>
            </a:pPr>
            <a:r>
              <a:rPr sz="1400" b="0">
                <a:solidFill>
                  <a:srgbClr val="1F2A33"/>
                </a:solidFill>
                <a:latin typeface="Calibri"/>
              </a:rPr>
              <a:t>•  Cosmic rays (higher at altitude / flights)</a:t>
            </a:r>
          </a:p>
          <a:p>
            <a:pPr>
              <a:spcAft>
                <a:spcPts val="700"/>
              </a:spcAft>
            </a:pPr>
            <a:r>
              <a:rPr sz="1400" b="0">
                <a:solidFill>
                  <a:srgbClr val="1F2A33"/>
                </a:solidFill>
                <a:latin typeface="Calibri"/>
              </a:rPr>
              <a:t>•  Terrestrial radionuclides in soil/rock</a:t>
            </a:r>
          </a:p>
          <a:p>
            <a:pPr>
              <a:spcAft>
                <a:spcPts val="700"/>
              </a:spcAft>
            </a:pPr>
            <a:r>
              <a:rPr sz="1400" b="0">
                <a:solidFill>
                  <a:srgbClr val="1F2A33"/>
                </a:solidFill>
                <a:latin typeface="Calibri"/>
              </a:rPr>
              <a:t>•  Radon gas indoors — major natural lung carcinogen</a:t>
            </a:r>
          </a:p>
          <a:p>
            <a:pPr>
              <a:spcAft>
                <a:spcPts val="700"/>
              </a:spcAft>
            </a:pPr>
            <a:r>
              <a:rPr sz="1400" b="0">
                <a:solidFill>
                  <a:srgbClr val="1F2A33"/>
                </a:solidFill>
                <a:latin typeface="Calibri"/>
              </a:rPr>
              <a:t>•  Internal radionuclides (K-40, etc.)</a:t>
            </a:r>
          </a:p>
          <a:p>
            <a:pPr>
              <a:spcAft>
                <a:spcPts val="700"/>
              </a:spcAft>
            </a:pPr>
            <a:r>
              <a:rPr sz="1400" b="0">
                <a:solidFill>
                  <a:srgbClr val="1F2A33"/>
                </a:solidFill>
                <a:latin typeface="Calibri"/>
              </a:rPr>
              <a:t>•  Fallout / accidental releases (rare but historic lessons)</a:t>
            </a:r>
          </a:p>
        </p:txBody>
      </p:sp>
      <p:sp>
        <p:nvSpPr>
          <p:cNvPr id="9" name="Rounded Rectangle 8"/>
          <p:cNvSpPr/>
          <p:nvPr/>
        </p:nvSpPr>
        <p:spPr>
          <a:xfrm>
            <a:off x="6263640" y="1143000"/>
            <a:ext cx="5486400" cy="502920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143000"/>
            <a:ext cx="5486400" cy="64008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80160"/>
            <a:ext cx="5029200" cy="411480"/>
          </a:xfrm>
          <a:prstGeom prst="rect">
            <a:avLst/>
          </a:prstGeom>
          <a:noFill/>
        </p:spPr>
        <p:txBody>
          <a:bodyPr wrap="square">
            <a:spAutoFit/>
          </a:bodyPr>
          <a:lstStyle/>
          <a:p>
            <a:pPr algn="l"/>
            <a:r>
              <a:rPr sz="1500" b="1">
                <a:solidFill>
                  <a:srgbClr val="FFFFFF"/>
                </a:solidFill>
                <a:latin typeface="Calibri"/>
              </a:rPr>
              <a:t>MEDICAL EXPOSURE</a:t>
            </a:r>
          </a:p>
        </p:txBody>
      </p:sp>
      <p:sp>
        <p:nvSpPr>
          <p:cNvPr id="12" name="TextBox 11"/>
          <p:cNvSpPr txBox="1"/>
          <p:nvPr/>
        </p:nvSpPr>
        <p:spPr>
          <a:xfrm>
            <a:off x="6537960" y="2011680"/>
            <a:ext cx="4937760" cy="3840480"/>
          </a:xfrm>
          <a:prstGeom prst="rect">
            <a:avLst/>
          </a:prstGeom>
          <a:noFill/>
        </p:spPr>
        <p:txBody>
          <a:bodyPr wrap="square">
            <a:spAutoFit/>
          </a:bodyPr>
          <a:lstStyle/>
          <a:p>
            <a:pPr>
              <a:spcAft>
                <a:spcPts val="700"/>
              </a:spcAft>
            </a:pPr>
            <a:r>
              <a:rPr sz="1400" b="0">
                <a:solidFill>
                  <a:srgbClr val="1F2A33"/>
                </a:solidFill>
                <a:latin typeface="Calibri"/>
              </a:rPr>
              <a:t>•  Diagnostic: X-ray, CT, fluoroscopy, nuclear medicine</a:t>
            </a:r>
          </a:p>
          <a:p>
            <a:pPr>
              <a:spcAft>
                <a:spcPts val="700"/>
              </a:spcAft>
            </a:pPr>
            <a:r>
              <a:rPr sz="1400" b="0">
                <a:solidFill>
                  <a:srgbClr val="1F2A33"/>
                </a:solidFill>
                <a:latin typeface="Calibri"/>
              </a:rPr>
              <a:t>•  Interventional radiology — can deliver high skin/organ doses</a:t>
            </a:r>
          </a:p>
          <a:p>
            <a:pPr>
              <a:spcAft>
                <a:spcPts val="700"/>
              </a:spcAft>
            </a:pPr>
            <a:r>
              <a:rPr sz="1400" b="0">
                <a:solidFill>
                  <a:srgbClr val="1F2A33"/>
                </a:solidFill>
                <a:latin typeface="Calibri"/>
              </a:rPr>
              <a:t>•  Radiotherapy — high therapeutic doses; secondary cancer risk small but real</a:t>
            </a:r>
          </a:p>
          <a:p>
            <a:pPr>
              <a:spcAft>
                <a:spcPts val="700"/>
              </a:spcAft>
            </a:pPr>
            <a:r>
              <a:rPr sz="1400" b="0">
                <a:solidFill>
                  <a:srgbClr val="1F2A33"/>
                </a:solidFill>
                <a:latin typeface="Calibri"/>
              </a:rPr>
              <a:t>•  Principles: justification + optimization (ALARA)</a:t>
            </a:r>
          </a:p>
          <a:p>
            <a:pPr>
              <a:spcAft>
                <a:spcPts val="700"/>
              </a:spcAft>
            </a:pPr>
            <a:r>
              <a:rPr sz="1400" b="0">
                <a:solidFill>
                  <a:srgbClr val="1F2A33"/>
                </a:solidFill>
                <a:latin typeface="Calibri"/>
              </a:rPr>
              <a:t>•  Never withhold indicated imaging from fear alone</a:t>
            </a:r>
          </a:p>
        </p:txBody>
      </p:sp>
      <p:sp>
        <p:nvSpPr>
          <p:cNvPr id="13" name="TextBox 12"/>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Radiation</a:t>
            </a:r>
          </a:p>
        </p:txBody>
      </p:sp>
      <p:sp>
        <p:nvSpPr>
          <p:cNvPr id="14" name="TextBox 13"/>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35/41</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Medical Radiation — What Future Doctors Must Do</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Justify every exam: will the result change management?</a:t>
            </a:r>
          </a:p>
          <a:p>
            <a:pPr>
              <a:spcAft>
                <a:spcPts val="700"/>
              </a:spcAft>
            </a:pPr>
            <a:r>
              <a:rPr sz="1700" b="0">
                <a:solidFill>
                  <a:srgbClr val="1F2A33"/>
                </a:solidFill>
                <a:latin typeface="Calibri"/>
              </a:rPr>
              <a:t>•  Optimize: lowest dose compatible with diagnostic quality (ALARA)</a:t>
            </a:r>
          </a:p>
          <a:p>
            <a:pPr>
              <a:spcAft>
                <a:spcPts val="700"/>
              </a:spcAft>
            </a:pPr>
            <a:r>
              <a:rPr sz="1700" b="0">
                <a:solidFill>
                  <a:srgbClr val="1F2A33"/>
                </a:solidFill>
                <a:latin typeface="Calibri"/>
              </a:rPr>
              <a:t>•  Prefer non-ionizing alternatives when equally appropriate (US/MRI)</a:t>
            </a:r>
          </a:p>
          <a:p>
            <a:pPr>
              <a:spcAft>
                <a:spcPts val="700"/>
              </a:spcAft>
            </a:pPr>
            <a:r>
              <a:rPr sz="1700" b="0">
                <a:solidFill>
                  <a:srgbClr val="1F2A33"/>
                </a:solidFill>
                <a:latin typeface="Calibri"/>
              </a:rPr>
              <a:t>•  Special caution: pregnancy, children, high-dose fluoroscopy</a:t>
            </a:r>
          </a:p>
          <a:p>
            <a:pPr>
              <a:spcAft>
                <a:spcPts val="700"/>
              </a:spcAft>
            </a:pPr>
            <a:r>
              <a:rPr sz="1700" b="0">
                <a:solidFill>
                  <a:srgbClr val="1F2A33"/>
                </a:solidFill>
                <a:latin typeface="Calibri"/>
              </a:rPr>
              <a:t>•  Radiotherapy: curative/palliative benefit outweighs secondary-cancer risk when indicated</a:t>
            </a:r>
          </a:p>
          <a:p>
            <a:pPr>
              <a:spcAft>
                <a:spcPts val="700"/>
              </a:spcAft>
            </a:pPr>
            <a:r>
              <a:rPr sz="1700" b="0">
                <a:solidFill>
                  <a:srgbClr val="1F2A33"/>
                </a:solidFill>
                <a:latin typeface="Calibri"/>
              </a:rPr>
              <a:t>•  Communicate risks honestly without scaring patients away from needed care</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Radiation</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36/41</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Chemicals + Tobacco + Radiation — Shared Biology</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All can initiate DNA damage (adducts, strand breaks, oxidative lesions)</a:t>
            </a:r>
          </a:p>
          <a:p>
            <a:pPr>
              <a:spcAft>
                <a:spcPts val="700"/>
              </a:spcAft>
            </a:pPr>
            <a:r>
              <a:rPr sz="1700" b="0">
                <a:solidFill>
                  <a:srgbClr val="1F2A33"/>
                </a:solidFill>
                <a:latin typeface="Calibri"/>
              </a:rPr>
              <a:t>•  Promotion via inflammation and proliferation is a shared chapter</a:t>
            </a:r>
          </a:p>
          <a:p>
            <a:pPr>
              <a:spcAft>
                <a:spcPts val="700"/>
              </a:spcAft>
            </a:pPr>
            <a:r>
              <a:rPr sz="1700" b="0">
                <a:solidFill>
                  <a:srgbClr val="1F2A33"/>
                </a:solidFill>
                <a:latin typeface="Calibri"/>
              </a:rPr>
              <a:t>•  Real patients stack exposures: smoker + radon + occupational dust</a:t>
            </a:r>
          </a:p>
          <a:p>
            <a:pPr>
              <a:spcAft>
                <a:spcPts val="700"/>
              </a:spcAft>
            </a:pPr>
            <a:r>
              <a:rPr sz="1700" b="0">
                <a:solidFill>
                  <a:srgbClr val="1F2A33"/>
                </a:solidFill>
                <a:latin typeface="Calibri"/>
              </a:rPr>
              <a:t>•  Prevention packages beat single slogans</a:t>
            </a:r>
          </a:p>
          <a:p>
            <a:pPr>
              <a:spcAft>
                <a:spcPts val="700"/>
              </a:spcAft>
            </a:pPr>
            <a:r>
              <a:rPr sz="1700" b="0">
                <a:solidFill>
                  <a:srgbClr val="1F2A33"/>
                </a:solidFill>
                <a:latin typeface="Calibri"/>
              </a:rPr>
              <a:t>•  Your clinical habit: exposure history + counseling + appropriate imaging</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Integration</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37/41</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F7A6E"/>
        </a:solidFill>
        <a:effectLst/>
      </p:bgPr>
    </p:bg>
    <p:spTree>
      <p:nvGrpSpPr>
        <p:cNvPr id="1" name=""/>
        <p:cNvGrpSpPr/>
        <p:nvPr/>
      </p:nvGrpSpPr>
      <p:grpSpPr/>
      <p:sp>
        <p:nvSpPr>
          <p:cNvPr id="2" name="Oval 1"/>
          <p:cNvSpPr/>
          <p:nvPr/>
        </p:nvSpPr>
        <p:spPr>
          <a:xfrm>
            <a:off x="9326880" y="-914400"/>
            <a:ext cx="4114800" cy="4114800"/>
          </a:xfrm>
          <a:prstGeom prst="ellipse">
            <a:avLst/>
          </a:prstGeom>
          <a:solidFill>
            <a:srgbClr val="288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103120"/>
            <a:ext cx="219456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7A6E"/>
                </a:solidFill>
                <a:latin typeface="Calibri"/>
              </a:rPr>
              <a:t>PART 04</a:t>
            </a:r>
          </a:p>
        </p:txBody>
      </p:sp>
      <p:sp>
        <p:nvSpPr>
          <p:cNvPr id="4" name="TextBox 3"/>
          <p:cNvSpPr txBox="1"/>
          <p:nvPr/>
        </p:nvSpPr>
        <p:spPr>
          <a:xfrm>
            <a:off x="731520" y="2834640"/>
            <a:ext cx="10515600" cy="1097280"/>
          </a:xfrm>
          <a:prstGeom prst="rect">
            <a:avLst/>
          </a:prstGeom>
          <a:noFill/>
        </p:spPr>
        <p:txBody>
          <a:bodyPr wrap="square">
            <a:spAutoFit/>
          </a:bodyPr>
          <a:lstStyle/>
          <a:p>
            <a:pPr algn="l"/>
            <a:r>
              <a:rPr sz="3400" b="1">
                <a:solidFill>
                  <a:srgbClr val="FFFFFF"/>
                </a:solidFill>
                <a:latin typeface="Calibri"/>
              </a:rPr>
              <a:t>Prevention &amp; Close</a:t>
            </a:r>
          </a:p>
        </p:txBody>
      </p:sp>
      <p:sp>
        <p:nvSpPr>
          <p:cNvPr id="5" name="TextBox 4"/>
          <p:cNvSpPr txBox="1"/>
          <p:nvPr/>
        </p:nvSpPr>
        <p:spPr>
          <a:xfrm>
            <a:off x="731520" y="4114800"/>
            <a:ext cx="10515600" cy="731520"/>
          </a:xfrm>
          <a:prstGeom prst="rect">
            <a:avLst/>
          </a:prstGeom>
          <a:noFill/>
        </p:spPr>
        <p:txBody>
          <a:bodyPr wrap="square">
            <a:spAutoFit/>
          </a:bodyPr>
          <a:lstStyle/>
          <a:p>
            <a:pPr algn="l"/>
            <a:r>
              <a:rPr sz="1800" b="0">
                <a:solidFill>
                  <a:srgbClr val="D8F0EC"/>
                </a:solidFill>
                <a:latin typeface="Calibri"/>
              </a:rPr>
              <a:t>Turn mechanisms into action</a:t>
            </a:r>
          </a:p>
        </p:txBody>
      </p:sp>
      <p:sp>
        <p:nvSpPr>
          <p:cNvPr id="6" name="TextBox 5"/>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Prevention &amp; Close</a:t>
            </a:r>
          </a:p>
        </p:txBody>
      </p:sp>
      <p:sp>
        <p:nvSpPr>
          <p:cNvPr id="7" name="TextBox 6"/>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38/41</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Integrated Prevention Checklist</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Never start / stop tobacco; eliminate second-hand smoke exposure</a:t>
            </a:r>
          </a:p>
          <a:p>
            <a:pPr>
              <a:spcAft>
                <a:spcPts val="700"/>
              </a:spcAft>
            </a:pPr>
            <a:r>
              <a:rPr sz="1700" b="0">
                <a:solidFill>
                  <a:srgbClr val="1F2A33"/>
                </a:solidFill>
                <a:latin typeface="Calibri"/>
              </a:rPr>
              <a:t>•  Workplace: substitution, ventilation, training, PPE, regulation</a:t>
            </a:r>
          </a:p>
          <a:p>
            <a:pPr>
              <a:spcAft>
                <a:spcPts val="700"/>
              </a:spcAft>
            </a:pPr>
            <a:r>
              <a:rPr sz="1700" b="0">
                <a:solidFill>
                  <a:srgbClr val="1F2A33"/>
                </a:solidFill>
                <a:latin typeface="Calibri"/>
              </a:rPr>
              <a:t>•  Sun protection; avoid tanning beds</a:t>
            </a:r>
          </a:p>
          <a:p>
            <a:pPr>
              <a:spcAft>
                <a:spcPts val="700"/>
              </a:spcAft>
            </a:pPr>
            <a:r>
              <a:rPr sz="1700" b="0">
                <a:solidFill>
                  <a:srgbClr val="1F2A33"/>
                </a:solidFill>
                <a:latin typeface="Calibri"/>
              </a:rPr>
              <a:t>•  Test/mitigate radon where relevant</a:t>
            </a:r>
          </a:p>
          <a:p>
            <a:pPr>
              <a:spcAft>
                <a:spcPts val="700"/>
              </a:spcAft>
            </a:pPr>
            <a:r>
              <a:rPr sz="1700" b="0">
                <a:solidFill>
                  <a:srgbClr val="1F2A33"/>
                </a:solidFill>
                <a:latin typeface="Calibri"/>
              </a:rPr>
              <a:t>•  Limit alcohol; healthy weight and diet patterns</a:t>
            </a:r>
          </a:p>
          <a:p>
            <a:pPr>
              <a:spcAft>
                <a:spcPts val="700"/>
              </a:spcAft>
            </a:pPr>
            <a:r>
              <a:rPr sz="1700" b="0">
                <a:solidFill>
                  <a:srgbClr val="1F2A33"/>
                </a:solidFill>
                <a:latin typeface="Calibri"/>
              </a:rPr>
              <a:t>•  Vaccination where relevant (HPV, HBV) — infection-related cancer prevention</a:t>
            </a:r>
          </a:p>
          <a:p>
            <a:pPr>
              <a:spcAft>
                <a:spcPts val="700"/>
              </a:spcAft>
            </a:pPr>
            <a:r>
              <a:rPr sz="1700" b="0">
                <a:solidFill>
                  <a:srgbClr val="1F2A33"/>
                </a:solidFill>
                <a:latin typeface="Calibri"/>
              </a:rPr>
              <a:t>•  Rational medical imaging — justification + ALARA</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Prevention</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39/41</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Take-Home Messages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143000"/>
            <a:ext cx="11247120" cy="7315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252728"/>
            <a:ext cx="502920" cy="502920"/>
          </a:xfrm>
          <a:prstGeom prst="ellipse">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44168"/>
            <a:ext cx="502920" cy="365760"/>
          </a:xfrm>
          <a:prstGeom prst="rect">
            <a:avLst/>
          </a:prstGeom>
          <a:noFill/>
        </p:spPr>
        <p:txBody>
          <a:bodyPr wrap="square">
            <a:spAutoFit/>
          </a:bodyPr>
          <a:lstStyle/>
          <a:p>
            <a:pPr algn="ctr"/>
            <a:r>
              <a:rPr sz="1400" b="1">
                <a:solidFill>
                  <a:srgbClr val="FFFFFF"/>
                </a:solidFill>
                <a:latin typeface="Calibri"/>
              </a:rPr>
              <a:t>1</a:t>
            </a:r>
          </a:p>
        </p:txBody>
      </p:sp>
      <p:sp>
        <p:nvSpPr>
          <p:cNvPr id="8" name="TextBox 7"/>
          <p:cNvSpPr txBox="1"/>
          <p:nvPr/>
        </p:nvSpPr>
        <p:spPr>
          <a:xfrm>
            <a:off x="1371600" y="1325880"/>
            <a:ext cx="10058400" cy="411480"/>
          </a:xfrm>
          <a:prstGeom prst="rect">
            <a:avLst/>
          </a:prstGeom>
          <a:noFill/>
        </p:spPr>
        <p:txBody>
          <a:bodyPr wrap="square">
            <a:spAutoFit/>
          </a:bodyPr>
          <a:lstStyle/>
          <a:p>
            <a:pPr algn="l"/>
            <a:r>
              <a:rPr sz="1400" b="0">
                <a:solidFill>
                  <a:srgbClr val="1F2A33"/>
                </a:solidFill>
                <a:latin typeface="Calibri"/>
              </a:rPr>
              <a:t>Carcinogens act by damaging DNA or promoting clonal growth — often both.</a:t>
            </a:r>
          </a:p>
        </p:txBody>
      </p:sp>
      <p:sp>
        <p:nvSpPr>
          <p:cNvPr id="9" name="Rounded Rectangle 8"/>
          <p:cNvSpPr/>
          <p:nvPr/>
        </p:nvSpPr>
        <p:spPr>
          <a:xfrm>
            <a:off x="457200" y="1965960"/>
            <a:ext cx="11247120" cy="7315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2075688"/>
            <a:ext cx="502920" cy="502920"/>
          </a:xfrm>
          <a:prstGeom prst="ellipse">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67128"/>
            <a:ext cx="502920" cy="365760"/>
          </a:xfrm>
          <a:prstGeom prst="rect">
            <a:avLst/>
          </a:prstGeom>
          <a:noFill/>
        </p:spPr>
        <p:txBody>
          <a:bodyPr wrap="square">
            <a:spAutoFit/>
          </a:bodyPr>
          <a:lstStyle/>
          <a:p>
            <a:pPr algn="ctr"/>
            <a:r>
              <a:rPr sz="1400" b="1">
                <a:solidFill>
                  <a:srgbClr val="FFFFFF"/>
                </a:solidFill>
                <a:latin typeface="Calibri"/>
              </a:rPr>
              <a:t>2</a:t>
            </a:r>
          </a:p>
        </p:txBody>
      </p:sp>
      <p:sp>
        <p:nvSpPr>
          <p:cNvPr id="12" name="TextBox 11"/>
          <p:cNvSpPr txBox="1"/>
          <p:nvPr/>
        </p:nvSpPr>
        <p:spPr>
          <a:xfrm>
            <a:off x="1371600" y="2148840"/>
            <a:ext cx="10058400" cy="411480"/>
          </a:xfrm>
          <a:prstGeom prst="rect">
            <a:avLst/>
          </a:prstGeom>
          <a:noFill/>
        </p:spPr>
        <p:txBody>
          <a:bodyPr wrap="square">
            <a:spAutoFit/>
          </a:bodyPr>
          <a:lstStyle/>
          <a:p>
            <a:pPr algn="l"/>
            <a:r>
              <a:rPr sz="1400" b="0">
                <a:solidFill>
                  <a:srgbClr val="1F2A33"/>
                </a:solidFill>
                <a:latin typeface="Calibri"/>
              </a:rPr>
              <a:t>IARC Group 1 agents are established human carcinogens; exposure control saves lives.</a:t>
            </a:r>
          </a:p>
        </p:txBody>
      </p:sp>
      <p:sp>
        <p:nvSpPr>
          <p:cNvPr id="13" name="Rounded Rectangle 12"/>
          <p:cNvSpPr/>
          <p:nvPr/>
        </p:nvSpPr>
        <p:spPr>
          <a:xfrm>
            <a:off x="457200" y="2788920"/>
            <a:ext cx="11247120" cy="7315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2898648"/>
            <a:ext cx="502920" cy="502920"/>
          </a:xfrm>
          <a:prstGeom prst="ellipse">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90088"/>
            <a:ext cx="502920" cy="365760"/>
          </a:xfrm>
          <a:prstGeom prst="rect">
            <a:avLst/>
          </a:prstGeom>
          <a:noFill/>
        </p:spPr>
        <p:txBody>
          <a:bodyPr wrap="square">
            <a:spAutoFit/>
          </a:bodyPr>
          <a:lstStyle/>
          <a:p>
            <a:pPr algn="ctr"/>
            <a:r>
              <a:rPr sz="1400" b="1">
                <a:solidFill>
                  <a:srgbClr val="FFFFFF"/>
                </a:solidFill>
                <a:latin typeface="Calibri"/>
              </a:rPr>
              <a:t>3</a:t>
            </a:r>
          </a:p>
        </p:txBody>
      </p:sp>
      <p:sp>
        <p:nvSpPr>
          <p:cNvPr id="16" name="TextBox 15"/>
          <p:cNvSpPr txBox="1"/>
          <p:nvPr/>
        </p:nvSpPr>
        <p:spPr>
          <a:xfrm>
            <a:off x="1371600" y="2971800"/>
            <a:ext cx="10058400" cy="411480"/>
          </a:xfrm>
          <a:prstGeom prst="rect">
            <a:avLst/>
          </a:prstGeom>
          <a:noFill/>
        </p:spPr>
        <p:txBody>
          <a:bodyPr wrap="square">
            <a:spAutoFit/>
          </a:bodyPr>
          <a:lstStyle/>
          <a:p>
            <a:pPr algn="l"/>
            <a:r>
              <a:rPr sz="1400" b="0">
                <a:solidFill>
                  <a:srgbClr val="1F2A33"/>
                </a:solidFill>
                <a:latin typeface="Calibri"/>
              </a:rPr>
              <a:t>Tobacco is a multi-carcinogen mixture; MSS and SSS both matter; other products are not safe.</a:t>
            </a:r>
          </a:p>
        </p:txBody>
      </p:sp>
      <p:sp>
        <p:nvSpPr>
          <p:cNvPr id="17" name="Rounded Rectangle 16"/>
          <p:cNvSpPr/>
          <p:nvPr/>
        </p:nvSpPr>
        <p:spPr>
          <a:xfrm>
            <a:off x="457200" y="3611880"/>
            <a:ext cx="11247120" cy="7315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 y="3721608"/>
            <a:ext cx="502920" cy="502920"/>
          </a:xfrm>
          <a:prstGeom prst="ellipse">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813048"/>
            <a:ext cx="502920" cy="365760"/>
          </a:xfrm>
          <a:prstGeom prst="rect">
            <a:avLst/>
          </a:prstGeom>
          <a:noFill/>
        </p:spPr>
        <p:txBody>
          <a:bodyPr wrap="square">
            <a:spAutoFit/>
          </a:bodyPr>
          <a:lstStyle/>
          <a:p>
            <a:pPr algn="ctr"/>
            <a:r>
              <a:rPr sz="1400" b="1">
                <a:solidFill>
                  <a:srgbClr val="FFFFFF"/>
                </a:solidFill>
                <a:latin typeface="Calibri"/>
              </a:rPr>
              <a:t>4</a:t>
            </a:r>
          </a:p>
        </p:txBody>
      </p:sp>
      <p:sp>
        <p:nvSpPr>
          <p:cNvPr id="20" name="TextBox 19"/>
          <p:cNvSpPr txBox="1"/>
          <p:nvPr/>
        </p:nvSpPr>
        <p:spPr>
          <a:xfrm>
            <a:off x="1371600" y="3794760"/>
            <a:ext cx="10058400" cy="411480"/>
          </a:xfrm>
          <a:prstGeom prst="rect">
            <a:avLst/>
          </a:prstGeom>
          <a:noFill/>
        </p:spPr>
        <p:txBody>
          <a:bodyPr wrap="square">
            <a:spAutoFit/>
          </a:bodyPr>
          <a:lstStyle/>
          <a:p>
            <a:pPr algn="l"/>
            <a:r>
              <a:rPr sz="1400" b="0">
                <a:solidFill>
                  <a:srgbClr val="1F2A33"/>
                </a:solidFill>
                <a:latin typeface="Calibri"/>
              </a:rPr>
              <a:t>Ionizing radiation and UV are proven carcinogens; risk depends on dose, age, and tissue.</a:t>
            </a:r>
          </a:p>
        </p:txBody>
      </p:sp>
      <p:sp>
        <p:nvSpPr>
          <p:cNvPr id="21" name="Rounded Rectangle 20"/>
          <p:cNvSpPr/>
          <p:nvPr/>
        </p:nvSpPr>
        <p:spPr>
          <a:xfrm>
            <a:off x="457200" y="4434840"/>
            <a:ext cx="11247120" cy="7315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 y="4544568"/>
            <a:ext cx="502920" cy="502920"/>
          </a:xfrm>
          <a:prstGeom prst="ellipse">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636007"/>
            <a:ext cx="502920" cy="365760"/>
          </a:xfrm>
          <a:prstGeom prst="rect">
            <a:avLst/>
          </a:prstGeom>
          <a:noFill/>
        </p:spPr>
        <p:txBody>
          <a:bodyPr wrap="square">
            <a:spAutoFit/>
          </a:bodyPr>
          <a:lstStyle/>
          <a:p>
            <a:pPr algn="ctr"/>
            <a:r>
              <a:rPr sz="1400" b="1">
                <a:solidFill>
                  <a:srgbClr val="FFFFFF"/>
                </a:solidFill>
                <a:latin typeface="Calibri"/>
              </a:rPr>
              <a:t>5</a:t>
            </a:r>
          </a:p>
        </p:txBody>
      </p:sp>
      <p:sp>
        <p:nvSpPr>
          <p:cNvPr id="24" name="TextBox 23"/>
          <p:cNvSpPr txBox="1"/>
          <p:nvPr/>
        </p:nvSpPr>
        <p:spPr>
          <a:xfrm>
            <a:off x="1371600" y="4617720"/>
            <a:ext cx="10058400" cy="411480"/>
          </a:xfrm>
          <a:prstGeom prst="rect">
            <a:avLst/>
          </a:prstGeom>
          <a:noFill/>
        </p:spPr>
        <p:txBody>
          <a:bodyPr wrap="square">
            <a:spAutoFit/>
          </a:bodyPr>
          <a:lstStyle/>
          <a:p>
            <a:pPr algn="l"/>
            <a:r>
              <a:rPr sz="1400" b="0">
                <a:solidFill>
                  <a:srgbClr val="1F2A33"/>
                </a:solidFill>
                <a:latin typeface="Calibri"/>
              </a:rPr>
              <a:t>Prevention hierarchy: eliminate/substitute → engineering → admin → PPE; plus tobacco cessation &amp; ALARA.</a:t>
            </a:r>
          </a:p>
        </p:txBody>
      </p:sp>
      <p:sp>
        <p:nvSpPr>
          <p:cNvPr id="25" name="Rounded Rectangle 24"/>
          <p:cNvSpPr/>
          <p:nvPr/>
        </p:nvSpPr>
        <p:spPr>
          <a:xfrm>
            <a:off x="457200" y="5257800"/>
            <a:ext cx="11247120" cy="73152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080" y="5367528"/>
            <a:ext cx="502920" cy="502920"/>
          </a:xfrm>
          <a:prstGeom prst="ellipse">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458968"/>
            <a:ext cx="502920" cy="365760"/>
          </a:xfrm>
          <a:prstGeom prst="rect">
            <a:avLst/>
          </a:prstGeom>
          <a:noFill/>
        </p:spPr>
        <p:txBody>
          <a:bodyPr wrap="square">
            <a:spAutoFit/>
          </a:bodyPr>
          <a:lstStyle/>
          <a:p>
            <a:pPr algn="ctr"/>
            <a:r>
              <a:rPr sz="1400" b="1">
                <a:solidFill>
                  <a:srgbClr val="FFFFFF"/>
                </a:solidFill>
                <a:latin typeface="Calibri"/>
              </a:rPr>
              <a:t>6</a:t>
            </a:r>
          </a:p>
        </p:txBody>
      </p:sp>
      <p:sp>
        <p:nvSpPr>
          <p:cNvPr id="28" name="TextBox 27"/>
          <p:cNvSpPr txBox="1"/>
          <p:nvPr/>
        </p:nvSpPr>
        <p:spPr>
          <a:xfrm>
            <a:off x="1371600" y="5440680"/>
            <a:ext cx="10058400" cy="411480"/>
          </a:xfrm>
          <a:prstGeom prst="rect">
            <a:avLst/>
          </a:prstGeom>
          <a:noFill/>
        </p:spPr>
        <p:txBody>
          <a:bodyPr wrap="square">
            <a:spAutoFit/>
          </a:bodyPr>
          <a:lstStyle/>
          <a:p>
            <a:pPr algn="l"/>
            <a:r>
              <a:rPr sz="1400" b="0">
                <a:solidFill>
                  <a:srgbClr val="1F2A33"/>
                </a:solidFill>
                <a:latin typeface="Calibri"/>
              </a:rPr>
              <a:t>Take an exposure history: occupation, smoking, sun, radon, prior radiation.</a:t>
            </a:r>
          </a:p>
        </p:txBody>
      </p:sp>
      <p:sp>
        <p:nvSpPr>
          <p:cNvPr id="29" name="TextBox 28"/>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Summary</a:t>
            </a:r>
          </a:p>
        </p:txBody>
      </p:sp>
      <p:sp>
        <p:nvSpPr>
          <p:cNvPr id="30" name="TextBox 29"/>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40/41</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457200"/>
          </a:xfrm>
          <a:prstGeom prst="rect">
            <a:avLst/>
          </a:prstGeom>
          <a:noFill/>
        </p:spPr>
        <p:txBody>
          <a:bodyPr wrap="square">
            <a:spAutoFit/>
          </a:bodyPr>
          <a:lstStyle/>
          <a:p>
            <a:pPr algn="l"/>
            <a:r>
              <a:rPr sz="2400" b="1">
                <a:solidFill>
                  <a:srgbClr val="143242"/>
                </a:solidFill>
                <a:latin typeface="Calibri"/>
              </a:rPr>
              <a:t>Selected References</a:t>
            </a:r>
          </a:p>
        </p:txBody>
      </p:sp>
      <p:sp>
        <p:nvSpPr>
          <p:cNvPr id="4" name="Rectangle 3"/>
          <p:cNvSpPr/>
          <p:nvPr/>
        </p:nvSpPr>
        <p:spPr>
          <a:xfrm>
            <a:off x="457200" y="804672"/>
            <a:ext cx="1188720" cy="45720"/>
          </a:xfrm>
          <a:prstGeom prst="rect">
            <a:avLst/>
          </a:prstGeom>
          <a:solidFill>
            <a:srgbClr val="D45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097280"/>
            <a:ext cx="11247120" cy="5120640"/>
          </a:xfrm>
          <a:prstGeom prst="roundRect">
            <a:avLst/>
          </a:prstGeom>
          <a:solidFill>
            <a:srgbClr val="FFFFFF"/>
          </a:solidFill>
          <a:ln>
            <a:solidFill>
              <a:srgbClr val="D0D9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28016" cy="5120640"/>
          </a:xfrm>
          <a:prstGeom prst="rect">
            <a:avLst/>
          </a:prstGeom>
          <a:solidFill>
            <a:srgbClr val="1F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71600"/>
            <a:ext cx="10515600" cy="4572000"/>
          </a:xfrm>
          <a:prstGeom prst="rect">
            <a:avLst/>
          </a:prstGeom>
          <a:noFill/>
        </p:spPr>
        <p:txBody>
          <a:bodyPr wrap="square">
            <a:spAutoFit/>
          </a:bodyPr>
          <a:lstStyle/>
          <a:p>
            <a:pPr>
              <a:spcAft>
                <a:spcPts val="700"/>
              </a:spcAft>
            </a:pPr>
            <a:r>
              <a:rPr sz="1700" b="0">
                <a:solidFill>
                  <a:srgbClr val="1F2A33"/>
                </a:solidFill>
                <a:latin typeface="Calibri"/>
              </a:rPr>
              <a:t>•  IARC Monographs — https://monographs.iarc.who.int/</a:t>
            </a:r>
          </a:p>
          <a:p>
            <a:pPr>
              <a:spcAft>
                <a:spcPts val="700"/>
              </a:spcAft>
            </a:pPr>
            <a:r>
              <a:rPr sz="1700" b="0">
                <a:solidFill>
                  <a:srgbClr val="1F2A33"/>
                </a:solidFill>
                <a:latin typeface="Calibri"/>
              </a:rPr>
              <a:t>•  WHO / IARC World Cancer Reports; tobacco &amp; radiation fact sheets</a:t>
            </a:r>
          </a:p>
          <a:p>
            <a:pPr>
              <a:spcAft>
                <a:spcPts val="700"/>
              </a:spcAft>
            </a:pPr>
            <a:r>
              <a:rPr sz="1700" b="0">
                <a:solidFill>
                  <a:srgbClr val="1F2A33"/>
                </a:solidFill>
                <a:latin typeface="Calibri"/>
              </a:rPr>
              <a:t>•  Robbins &amp; Kumar — Basic Pathology (neoplasia / carcinogenesis)</a:t>
            </a:r>
          </a:p>
          <a:p>
            <a:pPr>
              <a:spcAft>
                <a:spcPts val="700"/>
              </a:spcAft>
            </a:pPr>
            <a:r>
              <a:rPr sz="1700" b="0">
                <a:solidFill>
                  <a:srgbClr val="1F2A33"/>
                </a:solidFill>
                <a:latin typeface="Calibri"/>
              </a:rPr>
              <a:t>•  DeVita — Cancer: Principles &amp; Practice of Oncology</a:t>
            </a:r>
          </a:p>
          <a:p>
            <a:pPr>
              <a:spcAft>
                <a:spcPts val="700"/>
              </a:spcAft>
            </a:pPr>
            <a:r>
              <a:rPr sz="1700" b="0">
                <a:solidFill>
                  <a:srgbClr val="1F2A33"/>
                </a:solidFill>
                <a:latin typeface="Calibri"/>
              </a:rPr>
              <a:t>•  Perez &amp; Brady / Gunderson — Radiation Oncology principles texts</a:t>
            </a:r>
          </a:p>
          <a:p>
            <a:pPr>
              <a:spcAft>
                <a:spcPts val="700"/>
              </a:spcAft>
            </a:pPr>
            <a:r>
              <a:rPr sz="1700" b="0">
                <a:solidFill>
                  <a:srgbClr val="1F2A33"/>
                </a:solidFill>
                <a:latin typeface="Calibri"/>
              </a:rPr>
              <a:t>•  Doll R. avoidable causes of cancer (classic teaching estimates)</a:t>
            </a:r>
          </a:p>
          <a:p>
            <a:pPr>
              <a:spcAft>
                <a:spcPts val="700"/>
              </a:spcAft>
            </a:pPr>
            <a:r>
              <a:rPr sz="1700" b="0">
                <a:solidFill>
                  <a:srgbClr val="1F2A33"/>
                </a:solidFill>
                <a:latin typeface="Calibri"/>
              </a:rPr>
              <a:t>•  National cancer institute / NIEHS environmental carcinogen resources</a:t>
            </a:r>
          </a:p>
        </p:txBody>
      </p:sp>
      <p:sp>
        <p:nvSpPr>
          <p:cNvPr id="8" name="TextBox 7"/>
          <p:cNvSpPr txBox="1"/>
          <p:nvPr/>
        </p:nvSpPr>
        <p:spPr>
          <a:xfrm>
            <a:off x="365760" y="6537960"/>
            <a:ext cx="9601200" cy="256032"/>
          </a:xfrm>
          <a:prstGeom prst="rect">
            <a:avLst/>
          </a:prstGeom>
          <a:noFill/>
        </p:spPr>
        <p:txBody>
          <a:bodyPr wrap="square">
            <a:spAutoFit/>
          </a:bodyPr>
          <a:lstStyle/>
          <a:p>
            <a:pPr algn="l"/>
            <a:r>
              <a:rPr sz="1100" b="0">
                <a:solidFill>
                  <a:srgbClr val="5A6B76"/>
                </a:solidFill>
                <a:latin typeface="Calibri"/>
              </a:rPr>
              <a:t>Year 3 Medicine  ·  Carcinogenesis Lecture  ·  References</a:t>
            </a:r>
          </a:p>
        </p:txBody>
      </p:sp>
      <p:sp>
        <p:nvSpPr>
          <p:cNvPr id="9" name="TextBox 8"/>
          <p:cNvSpPr txBox="1"/>
          <p:nvPr/>
        </p:nvSpPr>
        <p:spPr>
          <a:xfrm>
            <a:off x="10515600" y="6537960"/>
            <a:ext cx="1371600" cy="256032"/>
          </a:xfrm>
          <a:prstGeom prst="rect">
            <a:avLst/>
          </a:prstGeom>
          <a:noFill/>
        </p:spPr>
        <p:txBody>
          <a:bodyPr wrap="square">
            <a:spAutoFit/>
          </a:bodyPr>
          <a:lstStyle/>
          <a:p>
            <a:pPr algn="r"/>
            <a:r>
              <a:rPr sz="1100" b="0">
                <a:solidFill>
                  <a:srgbClr val="5A6B76"/>
                </a:solidFill>
                <a:latin typeface="Calibri"/>
              </a:rPr>
              <a:t>41/41</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
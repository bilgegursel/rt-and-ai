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and welcome. This is a forty-five-minute lecture on chemical carcinogens. Our goal is practical: by the end, you should understand how chemicals cause cancer, which agents matter most in medicine and public health, and how to take an exposure history that actually changes care. We will move from definitions to the multistage model, then to IARC classification and molecular mechanisms, then through the major chemical classes — polycyclic aromatic hydrocarbons, aromatic amines, nitrosamines, aflatoxins, metals and asbestos, alkylating drugs, and hormones — and finish with dose, latency, prevention, and a short clinical case. Please keep three questions in mind: What is a chemical carcinogen? How does it transform a normal cell into a malignant clone? And what can we do, as clinicians, to reduce risk for patients and populations? Feel free to note questions; we will leave time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today's learning objectives. First, define chemical carcinogenesis and clearly distinguish initiation, promotion, and progression — this three-stage language appears in pathology exams and in toxicology. Second, classify agents using the IARC framework, and understand what Group 1 versus Group 2A actually means — and what it does not mean for an individual patient's risk. Third, contrast genotoxic and non-genotoxic mechanisms, because that distinction underpins debates about thresholds and 'safe' levels. Fourth, identify the major chemical classes and the cancers they are classically linked to — these agent–cancer pairs are high-yield. Fifth, apply exposure history and prevention in clinic: ask the right questions, counsel on tobacco and occupation, and know when food safety or vaccination intersects with chemical risk, as with aflatoxin and hepatitis B. If you can do these five things, you have met the aims of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define terms. A chemical carcinogen is any chemical agent that increases the probability of cancer in humans or experimental systems. It may damage DNA directly, generate reactive metabolites that form DNA adducts, or create a tissue environment — inflammation, proliferation, immunosuppression — that favors clonal expansion of mutated cells. Carcinogens may be synthetic: industrial solvents, dyes, constituents of tobacco smoke, some pharmaceuticals. They may also be natural: aflatoxin from Aspergillus molds is a Group 1 hepatocarcinogen. Route of exposure shapes organ tropism. Inhalation delivers tobacco smoke, asbestos, and diesel particulates to the lung and airways. Ingestion delivers aflatoxin and nitrosating species to the gut and liver. Dermal absorption mattered historically for chimney soot and some dyes. Iatrogenic exposure occurs with cytotoxic chemotherapy. Risk is not a simple yes or no: dose, duration, metabolic activation, DNA repair capacity, age at exposure, and inherited susceptibility all matter. Latency is usually long — often ten to forty years — so today's cancer may reflect an exposure from early adulthood or even childhood. That latency is why occupational histories must include past jobs, not only the current title.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historical frame helps students see that chemical carcinogenesis is not abstract toxicology — it grew from clinical observation. In 1775 Percivall Pott described scrotal cancer in chimney sweeps exposed to soot, an early link between polycyclic aromatic hydrocarbons and human cancer. In the late nineteenth and early twentieth centuries, high rates of bladder cancer in aniline dye workers led to the identification of aromatic amines such as benzidine and 2-naphthylamine. Laboratory skin-painting experiments in rodents established the initiation–promotion model that we still teach. The epidemiology of cigarette smoking then became the largest chemical carcinogenesis story in human history, with dozens of carcinogens in smoke. Today we combine IARC hazard evaluation, the 'key characteristics of carcinogens' framework used in mechanistic reviews, and molecular signatures — for example the aflatoxin-associated TP53 mutation — to connect exposure to tumor biology. History reminds us: careful observation of workers and patients still generates hypotheses that laboratories then prove.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turn to Part One: the classic three-stage model of chemical carcinogenesis. Initiation, promotion, and progression remain the conceptual backbone for explaining how a chemical converts a normal cell into a malignant clone. Even though modern genomics shows many parallel pathways, this staged language is still the clearest way to teach students and to interpret why removing a promoting exposure can still reduce risk years after initiation has occurred.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Initiation is the first irreversible genetic change in a target stem or progenitor cell. Many environmental carcinogens are procarcinogens: they are relatively inert until metabolized — often by cytochrome P450 enzymes in liver or in the target tissue — into electrophilic ultimate carcinogens. Those electrophiles bind covalently to DNA, forming adducts. If nucleotide-excision repair or other pathways remove the adduct before replication, the cell may escape. If replication occurs first, mispairing can fix a permanent mutation. Classic experimental initiators include polycyclic aromatic hydrocarbons and nitrosamines. Initiation is typically genotoxic, and mutation frequency rises with dose, but one mutation does not equal clinical cancer. Initiated cells can remain silent for years. Teaching summary: initiation equals metabolic activation plus DNA damage plus failed repair plus cell division. Without the later stages of promotion and progression, that initiated cell may never form a detectable tumor.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Promotion is selective clonal expansion of initiated cells. Promoters are often non-genotoxic. They increase proliferation, suppress apoptosis, activate receptors, or sustain inflammation. In classical mouse skin models, phorbol esters promote after a single initiating dose of a PAH. In humans, chronic inflammation, hormonal drive, obesity-related growth signaling, and repeated cytotoxicity with regenerative proliferation play analogous roles. Promotion is frequently reversible early on: remove the stimulus and the expanded clone may shrink or stabilize. That is one reason smoking cessation still lowers cancer risk after decades of smoking — you interrupt ongoing promotion. Progression is the acquisition of further genetic and epigenetic hits that enable invasion, angiogenesis, immune evasion, and metastasis. Complete carcinogens both initiate and promote; tobacco smoke is a mixture of such agents. Incomplete carcinogens need a second agent. When you counsel patients, this model justifies hope: past initiation is not destiny if we can stop promotion and treat co-factors.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two-column distinction is essential for toxicology and for answering exam questions about thresholds. Genotoxic carcinogens damage DNA directly or through reactive metabolites. They are often positive in mutagenicity assays. In regulatory practice they are frequently treated as having no fully 'safe' threshold, although DNA repair and immune surveillance complicate that picture in living people. Non-genotoxic carcinogens do not primarily attack DNA. They act through sustained cell proliferation, hormonal stimulation, immunosuppression, secondary oxidative stress after cytotoxicity, or epigenetic remodeling. For these, a practical exposure threshold is often accepted — below a certain proliferative or receptor-activating dose, risk may be negligible. Asbestos is a useful border case: the fibers are physical, but chronic inflammation and oxidative DNA damage drive mesothelioma and lung cancer. When public debate asks 'is there a safe level?', listen for whether the agent is being framed as genotoxic or non-genotoxic — that framing drives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covers how agencies classify carcinogens — especially the IARC system you will see cited in guidelines and news stories — and the cellular mechanisms that convert chemical exposure into the hallmarks of malignancy. Classification tells us about hazard; mechanisms tell us how biology gets from molecule to mutation to tumor.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International Agency for Research on Cancer, part of WHO, evaluates agents for carcinogenic hazard to humans. Group 1 means carcinogenic to humans — sufficient evidence in humans. Examples include tobacco smoke, asbestos, aflatoxin, benzene, arsenic, formaldehyde, processed meat, and alcoholic beverages. Group 2A means probably carcinogenic — typically limited human evidence plus sufficient animal evidence, or strong mechanistic data. Group 2B means possibly carcinogenic. Group 3 means not classifiable with current evidence. Stress this repeatedly: IARC answers 'Can this agent cause cancer?' It does not answer 'How large is the risk from a typical serving or a typical workplace day?' Calling processed meat Group 1 does not make a bacon sandwich equivalent to a pack of cigarettes. Dose, frequency, and context determine individual absolute risk. When patients panic about a headline, your job is to translate hazard classification into proportionate risk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molecular pathways connect chemicals to the hallmarks of cancer. First, electrophilic metabolites form covalent DNA adducts; during replication these yield point mutations. Aflatoxin B1 and the TP53 codon 249 mutation in hepatocellular carcinoma is a textbook signature. Second, reactive oxygen and nitrogen species — from inflammation or metal-catalyzed redox cycling — produce lesions such as 8-oxoguanine and DNA strand breaks. Third, some agents disrupt the mitotic apparatus and cause chromosomal instability or aneuploidy. Fourth, epigenetic carcinogens alter DNA methylation, histone marks, or microRNA networks, silencing tumor suppressors without changing the base sequence. Fifth, ligands of the aryl hydrocarbon receptor, estrogen receptor, or PPARs can drive proliferation and promotion. Sixth, chronic inflammation creates a microenvironment rich in growth factors and immunosuppressive signals. Real-world agents rarely use only one pathway; tobacco smoke, for example, delivers adduct-forming PAHs and nitrosamines plus oxidative and inflammatory stress. When you read a paper on 'key characteristics of carcinogens,' these are the mechanistic categories being inventoried.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Metabolism is central. Most chemical carcinogens require bioactivation. Phase I enzymes, especially cytochrome P450 isoforms CYP1A1, CYP1A2, CYP2E1, and CYP3A4, oxidize many procarcinogens to reactive intermediates. Phase II enzymes — glutathione S-transferases, UDP-glucuronosyltransferases, sulfotransferases, N-acetyltransferases — usually conjugate and detoxify, facilitating excretion. When activation outpaces detoxification, DNA damage accumulates. Genetic polymorphisms create susceptible subgroups: slow NAT2 acetylators had higher bladder cancer risk from aromatic amines; GSTM1-null individuals may handle certain tobacco-related electrophiles less efficiently. Organ specificity often follows where the ultimate carcinogen is formed or concentrated. Aromatic amine metabolites reach the bladder in urine; aflatoxin epoxide forms in hepatocytes; inhaled PAHs and asbestos act in the lung. Inducers and inhibitors of CYPs — including diet, smoking, and drugs — can theoretically shift this balance, though clinical prediction for an individual remains imperfect.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is the catalog you need for exams and for clinical pattern recognition. We will walk through polycyclic aromatic hydrocarbons, aromatic amines, N-nitroso compounds, aflatoxins, metals and asbestos-related fiber carcinogenesis, alkylating agents including anticancer drugs, and hormonal carcinogens. For each class, remember the prototype agent, the main exposure setting, and the signature cancer site.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Polycyclic aromatic hydrocarbons form whenever organic material burns incompletely. Tobacco smoke is the dominant population source; others include diesel exhaust, coal tar, industrial combustion, and charred foods. Benzo[a]pyrene is the teaching prototype. Cytochrome P450 oxidation produces a bay-region diol-epoxide that forms bulky adducts, preferentially at guanine. Unrepaired adducts yield mutations in oncogenes and tumor suppressors. Associated cancers include lung and skin; PAHs also contribute to bladder cancer risk in smokers. Occupational groups at historic high risk include coke-oven workers, aluminum smelter workers, and, in Pott's era, chimney sweeps. PAHs also activate the aryl hydrocarbon receptor, so they illustrate both initiation and promotion within one chemical family. When patients ask about burnt meat, be honest: grilling forms PAHs, but the absolute risk from occasional dietary exposure is far smaller than from smoking. Proportionate counseling matters.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Aromatic amines are the classic chemical cause of occupational bladder cancer. Benzidine and 2-naphthylamine were used in dye manufacture; recognition of risk led to bans and strict controls in many countries, but legacy contamination and informal industry still matter globally. After hepatic N-hydroxylation, metabolites travel to the bladder; acidic urine and further metabolism generate electrophiles that adduct DNA in urothelial cells. Slow acetylators historically fared worse. Cigarette smoke contains 4-aminobiphenyl, which helps explain the smoking–bladder cancer association beyond PAHs alone. Clinical pearl: in urothelial carcinoma — especially in younger patients or never-heavy-smokers — ask specifically about dye, rubber, leather, and chemical plant work, including jobs held decades earlier. Document the timeline. Occupational bladder cancer remains a medicolegal and prevention issue, not only a textbook anecdote.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N-nitroso compounds include nitrosamines and nitrosamides and are among the most potent carcinogens in animal models. They form endogenously when nitrite — from cured meats or salivary nitrate reduction — reacts with secondary amines, especially in acidic gastric conditions. Tobacco-specific nitrosamines such as NNK are major lung carcinogens in smokers. Different structures show striking organotropism: esophagus, stomach, liver, or lung, depending on metabolism. A modern teaching bridge is the detection of NDMA impurities in some sartan antihypertensive drugs and in ranitidine products — a reminder that chemical carcinogenesis concepts apply to pharmacovigilance, not only to factory smoke. Ascorbate and certain dietary components inhibit nitrosation, which partly explains interest in fresh fruit and vegetable intake in gastric cancer prevention research. Again, communicate absolute risk carefully: endogenous nitrosation is one contributor among many to gastric cancer, alongside Helicobacter pylori and salt-preserved foods in some populations.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Aflatoxin B1 is a Group 1 hepatocarcinogen produced by Aspergillus flavus and parasiticus on maize, peanuts, and other crops stored in warm, humid conditions. After CYP3A4 activation, the exo-epoxide forms a guanine adduct. Faulty processing yields a characteristic G-to-T transversion at TP53 codon 249 — the R249S mutation enriched in aflatoxin-endemic hepatocellular carcinoma. Risk multiplies when aflatoxin exposure coexists with chronic hepatitis B infection: the virus provides chronic hepatitis and genomic instability while aflatoxin provides a potent initiating mutation. This is one of the clearest intersections of chemical and infectious carcinogenesis. Prevention is dual: improve crop drying and storage and enforce food safety limits, and vaccinate against HBV. For clinicians in or from endemic regions, ask about dietary staples and storage conditions when discussing HCC risk, and never miss the chance to check hepatitis B status.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metals and inorganic agents are established human carcinogens. Inorganic arsenic in drinking water causes skin, lung, and bladder cancers and remains a major global exposure where groundwater is contaminated. Hexavalent chromium and certain nickel compounds cause lung and nasal cancers among plating, welding, and refining workers. Cadmium is classified as a lung carcinogen. Asbestos deserves special emphasis even though it is a mineral fiber: it causes pleural and peritoneal mesothelioma and lung cancer, with latency often exceeding thirty years. Smoking and asbestos multiply lung cancer risk; mesothelioma risk is driven primarily by asbestos. Mechanisms for metal and fiber carcinogenesis include reactive oxygen species, interference with DNA repair proteins, mitotic spindle disruption, and persistent inflammation. In clinic, shipyard, insulation, brake, and construction work histories remain relevant decades after asbestos bans, because fibers persist and latency is long.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Alkylating agents transfer alkyl groups to DNA bases. Alkylation at the O6 position of guanine is particularly mutagenic if not repaired by O6-methylguanine-DNA methyltransferase, MGMT; unrepaired lesions cause G:C to A:T transitions. Several cornerstone anticancer drugs are alkylators or related DNA-damaging agents — cyclophosphamide, melphalan, busulfan, nitrosoureas, and others. Long-term survivors treated with certain regimens face a small but real risk of therapy-related acute myeloid leukemia or myelodysplastic syndrome. This is chemical carcinogenesis in an iatrogenic setting. The ethical and clinical teaching point is nuanced: we do not withhold curative chemotherapy because of a low secondary risk, but we choose regimens thoughtfully, combine modalities wisely, counsel survivors, and arrange appropriate long-term surveillance. Radiation plus alkylators can further elevate secondary cancer risk in some diseases — another reason multidisciplinary planning matters.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Hormones illustrate non-genotoxic, receptor-driven carcinogenesis. Unopposed estrogen increases endometrial cancer risk by driving proliferation of endometrial glands; adding progestin in menopausal hormone therapy reduces that endometrial risk, which is why regimen choice matters. Diethylstilbestrol, prescribed historically in pregnancy, caused clear-cell adenocarcinoma of the vagina and cervix in exposed daughters — a landmark of transplacental carcinogenesis and a reminder that timing of exposure can be as important as dose. Tamoxifen lowers incidence of estrogen receptor–positive breast cancer yet increases endometrial cancer risk because of tissue-specific agonist activity — a beautiful pharmacology lesson. Anabolic steroid abuse has been linked to rare hepatic tumors. For exams: hormonal carcinogens usually promote rather than initiate, and risk often depends on duration and whether proliferation is opposed.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additional agents deserve explicit mention because they are exam favorites and clinically important. Alcoholic beverages are Group 1 carcinogens; acetaldehyde and other mechanisms contribute to cancers of the oral cavity, pharynx, larynx, esophagus, liver, colorectum, and female breast. Risk rises with dose; there is no oncologically 'safe' threshold for cancer risk, even if cardiovascular debates continue. Benzene causes bone marrow toxicity and acute myeloid leukemia — think of historical solvent and petrochemical exposures. Vinyl chloride monomer causes hepatic angiosarcoma, a rare tumor with a classic occupational link. Formaldehyde is associated with nasopharyngeal cancer, with additional evaluation of leukemia risk. Commit these signature pairs to memory; they appear constantly in multiple-choice questions and in occupational medicine referrals.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Part Four we connect toxicology to the bedside and to public health. Where do exposures actually occur? How do dose and latency work? How do you take a three-minute exposure history? What prevention strategies have the largest impact? This is the material that turns a mechanism lecture into clinical competence.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Rank exposures by attributable burden, not by exotic interest. Smoked tobacco remains the leading avoidable chemical carcinogen mixture worldwide. Alcohol is next in many populations for specific sites. Occupational exposures — chromium, nickel, PAHs, aromatic amines, asbestos legacy, benzene — cause fewer cases in absolute numbers in high-income countries than smoking, yet each case is often preventable and may be compensable. Environmental risks include outdoor air pollution, ranked Group 1 by IARC, arsenic in groundwater, and indoor solid-fuel smoke. Dietary carcinogens include aflatoxin, alcohol, and components related to processed meat. Iatrogenic exposures are uncommon but ethically important. When teaching prevention priorities, start with tobacco, alcohol, infection co-factors, air quality, and workplace hygiene — then discuss rarer industrial agents.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usually rises with cumulative dose and duration of exposure, though the shape of the dose–response curve differs for genotoxic versus non-genotoxic agents. Latency means today's diagnosis may reflect exposure from one to four decades earlier — essential for compensation claims and for not dismissing a remote job history. Synergistic interactions are high-yield teaching points: asbestos and smoking multiply lung cancer risk; aflatoxin and hepatitis B multiply HCC risk; alcohol and smoking multiply risk for oral and pharyngeal cancers. Host factors include age at first exposure, sex hormone milieu, inherited DNA-repair defects, and metabolic enzyme polymorphisms. Developmental windows matter: in utero DES exposure is the extreme example. Communicate both hazard and magnitude: 'genotoxic' does not always mean 'high personal risk at tiny doses,' but it does mean we avoid casual reassurance without data.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useful exposure history takes three to five minutes. Ask current job and all significant past jobs — latency makes the old job the relevant one. Ask what the patient actually did: dust, fumes, insulation, metal plating, dye handling, solvent use, pesticide spraying. Ask whether protective equipment was used and whether colleagues developed similar diseases. Home questions: well water, solid-fuel cooking or heating, secondhand smoke, hobbies such as metalwork or furniture refinishing. Always quantify tobacco and alcohol. Then match organ to agent: mesothelioma almost always triggers asbestos inquiry; HCC triggers viral hepatitis, alcohol, and aflatoxin geography; urothelial cancer triggers smoking plus aromatic amine work; acute leukemia may prompt benzene or prior chemotherapy questions. Write findings in the record. Refer to occupational medicine when exposure is ongoing or when legal reporting may protect others.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Prevention is the most important clinical takeaway. Primary prevention removes or reduces exposure before disease starts. Tobacco control has prevented more cancer deaths than any treatment advance. Industrial hygiene substitutes safer chemicals, encloses processes, ventilates, and uses respirators and protective clothing. Food storage and regulation reduce aflatoxin. Water treatment reduces arsenic. Air-quality standards reduce particulate and PAH exposure. Hepatitis B vaccination prevents a major promotional co-factor for aflatoxin-related HCC. Secondary measures include cessation support — lung cancer risk falls progressively for years after quitting — targeted screening where guidelines support it, and surveillance after alkylating therapy. If you identify ongoing occupational exposure, act: advise the patient, involve occupational health, and think about co-workers. Chemoprevention with drugs is niche; exposure control is the mainstay.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use two minutes on this case. A fifty-eight-year-old man with a thirty-five pack-year smoking history worked as a shipyard insulator from 1975 to 1988. He now has progressive dyspnea and a pleural effusion with suspicious cytology. The differential includes malignant pleural mesothelioma, asbestos-related lung cancer with pleural involvement, and benign asbestos pleural disease — though malignant cytology pushes us toward cancer. Imaging, adequate tissue, and immunohistochemistry distinguish mesothelioma from carcinoma. Exposures are dual: asbestos and tobacco. Synergy matters enormously for lung cancer risk; mesothelioma risk is chiefly asbestos-driven. Counseling points: smoking cessation still helps cardiovascular health and residual cancer risk; document the full occupational timeline with years and tasks; involve multidisciplinary oncology and, where appropriate, occupational disease pathways. Ask the room: what single question would you add to the history tomorrow morning? Answer: 'What exactly did you do with insulation, and did you use a respirator?'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formal summary, synthesize the whole hour in one minute. A chemical enters by inhalation, ingestion, skin, or prescription. Metabolism either detoxifies it or activates it. Genotoxic damage or a promotional environment follows. Initiated clones expand when inflammation, hormones, or continued smoking push proliferation. Years later a patient presents with organ-specific cancer, and the original exposure may be forgotten unless you ask. Your job in clinic is twofold: match the tumor site to plausible agents, and intervene on whatever is still modifiable — tobacco, alcohol, ongoing occupational exposure, viral hepatitis, or unsafe water. At population scale, the same logic becomes policy: tobacco control, alcohol policy, air and water quality, food storage, immunization, and industrial hygiene. If students can retell this chain without notes, the lecture has worked. Add a teaching flourish: draw a simple arrow chain on the board — Exposure, Metabolism, Initiation, Promotion, Progression, Clinical cancer, Prevention levers — and point to each arrow as you speak. This visual remains after the slides are gone.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only if questions are slow to start, or print it as your own prompt card. Question one: is there a safe amount of alcohol for cancer risk? Answer: cancer risk increases with dose; unlike some cardiovascular debates, oncology does not endorse a safe threshold. Question two: how worried should we be about barbecued meat? Polycyclic aromatic hydrocarbons form, but absolute risk from occasional dietary exposure is small compared with smoking — counsel proportionately. Question three: are electronic cigarettes safe? They usually reduce combustion products relative to combustible tobacco, yet they are not risk-free, nicotine is addictive, and decades-long cancer follow-up is still incomplete; complete cessation remains the goal. Question four: if something is natural, is it safe? No. Aflatoxin is entirely natural and strongly carcinogenic. Question five: why do we still see mesothelioma after asbestos bans? Because latency often exceeds thirty years and legacy materials remain in older buildings. These five answers cover most audience anxiety. If a student asks about mobile phones or power lines, redirect briefly: today's lecture is chemical carcinogenesis; non-ionizing radiation is a separate evidence discussion and should not crowd out tobacco, alcohol, asbestos, and aflatoxin.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take-home messages. First, chemical carcinogenesis is multistage: initiation, promotion, progression — a mutation alone is rarely enough for clinical cancer. Second, separate genotoxic from non-genotoxic mechanisms when you think about thresholds and public reassurance. Third, memorize signature pairs: aromatic amines and bladder; aflatoxin and liver; asbestos and mesothelioma; PAHs and tobacco-related lung cancer; benzene and AML; vinyl chloride and angiosarcoma; alkylators and therapy-related leukemia; alcohol and upper aerodigestive, liver, and breast cancers. Fourth, IARC tells you whether an agent can cause cancer; epidemiology and dose tell you how much risk your patient faces — do not confuse hazard headlines with personal risk. Fifth, ask about exposures and prevent what is preventable. That bridge from molecular toxicology to ordinary clinical care is the point of this lecture.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study, use IARC Monograph summaries for Group 1 agents, the neoplasia chapter in Robbins and Cotran for mechanisms, the WHO World Cancer Report for population attributable fractions, and the 'key characteristics of carcinogens' paper for modern mechanistic organization. Common questions: Is alcohol a chemical carcinogen? Yes — Group 1, with acetaldehyde as a key mediator. Are e-cigarettes safe? They typically reduce combustion-related PAH exposure compared with smoking but are not risk-free, and long-term cancer data remain incomplete; cessation of all nicotine products is ideal, while harm reduction is nuanced. Is burnt food dangerous? PAHs form, yet population risk is dwarfed by smoking. Does 'natural' mean safe? No — aflatoxin is natural and highly carcinogenic. Thank you for your attention. I am happy to take questions and to walk through any agent–cancer pair again.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4B"/>
        </a:solidFill>
        <a:effectLst/>
      </p:bgPr>
    </p:bg>
    <p:spTree>
      <p:nvGrpSpPr>
        <p:cNvPr id="1" name=""/>
        <p:cNvGrpSpPr/>
        <p:nvPr/>
      </p:nvGrpSpPr>
      <p:grpSpPr/>
      <p:sp>
        <p:nvSpPr>
          <p:cNvPr id="2" name="Rectangle 1"/>
          <p:cNvSpPr/>
          <p:nvPr/>
        </p:nvSpPr>
        <p:spPr>
          <a:xfrm>
            <a:off x="0" y="5303520"/>
            <a:ext cx="12191695" cy="155448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10789920" cy="1828800"/>
          </a:xfrm>
          <a:prstGeom prst="rect">
            <a:avLst/>
          </a:prstGeom>
          <a:noFill/>
        </p:spPr>
        <p:txBody>
          <a:bodyPr wrap="square">
            <a:spAutoFit/>
          </a:bodyPr>
          <a:lstStyle/>
          <a:p>
            <a:r>
              <a:rPr sz="4000" b="1">
                <a:solidFill>
                  <a:srgbClr val="FFFFFF"/>
                </a:solidFill>
                <a:latin typeface="Calibri"/>
              </a:rPr>
              <a:t>Chemical Carcinogens</a:t>
            </a:r>
          </a:p>
        </p:txBody>
      </p:sp>
      <p:sp>
        <p:nvSpPr>
          <p:cNvPr id="4" name="TextBox 3"/>
          <p:cNvSpPr txBox="1"/>
          <p:nvPr/>
        </p:nvSpPr>
        <p:spPr>
          <a:xfrm>
            <a:off x="640080" y="3840480"/>
            <a:ext cx="10789920" cy="914400"/>
          </a:xfrm>
          <a:prstGeom prst="rect">
            <a:avLst/>
          </a:prstGeom>
          <a:noFill/>
        </p:spPr>
        <p:txBody>
          <a:bodyPr wrap="none">
            <a:spAutoFit/>
          </a:bodyPr>
          <a:lstStyle/>
          <a:p>
            <a:r>
              <a:rPr sz="2000" b="0">
                <a:solidFill>
                  <a:srgbClr val="D0E8E8"/>
                </a:solidFill>
                <a:latin typeface="Calibri"/>
              </a:rPr>
              <a:t>Mechanisms, Classification, and Clinical Relevance</a:t>
            </a:r>
          </a:p>
        </p:txBody>
      </p:sp>
      <p:sp>
        <p:nvSpPr>
          <p:cNvPr id="5" name="TextBox 4"/>
          <p:cNvSpPr txBox="1"/>
          <p:nvPr/>
        </p:nvSpPr>
        <p:spPr>
          <a:xfrm>
            <a:off x="640080" y="5623560"/>
            <a:ext cx="10789920" cy="822960"/>
          </a:xfrm>
          <a:prstGeom prst="rect">
            <a:avLst/>
          </a:prstGeom>
          <a:noFill/>
        </p:spPr>
        <p:txBody>
          <a:bodyPr wrap="square">
            <a:spAutoFit/>
          </a:bodyPr>
          <a:lstStyle/>
          <a:p>
            <a:r>
              <a:rPr sz="1500" b="0">
                <a:solidFill>
                  <a:srgbClr val="FFFFFF"/>
                </a:solidFill>
                <a:latin typeface="Calibri"/>
              </a:rPr>
              <a:t>45-minute medical lecture · Mechanisms, classification &amp; clinical relevance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Learning objectives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Define chemical carcinogenesis and distinguish initiation, promotion, and progression</a:t>
            </a:r>
          </a:p>
          <a:p>
            <a:pPr>
              <a:spcAft>
                <a:spcPts val="1000"/>
              </a:spcAft>
            </a:pPr>
            <a:r>
              <a:rPr sz="1800" b="0">
                <a:solidFill>
                  <a:srgbClr val="2C3E50"/>
                </a:solidFill>
                <a:latin typeface="Calibri"/>
              </a:rPr>
              <a:t>• Classify chemical carcinogens using the IARC framework</a:t>
            </a:r>
          </a:p>
          <a:p>
            <a:pPr>
              <a:spcAft>
                <a:spcPts val="1000"/>
              </a:spcAft>
            </a:pPr>
            <a:r>
              <a:rPr sz="1800" b="0">
                <a:solidFill>
                  <a:srgbClr val="2C3E50"/>
                </a:solidFill>
                <a:latin typeface="Calibri"/>
              </a:rPr>
              <a:t>• Contrast genotoxic and non-genotoxic mechanisms</a:t>
            </a:r>
          </a:p>
          <a:p>
            <a:pPr>
              <a:spcAft>
                <a:spcPts val="1000"/>
              </a:spcAft>
            </a:pPr>
            <a:r>
              <a:rPr sz="1800" b="0">
                <a:solidFill>
                  <a:srgbClr val="2C3E50"/>
                </a:solidFill>
                <a:latin typeface="Calibri"/>
              </a:rPr>
              <a:t>• Identify major chemical carcinogen classes and associated cancers</a:t>
            </a:r>
          </a:p>
          <a:p>
            <a:pPr>
              <a:spcAft>
                <a:spcPts val="1000"/>
              </a:spcAft>
            </a:pPr>
            <a:r>
              <a:rPr sz="1800" b="0">
                <a:solidFill>
                  <a:srgbClr val="2C3E50"/>
                </a:solidFill>
                <a:latin typeface="Calibri"/>
              </a:rPr>
              <a:t>• Apply exposure history and prevention principles in clinical practice</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2/31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What is a chemical carcinogen?</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A substance that increases cancer incidence by damaging DNA or disrupting cell control</a:t>
            </a:r>
          </a:p>
          <a:p>
            <a:pPr>
              <a:spcAft>
                <a:spcPts val="1000"/>
              </a:spcAft>
            </a:pPr>
            <a:r>
              <a:rPr sz="1800" b="0">
                <a:solidFill>
                  <a:srgbClr val="2C3E50"/>
                </a:solidFill>
                <a:latin typeface="Calibri"/>
              </a:rPr>
              <a:t>• May be synthetic (industrial chemicals, drugs) or natural (aflatoxin, some plant toxins)</a:t>
            </a:r>
          </a:p>
          <a:p>
            <a:pPr>
              <a:spcAft>
                <a:spcPts val="1000"/>
              </a:spcAft>
            </a:pPr>
            <a:r>
              <a:rPr sz="1800" b="0">
                <a:solidFill>
                  <a:srgbClr val="2C3E50"/>
                </a:solidFill>
                <a:latin typeface="Calibri"/>
              </a:rPr>
              <a:t>• Exposure routes: inhalation, ingestion, dermal absorption, iatrogenic</a:t>
            </a:r>
          </a:p>
          <a:p>
            <a:pPr>
              <a:spcAft>
                <a:spcPts val="1000"/>
              </a:spcAft>
            </a:pPr>
            <a:r>
              <a:rPr sz="1800" b="0">
                <a:solidFill>
                  <a:srgbClr val="2C3E50"/>
                </a:solidFill>
                <a:latin typeface="Calibri"/>
              </a:rPr>
              <a:t>• Effect depends on dose, duration, metabolism, and host susceptibility</a:t>
            </a:r>
          </a:p>
          <a:p>
            <a:pPr>
              <a:spcAft>
                <a:spcPts val="1000"/>
              </a:spcAft>
            </a:pPr>
            <a:r>
              <a:rPr sz="1800" b="0">
                <a:solidFill>
                  <a:srgbClr val="2C3E50"/>
                </a:solidFill>
                <a:latin typeface="Calibri"/>
              </a:rPr>
              <a:t>• Latency is typically long — years to decades after first exposure</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3/31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A brief historical frame</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1775 — Percivall Pott: scrotal cancer in chimney sweeps (soot / PAHs)</a:t>
            </a:r>
          </a:p>
          <a:p>
            <a:pPr>
              <a:spcAft>
                <a:spcPts val="1000"/>
              </a:spcAft>
            </a:pPr>
            <a:r>
              <a:rPr sz="1800" b="0">
                <a:solidFill>
                  <a:srgbClr val="2C3E50"/>
                </a:solidFill>
                <a:latin typeface="Calibri"/>
              </a:rPr>
              <a:t>• 1895 onward — aniline dye industry and bladder cancer</a:t>
            </a:r>
          </a:p>
          <a:p>
            <a:pPr>
              <a:spcAft>
                <a:spcPts val="1000"/>
              </a:spcAft>
            </a:pPr>
            <a:r>
              <a:rPr sz="1800" b="0">
                <a:solidFill>
                  <a:srgbClr val="2C3E50"/>
                </a:solidFill>
                <a:latin typeface="Calibri"/>
              </a:rPr>
              <a:t>• 20th century — experimental skin painting models; initiation–promotion concept</a:t>
            </a:r>
          </a:p>
          <a:p>
            <a:pPr>
              <a:spcAft>
                <a:spcPts val="1000"/>
              </a:spcAft>
            </a:pPr>
            <a:r>
              <a:rPr sz="1800" b="0">
                <a:solidFill>
                  <a:srgbClr val="2C3E50"/>
                </a:solidFill>
                <a:latin typeface="Calibri"/>
              </a:rPr>
              <a:t>• Tobacco epidemiology: the largest human chemical carcinogen story</a:t>
            </a:r>
          </a:p>
          <a:p>
            <a:pPr>
              <a:spcAft>
                <a:spcPts val="1000"/>
              </a:spcAft>
            </a:pPr>
            <a:r>
              <a:rPr sz="1800" b="0">
                <a:solidFill>
                  <a:srgbClr val="2C3E50"/>
                </a:solidFill>
                <a:latin typeface="Calibri"/>
              </a:rPr>
              <a:t>• Today: IARC evaluations, key characteristics of carcinogens, molecular signatures</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4/31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7C7B"/>
        </a:solidFill>
        <a:effectLst/>
      </p:bgPr>
    </p:bg>
    <p:spTree>
      <p:nvGrpSpPr>
        <p:cNvPr id="1" name=""/>
        <p:cNvGrpSpPr/>
        <p:nvPr/>
      </p:nvGrpSpPr>
      <p:grpSpPr/>
      <p:sp>
        <p:nvSpPr>
          <p:cNvPr id="2" name="TextBox 1"/>
          <p:cNvSpPr txBox="1"/>
          <p:nvPr/>
        </p:nvSpPr>
        <p:spPr>
          <a:xfrm>
            <a:off x="731520" y="2743200"/>
            <a:ext cx="10515600" cy="1371600"/>
          </a:xfrm>
          <a:prstGeom prst="rect">
            <a:avLst/>
          </a:prstGeom>
          <a:noFill/>
        </p:spPr>
        <p:txBody>
          <a:bodyPr wrap="none">
            <a:spAutoFit/>
          </a:bodyPr>
          <a:lstStyle/>
          <a:p>
            <a:r>
              <a:rPr sz="3000" b="1">
                <a:solidFill>
                  <a:srgbClr val="FFFFFF"/>
                </a:solidFill>
                <a:latin typeface="Calibri"/>
              </a:rPr>
              <a:t>Part 1 · Multistage chemical carcinogenesis</a:t>
            </a:r>
          </a:p>
        </p:txBody>
      </p:sp>
      <p:sp>
        <p:nvSpPr>
          <p:cNvPr id="3" name="TextBox 2"/>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4" name="TextBox 3"/>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5/31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Initiation</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Irreversible genetic change in a target cell (mutation, chromosomal alteration)</a:t>
            </a:r>
          </a:p>
          <a:p>
            <a:pPr>
              <a:spcAft>
                <a:spcPts val="1000"/>
              </a:spcAft>
            </a:pPr>
            <a:r>
              <a:rPr sz="1800" b="0">
                <a:solidFill>
                  <a:srgbClr val="2C3E50"/>
                </a:solidFill>
                <a:latin typeface="Calibri"/>
              </a:rPr>
              <a:t>• Often requires metabolic activation to an electrophilic ultimate carcinogen</a:t>
            </a:r>
          </a:p>
          <a:p>
            <a:pPr>
              <a:spcAft>
                <a:spcPts val="1000"/>
              </a:spcAft>
            </a:pPr>
            <a:r>
              <a:rPr sz="1800" b="0">
                <a:solidFill>
                  <a:srgbClr val="2C3E50"/>
                </a:solidFill>
                <a:latin typeface="Calibri"/>
              </a:rPr>
              <a:t>• DNA adducts → mispairing → fixed mutation after replication</a:t>
            </a:r>
          </a:p>
          <a:p>
            <a:pPr>
              <a:spcAft>
                <a:spcPts val="1000"/>
              </a:spcAft>
            </a:pPr>
            <a:r>
              <a:rPr sz="1800" b="0">
                <a:solidFill>
                  <a:srgbClr val="2C3E50"/>
                </a:solidFill>
                <a:latin typeface="Calibri"/>
              </a:rPr>
              <a:t>• One hit is not enough for clinical cancer — initiated cells may remain silent</a:t>
            </a:r>
          </a:p>
          <a:p>
            <a:pPr>
              <a:spcAft>
                <a:spcPts val="1000"/>
              </a:spcAft>
            </a:pPr>
            <a:r>
              <a:rPr sz="1800" b="0">
                <a:solidFill>
                  <a:srgbClr val="2C3E50"/>
                </a:solidFill>
                <a:latin typeface="Calibri"/>
              </a:rPr>
              <a:t>• Initiators are typically genotoxic and dose-dependent for mutation frequency</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6/31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Promotion and progression</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Promotion: clonal expansion of initiated cells; often reversible if exposure stops</a:t>
            </a:r>
          </a:p>
          <a:p>
            <a:pPr>
              <a:spcAft>
                <a:spcPts val="1000"/>
              </a:spcAft>
            </a:pPr>
            <a:r>
              <a:rPr sz="1800" b="0">
                <a:solidFill>
                  <a:srgbClr val="2C3E50"/>
                </a:solidFill>
                <a:latin typeface="Calibri"/>
              </a:rPr>
              <a:t>• Promoters stimulate proliferation, inflammation, or receptor signaling</a:t>
            </a:r>
          </a:p>
          <a:p>
            <a:pPr>
              <a:spcAft>
                <a:spcPts val="1000"/>
              </a:spcAft>
            </a:pPr>
            <a:r>
              <a:rPr sz="1800" b="0">
                <a:solidFill>
                  <a:srgbClr val="2C3E50"/>
                </a:solidFill>
                <a:latin typeface="Calibri"/>
              </a:rPr>
              <a:t>• Progression: additional genetic/epigenetic hits → invasion and metastasis</a:t>
            </a:r>
          </a:p>
          <a:p>
            <a:pPr>
              <a:spcAft>
                <a:spcPts val="1000"/>
              </a:spcAft>
            </a:pPr>
            <a:r>
              <a:rPr sz="1800" b="0">
                <a:solidFill>
                  <a:srgbClr val="2C3E50"/>
                </a:solidFill>
                <a:latin typeface="Calibri"/>
              </a:rPr>
              <a:t>• Complete carcinogens can both initiate and promote (e.g., many PAHs in tobacco)</a:t>
            </a:r>
          </a:p>
          <a:p>
            <a:pPr>
              <a:spcAft>
                <a:spcPts val="1000"/>
              </a:spcAft>
            </a:pPr>
            <a:r>
              <a:rPr sz="1800" b="0">
                <a:solidFill>
                  <a:srgbClr val="2C3E50"/>
                </a:solidFill>
                <a:latin typeface="Calibri"/>
              </a:rPr>
              <a:t>• Incomplete carcinogens need a second agent or sustained proliferative stimulus</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7/31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548640"/>
          </a:xfrm>
          <a:prstGeom prst="rect">
            <a:avLst/>
          </a:prstGeom>
          <a:noFill/>
        </p:spPr>
        <p:txBody>
          <a:bodyPr wrap="none">
            <a:spAutoFit/>
          </a:bodyPr>
          <a:lstStyle/>
          <a:p>
            <a:r>
              <a:rPr sz="2600" b="1">
                <a:solidFill>
                  <a:srgbClr val="1B3A4B"/>
                </a:solidFill>
                <a:latin typeface="Calibri"/>
              </a:rPr>
              <a:t>Genotoxic vs non-genotoxic carcinogens</a:t>
            </a:r>
          </a:p>
        </p:txBody>
      </p:sp>
      <p:sp>
        <p:nvSpPr>
          <p:cNvPr id="4" name="Rectangle 3"/>
          <p:cNvSpPr/>
          <p:nvPr/>
        </p:nvSpPr>
        <p:spPr>
          <a:xfrm>
            <a:off x="457200" y="96012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234440"/>
            <a:ext cx="5394960" cy="502920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17320"/>
            <a:ext cx="4937760" cy="457200"/>
          </a:xfrm>
          <a:prstGeom prst="rect">
            <a:avLst/>
          </a:prstGeom>
          <a:noFill/>
        </p:spPr>
        <p:txBody>
          <a:bodyPr wrap="none">
            <a:spAutoFit/>
          </a:bodyPr>
          <a:lstStyle/>
          <a:p>
            <a:r>
              <a:rPr sz="1800" b="1">
                <a:solidFill>
                  <a:srgbClr val="0E7C7B"/>
                </a:solidFill>
                <a:latin typeface="Calibri"/>
              </a:rPr>
              <a:t>Genotoxic</a:t>
            </a:r>
          </a:p>
        </p:txBody>
      </p:sp>
      <p:sp>
        <p:nvSpPr>
          <p:cNvPr id="7" name="TextBox 6"/>
          <p:cNvSpPr txBox="1"/>
          <p:nvPr/>
        </p:nvSpPr>
        <p:spPr>
          <a:xfrm>
            <a:off x="685800" y="2011680"/>
            <a:ext cx="4937760" cy="4023360"/>
          </a:xfrm>
          <a:prstGeom prst="rect">
            <a:avLst/>
          </a:prstGeom>
          <a:noFill/>
        </p:spPr>
        <p:txBody>
          <a:bodyPr wrap="square">
            <a:spAutoFit/>
          </a:bodyPr>
          <a:lstStyle/>
          <a:p>
            <a:pPr>
              <a:spcAft>
                <a:spcPts val="800"/>
              </a:spcAft>
            </a:pPr>
            <a:r>
              <a:rPr sz="1500" b="0">
                <a:solidFill>
                  <a:srgbClr val="2C3E50"/>
                </a:solidFill>
                <a:latin typeface="Calibri"/>
              </a:rPr>
              <a:t>• Direct DNA damage or adduct formation</a:t>
            </a:r>
          </a:p>
          <a:p>
            <a:pPr>
              <a:spcAft>
                <a:spcPts val="800"/>
              </a:spcAft>
            </a:pPr>
            <a:r>
              <a:rPr sz="1500" b="0">
                <a:solidFill>
                  <a:srgbClr val="2C3E50"/>
                </a:solidFill>
                <a:latin typeface="Calibri"/>
              </a:rPr>
              <a:t>• Mutagenic in short-term assays</a:t>
            </a:r>
          </a:p>
          <a:p>
            <a:pPr>
              <a:spcAft>
                <a:spcPts val="800"/>
              </a:spcAft>
            </a:pPr>
            <a:r>
              <a:rPr sz="1500" b="0">
                <a:solidFill>
                  <a:srgbClr val="2C3E50"/>
                </a:solidFill>
                <a:latin typeface="Calibri"/>
              </a:rPr>
              <a:t>• Often no clear threshold (precautionary view)</a:t>
            </a:r>
          </a:p>
          <a:p>
            <a:pPr>
              <a:spcAft>
                <a:spcPts val="800"/>
              </a:spcAft>
            </a:pPr>
            <a:r>
              <a:rPr sz="1500" b="0">
                <a:solidFill>
                  <a:srgbClr val="2C3E50"/>
                </a:solidFill>
                <a:latin typeface="Calibri"/>
              </a:rPr>
              <a:t>• Examples: aflatoxin B1, benzo[a]pyrene, nitrosamines, alkylators</a:t>
            </a:r>
          </a:p>
        </p:txBody>
      </p:sp>
      <p:sp>
        <p:nvSpPr>
          <p:cNvPr id="8" name="Rounded Rectangle 7"/>
          <p:cNvSpPr/>
          <p:nvPr/>
        </p:nvSpPr>
        <p:spPr>
          <a:xfrm>
            <a:off x="6309360" y="1234440"/>
            <a:ext cx="5394960" cy="502920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417320"/>
            <a:ext cx="4937760" cy="457200"/>
          </a:xfrm>
          <a:prstGeom prst="rect">
            <a:avLst/>
          </a:prstGeom>
          <a:noFill/>
        </p:spPr>
        <p:txBody>
          <a:bodyPr wrap="none">
            <a:spAutoFit/>
          </a:bodyPr>
          <a:lstStyle/>
          <a:p>
            <a:r>
              <a:rPr sz="1800" b="1">
                <a:solidFill>
                  <a:srgbClr val="C45C26"/>
                </a:solidFill>
                <a:latin typeface="Calibri"/>
              </a:rPr>
              <a:t>Non-genotoxic</a:t>
            </a:r>
          </a:p>
        </p:txBody>
      </p:sp>
      <p:sp>
        <p:nvSpPr>
          <p:cNvPr id="10" name="TextBox 9"/>
          <p:cNvSpPr txBox="1"/>
          <p:nvPr/>
        </p:nvSpPr>
        <p:spPr>
          <a:xfrm>
            <a:off x="6537960" y="2011680"/>
            <a:ext cx="4937760" cy="4023360"/>
          </a:xfrm>
          <a:prstGeom prst="rect">
            <a:avLst/>
          </a:prstGeom>
          <a:noFill/>
        </p:spPr>
        <p:txBody>
          <a:bodyPr wrap="square">
            <a:spAutoFit/>
          </a:bodyPr>
          <a:lstStyle/>
          <a:p>
            <a:pPr>
              <a:spcAft>
                <a:spcPts val="800"/>
              </a:spcAft>
            </a:pPr>
            <a:r>
              <a:rPr sz="1500" b="0">
                <a:solidFill>
                  <a:srgbClr val="2C3E50"/>
                </a:solidFill>
                <a:latin typeface="Calibri"/>
              </a:rPr>
              <a:t>• No primary DNA reactivity</a:t>
            </a:r>
          </a:p>
          <a:p>
            <a:pPr>
              <a:spcAft>
                <a:spcPts val="800"/>
              </a:spcAft>
            </a:pPr>
            <a:r>
              <a:rPr sz="1500" b="0">
                <a:solidFill>
                  <a:srgbClr val="2C3E50"/>
                </a:solidFill>
                <a:latin typeface="Calibri"/>
              </a:rPr>
              <a:t>• Act via receptors, cytotoxicity, hormones, epigenetics</a:t>
            </a:r>
          </a:p>
          <a:p>
            <a:pPr>
              <a:spcAft>
                <a:spcPts val="800"/>
              </a:spcAft>
            </a:pPr>
            <a:r>
              <a:rPr sz="1500" b="0">
                <a:solidFill>
                  <a:srgbClr val="2C3E50"/>
                </a:solidFill>
                <a:latin typeface="Calibri"/>
              </a:rPr>
              <a:t>• Threshold concept often applies</a:t>
            </a:r>
          </a:p>
          <a:p>
            <a:pPr>
              <a:spcAft>
                <a:spcPts val="800"/>
              </a:spcAft>
            </a:pPr>
            <a:r>
              <a:rPr sz="1500" b="0">
                <a:solidFill>
                  <a:srgbClr val="2C3E50"/>
                </a:solidFill>
                <a:latin typeface="Calibri"/>
              </a:rPr>
              <a:t>• Examples: some hormones, phenobarbital (rodent), cyclosporine</a:t>
            </a:r>
          </a:p>
        </p:txBody>
      </p:sp>
      <p:sp>
        <p:nvSpPr>
          <p:cNvPr id="11" name="TextBox 10"/>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12" name="TextBox 11"/>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8/31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7C7B"/>
        </a:solidFill>
        <a:effectLst/>
      </p:bgPr>
    </p:bg>
    <p:spTree>
      <p:nvGrpSpPr>
        <p:cNvPr id="1" name=""/>
        <p:cNvGrpSpPr/>
        <p:nvPr/>
      </p:nvGrpSpPr>
      <p:grpSpPr/>
      <p:sp>
        <p:nvSpPr>
          <p:cNvPr id="2" name="TextBox 1"/>
          <p:cNvSpPr txBox="1"/>
          <p:nvPr/>
        </p:nvSpPr>
        <p:spPr>
          <a:xfrm>
            <a:off x="731520" y="2743200"/>
            <a:ext cx="10515600" cy="1371600"/>
          </a:xfrm>
          <a:prstGeom prst="rect">
            <a:avLst/>
          </a:prstGeom>
          <a:noFill/>
        </p:spPr>
        <p:txBody>
          <a:bodyPr wrap="none">
            <a:spAutoFit/>
          </a:bodyPr>
          <a:lstStyle/>
          <a:p>
            <a:r>
              <a:rPr sz="3000" b="1">
                <a:solidFill>
                  <a:srgbClr val="FFFFFF"/>
                </a:solidFill>
                <a:latin typeface="Calibri"/>
              </a:rPr>
              <a:t>Part 2 · Classification and mechanisms</a:t>
            </a:r>
          </a:p>
        </p:txBody>
      </p:sp>
      <p:sp>
        <p:nvSpPr>
          <p:cNvPr id="3" name="TextBox 2"/>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4" name="TextBox 3"/>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9/31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IARC classification (WHO)</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Group 1 — Carcinogenic to humans (sufficient human evidence)</a:t>
            </a:r>
          </a:p>
          <a:p>
            <a:pPr>
              <a:spcAft>
                <a:spcPts val="1000"/>
              </a:spcAft>
            </a:pPr>
            <a:r>
              <a:rPr sz="1800" b="0">
                <a:solidFill>
                  <a:srgbClr val="2C3E50"/>
                </a:solidFill>
                <a:latin typeface="Calibri"/>
              </a:rPr>
              <a:t>• Group 2A — Probably carcinogenic (limited human + sufficient animal, or strong mechanism)</a:t>
            </a:r>
          </a:p>
          <a:p>
            <a:pPr>
              <a:spcAft>
                <a:spcPts val="1000"/>
              </a:spcAft>
            </a:pPr>
            <a:r>
              <a:rPr sz="1800" b="0">
                <a:solidFill>
                  <a:srgbClr val="2C3E50"/>
                </a:solidFill>
                <a:latin typeface="Calibri"/>
              </a:rPr>
              <a:t>• Group 2B — Possibly carcinogenic (limited evidence)</a:t>
            </a:r>
          </a:p>
          <a:p>
            <a:pPr>
              <a:spcAft>
                <a:spcPts val="1000"/>
              </a:spcAft>
            </a:pPr>
            <a:r>
              <a:rPr sz="1800" b="0">
                <a:solidFill>
                  <a:srgbClr val="2C3E50"/>
                </a:solidFill>
                <a:latin typeface="Calibri"/>
              </a:rPr>
              <a:t>• Group 3 — Not classifiable</a:t>
            </a:r>
          </a:p>
          <a:p>
            <a:pPr>
              <a:spcAft>
                <a:spcPts val="1000"/>
              </a:spcAft>
            </a:pPr>
            <a:r>
              <a:rPr sz="1800" b="0">
                <a:solidFill>
                  <a:srgbClr val="2C3E50"/>
                </a:solidFill>
                <a:latin typeface="Calibri"/>
              </a:rPr>
              <a:t>• Classification is hazard-based: 'can it cause cancer?', not 'how much risk at typical doses?'</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10/31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Key molecular mechanisms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700" b="0">
                <a:solidFill>
                  <a:srgbClr val="2C3E50"/>
                </a:solidFill>
                <a:latin typeface="Calibri"/>
              </a:rPr>
              <a:t>• DNA adducts and base mispairing → point mutations</a:t>
            </a:r>
          </a:p>
          <a:p>
            <a:pPr>
              <a:spcAft>
                <a:spcPts val="1000"/>
              </a:spcAft>
            </a:pPr>
            <a:r>
              <a:rPr sz="1700" b="0">
                <a:solidFill>
                  <a:srgbClr val="2C3E50"/>
                </a:solidFill>
                <a:latin typeface="Calibri"/>
              </a:rPr>
              <a:t>• Oxidative stress (ROS) → 8-oxoguanine and strand breaks</a:t>
            </a:r>
          </a:p>
          <a:p>
            <a:pPr>
              <a:spcAft>
                <a:spcPts val="1000"/>
              </a:spcAft>
            </a:pPr>
            <a:r>
              <a:rPr sz="1700" b="0">
                <a:solidFill>
                  <a:srgbClr val="2C3E50"/>
                </a:solidFill>
                <a:latin typeface="Calibri"/>
              </a:rPr>
              <a:t>• Chromosomal instability and aneuploidy</a:t>
            </a:r>
          </a:p>
          <a:p>
            <a:pPr>
              <a:spcAft>
                <a:spcPts val="1000"/>
              </a:spcAft>
            </a:pPr>
            <a:r>
              <a:rPr sz="1700" b="0">
                <a:solidFill>
                  <a:srgbClr val="2C3E50"/>
                </a:solidFill>
                <a:latin typeface="Calibri"/>
              </a:rPr>
              <a:t>• Epigenetic change: DNA methylation, histone modification, miRNA</a:t>
            </a:r>
          </a:p>
          <a:p>
            <a:pPr>
              <a:spcAft>
                <a:spcPts val="1000"/>
              </a:spcAft>
            </a:pPr>
            <a:r>
              <a:rPr sz="1700" b="0">
                <a:solidFill>
                  <a:srgbClr val="2C3E50"/>
                </a:solidFill>
                <a:latin typeface="Calibri"/>
              </a:rPr>
              <a:t>• Receptor-mediated growth (AhR, estrogen receptor, PPAR)</a:t>
            </a:r>
          </a:p>
          <a:p>
            <a:pPr>
              <a:spcAft>
                <a:spcPts val="1000"/>
              </a:spcAft>
            </a:pPr>
            <a:r>
              <a:rPr sz="1700" b="0">
                <a:solidFill>
                  <a:srgbClr val="2C3E50"/>
                </a:solidFill>
                <a:latin typeface="Calibri"/>
              </a:rPr>
              <a:t>• Chronic inflammation and immune evasion</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11/31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Metabolic activation and detoxification</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Phase I (CYP450): often creates reactive intermediates</a:t>
            </a:r>
          </a:p>
          <a:p>
            <a:pPr>
              <a:spcAft>
                <a:spcPts val="1000"/>
              </a:spcAft>
            </a:pPr>
            <a:r>
              <a:rPr sz="1800" b="0">
                <a:solidFill>
                  <a:srgbClr val="2C3E50"/>
                </a:solidFill>
                <a:latin typeface="Calibri"/>
              </a:rPr>
              <a:t>• Phase II (GST, UDP-glucuronosyltransferase, N-acetyltransferase): conjugation/detox</a:t>
            </a:r>
          </a:p>
          <a:p>
            <a:pPr>
              <a:spcAft>
                <a:spcPts val="1000"/>
              </a:spcAft>
            </a:pPr>
            <a:r>
              <a:rPr sz="1800" b="0">
                <a:solidFill>
                  <a:srgbClr val="2C3E50"/>
                </a:solidFill>
                <a:latin typeface="Calibri"/>
              </a:rPr>
              <a:t>• Balance of activation vs detox determines tissue risk</a:t>
            </a:r>
          </a:p>
          <a:p>
            <a:pPr>
              <a:spcAft>
                <a:spcPts val="1000"/>
              </a:spcAft>
            </a:pPr>
            <a:r>
              <a:rPr sz="1800" b="0">
                <a:solidFill>
                  <a:srgbClr val="2C3E50"/>
                </a:solidFill>
                <a:latin typeface="Calibri"/>
              </a:rPr>
              <a:t>• Genetic polymorphisms (e.g., NAT2, GSTM1) modify susceptibility</a:t>
            </a:r>
          </a:p>
          <a:p>
            <a:pPr>
              <a:spcAft>
                <a:spcPts val="1000"/>
              </a:spcAft>
            </a:pPr>
            <a:r>
              <a:rPr sz="1800" b="0">
                <a:solidFill>
                  <a:srgbClr val="2C3E50"/>
                </a:solidFill>
                <a:latin typeface="Calibri"/>
              </a:rPr>
              <a:t>• Target organs often reflect local metabolism and exposure route</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12/31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7C7B"/>
        </a:solidFill>
        <a:effectLst/>
      </p:bgPr>
    </p:bg>
    <p:spTree>
      <p:nvGrpSpPr>
        <p:cNvPr id="1" name=""/>
        <p:cNvGrpSpPr/>
        <p:nvPr/>
      </p:nvGrpSpPr>
      <p:grpSpPr/>
      <p:sp>
        <p:nvSpPr>
          <p:cNvPr id="2" name="TextBox 1"/>
          <p:cNvSpPr txBox="1"/>
          <p:nvPr/>
        </p:nvSpPr>
        <p:spPr>
          <a:xfrm>
            <a:off x="731520" y="2743200"/>
            <a:ext cx="10515600" cy="1371600"/>
          </a:xfrm>
          <a:prstGeom prst="rect">
            <a:avLst/>
          </a:prstGeom>
          <a:noFill/>
        </p:spPr>
        <p:txBody>
          <a:bodyPr wrap="none">
            <a:spAutoFit/>
          </a:bodyPr>
          <a:lstStyle/>
          <a:p>
            <a:r>
              <a:rPr sz="3000" b="1">
                <a:solidFill>
                  <a:srgbClr val="FFFFFF"/>
                </a:solidFill>
                <a:latin typeface="Calibri"/>
              </a:rPr>
              <a:t>Part 3 · Major chemical carcinogen classes</a:t>
            </a:r>
          </a:p>
        </p:txBody>
      </p:sp>
      <p:sp>
        <p:nvSpPr>
          <p:cNvPr id="3" name="TextBox 2"/>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4" name="TextBox 3"/>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13/31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Polycyclic aromatic hydrocarbons (PAHs)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Formed by incomplete combustion: tobacco, grilled food, diesel exhaust, coal tar</a:t>
            </a:r>
          </a:p>
          <a:p>
            <a:pPr>
              <a:spcAft>
                <a:spcPts val="1000"/>
              </a:spcAft>
            </a:pPr>
            <a:r>
              <a:rPr sz="1800" b="0">
                <a:solidFill>
                  <a:srgbClr val="2C3E50"/>
                </a:solidFill>
                <a:latin typeface="Calibri"/>
              </a:rPr>
              <a:t>• Prototype: benzo[a]pyrene → diol-epoxide DNA adducts</a:t>
            </a:r>
          </a:p>
          <a:p>
            <a:pPr>
              <a:spcAft>
                <a:spcPts val="1000"/>
              </a:spcAft>
            </a:pPr>
            <a:r>
              <a:rPr sz="1800" b="0">
                <a:solidFill>
                  <a:srgbClr val="2C3E50"/>
                </a:solidFill>
                <a:latin typeface="Calibri"/>
              </a:rPr>
              <a:t>• Associated cancers: lung, skin, bladder; contribution to others</a:t>
            </a:r>
          </a:p>
          <a:p>
            <a:pPr>
              <a:spcAft>
                <a:spcPts val="1000"/>
              </a:spcAft>
            </a:pPr>
            <a:r>
              <a:rPr sz="1800" b="0">
                <a:solidFill>
                  <a:srgbClr val="2C3E50"/>
                </a:solidFill>
                <a:latin typeface="Calibri"/>
              </a:rPr>
              <a:t>• Occupational: coke oven, aluminum smelting; historical chimney sweeping</a:t>
            </a:r>
          </a:p>
          <a:p>
            <a:pPr>
              <a:spcAft>
                <a:spcPts val="1000"/>
              </a:spcAft>
            </a:pPr>
            <a:r>
              <a:rPr sz="1800" b="0">
                <a:solidFill>
                  <a:srgbClr val="2C3E50"/>
                </a:solidFill>
                <a:latin typeface="Calibri"/>
              </a:rPr>
              <a:t>• AhR activation contributes to promotion alongside genotoxicity</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14/31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Aromatic amines and azo dyes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Classic bladder carcinogens: benzidine, 2-naphthylamine, 4-aminobiphenyl</a:t>
            </a:r>
          </a:p>
          <a:p>
            <a:pPr>
              <a:spcAft>
                <a:spcPts val="1000"/>
              </a:spcAft>
            </a:pPr>
            <a:r>
              <a:rPr sz="1800" b="0">
                <a:solidFill>
                  <a:srgbClr val="2C3E50"/>
                </a:solidFill>
                <a:latin typeface="Calibri"/>
              </a:rPr>
              <a:t>• Historical dye, rubber, and chemical industry exposures</a:t>
            </a:r>
          </a:p>
          <a:p>
            <a:pPr>
              <a:spcAft>
                <a:spcPts val="1000"/>
              </a:spcAft>
            </a:pPr>
            <a:r>
              <a:rPr sz="1800" b="0">
                <a:solidFill>
                  <a:srgbClr val="2C3E50"/>
                </a:solidFill>
                <a:latin typeface="Calibri"/>
              </a:rPr>
              <a:t>• Metabolic path: N-hydroxylation → reactive esters → urothelial DNA adducts</a:t>
            </a:r>
          </a:p>
          <a:p>
            <a:pPr>
              <a:spcAft>
                <a:spcPts val="1000"/>
              </a:spcAft>
            </a:pPr>
            <a:r>
              <a:rPr sz="1800" b="0">
                <a:solidFill>
                  <a:srgbClr val="2C3E50"/>
                </a:solidFill>
                <a:latin typeface="Calibri"/>
              </a:rPr>
              <a:t>• Cigarette smoke also contains 4-aminobiphenyl</a:t>
            </a:r>
          </a:p>
          <a:p>
            <a:pPr>
              <a:spcAft>
                <a:spcPts val="1000"/>
              </a:spcAft>
            </a:pPr>
            <a:r>
              <a:rPr sz="1800" b="0">
                <a:solidFill>
                  <a:srgbClr val="2C3E50"/>
                </a:solidFill>
                <a:latin typeface="Calibri"/>
              </a:rPr>
              <a:t>• Clinical pearl: ask about dye/rubber work in unexplained urothelial carcinoma</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15/31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N-nitroso compounds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Nitrosamines and nitrosamides — potent experimental carcinogens</a:t>
            </a:r>
          </a:p>
          <a:p>
            <a:pPr>
              <a:spcAft>
                <a:spcPts val="1000"/>
              </a:spcAft>
            </a:pPr>
            <a:r>
              <a:rPr sz="1800" b="0">
                <a:solidFill>
                  <a:srgbClr val="2C3E50"/>
                </a:solidFill>
                <a:latin typeface="Calibri"/>
              </a:rPr>
              <a:t>• Formed endogenously from nitrite + amines; also in tobacco and some processed foods</a:t>
            </a:r>
          </a:p>
          <a:p>
            <a:pPr>
              <a:spcAft>
                <a:spcPts val="1000"/>
              </a:spcAft>
            </a:pPr>
            <a:r>
              <a:rPr sz="1800" b="0">
                <a:solidFill>
                  <a:srgbClr val="2C3E50"/>
                </a:solidFill>
                <a:latin typeface="Calibri"/>
              </a:rPr>
              <a:t>• Organotropism depends on structure (esophagus, stomach, liver, lung)</a:t>
            </a:r>
          </a:p>
          <a:p>
            <a:pPr>
              <a:spcAft>
                <a:spcPts val="1000"/>
              </a:spcAft>
            </a:pPr>
            <a:r>
              <a:rPr sz="1800" b="0">
                <a:solidFill>
                  <a:srgbClr val="2C3E50"/>
                </a:solidFill>
                <a:latin typeface="Calibri"/>
              </a:rPr>
              <a:t>• NDMA impurities in medicines: a modern pharmacovigilance lesson</a:t>
            </a:r>
          </a:p>
          <a:p>
            <a:pPr>
              <a:spcAft>
                <a:spcPts val="1000"/>
              </a:spcAft>
            </a:pPr>
            <a:r>
              <a:rPr sz="1800" b="0">
                <a:solidFill>
                  <a:srgbClr val="2C3E50"/>
                </a:solidFill>
                <a:latin typeface="Calibri"/>
              </a:rPr>
              <a:t>• Vitamin C and other agents can inhibit gastric nitrosation</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16/31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Aflatoxins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Mycotoxins from Aspergillus flavus / parasiticus on poorly stored crops</a:t>
            </a:r>
          </a:p>
          <a:p>
            <a:pPr>
              <a:spcAft>
                <a:spcPts val="1000"/>
              </a:spcAft>
            </a:pPr>
            <a:r>
              <a:rPr sz="1800" b="0">
                <a:solidFill>
                  <a:srgbClr val="2C3E50"/>
                </a:solidFill>
                <a:latin typeface="Calibri"/>
              </a:rPr>
              <a:t>• Aflatoxin B1: Group 1 hepatocarcinogen; requires CYP activation</a:t>
            </a:r>
          </a:p>
          <a:p>
            <a:pPr>
              <a:spcAft>
                <a:spcPts val="1000"/>
              </a:spcAft>
            </a:pPr>
            <a:r>
              <a:rPr sz="1800" b="0">
                <a:solidFill>
                  <a:srgbClr val="2C3E50"/>
                </a:solidFill>
                <a:latin typeface="Calibri"/>
              </a:rPr>
              <a:t>• Signature mutation: TP53 R249S in hepatocellular carcinoma</a:t>
            </a:r>
          </a:p>
          <a:p>
            <a:pPr>
              <a:spcAft>
                <a:spcPts val="1000"/>
              </a:spcAft>
            </a:pPr>
            <a:r>
              <a:rPr sz="1800" b="0">
                <a:solidFill>
                  <a:srgbClr val="2C3E50"/>
                </a:solidFill>
                <a:latin typeface="Calibri"/>
              </a:rPr>
              <a:t>• Synergism with chronic hepatitis B — multiplicative risk</a:t>
            </a:r>
          </a:p>
          <a:p>
            <a:pPr>
              <a:spcAft>
                <a:spcPts val="1000"/>
              </a:spcAft>
            </a:pPr>
            <a:r>
              <a:rPr sz="1800" b="0">
                <a:solidFill>
                  <a:srgbClr val="2C3E50"/>
                </a:solidFill>
                <a:latin typeface="Calibri"/>
              </a:rPr>
              <a:t>• Prevention: crop storage, food safety, HBV vaccination</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17/31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Metals, arsenic, and asbestos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Arsenic (water, mining): skin, lung, bladder cancer</a:t>
            </a:r>
          </a:p>
          <a:p>
            <a:pPr>
              <a:spcAft>
                <a:spcPts val="1000"/>
              </a:spcAft>
            </a:pPr>
            <a:r>
              <a:rPr sz="1800" b="0">
                <a:solidFill>
                  <a:srgbClr val="2C3E50"/>
                </a:solidFill>
                <a:latin typeface="Calibri"/>
              </a:rPr>
              <a:t>• Hexavalent chromium and nickel: lung / nasal cancer (occupational)</a:t>
            </a:r>
          </a:p>
          <a:p>
            <a:pPr>
              <a:spcAft>
                <a:spcPts val="1000"/>
              </a:spcAft>
            </a:pPr>
            <a:r>
              <a:rPr sz="1800" b="0">
                <a:solidFill>
                  <a:srgbClr val="2C3E50"/>
                </a:solidFill>
                <a:latin typeface="Calibri"/>
              </a:rPr>
              <a:t>• Cadmium: lung cancer; possible other sites</a:t>
            </a:r>
          </a:p>
          <a:p>
            <a:pPr>
              <a:spcAft>
                <a:spcPts val="1000"/>
              </a:spcAft>
            </a:pPr>
            <a:r>
              <a:rPr sz="1800" b="0">
                <a:solidFill>
                  <a:srgbClr val="2C3E50"/>
                </a:solidFill>
                <a:latin typeface="Calibri"/>
              </a:rPr>
              <a:t>• Asbestos: mesothelioma and lung cancer; strong synergy with smoking</a:t>
            </a:r>
          </a:p>
          <a:p>
            <a:pPr>
              <a:spcAft>
                <a:spcPts val="1000"/>
              </a:spcAft>
            </a:pPr>
            <a:r>
              <a:rPr sz="1800" b="0">
                <a:solidFill>
                  <a:srgbClr val="2C3E50"/>
                </a:solidFill>
                <a:latin typeface="Calibri"/>
              </a:rPr>
              <a:t>• Mechanisms: oxidative stress, DNA repair interference, mitotic disruption, inflammation</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18/31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Alkylating agents and anticancer drugs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Transfer alkyl groups to DNA (N7-guanine, O6-guanine especially critical)</a:t>
            </a:r>
          </a:p>
          <a:p>
            <a:pPr>
              <a:spcAft>
                <a:spcPts val="1000"/>
              </a:spcAft>
            </a:pPr>
            <a:r>
              <a:rPr sz="1800" b="0">
                <a:solidFill>
                  <a:srgbClr val="2C3E50"/>
                </a:solidFill>
                <a:latin typeface="Calibri"/>
              </a:rPr>
              <a:t>• Therapeutic alkylators: cyclophosphamide, melphalan, nitrosoureas, others</a:t>
            </a:r>
          </a:p>
          <a:p>
            <a:pPr>
              <a:spcAft>
                <a:spcPts val="1000"/>
              </a:spcAft>
            </a:pPr>
            <a:r>
              <a:rPr sz="1800" b="0">
                <a:solidFill>
                  <a:srgbClr val="2C3E50"/>
                </a:solidFill>
                <a:latin typeface="Calibri"/>
              </a:rPr>
              <a:t>• Iatrogenic risk: therapy-related myeloid neoplasms after some regimens</a:t>
            </a:r>
          </a:p>
          <a:p>
            <a:pPr>
              <a:spcAft>
                <a:spcPts val="1000"/>
              </a:spcAft>
            </a:pPr>
            <a:r>
              <a:rPr sz="1800" b="0">
                <a:solidFill>
                  <a:srgbClr val="2C3E50"/>
                </a:solidFill>
                <a:latin typeface="Calibri"/>
              </a:rPr>
              <a:t>• O6-methylguanine → G:C to A:T transitions if unrepaired (MGMT)</a:t>
            </a:r>
          </a:p>
          <a:p>
            <a:pPr>
              <a:spcAft>
                <a:spcPts val="1000"/>
              </a:spcAft>
            </a:pPr>
            <a:r>
              <a:rPr sz="1800" b="0">
                <a:solidFill>
                  <a:srgbClr val="2C3E50"/>
                </a:solidFill>
                <a:latin typeface="Calibri"/>
              </a:rPr>
              <a:t>• Benefit–risk: curative intent may justify small secondary cancer risk</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19/31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Hormonal and receptor-mediated carcinogens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Estrogens: endometrial proliferation; progestin opposition modifies risk</a:t>
            </a:r>
          </a:p>
          <a:p>
            <a:pPr>
              <a:spcAft>
                <a:spcPts val="1000"/>
              </a:spcAft>
            </a:pPr>
            <a:r>
              <a:rPr sz="1800" b="0">
                <a:solidFill>
                  <a:srgbClr val="2C3E50"/>
                </a:solidFill>
                <a:latin typeface="Calibri"/>
              </a:rPr>
              <a:t>• Diethylstilbestrol (DES): clear-cell vaginal adenocarcinoma in daughters</a:t>
            </a:r>
          </a:p>
          <a:p>
            <a:pPr>
              <a:spcAft>
                <a:spcPts val="1000"/>
              </a:spcAft>
            </a:pPr>
            <a:r>
              <a:rPr sz="1800" b="0">
                <a:solidFill>
                  <a:srgbClr val="2C3E50"/>
                </a:solidFill>
                <a:latin typeface="Calibri"/>
              </a:rPr>
              <a:t>• Tamoxifen: lowers breast cancer risk, raises endometrial cancer risk</a:t>
            </a:r>
          </a:p>
          <a:p>
            <a:pPr>
              <a:spcAft>
                <a:spcPts val="1000"/>
              </a:spcAft>
            </a:pPr>
            <a:r>
              <a:rPr sz="1800" b="0">
                <a:solidFill>
                  <a:srgbClr val="2C3E50"/>
                </a:solidFill>
                <a:latin typeface="Calibri"/>
              </a:rPr>
              <a:t>• Sustained hormonal drive: rare hepatic adenomas / tumors with anabolic steroids</a:t>
            </a:r>
          </a:p>
          <a:p>
            <a:pPr>
              <a:spcAft>
                <a:spcPts val="1000"/>
              </a:spcAft>
            </a:pPr>
            <a:r>
              <a:rPr sz="1800" b="0">
                <a:solidFill>
                  <a:srgbClr val="2C3E50"/>
                </a:solidFill>
                <a:latin typeface="Calibri"/>
              </a:rPr>
              <a:t>• Mechanism often promotion via proliferation rather than direct mutagenesis</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20/31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Alcohol, benzene, and vinyl chloride — quick high-yield add-ons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Alcohol → acetaldehyde (Group 1): oral, pharynx, larynx, esophagus, liver, colorectum, breast</a:t>
            </a:r>
          </a:p>
          <a:p>
            <a:pPr>
              <a:spcAft>
                <a:spcPts val="1000"/>
              </a:spcAft>
            </a:pPr>
            <a:r>
              <a:rPr sz="1800" b="0">
                <a:solidFill>
                  <a:srgbClr val="2C3E50"/>
                </a:solidFill>
                <a:latin typeface="Calibri"/>
              </a:rPr>
              <a:t>• Benzene: hematopoietic toxicity; acute myeloid leukemia</a:t>
            </a:r>
          </a:p>
          <a:p>
            <a:pPr>
              <a:spcAft>
                <a:spcPts val="1000"/>
              </a:spcAft>
            </a:pPr>
            <a:r>
              <a:rPr sz="1800" b="0">
                <a:solidFill>
                  <a:srgbClr val="2C3E50"/>
                </a:solidFill>
                <a:latin typeface="Calibri"/>
              </a:rPr>
              <a:t>• Vinyl chloride: hepatic angiosarcoma (classic occupational pair)</a:t>
            </a:r>
          </a:p>
          <a:p>
            <a:pPr>
              <a:spcAft>
                <a:spcPts val="1000"/>
              </a:spcAft>
            </a:pPr>
            <a:r>
              <a:rPr sz="1800" b="0">
                <a:solidFill>
                  <a:srgbClr val="2C3E50"/>
                </a:solidFill>
                <a:latin typeface="Calibri"/>
              </a:rPr>
              <a:t>• Formaldehyde: nasopharynx; leukemia evidence also evaluated by IARC</a:t>
            </a:r>
          </a:p>
          <a:p>
            <a:pPr>
              <a:spcAft>
                <a:spcPts val="1000"/>
              </a:spcAft>
            </a:pPr>
            <a:r>
              <a:rPr sz="1800" b="0">
                <a:solidFill>
                  <a:srgbClr val="2C3E50"/>
                </a:solidFill>
                <a:latin typeface="Calibri"/>
              </a:rPr>
              <a:t>• These 'signature pairs' are frequent exam items</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21/31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7C7B"/>
        </a:solidFill>
        <a:effectLst/>
      </p:bgPr>
    </p:bg>
    <p:spTree>
      <p:nvGrpSpPr>
        <p:cNvPr id="1" name=""/>
        <p:cNvGrpSpPr/>
        <p:nvPr/>
      </p:nvGrpSpPr>
      <p:grpSpPr/>
      <p:sp>
        <p:nvSpPr>
          <p:cNvPr id="2" name="TextBox 1"/>
          <p:cNvSpPr txBox="1"/>
          <p:nvPr/>
        </p:nvSpPr>
        <p:spPr>
          <a:xfrm>
            <a:off x="731520" y="2743200"/>
            <a:ext cx="10515600" cy="1371600"/>
          </a:xfrm>
          <a:prstGeom prst="rect">
            <a:avLst/>
          </a:prstGeom>
          <a:noFill/>
        </p:spPr>
        <p:txBody>
          <a:bodyPr wrap="none">
            <a:spAutoFit/>
          </a:bodyPr>
          <a:lstStyle/>
          <a:p>
            <a:r>
              <a:rPr sz="3000" b="1">
                <a:solidFill>
                  <a:srgbClr val="FFFFFF"/>
                </a:solidFill>
                <a:latin typeface="Calibri"/>
              </a:rPr>
              <a:t>Part 4 · Exposure, clinic, and prevention</a:t>
            </a:r>
          </a:p>
        </p:txBody>
      </p:sp>
      <p:sp>
        <p:nvSpPr>
          <p:cNvPr id="3" name="TextBox 2"/>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4" name="TextBox 3"/>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22/31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Major exposure settings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Tobacco: dominant avoidable chemical carcinogen mixture worldwide</a:t>
            </a:r>
          </a:p>
          <a:p>
            <a:pPr>
              <a:spcAft>
                <a:spcPts val="1000"/>
              </a:spcAft>
            </a:pPr>
            <a:r>
              <a:rPr sz="1800" b="0">
                <a:solidFill>
                  <a:srgbClr val="2C3E50"/>
                </a:solidFill>
                <a:latin typeface="Calibri"/>
              </a:rPr>
              <a:t>• Occupation: metals, PAHs, aromatic amines, asbestos legacy, solvents</a:t>
            </a:r>
          </a:p>
          <a:p>
            <a:pPr>
              <a:spcAft>
                <a:spcPts val="1000"/>
              </a:spcAft>
            </a:pPr>
            <a:r>
              <a:rPr sz="1800" b="0">
                <a:solidFill>
                  <a:srgbClr val="2C3E50"/>
                </a:solidFill>
                <a:latin typeface="Calibri"/>
              </a:rPr>
              <a:t>• Environment: air pollution, arsenic in water, household combustion</a:t>
            </a:r>
          </a:p>
          <a:p>
            <a:pPr>
              <a:spcAft>
                <a:spcPts val="1000"/>
              </a:spcAft>
            </a:pPr>
            <a:r>
              <a:rPr sz="1800" b="0">
                <a:solidFill>
                  <a:srgbClr val="2C3E50"/>
                </a:solidFill>
                <a:latin typeface="Calibri"/>
              </a:rPr>
              <a:t>• Diet: aflatoxin, processed meat, alcohol</a:t>
            </a:r>
          </a:p>
          <a:p>
            <a:pPr>
              <a:spcAft>
                <a:spcPts val="1000"/>
              </a:spcAft>
            </a:pPr>
            <a:r>
              <a:rPr sz="1800" b="0">
                <a:solidFill>
                  <a:srgbClr val="2C3E50"/>
                </a:solidFill>
                <a:latin typeface="Calibri"/>
              </a:rPr>
              <a:t>• Iatrogenic: cytotoxic drugs, immunosuppression, historical DES</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23/31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Dose, latency, and host factors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Risk generally rises with cumulative dose and duration</a:t>
            </a:r>
          </a:p>
          <a:p>
            <a:pPr>
              <a:spcAft>
                <a:spcPts val="1000"/>
              </a:spcAft>
            </a:pPr>
            <a:r>
              <a:rPr sz="1800" b="0">
                <a:solidFill>
                  <a:srgbClr val="2C3E50"/>
                </a:solidFill>
                <a:latin typeface="Calibri"/>
              </a:rPr>
              <a:t>• Latency: often 10–40 years (mesothelioma often 30–40+ years)</a:t>
            </a:r>
          </a:p>
          <a:p>
            <a:pPr>
              <a:spcAft>
                <a:spcPts val="1000"/>
              </a:spcAft>
            </a:pPr>
            <a:r>
              <a:rPr sz="1800" b="0">
                <a:solidFill>
                  <a:srgbClr val="2C3E50"/>
                </a:solidFill>
                <a:latin typeface="Calibri"/>
              </a:rPr>
              <a:t>• Synergism: asbestos × smoking; aflatoxin × HBV; alcohol × smoking</a:t>
            </a:r>
          </a:p>
          <a:p>
            <a:pPr>
              <a:spcAft>
                <a:spcPts val="1000"/>
              </a:spcAft>
            </a:pPr>
            <a:r>
              <a:rPr sz="1800" b="0">
                <a:solidFill>
                  <a:srgbClr val="2C3E50"/>
                </a:solidFill>
                <a:latin typeface="Calibri"/>
              </a:rPr>
              <a:t>• Host: age at exposure, sex, DNA repair genes, metabolic polymorphisms</a:t>
            </a:r>
          </a:p>
          <a:p>
            <a:pPr>
              <a:spcAft>
                <a:spcPts val="1000"/>
              </a:spcAft>
            </a:pPr>
            <a:r>
              <a:rPr sz="1800" b="0">
                <a:solidFill>
                  <a:srgbClr val="2C3E50"/>
                </a:solidFill>
                <a:latin typeface="Calibri"/>
              </a:rPr>
              <a:t>• Children may be more vulnerable for some agents and windows of development</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24/31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Clinical approach: the exposure history</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Ask: occupation (current and past), hobbies, home, smoking, alcohol</a:t>
            </a:r>
          </a:p>
          <a:p>
            <a:pPr>
              <a:spcAft>
                <a:spcPts val="1000"/>
              </a:spcAft>
            </a:pPr>
            <a:r>
              <a:rPr sz="1800" b="0">
                <a:solidFill>
                  <a:srgbClr val="2C3E50"/>
                </a:solidFill>
                <a:latin typeface="Calibri"/>
              </a:rPr>
              <a:t>• Prompts: dyes, rubber, metals, asbestos, solvents, pesticides, well water</a:t>
            </a:r>
          </a:p>
          <a:p>
            <a:pPr>
              <a:spcAft>
                <a:spcPts val="1000"/>
              </a:spcAft>
            </a:pPr>
            <a:r>
              <a:rPr sz="1800" b="0">
                <a:solidFill>
                  <a:srgbClr val="2C3E50"/>
                </a:solidFill>
                <a:latin typeface="Calibri"/>
              </a:rPr>
              <a:t>• Timeline: year first exposed, duration, PPE, co-exposures, co-workers' illnesses</a:t>
            </a:r>
          </a:p>
          <a:p>
            <a:pPr>
              <a:spcAft>
                <a:spcPts val="1000"/>
              </a:spcAft>
            </a:pPr>
            <a:r>
              <a:rPr sz="1800" b="0">
                <a:solidFill>
                  <a:srgbClr val="2C3E50"/>
                </a:solidFill>
                <a:latin typeface="Calibri"/>
              </a:rPr>
              <a:t>• Link organ site to classic agents</a:t>
            </a:r>
          </a:p>
          <a:p>
            <a:pPr>
              <a:spcAft>
                <a:spcPts val="1000"/>
              </a:spcAft>
            </a:pPr>
            <a:r>
              <a:rPr sz="1800" b="0">
                <a:solidFill>
                  <a:srgbClr val="2C3E50"/>
                </a:solidFill>
                <a:latin typeface="Calibri"/>
              </a:rPr>
              <a:t>• Document for care, counseling, and occupational reporting when appropriate</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25/31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548640"/>
          </a:xfrm>
          <a:prstGeom prst="rect">
            <a:avLst/>
          </a:prstGeom>
          <a:noFill/>
        </p:spPr>
        <p:txBody>
          <a:bodyPr wrap="none">
            <a:spAutoFit/>
          </a:bodyPr>
          <a:lstStyle/>
          <a:p>
            <a:r>
              <a:rPr sz="2600" b="1">
                <a:solidFill>
                  <a:srgbClr val="1B3A4B"/>
                </a:solidFill>
                <a:latin typeface="Calibri"/>
              </a:rPr>
              <a:t>Prevention strategies</a:t>
            </a:r>
          </a:p>
        </p:txBody>
      </p:sp>
      <p:sp>
        <p:nvSpPr>
          <p:cNvPr id="4" name="Rectangle 3"/>
          <p:cNvSpPr/>
          <p:nvPr/>
        </p:nvSpPr>
        <p:spPr>
          <a:xfrm>
            <a:off x="457200" y="96012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234440"/>
            <a:ext cx="5394960" cy="502920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17320"/>
            <a:ext cx="4937760" cy="457200"/>
          </a:xfrm>
          <a:prstGeom prst="rect">
            <a:avLst/>
          </a:prstGeom>
          <a:noFill/>
        </p:spPr>
        <p:txBody>
          <a:bodyPr wrap="none">
            <a:spAutoFit/>
          </a:bodyPr>
          <a:lstStyle/>
          <a:p>
            <a:r>
              <a:rPr sz="1800" b="1">
                <a:solidFill>
                  <a:srgbClr val="0E7C7B"/>
                </a:solidFill>
                <a:latin typeface="Calibri"/>
              </a:rPr>
              <a:t>Primary prevention</a:t>
            </a:r>
          </a:p>
        </p:txBody>
      </p:sp>
      <p:sp>
        <p:nvSpPr>
          <p:cNvPr id="7" name="TextBox 6"/>
          <p:cNvSpPr txBox="1"/>
          <p:nvPr/>
        </p:nvSpPr>
        <p:spPr>
          <a:xfrm>
            <a:off x="685800" y="2011680"/>
            <a:ext cx="4937760" cy="4023360"/>
          </a:xfrm>
          <a:prstGeom prst="rect">
            <a:avLst/>
          </a:prstGeom>
          <a:noFill/>
        </p:spPr>
        <p:txBody>
          <a:bodyPr wrap="square">
            <a:spAutoFit/>
          </a:bodyPr>
          <a:lstStyle/>
          <a:p>
            <a:pPr>
              <a:spcAft>
                <a:spcPts val="800"/>
              </a:spcAft>
            </a:pPr>
            <a:r>
              <a:rPr sz="1500" b="0">
                <a:solidFill>
                  <a:srgbClr val="2C3E50"/>
                </a:solidFill>
                <a:latin typeface="Calibri"/>
              </a:rPr>
              <a:t>• Tobacco and alcohol control</a:t>
            </a:r>
          </a:p>
          <a:p>
            <a:pPr>
              <a:spcAft>
                <a:spcPts val="800"/>
              </a:spcAft>
            </a:pPr>
            <a:r>
              <a:rPr sz="1500" b="0">
                <a:solidFill>
                  <a:srgbClr val="2C3E50"/>
                </a:solidFill>
                <a:latin typeface="Calibri"/>
              </a:rPr>
              <a:t>• Workplace substitution, enclosure, ventilation, PPE</a:t>
            </a:r>
          </a:p>
          <a:p>
            <a:pPr>
              <a:spcAft>
                <a:spcPts val="800"/>
              </a:spcAft>
            </a:pPr>
            <a:r>
              <a:rPr sz="1500" b="0">
                <a:solidFill>
                  <a:srgbClr val="2C3E50"/>
                </a:solidFill>
                <a:latin typeface="Calibri"/>
              </a:rPr>
              <a:t>• Food safety and aflatoxin control</a:t>
            </a:r>
          </a:p>
          <a:p>
            <a:pPr>
              <a:spcAft>
                <a:spcPts val="800"/>
              </a:spcAft>
            </a:pPr>
            <a:r>
              <a:rPr sz="1500" b="0">
                <a:solidFill>
                  <a:srgbClr val="2C3E50"/>
                </a:solidFill>
                <a:latin typeface="Calibri"/>
              </a:rPr>
              <a:t>• Clean water (arsenic); clean air policies</a:t>
            </a:r>
          </a:p>
          <a:p>
            <a:pPr>
              <a:spcAft>
                <a:spcPts val="800"/>
              </a:spcAft>
            </a:pPr>
            <a:r>
              <a:rPr sz="1500" b="0">
                <a:solidFill>
                  <a:srgbClr val="2C3E50"/>
                </a:solidFill>
                <a:latin typeface="Calibri"/>
              </a:rPr>
              <a:t>• HBV vaccination; safer prescribing</a:t>
            </a:r>
          </a:p>
        </p:txBody>
      </p:sp>
      <p:sp>
        <p:nvSpPr>
          <p:cNvPr id="8" name="Rounded Rectangle 7"/>
          <p:cNvSpPr/>
          <p:nvPr/>
        </p:nvSpPr>
        <p:spPr>
          <a:xfrm>
            <a:off x="6309360" y="1234440"/>
            <a:ext cx="5394960" cy="5029200"/>
          </a:xfrm>
          <a:prstGeom prst="roundRect">
            <a:avLst/>
          </a:prstGeom>
          <a:solidFill>
            <a:srgbClr val="FFFFFF"/>
          </a:solidFill>
          <a:ln>
            <a:solidFill>
              <a:srgbClr val="D5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417320"/>
            <a:ext cx="4937760" cy="457200"/>
          </a:xfrm>
          <a:prstGeom prst="rect">
            <a:avLst/>
          </a:prstGeom>
          <a:noFill/>
        </p:spPr>
        <p:txBody>
          <a:bodyPr wrap="none">
            <a:spAutoFit/>
          </a:bodyPr>
          <a:lstStyle/>
          <a:p>
            <a:r>
              <a:rPr sz="1800" b="1">
                <a:solidFill>
                  <a:srgbClr val="C45C26"/>
                </a:solidFill>
                <a:latin typeface="Calibri"/>
              </a:rPr>
              <a:t>Secondary / clinical</a:t>
            </a:r>
          </a:p>
        </p:txBody>
      </p:sp>
      <p:sp>
        <p:nvSpPr>
          <p:cNvPr id="10" name="TextBox 9"/>
          <p:cNvSpPr txBox="1"/>
          <p:nvPr/>
        </p:nvSpPr>
        <p:spPr>
          <a:xfrm>
            <a:off x="6537960" y="2011680"/>
            <a:ext cx="4937760" cy="4023360"/>
          </a:xfrm>
          <a:prstGeom prst="rect">
            <a:avLst/>
          </a:prstGeom>
          <a:noFill/>
        </p:spPr>
        <p:txBody>
          <a:bodyPr wrap="square">
            <a:spAutoFit/>
          </a:bodyPr>
          <a:lstStyle/>
          <a:p>
            <a:pPr>
              <a:spcAft>
                <a:spcPts val="800"/>
              </a:spcAft>
            </a:pPr>
            <a:r>
              <a:rPr sz="1500" b="0">
                <a:solidFill>
                  <a:srgbClr val="2C3E50"/>
                </a:solidFill>
                <a:latin typeface="Calibri"/>
              </a:rPr>
              <a:t>• Evidence-based screening in high-risk groups</a:t>
            </a:r>
          </a:p>
          <a:p>
            <a:pPr>
              <a:spcAft>
                <a:spcPts val="800"/>
              </a:spcAft>
            </a:pPr>
            <a:r>
              <a:rPr sz="1500" b="0">
                <a:solidFill>
                  <a:srgbClr val="2C3E50"/>
                </a:solidFill>
                <a:latin typeface="Calibri"/>
              </a:rPr>
              <a:t>• Smoking cessation — benefit at any age</a:t>
            </a:r>
          </a:p>
          <a:p>
            <a:pPr>
              <a:spcAft>
                <a:spcPts val="800"/>
              </a:spcAft>
            </a:pPr>
            <a:r>
              <a:rPr sz="1500" b="0">
                <a:solidFill>
                  <a:srgbClr val="2C3E50"/>
                </a:solidFill>
                <a:latin typeface="Calibri"/>
              </a:rPr>
              <a:t>• Survivor surveillance after carcinogenic therapy</a:t>
            </a:r>
          </a:p>
          <a:p>
            <a:pPr>
              <a:spcAft>
                <a:spcPts val="800"/>
              </a:spcAft>
            </a:pPr>
            <a:r>
              <a:rPr sz="1500" b="0">
                <a:solidFill>
                  <a:srgbClr val="2C3E50"/>
                </a:solidFill>
                <a:latin typeface="Calibri"/>
              </a:rPr>
              <a:t>• Remove ongoing exposure when identified</a:t>
            </a:r>
          </a:p>
          <a:p>
            <a:pPr>
              <a:spcAft>
                <a:spcPts val="800"/>
              </a:spcAft>
            </a:pPr>
            <a:r>
              <a:rPr sz="1500" b="0">
                <a:solidFill>
                  <a:srgbClr val="2C3E50"/>
                </a:solidFill>
                <a:latin typeface="Calibri"/>
              </a:rPr>
              <a:t>• Treat co-factors (HBV, HCV, H. pylori where relevant)</a:t>
            </a:r>
          </a:p>
        </p:txBody>
      </p:sp>
      <p:sp>
        <p:nvSpPr>
          <p:cNvPr id="11" name="TextBox 10"/>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12" name="TextBox 11"/>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26/31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Mini-case for discussion</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58-year-old man, 35 pack-years, former shipyard insulator (1975–1988)</a:t>
            </a:r>
          </a:p>
          <a:p>
            <a:pPr>
              <a:spcAft>
                <a:spcPts val="1000"/>
              </a:spcAft>
            </a:pPr>
            <a:r>
              <a:rPr sz="1800" b="0">
                <a:solidFill>
                  <a:srgbClr val="2C3E50"/>
                </a:solidFill>
                <a:latin typeface="Calibri"/>
              </a:rPr>
              <a:t>• Progressive dyspnea; pleural effusion; cytology suspicious for malignancy</a:t>
            </a:r>
          </a:p>
          <a:p>
            <a:pPr>
              <a:spcAft>
                <a:spcPts val="1000"/>
              </a:spcAft>
            </a:pPr>
            <a:r>
              <a:rPr sz="1800" b="0">
                <a:solidFill>
                  <a:srgbClr val="2C3E50"/>
                </a:solidFill>
                <a:latin typeface="Calibri"/>
              </a:rPr>
              <a:t>• Discuss: differential diagnosis? key exposures? synergy? counseling?</a:t>
            </a:r>
          </a:p>
          <a:p>
            <a:pPr>
              <a:spcAft>
                <a:spcPts val="1000"/>
              </a:spcAft>
            </a:pPr>
            <a:r>
              <a:rPr sz="1800" b="0">
                <a:solidFill>
                  <a:srgbClr val="2C3E50"/>
                </a:solidFill>
                <a:latin typeface="Calibri"/>
              </a:rPr>
              <a:t>• Path: mesothelioma vs lung cancer vs benign asbestos pleural disease</a:t>
            </a:r>
          </a:p>
          <a:p>
            <a:pPr>
              <a:spcAft>
                <a:spcPts val="1000"/>
              </a:spcAft>
            </a:pPr>
            <a:r>
              <a:rPr sz="1800" b="0">
                <a:solidFill>
                  <a:srgbClr val="2C3E50"/>
                </a:solidFill>
                <a:latin typeface="Calibri"/>
              </a:rPr>
              <a:t>• Actions: document timeline; cessation support; occupational medicine as needed</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27/31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Putting it together — a one-minute synthesis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Exposure → activation/detox balance → DNA or promotional hit</a:t>
            </a:r>
          </a:p>
          <a:p>
            <a:pPr>
              <a:spcAft>
                <a:spcPts val="1000"/>
              </a:spcAft>
            </a:pPr>
            <a:r>
              <a:rPr sz="1800" b="0">
                <a:solidFill>
                  <a:srgbClr val="2C3E50"/>
                </a:solidFill>
                <a:latin typeface="Calibri"/>
              </a:rPr>
              <a:t>• Clonal expansion under promoters / inflammation / hormones</a:t>
            </a:r>
          </a:p>
          <a:p>
            <a:pPr>
              <a:spcAft>
                <a:spcPts val="1000"/>
              </a:spcAft>
            </a:pPr>
            <a:r>
              <a:rPr sz="1800" b="0">
                <a:solidFill>
                  <a:srgbClr val="2C3E50"/>
                </a:solidFill>
                <a:latin typeface="Calibri"/>
              </a:rPr>
              <a:t>• Progression to invasion; long latency hides the original job or habit</a:t>
            </a:r>
          </a:p>
          <a:p>
            <a:pPr>
              <a:spcAft>
                <a:spcPts val="1000"/>
              </a:spcAft>
            </a:pPr>
            <a:r>
              <a:rPr sz="1800" b="0">
                <a:solidFill>
                  <a:srgbClr val="2C3E50"/>
                </a:solidFill>
                <a:latin typeface="Calibri"/>
              </a:rPr>
              <a:t>• Clinic: match organ to agent; intervene on what is still modifiable</a:t>
            </a:r>
          </a:p>
          <a:p>
            <a:pPr>
              <a:spcAft>
                <a:spcPts val="1000"/>
              </a:spcAft>
            </a:pPr>
            <a:r>
              <a:rPr sz="1800" b="0">
                <a:solidFill>
                  <a:srgbClr val="2C3E50"/>
                </a:solidFill>
                <a:latin typeface="Calibri"/>
              </a:rPr>
              <a:t>• Population: tobacco, alcohol, air, food safety, vaccines, workplace controls</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28/31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Scripted answers to likely questions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Safe alcohol level for cancer? Risk rises with dose; no clear zero-risk level</a:t>
            </a:r>
          </a:p>
          <a:p>
            <a:pPr>
              <a:spcAft>
                <a:spcPts val="1000"/>
              </a:spcAft>
            </a:pPr>
            <a:r>
              <a:rPr sz="1800" b="0">
                <a:solidFill>
                  <a:srgbClr val="2C3E50"/>
                </a:solidFill>
                <a:latin typeface="Calibri"/>
              </a:rPr>
              <a:t>• Burnt food vs smoking? Same chemistry class, vastly different absolute risk</a:t>
            </a:r>
          </a:p>
          <a:p>
            <a:pPr>
              <a:spcAft>
                <a:spcPts val="1000"/>
              </a:spcAft>
            </a:pPr>
            <a:r>
              <a:rPr sz="1800" b="0">
                <a:solidFill>
                  <a:srgbClr val="2C3E50"/>
                </a:solidFill>
                <a:latin typeface="Calibri"/>
              </a:rPr>
              <a:t>• E-cigarettes? Fewer combustion PAHs than cigarettes; long-term cancer data incomplete</a:t>
            </a:r>
          </a:p>
          <a:p>
            <a:pPr>
              <a:spcAft>
                <a:spcPts val="1000"/>
              </a:spcAft>
            </a:pPr>
            <a:r>
              <a:rPr sz="1800" b="0">
                <a:solidFill>
                  <a:srgbClr val="2C3E50"/>
                </a:solidFill>
                <a:latin typeface="Calibri"/>
              </a:rPr>
              <a:t>• Natural equals safe? No — aflatoxin is natural and Group 1</a:t>
            </a:r>
          </a:p>
          <a:p>
            <a:pPr>
              <a:spcAft>
                <a:spcPts val="1000"/>
              </a:spcAft>
            </a:pPr>
            <a:r>
              <a:rPr sz="1800" b="0">
                <a:solidFill>
                  <a:srgbClr val="2C3E50"/>
                </a:solidFill>
                <a:latin typeface="Calibri"/>
              </a:rPr>
              <a:t>• Why still mesothelioma after asbestos bans? Latency of decades</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29/31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Summary — take-home messages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Chemical carcinogenesis is multistage: initiation → promotion → progression</a:t>
            </a:r>
          </a:p>
          <a:p>
            <a:pPr>
              <a:spcAft>
                <a:spcPts val="1000"/>
              </a:spcAft>
            </a:pPr>
            <a:r>
              <a:rPr sz="1800" b="0">
                <a:solidFill>
                  <a:srgbClr val="2C3E50"/>
                </a:solidFill>
                <a:latin typeface="Calibri"/>
              </a:rPr>
              <a:t>• Separate genotoxic from non-genotoxic mechanisms for risk thinking</a:t>
            </a:r>
          </a:p>
          <a:p>
            <a:pPr>
              <a:spcAft>
                <a:spcPts val="1000"/>
              </a:spcAft>
            </a:pPr>
            <a:r>
              <a:rPr sz="1800" b="0">
                <a:solidFill>
                  <a:srgbClr val="2C3E50"/>
                </a:solidFill>
                <a:latin typeface="Calibri"/>
              </a:rPr>
              <a:t>• Know signature agents and cancer sites</a:t>
            </a:r>
          </a:p>
          <a:p>
            <a:pPr>
              <a:spcAft>
                <a:spcPts val="1000"/>
              </a:spcAft>
            </a:pPr>
            <a:r>
              <a:rPr sz="1800" b="0">
                <a:solidFill>
                  <a:srgbClr val="2C3E50"/>
                </a:solidFill>
                <a:latin typeface="Calibri"/>
              </a:rPr>
              <a:t>• IARC classifies hazard; dose and context determine individual risk</a:t>
            </a:r>
          </a:p>
          <a:p>
            <a:pPr>
              <a:spcAft>
                <a:spcPts val="1000"/>
              </a:spcAft>
            </a:pPr>
            <a:r>
              <a:rPr sz="1800" b="0">
                <a:solidFill>
                  <a:srgbClr val="2C3E50"/>
                </a:solidFill>
                <a:latin typeface="Calibri"/>
              </a:rPr>
              <a:t>• Prevention and a careful exposure history are core clinical skills</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30/31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640080"/>
          </a:xfrm>
          <a:prstGeom prst="rect">
            <a:avLst/>
          </a:prstGeom>
          <a:noFill/>
        </p:spPr>
        <p:txBody>
          <a:bodyPr wrap="none">
            <a:spAutoFit/>
          </a:bodyPr>
          <a:lstStyle/>
          <a:p>
            <a:r>
              <a:rPr sz="2600" b="1">
                <a:solidFill>
                  <a:srgbClr val="1B3A4B"/>
                </a:solidFill>
                <a:latin typeface="Calibri"/>
              </a:rPr>
              <a:t>Suggested reading &amp; questions</a:t>
            </a:r>
          </a:p>
        </p:txBody>
      </p:sp>
      <p:sp>
        <p:nvSpPr>
          <p:cNvPr id="4" name="Rectangle 3"/>
          <p:cNvSpPr/>
          <p:nvPr/>
        </p:nvSpPr>
        <p:spPr>
          <a:xfrm>
            <a:off x="457200" y="1005840"/>
            <a:ext cx="1371600" cy="54864"/>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34440"/>
            <a:ext cx="11247120" cy="5029200"/>
          </a:xfrm>
          <a:prstGeom prst="rect">
            <a:avLst/>
          </a:prstGeom>
          <a:noFill/>
        </p:spPr>
        <p:txBody>
          <a:bodyPr wrap="square">
            <a:spAutoFit/>
          </a:bodyPr>
          <a:lstStyle/>
          <a:p>
            <a:pPr>
              <a:spcAft>
                <a:spcPts val="1000"/>
              </a:spcAft>
            </a:pPr>
            <a:r>
              <a:rPr sz="1800" b="0">
                <a:solidFill>
                  <a:srgbClr val="2C3E50"/>
                </a:solidFill>
                <a:latin typeface="Calibri"/>
              </a:rPr>
              <a:t>• IARC Monographs — classification summaries (WHO)</a:t>
            </a:r>
          </a:p>
          <a:p>
            <a:pPr>
              <a:spcAft>
                <a:spcPts val="1000"/>
              </a:spcAft>
            </a:pPr>
            <a:r>
              <a:rPr sz="1800" b="0">
                <a:solidFill>
                  <a:srgbClr val="2C3E50"/>
                </a:solidFill>
                <a:latin typeface="Calibri"/>
              </a:rPr>
              <a:t>• Robbins &amp; Cotran — Neoplasia; chemical carcinogenesis sections</a:t>
            </a:r>
          </a:p>
          <a:p>
            <a:pPr>
              <a:spcAft>
                <a:spcPts val="1000"/>
              </a:spcAft>
            </a:pPr>
            <a:r>
              <a:rPr sz="1800" b="0">
                <a:solidFill>
                  <a:srgbClr val="2C3E50"/>
                </a:solidFill>
                <a:latin typeface="Calibri"/>
              </a:rPr>
              <a:t>• WHO / IARC World Cancer Report — environmental and occupational chapters</a:t>
            </a:r>
          </a:p>
          <a:p>
            <a:pPr>
              <a:spcAft>
                <a:spcPts val="1000"/>
              </a:spcAft>
            </a:pPr>
            <a:r>
              <a:rPr sz="1800" b="0">
                <a:solidFill>
                  <a:srgbClr val="2C3E50"/>
                </a:solidFill>
                <a:latin typeface="Calibri"/>
              </a:rPr>
              <a:t>• Smith et al. — Key characteristics of carcinogens (Environ Health Perspect)</a:t>
            </a:r>
          </a:p>
          <a:p>
            <a:pPr>
              <a:spcAft>
                <a:spcPts val="1000"/>
              </a:spcAft>
            </a:pPr>
            <a:r>
              <a:rPr sz="1800" b="0">
                <a:solidFill>
                  <a:srgbClr val="2C3E50"/>
                </a:solidFill>
                <a:latin typeface="Calibri"/>
              </a:rPr>
              <a:t>• Open floor for questions — thank you</a:t>
            </a:r>
          </a:p>
        </p:txBody>
      </p:sp>
      <p:sp>
        <p:nvSpPr>
          <p:cNvPr id="6" name="TextBox 5"/>
          <p:cNvSpPr txBox="1"/>
          <p:nvPr/>
        </p:nvSpPr>
        <p:spPr>
          <a:xfrm>
            <a:off x="365760" y="6537960"/>
            <a:ext cx="9326880" cy="274320"/>
          </a:xfrm>
          <a:prstGeom prst="rect">
            <a:avLst/>
          </a:prstGeom>
          <a:noFill/>
        </p:spPr>
        <p:txBody>
          <a:bodyPr wrap="none">
            <a:spAutoFit/>
          </a:bodyPr>
          <a:lstStyle/>
          <a:p>
            <a:r>
              <a:rPr sz="1100" b="0">
                <a:solidFill>
                  <a:srgbClr val="5D6D7E"/>
                </a:solidFill>
                <a:latin typeface="Calibri"/>
              </a:rPr>
              <a:t>Medical Faculty · Chemical Carcinogenesis · 45-minute lecture</a:t>
            </a:r>
          </a:p>
        </p:txBody>
      </p:sp>
      <p:sp>
        <p:nvSpPr>
          <p:cNvPr id="7" name="TextBox 6"/>
          <p:cNvSpPr txBox="1"/>
          <p:nvPr/>
        </p:nvSpPr>
        <p:spPr>
          <a:xfrm>
            <a:off x="10424160" y="6537960"/>
            <a:ext cx="1463040" cy="274320"/>
          </a:xfrm>
          <a:prstGeom prst="rect">
            <a:avLst/>
          </a:prstGeom>
          <a:noFill/>
        </p:spPr>
        <p:txBody>
          <a:bodyPr wrap="none">
            <a:spAutoFit/>
          </a:bodyPr>
          <a:lstStyle/>
          <a:p>
            <a:pPr algn="r"/>
            <a:r>
              <a:rPr sz="1100" b="0">
                <a:solidFill>
                  <a:srgbClr val="5D6D7E"/>
                </a:solidFill>
                <a:latin typeface="Calibri"/>
              </a:rPr>
              <a:t>31/31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